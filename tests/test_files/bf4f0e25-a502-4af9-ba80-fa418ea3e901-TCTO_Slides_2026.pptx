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B5_0.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D5_0.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54" r:id="rId4"/>
  </p:sldMasterIdLst>
  <p:notesMasterIdLst>
    <p:notesMasterId r:id="rId255"/>
  </p:notesMasterIdLst>
  <p:handoutMasterIdLst>
    <p:handoutMasterId r:id="rId256"/>
  </p:handoutMasterIdLst>
  <p:sldIdLst>
    <p:sldId id="311" r:id="rId5"/>
    <p:sldId id="654" r:id="rId6"/>
    <p:sldId id="338" r:id="rId7"/>
    <p:sldId id="652" r:id="rId8"/>
    <p:sldId id="651" r:id="rId9"/>
    <p:sldId id="657" r:id="rId10"/>
    <p:sldId id="339" r:id="rId11"/>
    <p:sldId id="340" r:id="rId12"/>
    <p:sldId id="341" r:id="rId13"/>
    <p:sldId id="417" r:id="rId14"/>
    <p:sldId id="418" r:id="rId15"/>
    <p:sldId id="342" r:id="rId16"/>
    <p:sldId id="582" r:id="rId17"/>
    <p:sldId id="420" r:id="rId18"/>
    <p:sldId id="426" r:id="rId19"/>
    <p:sldId id="424" r:id="rId20"/>
    <p:sldId id="425" r:id="rId21"/>
    <p:sldId id="427" r:id="rId22"/>
    <p:sldId id="428" r:id="rId23"/>
    <p:sldId id="422" r:id="rId24"/>
    <p:sldId id="423" r:id="rId25"/>
    <p:sldId id="583" r:id="rId26"/>
    <p:sldId id="429" r:id="rId27"/>
    <p:sldId id="584" r:id="rId28"/>
    <p:sldId id="430" r:id="rId29"/>
    <p:sldId id="585" r:id="rId30"/>
    <p:sldId id="586" r:id="rId31"/>
    <p:sldId id="431" r:id="rId32"/>
    <p:sldId id="432" r:id="rId33"/>
    <p:sldId id="369" r:id="rId34"/>
    <p:sldId id="447" r:id="rId35"/>
    <p:sldId id="623" r:id="rId36"/>
    <p:sldId id="444" r:id="rId37"/>
    <p:sldId id="587" r:id="rId38"/>
    <p:sldId id="588" r:id="rId39"/>
    <p:sldId id="446" r:id="rId40"/>
    <p:sldId id="448" r:id="rId41"/>
    <p:sldId id="449" r:id="rId42"/>
    <p:sldId id="451" r:id="rId43"/>
    <p:sldId id="452" r:id="rId44"/>
    <p:sldId id="589" r:id="rId45"/>
    <p:sldId id="590" r:id="rId46"/>
    <p:sldId id="591" r:id="rId47"/>
    <p:sldId id="370" r:id="rId48"/>
    <p:sldId id="592" r:id="rId49"/>
    <p:sldId id="593" r:id="rId50"/>
    <p:sldId id="453" r:id="rId51"/>
    <p:sldId id="435" r:id="rId52"/>
    <p:sldId id="371" r:id="rId53"/>
    <p:sldId id="455" r:id="rId54"/>
    <p:sldId id="454" r:id="rId55"/>
    <p:sldId id="456" r:id="rId56"/>
    <p:sldId id="457" r:id="rId57"/>
    <p:sldId id="596" r:id="rId58"/>
    <p:sldId id="595" r:id="rId59"/>
    <p:sldId id="594" r:id="rId60"/>
    <p:sldId id="597" r:id="rId61"/>
    <p:sldId id="458" r:id="rId62"/>
    <p:sldId id="598" r:id="rId63"/>
    <p:sldId id="436" r:id="rId64"/>
    <p:sldId id="459" r:id="rId65"/>
    <p:sldId id="437" r:id="rId66"/>
    <p:sldId id="438" r:id="rId67"/>
    <p:sldId id="599" r:id="rId68"/>
    <p:sldId id="372" r:id="rId69"/>
    <p:sldId id="460" r:id="rId70"/>
    <p:sldId id="564" r:id="rId71"/>
    <p:sldId id="463" r:id="rId72"/>
    <p:sldId id="343" r:id="rId73"/>
    <p:sldId id="373" r:id="rId74"/>
    <p:sldId id="464" r:id="rId75"/>
    <p:sldId id="600" r:id="rId76"/>
    <p:sldId id="465" r:id="rId77"/>
    <p:sldId id="467" r:id="rId78"/>
    <p:sldId id="565" r:id="rId79"/>
    <p:sldId id="468" r:id="rId80"/>
    <p:sldId id="469" r:id="rId81"/>
    <p:sldId id="470" r:id="rId82"/>
    <p:sldId id="471" r:id="rId83"/>
    <p:sldId id="472" r:id="rId84"/>
    <p:sldId id="345" r:id="rId85"/>
    <p:sldId id="473" r:id="rId86"/>
    <p:sldId id="507" r:id="rId87"/>
    <p:sldId id="346" r:id="rId88"/>
    <p:sldId id="475" r:id="rId89"/>
    <p:sldId id="476" r:id="rId90"/>
    <p:sldId id="477" r:id="rId91"/>
    <p:sldId id="601" r:id="rId92"/>
    <p:sldId id="478" r:id="rId93"/>
    <p:sldId id="479" r:id="rId94"/>
    <p:sldId id="480" r:id="rId95"/>
    <p:sldId id="602" r:id="rId96"/>
    <p:sldId id="481" r:id="rId97"/>
    <p:sldId id="482" r:id="rId98"/>
    <p:sldId id="483" r:id="rId99"/>
    <p:sldId id="484" r:id="rId100"/>
    <p:sldId id="485" r:id="rId101"/>
    <p:sldId id="486" r:id="rId102"/>
    <p:sldId id="487" r:id="rId103"/>
    <p:sldId id="474" r:id="rId104"/>
    <p:sldId id="439" r:id="rId105"/>
    <p:sldId id="440" r:id="rId106"/>
    <p:sldId id="605" r:id="rId107"/>
    <p:sldId id="441" r:id="rId108"/>
    <p:sldId id="489" r:id="rId109"/>
    <p:sldId id="490" r:id="rId110"/>
    <p:sldId id="491" r:id="rId111"/>
    <p:sldId id="606" r:id="rId112"/>
    <p:sldId id="492" r:id="rId113"/>
    <p:sldId id="493" r:id="rId114"/>
    <p:sldId id="494" r:id="rId115"/>
    <p:sldId id="495" r:id="rId116"/>
    <p:sldId id="496" r:id="rId117"/>
    <p:sldId id="497" r:id="rId118"/>
    <p:sldId id="498" r:id="rId119"/>
    <p:sldId id="442" r:id="rId120"/>
    <p:sldId id="501" r:id="rId121"/>
    <p:sldId id="502" r:id="rId122"/>
    <p:sldId id="503" r:id="rId123"/>
    <p:sldId id="508" r:id="rId124"/>
    <p:sldId id="509" r:id="rId125"/>
    <p:sldId id="510" r:id="rId126"/>
    <p:sldId id="499" r:id="rId127"/>
    <p:sldId id="500" r:id="rId128"/>
    <p:sldId id="348" r:id="rId129"/>
    <p:sldId id="375" r:id="rId130"/>
    <p:sldId id="350" r:id="rId131"/>
    <p:sldId id="511" r:id="rId132"/>
    <p:sldId id="512" r:id="rId133"/>
    <p:sldId id="513" r:id="rId134"/>
    <p:sldId id="514" r:id="rId135"/>
    <p:sldId id="377" r:id="rId136"/>
    <p:sldId id="378" r:id="rId137"/>
    <p:sldId id="515" r:id="rId138"/>
    <p:sldId id="516" r:id="rId139"/>
    <p:sldId id="517" r:id="rId140"/>
    <p:sldId id="518" r:id="rId141"/>
    <p:sldId id="519" r:id="rId142"/>
    <p:sldId id="520" r:id="rId143"/>
    <p:sldId id="521" r:id="rId144"/>
    <p:sldId id="522" r:id="rId145"/>
    <p:sldId id="523" r:id="rId146"/>
    <p:sldId id="524" r:id="rId147"/>
    <p:sldId id="525" r:id="rId148"/>
    <p:sldId id="526" r:id="rId149"/>
    <p:sldId id="527" r:id="rId150"/>
    <p:sldId id="528" r:id="rId151"/>
    <p:sldId id="529" r:id="rId152"/>
    <p:sldId id="624" r:id="rId153"/>
    <p:sldId id="400" r:id="rId154"/>
    <p:sldId id="416" r:id="rId155"/>
    <p:sldId id="355" r:id="rId156"/>
    <p:sldId id="380" r:id="rId157"/>
    <p:sldId id="396" r:id="rId158"/>
    <p:sldId id="357" r:id="rId159"/>
    <p:sldId id="566" r:id="rId160"/>
    <p:sldId id="358" r:id="rId161"/>
    <p:sldId id="359" r:id="rId162"/>
    <p:sldId id="381" r:id="rId163"/>
    <p:sldId id="626" r:id="rId164"/>
    <p:sldId id="627" r:id="rId165"/>
    <p:sldId id="629" r:id="rId166"/>
    <p:sldId id="630" r:id="rId167"/>
    <p:sldId id="631" r:id="rId168"/>
    <p:sldId id="632" r:id="rId169"/>
    <p:sldId id="633" r:id="rId170"/>
    <p:sldId id="634" r:id="rId171"/>
    <p:sldId id="635" r:id="rId172"/>
    <p:sldId id="636" r:id="rId173"/>
    <p:sldId id="637" r:id="rId174"/>
    <p:sldId id="638" r:id="rId175"/>
    <p:sldId id="639" r:id="rId176"/>
    <p:sldId id="640" r:id="rId177"/>
    <p:sldId id="641" r:id="rId178"/>
    <p:sldId id="642" r:id="rId179"/>
    <p:sldId id="643" r:id="rId180"/>
    <p:sldId id="644" r:id="rId181"/>
    <p:sldId id="645" r:id="rId182"/>
    <p:sldId id="646" r:id="rId183"/>
    <p:sldId id="647" r:id="rId184"/>
    <p:sldId id="648" r:id="rId185"/>
    <p:sldId id="361" r:id="rId186"/>
    <p:sldId id="383" r:id="rId187"/>
    <p:sldId id="384" r:id="rId188"/>
    <p:sldId id="385" r:id="rId189"/>
    <p:sldId id="607" r:id="rId190"/>
    <p:sldId id="608" r:id="rId191"/>
    <p:sldId id="609" r:id="rId192"/>
    <p:sldId id="611" r:id="rId193"/>
    <p:sldId id="612" r:id="rId194"/>
    <p:sldId id="613" r:id="rId195"/>
    <p:sldId id="619" r:id="rId196"/>
    <p:sldId id="620" r:id="rId197"/>
    <p:sldId id="386" r:id="rId198"/>
    <p:sldId id="387" r:id="rId199"/>
    <p:sldId id="531" r:id="rId200"/>
    <p:sldId id="532" r:id="rId201"/>
    <p:sldId id="533" r:id="rId202"/>
    <p:sldId id="535" r:id="rId203"/>
    <p:sldId id="536" r:id="rId204"/>
    <p:sldId id="534" r:id="rId205"/>
    <p:sldId id="537" r:id="rId206"/>
    <p:sldId id="538" r:id="rId207"/>
    <p:sldId id="539" r:id="rId208"/>
    <p:sldId id="542" r:id="rId209"/>
    <p:sldId id="543" r:id="rId210"/>
    <p:sldId id="544" r:id="rId211"/>
    <p:sldId id="545" r:id="rId212"/>
    <p:sldId id="546" r:id="rId213"/>
    <p:sldId id="547" r:id="rId214"/>
    <p:sldId id="548" r:id="rId215"/>
    <p:sldId id="549" r:id="rId216"/>
    <p:sldId id="551" r:id="rId217"/>
    <p:sldId id="550" r:id="rId218"/>
    <p:sldId id="552" r:id="rId219"/>
    <p:sldId id="388" r:id="rId220"/>
    <p:sldId id="553" r:id="rId221"/>
    <p:sldId id="554" r:id="rId222"/>
    <p:sldId id="555" r:id="rId223"/>
    <p:sldId id="556" r:id="rId224"/>
    <p:sldId id="558" r:id="rId225"/>
    <p:sldId id="560" r:id="rId226"/>
    <p:sldId id="614" r:id="rId227"/>
    <p:sldId id="561" r:id="rId228"/>
    <p:sldId id="568" r:id="rId229"/>
    <p:sldId id="562" r:id="rId230"/>
    <p:sldId id="569" r:id="rId231"/>
    <p:sldId id="570" r:id="rId232"/>
    <p:sldId id="571" r:id="rId233"/>
    <p:sldId id="391" r:id="rId234"/>
    <p:sldId id="392" r:id="rId235"/>
    <p:sldId id="572" r:id="rId236"/>
    <p:sldId id="573" r:id="rId237"/>
    <p:sldId id="574" r:id="rId238"/>
    <p:sldId id="575" r:id="rId239"/>
    <p:sldId id="576" r:id="rId240"/>
    <p:sldId id="615" r:id="rId241"/>
    <p:sldId id="393" r:id="rId242"/>
    <p:sldId id="394" r:id="rId243"/>
    <p:sldId id="577" r:id="rId244"/>
    <p:sldId id="579" r:id="rId245"/>
    <p:sldId id="580" r:id="rId246"/>
    <p:sldId id="622" r:id="rId247"/>
    <p:sldId id="581" r:id="rId248"/>
    <p:sldId id="397" r:id="rId249"/>
    <p:sldId id="401" r:id="rId250"/>
    <p:sldId id="399" r:id="rId251"/>
    <p:sldId id="402" r:id="rId252"/>
    <p:sldId id="413" r:id="rId253"/>
    <p:sldId id="656" r:id="rId254"/>
  </p:sldIdLst>
  <p:sldSz cx="9144000" cy="6858000" type="screen4x3"/>
  <p:notesSz cx="7010400" cy="9236075"/>
  <p:defaultTextStyle>
    <a:defPPr>
      <a:defRPr lang="en-US"/>
    </a:defPPr>
    <a:lvl1pPr algn="ctr" rtl="0" fontAlgn="base">
      <a:spcBef>
        <a:spcPct val="0"/>
      </a:spcBef>
      <a:spcAft>
        <a:spcPct val="0"/>
      </a:spcAft>
      <a:defRPr sz="1400" b="1" kern="1200">
        <a:solidFill>
          <a:srgbClr val="FFFF66"/>
        </a:solidFill>
        <a:latin typeface="Arial" charset="0"/>
        <a:ea typeface="+mn-ea"/>
        <a:cs typeface="+mn-cs"/>
      </a:defRPr>
    </a:lvl1pPr>
    <a:lvl2pPr marL="457200" algn="ctr" rtl="0" fontAlgn="base">
      <a:spcBef>
        <a:spcPct val="0"/>
      </a:spcBef>
      <a:spcAft>
        <a:spcPct val="0"/>
      </a:spcAft>
      <a:defRPr sz="1400" b="1" kern="1200">
        <a:solidFill>
          <a:srgbClr val="FFFF66"/>
        </a:solidFill>
        <a:latin typeface="Arial" charset="0"/>
        <a:ea typeface="+mn-ea"/>
        <a:cs typeface="+mn-cs"/>
      </a:defRPr>
    </a:lvl2pPr>
    <a:lvl3pPr marL="914400" algn="ctr" rtl="0" fontAlgn="base">
      <a:spcBef>
        <a:spcPct val="0"/>
      </a:spcBef>
      <a:spcAft>
        <a:spcPct val="0"/>
      </a:spcAft>
      <a:defRPr sz="1400" b="1" kern="1200">
        <a:solidFill>
          <a:srgbClr val="FFFF66"/>
        </a:solidFill>
        <a:latin typeface="Arial" charset="0"/>
        <a:ea typeface="+mn-ea"/>
        <a:cs typeface="+mn-cs"/>
      </a:defRPr>
    </a:lvl3pPr>
    <a:lvl4pPr marL="1371600" algn="ctr" rtl="0" fontAlgn="base">
      <a:spcBef>
        <a:spcPct val="0"/>
      </a:spcBef>
      <a:spcAft>
        <a:spcPct val="0"/>
      </a:spcAft>
      <a:defRPr sz="1400" b="1" kern="1200">
        <a:solidFill>
          <a:srgbClr val="FFFF66"/>
        </a:solidFill>
        <a:latin typeface="Arial" charset="0"/>
        <a:ea typeface="+mn-ea"/>
        <a:cs typeface="+mn-cs"/>
      </a:defRPr>
    </a:lvl4pPr>
    <a:lvl5pPr marL="1828800" algn="ctr" rtl="0" fontAlgn="base">
      <a:spcBef>
        <a:spcPct val="0"/>
      </a:spcBef>
      <a:spcAft>
        <a:spcPct val="0"/>
      </a:spcAft>
      <a:defRPr sz="1400" b="1" kern="1200">
        <a:solidFill>
          <a:srgbClr val="FFFF66"/>
        </a:solidFill>
        <a:latin typeface="Arial" charset="0"/>
        <a:ea typeface="+mn-ea"/>
        <a:cs typeface="+mn-cs"/>
      </a:defRPr>
    </a:lvl5pPr>
    <a:lvl6pPr marL="2286000" algn="l" defTabSz="914400" rtl="0" eaLnBrk="1" latinLnBrk="0" hangingPunct="1">
      <a:defRPr sz="1400" b="1" kern="1200">
        <a:solidFill>
          <a:srgbClr val="FFFF66"/>
        </a:solidFill>
        <a:latin typeface="Arial" charset="0"/>
        <a:ea typeface="+mn-ea"/>
        <a:cs typeface="+mn-cs"/>
      </a:defRPr>
    </a:lvl6pPr>
    <a:lvl7pPr marL="2743200" algn="l" defTabSz="914400" rtl="0" eaLnBrk="1" latinLnBrk="0" hangingPunct="1">
      <a:defRPr sz="1400" b="1" kern="1200">
        <a:solidFill>
          <a:srgbClr val="FFFF66"/>
        </a:solidFill>
        <a:latin typeface="Arial" charset="0"/>
        <a:ea typeface="+mn-ea"/>
        <a:cs typeface="+mn-cs"/>
      </a:defRPr>
    </a:lvl7pPr>
    <a:lvl8pPr marL="3200400" algn="l" defTabSz="914400" rtl="0" eaLnBrk="1" latinLnBrk="0" hangingPunct="1">
      <a:defRPr sz="1400" b="1" kern="1200">
        <a:solidFill>
          <a:srgbClr val="FFFF66"/>
        </a:solidFill>
        <a:latin typeface="Arial" charset="0"/>
        <a:ea typeface="+mn-ea"/>
        <a:cs typeface="+mn-cs"/>
      </a:defRPr>
    </a:lvl8pPr>
    <a:lvl9pPr marL="3657600" algn="l" defTabSz="914400" rtl="0" eaLnBrk="1" latinLnBrk="0" hangingPunct="1">
      <a:defRPr sz="1400" b="1" kern="1200">
        <a:solidFill>
          <a:srgbClr val="FFFF66"/>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p15:clr>
            <a:srgbClr val="A4A3A4"/>
          </p15:clr>
        </p15:guide>
        <p15:guide id="2" pos="220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017B2B-AD79-B165-B49B-5559F30FB53B}" name="FINLEY, TERRY CIV USAF AFMC 431 SCMS/GUMB" initials="TF" userId="S::terry.finley@us.af.mil::c9b47266-48f9-4b56-89fc-57e8b884ecd5" providerId="AD"/>
  <p188:author id="{E23B1B2D-21DA-29FD-3093-DD3434AA2024}" name="MCLEAN, JEREMY K CIV USAF AFMC 431 SCMS/GUMA" initials="JM" userId="S::jeremy.mclean@us.af.mil::f397cf71-47ed-425c-be33-41f8ce4f6f5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John.Forehand" initials="J.F."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F0000"/>
    <a:srgbClr val="FF0066"/>
    <a:srgbClr val="00308F"/>
    <a:srgbClr val="8E918B"/>
    <a:srgbClr val="8F8F8C"/>
    <a:srgbClr val="000099"/>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14" autoAdjust="0"/>
    <p:restoredTop sz="71558" autoAdjust="0"/>
  </p:normalViewPr>
  <p:slideViewPr>
    <p:cSldViewPr>
      <p:cViewPr varScale="1">
        <p:scale>
          <a:sx n="65" d="100"/>
          <a:sy n="65" d="100"/>
        </p:scale>
        <p:origin x="223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9120"/>
    </p:cViewPr>
  </p:sorterViewPr>
  <p:notesViewPr>
    <p:cSldViewPr>
      <p:cViewPr>
        <p:scale>
          <a:sx n="100" d="100"/>
          <a:sy n="100" d="100"/>
        </p:scale>
        <p:origin x="1398" y="126"/>
      </p:cViewPr>
      <p:guideLst>
        <p:guide orient="horz" pos="2909"/>
        <p:guide pos="2209"/>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226" Type="http://schemas.openxmlformats.org/officeDocument/2006/relationships/slide" Target="slides/slide222.xml"/><Relationship Id="rId247" Type="http://schemas.openxmlformats.org/officeDocument/2006/relationships/slide" Target="slides/slide243.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openxmlformats.org/officeDocument/2006/relationships/slide" Target="slides/slide212.xml"/><Relationship Id="rId237" Type="http://schemas.openxmlformats.org/officeDocument/2006/relationships/slide" Target="slides/slide233.xml"/><Relationship Id="rId258" Type="http://schemas.openxmlformats.org/officeDocument/2006/relationships/presProps" Target="presProps.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227" Type="http://schemas.openxmlformats.org/officeDocument/2006/relationships/slide" Target="slides/slide223.xml"/><Relationship Id="rId248" Type="http://schemas.openxmlformats.org/officeDocument/2006/relationships/slide" Target="slides/slide244.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slide" Target="slides/slide234.xml"/><Relationship Id="rId259" Type="http://schemas.openxmlformats.org/officeDocument/2006/relationships/viewProps" Target="viewProps.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theme" Target="theme/theme1.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tableStyles" Target="tableStyles.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microsoft.com/office/2018/10/relationships/authors" Target="authors.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notesMaster" Target="notesMasters/notesMaster1.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handoutMaster" Target="handoutMasters/handoutMaster1.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commentAuthors" Target="commentAuthors.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s>
</file>

<file path=ppt/comments/modernComment_1B5_0.xml><?xml version="1.0" encoding="utf-8"?>
<p188:cmLst xmlns:a="http://schemas.openxmlformats.org/drawingml/2006/main" xmlns:r="http://schemas.openxmlformats.org/officeDocument/2006/relationships" xmlns:p188="http://schemas.microsoft.com/office/powerpoint/2018/8/main">
  <p188:cm id="{1420EA68-3C75-4525-B4CA-13EE7A58C26E}" authorId="{15017B2B-AD79-B165-B49B-5559F30FB53B}" created="2025-11-06T15:51:19.636">
    <pc:sldMkLst xmlns:pc="http://schemas.microsoft.com/office/powerpoint/2013/main/command">
      <pc:docMk/>
      <pc:sldMk cId="0" sldId="437"/>
    </pc:sldMkLst>
    <p188:txBody>
      <a:bodyPr/>
      <a:lstStyle/>
      <a:p>
        <a:r>
          <a:rPr lang="en-US"/>
          <a:t>Define acronym REMIS</a:t>
        </a:r>
      </a:p>
    </p188:txBody>
  </p188:cm>
</p188:cmLst>
</file>

<file path=ppt/comments/modernComment_1D5_0.xml><?xml version="1.0" encoding="utf-8"?>
<p188:cmLst xmlns:a="http://schemas.openxmlformats.org/drawingml/2006/main" xmlns:r="http://schemas.openxmlformats.org/officeDocument/2006/relationships" xmlns:p188="http://schemas.microsoft.com/office/powerpoint/2018/8/main">
  <p188:cm id="{F97ED9B3-F73C-4401-BAF8-850C2C5A3EB6}" authorId="{15017B2B-AD79-B165-B49B-5559F30FB53B}" created="2025-11-06T15:54:54.661">
    <pc:sldMkLst xmlns:pc="http://schemas.microsoft.com/office/powerpoint/2013/main/command">
      <pc:docMk/>
      <pc:sldMk cId="0" sldId="469"/>
    </pc:sldMkLst>
    <p188:txBody>
      <a:bodyPr/>
      <a:lstStyle/>
      <a:p>
        <a:r>
          <a:rPr lang="en-US"/>
          <a:t>Add in notes for T.O. categories.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7523" cy="461647"/>
          </a:xfrm>
          <a:prstGeom prst="rect">
            <a:avLst/>
          </a:prstGeom>
          <a:noFill/>
          <a:ln w="9525">
            <a:noFill/>
            <a:miter lim="800000"/>
            <a:headEnd/>
            <a:tailEnd/>
          </a:ln>
          <a:effectLst/>
        </p:spPr>
        <p:txBody>
          <a:bodyPr vert="horz" wrap="square" lIns="92801" tIns="46402" rIns="92801" bIns="46402" numCol="1" anchor="t" anchorCtr="0" compatLnSpc="1">
            <a:prstTxWarp prst="textNoShape">
              <a:avLst/>
            </a:prstTxWarp>
          </a:bodyPr>
          <a:lstStyle>
            <a:lvl1pPr algn="l" defTabSz="929605">
              <a:defRPr sz="1200" b="0">
                <a:solidFill>
                  <a:schemeClr val="tx1"/>
                </a:solidFill>
                <a:latin typeface="Times New Roman" pitchFamily="18" charset="0"/>
              </a:defRPr>
            </a:lvl1pPr>
          </a:lstStyle>
          <a:p>
            <a:pPr>
              <a:defRPr/>
            </a:pPr>
            <a:endParaRPr lang="en-US"/>
          </a:p>
        </p:txBody>
      </p:sp>
      <p:sp>
        <p:nvSpPr>
          <p:cNvPr id="4099" name="Rectangle 3"/>
          <p:cNvSpPr>
            <a:spLocks noGrp="1" noChangeArrowheads="1"/>
          </p:cNvSpPr>
          <p:nvPr>
            <p:ph type="dt" sz="quarter" idx="1"/>
          </p:nvPr>
        </p:nvSpPr>
        <p:spPr bwMode="auto">
          <a:xfrm>
            <a:off x="3972877" y="0"/>
            <a:ext cx="3037523" cy="461647"/>
          </a:xfrm>
          <a:prstGeom prst="rect">
            <a:avLst/>
          </a:prstGeom>
          <a:noFill/>
          <a:ln w="9525">
            <a:noFill/>
            <a:miter lim="800000"/>
            <a:headEnd/>
            <a:tailEnd/>
          </a:ln>
          <a:effectLst/>
        </p:spPr>
        <p:txBody>
          <a:bodyPr vert="horz" wrap="square" lIns="92801" tIns="46402" rIns="92801" bIns="46402" numCol="1" anchor="t" anchorCtr="0" compatLnSpc="1">
            <a:prstTxWarp prst="textNoShape">
              <a:avLst/>
            </a:prstTxWarp>
          </a:bodyPr>
          <a:lstStyle>
            <a:lvl1pPr algn="r" defTabSz="929605">
              <a:defRPr sz="1200" b="0">
                <a:solidFill>
                  <a:schemeClr val="tx1"/>
                </a:solidFill>
                <a:latin typeface="Times New Roman" pitchFamily="18" charset="0"/>
              </a:defRPr>
            </a:lvl1pPr>
          </a:lstStyle>
          <a:p>
            <a:pPr>
              <a:defRPr/>
            </a:pPr>
            <a:fld id="{230FD126-31A8-4EA0-8536-95C1E264BFC2}" type="datetime1">
              <a:rPr lang="en-US"/>
              <a:pPr>
                <a:defRPr/>
              </a:pPr>
              <a:t>4/6/2026</a:t>
            </a:fld>
            <a:endParaRPr lang="en-US"/>
          </a:p>
        </p:txBody>
      </p:sp>
      <p:sp>
        <p:nvSpPr>
          <p:cNvPr id="4100" name="Rectangle 4"/>
          <p:cNvSpPr>
            <a:spLocks noGrp="1" noChangeArrowheads="1"/>
          </p:cNvSpPr>
          <p:nvPr>
            <p:ph type="ftr" sz="quarter" idx="2"/>
          </p:nvPr>
        </p:nvSpPr>
        <p:spPr bwMode="auto">
          <a:xfrm>
            <a:off x="0" y="8774430"/>
            <a:ext cx="3037523" cy="461646"/>
          </a:xfrm>
          <a:prstGeom prst="rect">
            <a:avLst/>
          </a:prstGeom>
          <a:noFill/>
          <a:ln w="9525">
            <a:noFill/>
            <a:miter lim="800000"/>
            <a:headEnd/>
            <a:tailEnd/>
          </a:ln>
          <a:effectLst/>
        </p:spPr>
        <p:txBody>
          <a:bodyPr vert="horz" wrap="square" lIns="92801" tIns="46402" rIns="92801" bIns="46402" numCol="1" anchor="b" anchorCtr="0" compatLnSpc="1">
            <a:prstTxWarp prst="textNoShape">
              <a:avLst/>
            </a:prstTxWarp>
          </a:bodyPr>
          <a:lstStyle>
            <a:lvl1pPr algn="l" defTabSz="929605">
              <a:defRPr sz="1200" b="0">
                <a:solidFill>
                  <a:schemeClr val="tx1"/>
                </a:solidFill>
                <a:latin typeface="Times New Roman" pitchFamily="18" charset="0"/>
              </a:defRPr>
            </a:lvl1pPr>
          </a:lstStyle>
          <a:p>
            <a:pPr>
              <a:defRPr/>
            </a:pPr>
            <a:endParaRPr lang="en-US"/>
          </a:p>
        </p:txBody>
      </p:sp>
      <p:sp>
        <p:nvSpPr>
          <p:cNvPr id="4101" name="Rectangle 5"/>
          <p:cNvSpPr>
            <a:spLocks noGrp="1" noChangeArrowheads="1"/>
          </p:cNvSpPr>
          <p:nvPr>
            <p:ph type="sldNum" sz="quarter" idx="3"/>
          </p:nvPr>
        </p:nvSpPr>
        <p:spPr bwMode="auto">
          <a:xfrm>
            <a:off x="3972877" y="8774430"/>
            <a:ext cx="3037523" cy="461646"/>
          </a:xfrm>
          <a:prstGeom prst="rect">
            <a:avLst/>
          </a:prstGeom>
          <a:noFill/>
          <a:ln w="9525">
            <a:noFill/>
            <a:miter lim="800000"/>
            <a:headEnd/>
            <a:tailEnd/>
          </a:ln>
          <a:effectLst/>
        </p:spPr>
        <p:txBody>
          <a:bodyPr vert="horz" wrap="square" lIns="92801" tIns="46402" rIns="92801" bIns="46402" numCol="1" anchor="b" anchorCtr="0" compatLnSpc="1">
            <a:prstTxWarp prst="textNoShape">
              <a:avLst/>
            </a:prstTxWarp>
          </a:bodyPr>
          <a:lstStyle>
            <a:lvl1pPr algn="r" defTabSz="929605">
              <a:defRPr sz="1200" b="0">
                <a:solidFill>
                  <a:schemeClr val="tx1"/>
                </a:solidFill>
                <a:latin typeface="Times New Roman" pitchFamily="18" charset="0"/>
              </a:defRPr>
            </a:lvl1pPr>
          </a:lstStyle>
          <a:p>
            <a:pPr>
              <a:defRPr/>
            </a:pPr>
            <a:fld id="{67004FC5-E8D2-46F5-B7E5-506929B22FB8}" type="slidenum">
              <a:rPr lang="en-US"/>
              <a:pPr>
                <a:defRPr/>
              </a:pPr>
              <a:t>‹#›</a:t>
            </a:fld>
            <a:endParaRPr lang="en-US"/>
          </a:p>
        </p:txBody>
      </p:sp>
    </p:spTree>
    <p:extLst>
      <p:ext uri="{BB962C8B-B14F-4D97-AF65-F5344CB8AC3E}">
        <p14:creationId xmlns:p14="http://schemas.microsoft.com/office/powerpoint/2010/main" val="528407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37523" cy="461647"/>
          </a:xfrm>
          <a:prstGeom prst="rect">
            <a:avLst/>
          </a:prstGeom>
          <a:noFill/>
          <a:ln w="9525">
            <a:noFill/>
            <a:miter lim="800000"/>
            <a:headEnd/>
            <a:tailEnd/>
          </a:ln>
          <a:effectLst/>
        </p:spPr>
        <p:txBody>
          <a:bodyPr vert="horz" wrap="square" lIns="92801" tIns="46402" rIns="92801" bIns="46402" numCol="1" anchor="t" anchorCtr="0" compatLnSpc="1">
            <a:prstTxWarp prst="textNoShape">
              <a:avLst/>
            </a:prstTxWarp>
          </a:bodyPr>
          <a:lstStyle>
            <a:lvl1pPr algn="l" defTabSz="929605">
              <a:defRPr sz="1200" b="0">
                <a:solidFill>
                  <a:schemeClr val="tx1"/>
                </a:solidFill>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3972877" y="0"/>
            <a:ext cx="3037523" cy="461647"/>
          </a:xfrm>
          <a:prstGeom prst="rect">
            <a:avLst/>
          </a:prstGeom>
          <a:noFill/>
          <a:ln w="9525">
            <a:noFill/>
            <a:miter lim="800000"/>
            <a:headEnd/>
            <a:tailEnd/>
          </a:ln>
          <a:effectLst/>
        </p:spPr>
        <p:txBody>
          <a:bodyPr vert="horz" wrap="square" lIns="92801" tIns="46402" rIns="92801" bIns="46402" numCol="1" anchor="t" anchorCtr="0" compatLnSpc="1">
            <a:prstTxWarp prst="textNoShape">
              <a:avLst/>
            </a:prstTxWarp>
          </a:bodyPr>
          <a:lstStyle>
            <a:lvl1pPr algn="r" defTabSz="929605">
              <a:defRPr sz="1200" b="0">
                <a:solidFill>
                  <a:schemeClr val="tx1"/>
                </a:solidFill>
                <a:latin typeface="Times New Roman" pitchFamily="18" charset="0"/>
              </a:defRPr>
            </a:lvl1pPr>
          </a:lstStyle>
          <a:p>
            <a:pPr>
              <a:defRPr/>
            </a:pPr>
            <a:fld id="{72FE0557-4E4D-4AB0-BEFD-E6972C378D74}" type="datetime1">
              <a:rPr lang="en-US"/>
              <a:pPr>
                <a:defRPr/>
              </a:pPr>
              <a:t>4/6/2026</a:t>
            </a:fld>
            <a:endParaRPr lang="en-US"/>
          </a:p>
        </p:txBody>
      </p:sp>
      <p:sp>
        <p:nvSpPr>
          <p:cNvPr id="286724" name="Rectangle 4"/>
          <p:cNvSpPr>
            <a:spLocks noGrp="1" noRot="1" noChangeAspect="1" noChangeArrowheads="1" noTextEdit="1"/>
          </p:cNvSpPr>
          <p:nvPr>
            <p:ph type="sldImg" idx="2"/>
          </p:nvPr>
        </p:nvSpPr>
        <p:spPr bwMode="auto">
          <a:xfrm>
            <a:off x="1195388" y="693738"/>
            <a:ext cx="4616450" cy="3462337"/>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35354" y="4386427"/>
            <a:ext cx="5139692" cy="4156391"/>
          </a:xfrm>
          <a:prstGeom prst="rect">
            <a:avLst/>
          </a:prstGeom>
          <a:noFill/>
          <a:ln w="9525">
            <a:noFill/>
            <a:miter lim="800000"/>
            <a:headEnd/>
            <a:tailEnd/>
          </a:ln>
          <a:effectLst/>
        </p:spPr>
        <p:txBody>
          <a:bodyPr vert="horz" wrap="square" lIns="92801" tIns="46402" rIns="92801" bIns="4640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774430"/>
            <a:ext cx="3037523" cy="461646"/>
          </a:xfrm>
          <a:prstGeom prst="rect">
            <a:avLst/>
          </a:prstGeom>
          <a:noFill/>
          <a:ln w="9525">
            <a:noFill/>
            <a:miter lim="800000"/>
            <a:headEnd/>
            <a:tailEnd/>
          </a:ln>
          <a:effectLst/>
        </p:spPr>
        <p:txBody>
          <a:bodyPr vert="horz" wrap="square" lIns="92801" tIns="46402" rIns="92801" bIns="46402" numCol="1" anchor="b" anchorCtr="0" compatLnSpc="1">
            <a:prstTxWarp prst="textNoShape">
              <a:avLst/>
            </a:prstTxWarp>
          </a:bodyPr>
          <a:lstStyle>
            <a:lvl1pPr algn="l" defTabSz="929605">
              <a:defRPr sz="1200" b="0">
                <a:solidFill>
                  <a:schemeClr val="tx1"/>
                </a:solidFill>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3972877" y="8774430"/>
            <a:ext cx="3037523" cy="461646"/>
          </a:xfrm>
          <a:prstGeom prst="rect">
            <a:avLst/>
          </a:prstGeom>
          <a:noFill/>
          <a:ln w="9525">
            <a:noFill/>
            <a:miter lim="800000"/>
            <a:headEnd/>
            <a:tailEnd/>
          </a:ln>
          <a:effectLst/>
        </p:spPr>
        <p:txBody>
          <a:bodyPr vert="horz" wrap="square" lIns="92801" tIns="46402" rIns="92801" bIns="46402" numCol="1" anchor="b" anchorCtr="0" compatLnSpc="1">
            <a:prstTxWarp prst="textNoShape">
              <a:avLst/>
            </a:prstTxWarp>
          </a:bodyPr>
          <a:lstStyle>
            <a:lvl1pPr algn="r" defTabSz="929605">
              <a:defRPr sz="1200" b="0">
                <a:solidFill>
                  <a:schemeClr val="tx1"/>
                </a:solidFill>
                <a:latin typeface="Times New Roman" pitchFamily="18" charset="0"/>
              </a:defRPr>
            </a:lvl1pPr>
          </a:lstStyle>
          <a:p>
            <a:pPr>
              <a:defRPr/>
            </a:pPr>
            <a:fld id="{CD861CF3-7479-4F31-8675-F1E0CB209159}" type="slidenum">
              <a:rPr lang="en-US"/>
              <a:pPr>
                <a:defRPr/>
              </a:pPr>
              <a:t>‹#›</a:t>
            </a:fld>
            <a:endParaRPr lang="en-US"/>
          </a:p>
        </p:txBody>
      </p:sp>
    </p:spTree>
    <p:extLst>
      <p:ext uri="{BB962C8B-B14F-4D97-AF65-F5344CB8AC3E}">
        <p14:creationId xmlns:p14="http://schemas.microsoft.com/office/powerpoint/2010/main" val="27143223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p>
            <a:pPr defTabSz="928876"/>
            <a:fld id="{8F5D6074-132C-4525-A0FB-2E9C51236D15}" type="slidenum">
              <a:rPr lang="en-US" smtClean="0"/>
              <a:pPr defTabSz="928876"/>
              <a:t>1</a:t>
            </a:fld>
            <a:endParaRPr lang="en-US"/>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D861CF3-7479-4F31-8675-F1E0CB209159}" type="slidenum">
              <a:rPr lang="en-US" smtClean="0"/>
              <a:pPr>
                <a:defRPr/>
              </a:pPr>
              <a:t>5</a:t>
            </a:fld>
            <a:endParaRPr lang="en-US"/>
          </a:p>
        </p:txBody>
      </p:sp>
    </p:spTree>
    <p:extLst>
      <p:ext uri="{BB962C8B-B14F-4D97-AF65-F5344CB8AC3E}">
        <p14:creationId xmlns:p14="http://schemas.microsoft.com/office/powerpoint/2010/main" val="2167738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p:spPr>
        <p:txBody>
          <a:bodyPr/>
          <a:lstStyle/>
          <a:p>
            <a:pPr defTabSz="928876"/>
            <a:fld id="{09712195-EB92-4399-B5B3-95A2254EE51F}" type="slidenum">
              <a:rPr lang="en-US" smtClean="0"/>
              <a:pPr defTabSz="928876"/>
              <a:t>13</a:t>
            </a:fld>
            <a:endParaRPr lang="en-US"/>
          </a:p>
        </p:txBody>
      </p:sp>
      <p:sp>
        <p:nvSpPr>
          <p:cNvPr id="288771" name="Rectangle 2"/>
          <p:cNvSpPr>
            <a:spLocks noGrp="1" noRot="1" noChangeAspect="1" noChangeArrowheads="1" noTextEdit="1"/>
          </p:cNvSpPr>
          <p:nvPr>
            <p:ph type="sldImg"/>
          </p:nvPr>
        </p:nvSpPr>
        <p:spPr>
          <a:ln/>
        </p:spPr>
      </p:sp>
      <p:sp>
        <p:nvSpPr>
          <p:cNvPr id="288772" name="Rectangle 3"/>
          <p:cNvSpPr>
            <a:spLocks noGrp="1" noChangeArrowheads="1"/>
          </p:cNvSpPr>
          <p:nvPr>
            <p:ph type="body" idx="1"/>
          </p:nvPr>
        </p:nvSpPr>
        <p:spPr>
          <a:noFill/>
          <a:ln/>
        </p:spPr>
        <p:txBody>
          <a:bodyPr/>
          <a:lstStyle/>
          <a:p>
            <a:pPr eaLnBrk="1" hangingPunct="1"/>
            <a:r>
              <a:rPr lang="en-US" dirty="0"/>
              <a:t>Software only changes can also be announced by one of the following method IAW 00-5-15: </a:t>
            </a:r>
          </a:p>
          <a:p>
            <a:pPr eaLnBrk="1" hangingPunct="1"/>
            <a:r>
              <a:rPr lang="en-US" dirty="0"/>
              <a:t>1-1.3.1 Software-only changes to baseline computer programs are normally announced by TCTO (reference this TO and TO 00-5-17). When multiple CPINs apply to a series of system technical orders (i.e., 12P3-2ALQ172 series) they may be included in one TCTO.</a:t>
            </a:r>
          </a:p>
          <a:p>
            <a:pPr eaLnBrk="1" hangingPunct="1"/>
            <a:r>
              <a:rPr lang="en-US" dirty="0"/>
              <a:t>1-1.3.2 Software-only changes to computer programs used exclusively by activities collocated at the same Air Logistics Center (ALC) will not require a TCTO unless otherwise directed by the operational/support configuration management procedures.</a:t>
            </a:r>
          </a:p>
          <a:p>
            <a:pPr eaLnBrk="1" hangingPunct="1"/>
            <a:r>
              <a:rPr lang="en-US" dirty="0"/>
              <a:t>1-1.3.3 Alternative methods used to announce software-only changes include message, letter of transmittal or electronic bulletin board. If these methods are used, the Single Manager (SM), CPIN or Technical Content Manager (TCM) must coordinate procedures with affected using commands, and establish positive measures to ensure configuration control of the entire inventory. TCTO numbers and data codes will be used with these alternative methods.</a:t>
            </a:r>
          </a:p>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needs document used by congress</a:t>
            </a:r>
            <a:r>
              <a:rPr lang="en-US" baseline="0" dirty="0"/>
              <a:t> to approve additional funding.  Cant ask for money without it</a:t>
            </a:r>
          </a:p>
          <a:p>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14</a:t>
            </a:fld>
            <a:endParaRPr lang="en-US"/>
          </a:p>
        </p:txBody>
      </p:sp>
    </p:spTree>
    <p:extLst>
      <p:ext uri="{BB962C8B-B14F-4D97-AF65-F5344CB8AC3E}">
        <p14:creationId xmlns:p14="http://schemas.microsoft.com/office/powerpoint/2010/main" val="2111138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15</a:t>
            </a:fld>
            <a:endParaRPr lang="en-US"/>
          </a:p>
        </p:txBody>
      </p:sp>
    </p:spTree>
    <p:extLst>
      <p:ext uri="{BB962C8B-B14F-4D97-AF65-F5344CB8AC3E}">
        <p14:creationId xmlns:p14="http://schemas.microsoft.com/office/powerpoint/2010/main" val="3230311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a:t>
            </a:r>
            <a:r>
              <a:rPr lang="en-US" baseline="0" dirty="0"/>
              <a:t> sure the need is matched against the ORD (operation requirements document; which is used to say what the mission of the particular item is used for)</a:t>
            </a:r>
          </a:p>
          <a:p>
            <a:r>
              <a:rPr lang="en-US" baseline="0" dirty="0"/>
              <a:t>Safety issues will usually be pushed to the top of the list</a:t>
            </a:r>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16</a:t>
            </a:fld>
            <a:endParaRPr lang="en-US"/>
          </a:p>
        </p:txBody>
      </p:sp>
    </p:spTree>
    <p:extLst>
      <p:ext uri="{BB962C8B-B14F-4D97-AF65-F5344CB8AC3E}">
        <p14:creationId xmlns:p14="http://schemas.microsoft.com/office/powerpoint/2010/main" val="3382157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 – single manager/ generally refers to an office.  Squadron</a:t>
            </a:r>
            <a:r>
              <a:rPr lang="en-US" baseline="0" dirty="0"/>
              <a:t> in charge</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17</a:t>
            </a:fld>
            <a:endParaRPr lang="en-US"/>
          </a:p>
        </p:txBody>
      </p:sp>
    </p:spTree>
    <p:extLst>
      <p:ext uri="{BB962C8B-B14F-4D97-AF65-F5344CB8AC3E}">
        <p14:creationId xmlns:p14="http://schemas.microsoft.com/office/powerpoint/2010/main" val="2980633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 forms drives the IPT team</a:t>
            </a:r>
            <a:r>
              <a:rPr lang="en-US" baseline="0" dirty="0"/>
              <a:t> on what to do</a:t>
            </a:r>
          </a:p>
          <a:p>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19</a:t>
            </a:fld>
            <a:endParaRPr lang="en-US"/>
          </a:p>
        </p:txBody>
      </p:sp>
    </p:spTree>
    <p:extLst>
      <p:ext uri="{BB962C8B-B14F-4D97-AF65-F5344CB8AC3E}">
        <p14:creationId xmlns:p14="http://schemas.microsoft.com/office/powerpoint/2010/main" val="3580290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a:noFill/>
        </p:spPr>
        <p:txBody>
          <a:bodyPr/>
          <a:lstStyle/>
          <a:p>
            <a:pPr defTabSz="928876"/>
            <a:fld id="{82391139-4555-49CB-BBF2-B9D5F827CD4D}" type="slidenum">
              <a:rPr lang="en-US" smtClean="0"/>
              <a:pPr defTabSz="928876"/>
              <a:t>20</a:t>
            </a:fld>
            <a:endParaRPr lang="en-US"/>
          </a:p>
        </p:txBody>
      </p:sp>
      <p:sp>
        <p:nvSpPr>
          <p:cNvPr id="289795" name="Rectangle 2"/>
          <p:cNvSpPr>
            <a:spLocks noGrp="1" noRot="1" noChangeAspect="1" noChangeArrowheads="1" noTextEdit="1"/>
          </p:cNvSpPr>
          <p:nvPr>
            <p:ph type="sldImg"/>
          </p:nvPr>
        </p:nvSpPr>
        <p:spPr>
          <a:ln/>
        </p:spPr>
      </p:sp>
      <p:sp>
        <p:nvSpPr>
          <p:cNvPr id="289796"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3880D is how</a:t>
            </a:r>
            <a:r>
              <a:rPr lang="en-US" baseline="0" dirty="0"/>
              <a:t> T.O.s are supposed to be formatted to look a certain away, even down to font size</a:t>
            </a:r>
          </a:p>
          <a:p>
            <a:endParaRPr lang="en-US" baseline="0" dirty="0"/>
          </a:p>
          <a:p>
            <a:r>
              <a:rPr lang="en-US" baseline="0" dirty="0"/>
              <a:t>Inspection only T.O. may not have an 874, so it just depends.  More than likely you will have 3 of 4 documents</a:t>
            </a:r>
          </a:p>
          <a:p>
            <a:endParaRPr lang="en-US" baseline="0" dirty="0"/>
          </a:p>
          <a:p>
            <a:r>
              <a:rPr lang="en-US" baseline="0" dirty="0"/>
              <a:t>Will always have a verification certificate, AF Form 82</a:t>
            </a:r>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21</a:t>
            </a:fld>
            <a:endParaRPr lang="en-US"/>
          </a:p>
        </p:txBody>
      </p:sp>
    </p:spTree>
    <p:extLst>
      <p:ext uri="{BB962C8B-B14F-4D97-AF65-F5344CB8AC3E}">
        <p14:creationId xmlns:p14="http://schemas.microsoft.com/office/powerpoint/2010/main" val="654254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 to verify</a:t>
            </a:r>
            <a:r>
              <a:rPr lang="en-US" baseline="0" dirty="0"/>
              <a:t> everything is correct before its release</a:t>
            </a:r>
          </a:p>
          <a:p>
            <a:endParaRPr lang="en-US" baseline="0" dirty="0"/>
          </a:p>
          <a:p>
            <a:r>
              <a:rPr lang="en-US" baseline="0" dirty="0"/>
              <a:t>TCM – Technical content manager (DOW definition of an ES</a:t>
            </a:r>
          </a:p>
          <a:p>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23</a:t>
            </a:fld>
            <a:endParaRPr lang="en-US"/>
          </a:p>
        </p:txBody>
      </p:sp>
    </p:spTree>
    <p:extLst>
      <p:ext uri="{BB962C8B-B14F-4D97-AF65-F5344CB8AC3E}">
        <p14:creationId xmlns:p14="http://schemas.microsoft.com/office/powerpoint/2010/main" val="1639386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D861CF3-7479-4F31-8675-F1E0CB209159}" type="slidenum">
              <a:rPr lang="en-US" smtClean="0"/>
              <a:pPr>
                <a:defRPr/>
              </a:pPr>
              <a:t>26</a:t>
            </a:fld>
            <a:endParaRPr lang="en-US"/>
          </a:p>
        </p:txBody>
      </p:sp>
    </p:spTree>
    <p:extLst>
      <p:ext uri="{BB962C8B-B14F-4D97-AF65-F5344CB8AC3E}">
        <p14:creationId xmlns:p14="http://schemas.microsoft.com/office/powerpoint/2010/main" val="3650376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have a verification</a:t>
            </a:r>
            <a:r>
              <a:rPr lang="en-US" baseline="0" dirty="0"/>
              <a:t> (form 82) or a waiver stating they don’t need</a:t>
            </a:r>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27</a:t>
            </a:fld>
            <a:endParaRPr lang="en-US"/>
          </a:p>
        </p:txBody>
      </p:sp>
    </p:spTree>
    <p:extLst>
      <p:ext uri="{BB962C8B-B14F-4D97-AF65-F5344CB8AC3E}">
        <p14:creationId xmlns:p14="http://schemas.microsoft.com/office/powerpoint/2010/main" val="2559572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a production kit not a prototype kit</a:t>
            </a:r>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28</a:t>
            </a:fld>
            <a:endParaRPr lang="en-US"/>
          </a:p>
        </p:txBody>
      </p:sp>
    </p:spTree>
    <p:extLst>
      <p:ext uri="{BB962C8B-B14F-4D97-AF65-F5344CB8AC3E}">
        <p14:creationId xmlns:p14="http://schemas.microsoft.com/office/powerpoint/2010/main" val="3204313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29</a:t>
            </a:fld>
            <a:endParaRPr lang="en-US"/>
          </a:p>
        </p:txBody>
      </p:sp>
    </p:spTree>
    <p:extLst>
      <p:ext uri="{BB962C8B-B14F-4D97-AF65-F5344CB8AC3E}">
        <p14:creationId xmlns:p14="http://schemas.microsoft.com/office/powerpoint/2010/main" val="530323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 make sure every part listed in the T.O. was used in</a:t>
            </a:r>
            <a:r>
              <a:rPr lang="en-US" baseline="0" dirty="0"/>
              <a:t> assembled product</a:t>
            </a:r>
          </a:p>
          <a:p>
            <a:endParaRPr lang="en-US" baseline="0" dirty="0"/>
          </a:p>
          <a:p>
            <a:r>
              <a:rPr lang="en-US" baseline="0" dirty="0"/>
              <a:t>FCA – make sure asset functions as T.O. </a:t>
            </a:r>
            <a:r>
              <a:rPr lang="en-US" baseline="0" dirty="0" err="1"/>
              <a:t>mentiona</a:t>
            </a:r>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36</a:t>
            </a:fld>
            <a:endParaRPr lang="en-US"/>
          </a:p>
        </p:txBody>
      </p:sp>
    </p:spTree>
    <p:extLst>
      <p:ext uri="{BB962C8B-B14F-4D97-AF65-F5344CB8AC3E}">
        <p14:creationId xmlns:p14="http://schemas.microsoft.com/office/powerpoint/2010/main" val="2249723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something little.  Like the pain color</a:t>
            </a:r>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48</a:t>
            </a:fld>
            <a:endParaRPr lang="en-US"/>
          </a:p>
        </p:txBody>
      </p:sp>
    </p:spTree>
    <p:extLst>
      <p:ext uri="{BB962C8B-B14F-4D97-AF65-F5344CB8AC3E}">
        <p14:creationId xmlns:p14="http://schemas.microsoft.com/office/powerpoint/2010/main" val="2399061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(SOO)</a:t>
            </a:r>
            <a:r>
              <a:rPr lang="en-US" baseline="0" dirty="0"/>
              <a:t> </a:t>
            </a:r>
            <a:r>
              <a:rPr lang="en-US" dirty="0"/>
              <a:t>Statement of Objective first and then the industry will hit us</a:t>
            </a:r>
            <a:r>
              <a:rPr lang="en-US" baseline="0" dirty="0"/>
              <a:t> back with their solutions in a SOW (Statement of work)</a:t>
            </a:r>
            <a:endParaRPr lang="en-US" dirty="0"/>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61</a:t>
            </a:fld>
            <a:endParaRPr lang="en-US"/>
          </a:p>
        </p:txBody>
      </p:sp>
    </p:spTree>
    <p:extLst>
      <p:ext uri="{BB962C8B-B14F-4D97-AF65-F5344CB8AC3E}">
        <p14:creationId xmlns:p14="http://schemas.microsoft.com/office/powerpoint/2010/main" val="9801829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AFTO-22</a:t>
            </a:r>
          </a:p>
        </p:txBody>
      </p:sp>
      <p:sp>
        <p:nvSpPr>
          <p:cNvPr id="4" name="Slide Number Placeholder 3"/>
          <p:cNvSpPr>
            <a:spLocks noGrp="1"/>
          </p:cNvSpPr>
          <p:nvPr>
            <p:ph type="sldNum" sz="quarter" idx="10"/>
          </p:nvPr>
        </p:nvSpPr>
        <p:spPr/>
        <p:txBody>
          <a:bodyPr/>
          <a:lstStyle/>
          <a:p>
            <a:pPr>
              <a:defRPr/>
            </a:pPr>
            <a:fld id="{CD861CF3-7479-4F31-8675-F1E0CB209159}" type="slidenum">
              <a:rPr lang="en-US" smtClean="0"/>
              <a:pPr>
                <a:defRPr/>
              </a:pPr>
              <a:t>67</a:t>
            </a:fld>
            <a:endParaRPr lang="en-US"/>
          </a:p>
        </p:txBody>
      </p:sp>
    </p:spTree>
    <p:extLst>
      <p:ext uri="{BB962C8B-B14F-4D97-AF65-F5344CB8AC3E}">
        <p14:creationId xmlns:p14="http://schemas.microsoft.com/office/powerpoint/2010/main" val="64093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 number is not automatically generated.  It is composed by the ES.</a:t>
            </a:r>
          </a:p>
        </p:txBody>
      </p:sp>
      <p:sp>
        <p:nvSpPr>
          <p:cNvPr id="4" name="Slide Number Placeholder 3"/>
          <p:cNvSpPr>
            <a:spLocks noGrp="1"/>
          </p:cNvSpPr>
          <p:nvPr>
            <p:ph type="sldNum" sz="quarter" idx="5"/>
          </p:nvPr>
        </p:nvSpPr>
        <p:spPr/>
        <p:txBody>
          <a:bodyPr/>
          <a:lstStyle/>
          <a:p>
            <a:pPr>
              <a:defRPr/>
            </a:pPr>
            <a:fld id="{CD861CF3-7479-4F31-8675-F1E0CB209159}" type="slidenum">
              <a:rPr lang="en-US" smtClean="0"/>
              <a:pPr>
                <a:defRPr/>
              </a:pPr>
              <a:t>75</a:t>
            </a:fld>
            <a:endParaRPr lang="en-US"/>
          </a:p>
        </p:txBody>
      </p:sp>
    </p:spTree>
    <p:extLst>
      <p:ext uri="{BB962C8B-B14F-4D97-AF65-F5344CB8AC3E}">
        <p14:creationId xmlns:p14="http://schemas.microsoft.com/office/powerpoint/2010/main" val="5040613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D861CF3-7479-4F31-8675-F1E0CB209159}" type="slidenum">
              <a:rPr lang="en-US" smtClean="0"/>
              <a:pPr>
                <a:defRPr/>
              </a:pPr>
              <a:t>77</a:t>
            </a:fld>
            <a:endParaRPr lang="en-US"/>
          </a:p>
        </p:txBody>
      </p:sp>
    </p:spTree>
    <p:extLst>
      <p:ext uri="{BB962C8B-B14F-4D97-AF65-F5344CB8AC3E}">
        <p14:creationId xmlns:p14="http://schemas.microsoft.com/office/powerpoint/2010/main" val="2017653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p:spPr>
        <p:txBody>
          <a:bodyPr/>
          <a:lstStyle/>
          <a:p>
            <a:pPr defTabSz="928876"/>
            <a:fld id="{95EECBB6-9CAE-4BAB-8909-DA584FE4C837}" type="slidenum">
              <a:rPr lang="en-US" smtClean="0"/>
              <a:pPr defTabSz="928876"/>
              <a:t>103</a:t>
            </a:fld>
            <a:endParaRPr lang="en-US"/>
          </a:p>
        </p:txBody>
      </p:sp>
      <p:sp>
        <p:nvSpPr>
          <p:cNvPr id="290819" name="Rectangle 2"/>
          <p:cNvSpPr>
            <a:spLocks noGrp="1" noRot="1" noChangeAspect="1" noChangeArrowheads="1" noTextEdit="1"/>
          </p:cNvSpPr>
          <p:nvPr>
            <p:ph type="sldImg"/>
          </p:nvPr>
        </p:nvSpPr>
        <p:spPr>
          <a:xfrm>
            <a:off x="1196975" y="693738"/>
            <a:ext cx="4616450" cy="3462337"/>
          </a:xfrm>
          <a:ln/>
        </p:spPr>
      </p:sp>
      <p:sp>
        <p:nvSpPr>
          <p:cNvPr id="290820" name="Rectangle 3"/>
          <p:cNvSpPr>
            <a:spLocks noGrp="1" noChangeArrowheads="1"/>
          </p:cNvSpPr>
          <p:nvPr>
            <p:ph type="body" idx="1"/>
          </p:nvPr>
        </p:nvSpPr>
        <p:spPr>
          <a:noFill/>
          <a:ln/>
        </p:spPr>
        <p:txBody>
          <a:bodyPr/>
          <a:lstStyle/>
          <a:p>
            <a:pPr lvl="1" eaLnBrk="1" hangingPunct="1"/>
            <a:r>
              <a:rPr lang="en-US">
                <a:latin typeface="Arial" charset="0"/>
              </a:rPr>
              <a:t>Type I An item of supply with a definite non-extendable period of shelf life</a:t>
            </a:r>
          </a:p>
          <a:p>
            <a:pPr lvl="1" eaLnBrk="1" hangingPunct="1"/>
            <a:r>
              <a:rPr lang="en-US">
                <a:latin typeface="Arial" charset="0"/>
              </a:rPr>
              <a:t>Type II An item of supply having an assigned shelf life that maybe extended after completion of inspection/test/restorative action</a:t>
            </a:r>
          </a:p>
          <a:p>
            <a:pPr eaLnBrk="1" hangingPunct="1"/>
            <a:endParaRPr lang="en-US" sz="160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D861CF3-7479-4F31-8675-F1E0CB209159}" type="slidenum">
              <a:rPr lang="en-US" smtClean="0"/>
              <a:pPr>
                <a:defRPr/>
              </a:pPr>
              <a:t>247</a:t>
            </a:fld>
            <a:endParaRPr lang="en-US"/>
          </a:p>
        </p:txBody>
      </p:sp>
    </p:spTree>
    <p:extLst>
      <p:ext uri="{BB962C8B-B14F-4D97-AF65-F5344CB8AC3E}">
        <p14:creationId xmlns:p14="http://schemas.microsoft.com/office/powerpoint/2010/main" val="16172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spTree>
      <p:nvGrpSpPr>
        <p:cNvPr id="1" name=""/>
        <p:cNvGrpSpPr/>
        <p:nvPr/>
      </p:nvGrpSpPr>
      <p:grpSpPr>
        <a:xfrm>
          <a:off x="0" y="0"/>
          <a:ext cx="0" cy="0"/>
          <a:chOff x="0" y="0"/>
          <a:chExt cx="0" cy="0"/>
        </a:xfrm>
      </p:grpSpPr>
      <p:sp>
        <p:nvSpPr>
          <p:cNvPr id="3" name="Line 14"/>
          <p:cNvSpPr>
            <a:spLocks noChangeShapeType="1"/>
          </p:cNvSpPr>
          <p:nvPr/>
        </p:nvSpPr>
        <p:spPr bwMode="auto">
          <a:xfrm>
            <a:off x="381000" y="64516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 name="Line 28"/>
          <p:cNvSpPr>
            <a:spLocks noChangeShapeType="1"/>
          </p:cNvSpPr>
          <p:nvPr userDrawn="1"/>
        </p:nvSpPr>
        <p:spPr bwMode="auto">
          <a:xfrm>
            <a:off x="381000" y="12319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 name="Rectangle 44"/>
          <p:cNvSpPr>
            <a:spLocks noChangeArrowheads="1"/>
          </p:cNvSpPr>
          <p:nvPr/>
        </p:nvSpPr>
        <p:spPr bwMode="auto">
          <a:xfrm>
            <a:off x="8356600" y="65532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endParaRPr lang="en-US" sz="1000" b="0">
              <a:solidFill>
                <a:srgbClr val="808080"/>
              </a:solidFill>
              <a:cs typeface="Arial" charset="0"/>
            </a:endParaRPr>
          </a:p>
        </p:txBody>
      </p:sp>
      <p:sp>
        <p:nvSpPr>
          <p:cNvPr id="6" name="Text Box 13"/>
          <p:cNvSpPr txBox="1">
            <a:spLocks noChangeArrowheads="1"/>
          </p:cNvSpPr>
          <p:nvPr userDrawn="1"/>
        </p:nvSpPr>
        <p:spPr bwMode="auto">
          <a:xfrm>
            <a:off x="1306513" y="6491288"/>
            <a:ext cx="6553200" cy="336550"/>
          </a:xfrm>
          <a:prstGeom prst="rect">
            <a:avLst/>
          </a:prstGeom>
          <a:noFill/>
          <a:ln>
            <a:noFill/>
          </a:ln>
        </p:spPr>
        <p:txBody>
          <a:bodyPr>
            <a:spAutoFit/>
          </a:bodyPr>
          <a:lstStyle>
            <a:lvl1pPr eaLnBrk="0" hangingPunct="0">
              <a:defRPr sz="6000">
                <a:solidFill>
                  <a:schemeClr val="tx1"/>
                </a:solidFill>
                <a:latin typeface="Arial" charset="0"/>
                <a:cs typeface="Arial" charset="0"/>
              </a:defRPr>
            </a:lvl1pPr>
            <a:lvl2pPr marL="742950" indent="-285750" eaLnBrk="0" hangingPunct="0">
              <a:defRPr sz="6000">
                <a:solidFill>
                  <a:schemeClr val="tx1"/>
                </a:solidFill>
                <a:latin typeface="Arial" charset="0"/>
                <a:cs typeface="Arial" charset="0"/>
              </a:defRPr>
            </a:lvl2pPr>
            <a:lvl3pPr marL="1143000" indent="-228600" eaLnBrk="0" hangingPunct="0">
              <a:defRPr sz="6000">
                <a:solidFill>
                  <a:schemeClr val="tx1"/>
                </a:solidFill>
                <a:latin typeface="Arial" charset="0"/>
                <a:cs typeface="Arial" charset="0"/>
              </a:defRPr>
            </a:lvl3pPr>
            <a:lvl4pPr marL="1600200" indent="-228600" eaLnBrk="0" hangingPunct="0">
              <a:defRPr sz="6000">
                <a:solidFill>
                  <a:schemeClr val="tx1"/>
                </a:solidFill>
                <a:latin typeface="Arial" charset="0"/>
                <a:cs typeface="Arial" charset="0"/>
              </a:defRPr>
            </a:lvl4pPr>
            <a:lvl5pPr marL="2057400" indent="-228600" eaLnBrk="0" hangingPunct="0">
              <a:defRPr sz="6000">
                <a:solidFill>
                  <a:schemeClr val="tx1"/>
                </a:solidFill>
                <a:latin typeface="Arial" charset="0"/>
                <a:cs typeface="Arial" charset="0"/>
              </a:defRPr>
            </a:lvl5pPr>
            <a:lvl6pPr marL="2514600" indent="-228600" eaLnBrk="0" fontAlgn="base" hangingPunct="0">
              <a:spcBef>
                <a:spcPct val="0"/>
              </a:spcBef>
              <a:spcAft>
                <a:spcPct val="0"/>
              </a:spcAft>
              <a:defRPr sz="6000">
                <a:solidFill>
                  <a:schemeClr val="tx1"/>
                </a:solidFill>
                <a:latin typeface="Arial" charset="0"/>
                <a:cs typeface="Arial" charset="0"/>
              </a:defRPr>
            </a:lvl6pPr>
            <a:lvl7pPr marL="2971800" indent="-228600" eaLnBrk="0" fontAlgn="base" hangingPunct="0">
              <a:spcBef>
                <a:spcPct val="0"/>
              </a:spcBef>
              <a:spcAft>
                <a:spcPct val="0"/>
              </a:spcAft>
              <a:defRPr sz="6000">
                <a:solidFill>
                  <a:schemeClr val="tx1"/>
                </a:solidFill>
                <a:latin typeface="Arial" charset="0"/>
                <a:cs typeface="Arial" charset="0"/>
              </a:defRPr>
            </a:lvl7pPr>
            <a:lvl8pPr marL="3429000" indent="-228600" eaLnBrk="0" fontAlgn="base" hangingPunct="0">
              <a:spcBef>
                <a:spcPct val="0"/>
              </a:spcBef>
              <a:spcAft>
                <a:spcPct val="0"/>
              </a:spcAft>
              <a:defRPr sz="6000">
                <a:solidFill>
                  <a:schemeClr val="tx1"/>
                </a:solidFill>
                <a:latin typeface="Arial" charset="0"/>
                <a:cs typeface="Arial" charset="0"/>
              </a:defRPr>
            </a:lvl8pPr>
            <a:lvl9pPr marL="3886200" indent="-228600" eaLnBrk="0" fontAlgn="base" hangingPunct="0">
              <a:spcBef>
                <a:spcPct val="0"/>
              </a:spcBef>
              <a:spcAft>
                <a:spcPct val="0"/>
              </a:spcAft>
              <a:defRPr sz="6000">
                <a:solidFill>
                  <a:schemeClr val="tx1"/>
                </a:solidFill>
                <a:latin typeface="Arial" charset="0"/>
                <a:cs typeface="Arial" charset="0"/>
              </a:defRPr>
            </a:lvl9pPr>
          </a:lstStyle>
          <a:p>
            <a:pPr>
              <a:spcBef>
                <a:spcPct val="50000"/>
              </a:spcBef>
              <a:defRPr/>
            </a:pPr>
            <a:r>
              <a:rPr lang="en-US" sz="1600" i="1" dirty="0">
                <a:solidFill>
                  <a:srgbClr val="000000"/>
                </a:solidFill>
                <a:latin typeface="Century Schoolbook" pitchFamily="18" charset="0"/>
              </a:rPr>
              <a:t>Parts on Target</a:t>
            </a:r>
          </a:p>
        </p:txBody>
      </p:sp>
      <p:sp>
        <p:nvSpPr>
          <p:cNvPr id="7" name="Text Box 42"/>
          <p:cNvSpPr txBox="1">
            <a:spLocks noChangeArrowheads="1"/>
          </p:cNvSpPr>
          <p:nvPr userDrawn="1"/>
        </p:nvSpPr>
        <p:spPr bwMode="auto">
          <a:xfrm>
            <a:off x="0" y="312738"/>
            <a:ext cx="9144000" cy="646112"/>
          </a:xfrm>
          <a:prstGeom prst="rect">
            <a:avLst/>
          </a:prstGeom>
          <a:noFill/>
          <a:ln>
            <a:noFill/>
          </a:ln>
        </p:spPr>
        <p:txBody>
          <a:bodyPr>
            <a:spAutoFit/>
          </a:bodyPr>
          <a:lstStyle>
            <a:lvl1pPr eaLnBrk="0" hangingPunct="0">
              <a:defRPr sz="6000">
                <a:solidFill>
                  <a:schemeClr val="tx1"/>
                </a:solidFill>
                <a:latin typeface="Arial" charset="0"/>
                <a:cs typeface="Arial" charset="0"/>
              </a:defRPr>
            </a:lvl1pPr>
            <a:lvl2pPr marL="742950" indent="-285750" eaLnBrk="0" hangingPunct="0">
              <a:defRPr sz="6000">
                <a:solidFill>
                  <a:schemeClr val="tx1"/>
                </a:solidFill>
                <a:latin typeface="Arial" charset="0"/>
                <a:cs typeface="Arial" charset="0"/>
              </a:defRPr>
            </a:lvl2pPr>
            <a:lvl3pPr marL="1143000" indent="-228600" eaLnBrk="0" hangingPunct="0">
              <a:defRPr sz="6000">
                <a:solidFill>
                  <a:schemeClr val="tx1"/>
                </a:solidFill>
                <a:latin typeface="Arial" charset="0"/>
                <a:cs typeface="Arial" charset="0"/>
              </a:defRPr>
            </a:lvl3pPr>
            <a:lvl4pPr marL="1600200" indent="-228600" eaLnBrk="0" hangingPunct="0">
              <a:defRPr sz="6000">
                <a:solidFill>
                  <a:schemeClr val="tx1"/>
                </a:solidFill>
                <a:latin typeface="Arial" charset="0"/>
                <a:cs typeface="Arial" charset="0"/>
              </a:defRPr>
            </a:lvl4pPr>
            <a:lvl5pPr marL="2057400" indent="-228600" eaLnBrk="0" hangingPunct="0">
              <a:defRPr sz="6000">
                <a:solidFill>
                  <a:schemeClr val="tx1"/>
                </a:solidFill>
                <a:latin typeface="Arial" charset="0"/>
                <a:cs typeface="Arial" charset="0"/>
              </a:defRPr>
            </a:lvl5pPr>
            <a:lvl6pPr marL="2514600" indent="-228600" eaLnBrk="0" fontAlgn="base" hangingPunct="0">
              <a:spcBef>
                <a:spcPct val="0"/>
              </a:spcBef>
              <a:spcAft>
                <a:spcPct val="0"/>
              </a:spcAft>
              <a:defRPr sz="6000">
                <a:solidFill>
                  <a:schemeClr val="tx1"/>
                </a:solidFill>
                <a:latin typeface="Arial" charset="0"/>
                <a:cs typeface="Arial" charset="0"/>
              </a:defRPr>
            </a:lvl6pPr>
            <a:lvl7pPr marL="2971800" indent="-228600" eaLnBrk="0" fontAlgn="base" hangingPunct="0">
              <a:spcBef>
                <a:spcPct val="0"/>
              </a:spcBef>
              <a:spcAft>
                <a:spcPct val="0"/>
              </a:spcAft>
              <a:defRPr sz="6000">
                <a:solidFill>
                  <a:schemeClr val="tx1"/>
                </a:solidFill>
                <a:latin typeface="Arial" charset="0"/>
                <a:cs typeface="Arial" charset="0"/>
              </a:defRPr>
            </a:lvl7pPr>
            <a:lvl8pPr marL="3429000" indent="-228600" eaLnBrk="0" fontAlgn="base" hangingPunct="0">
              <a:spcBef>
                <a:spcPct val="0"/>
              </a:spcBef>
              <a:spcAft>
                <a:spcPct val="0"/>
              </a:spcAft>
              <a:defRPr sz="6000">
                <a:solidFill>
                  <a:schemeClr val="tx1"/>
                </a:solidFill>
                <a:latin typeface="Arial" charset="0"/>
                <a:cs typeface="Arial" charset="0"/>
              </a:defRPr>
            </a:lvl8pPr>
            <a:lvl9pPr marL="3886200" indent="-228600" eaLnBrk="0" fontAlgn="base" hangingPunct="0">
              <a:spcBef>
                <a:spcPct val="0"/>
              </a:spcBef>
              <a:spcAft>
                <a:spcPct val="0"/>
              </a:spcAft>
              <a:defRPr sz="6000">
                <a:solidFill>
                  <a:schemeClr val="tx1"/>
                </a:solidFill>
                <a:latin typeface="Arial" charset="0"/>
                <a:cs typeface="Arial" charset="0"/>
              </a:defRPr>
            </a:lvl9pPr>
          </a:lstStyle>
          <a:p>
            <a:pPr>
              <a:defRPr/>
            </a:pPr>
            <a:r>
              <a:rPr lang="en-US" sz="3600" i="1" dirty="0">
                <a:solidFill>
                  <a:srgbClr val="002060"/>
                </a:solidFill>
                <a:effectLst>
                  <a:outerShdw blurRad="38100" dist="38100" dir="2700000" algn="tl">
                    <a:srgbClr val="000000">
                      <a:alpha val="43137"/>
                    </a:srgbClr>
                  </a:outerShdw>
                </a:effectLst>
              </a:rPr>
              <a:t>448th Supply Chain Management Wing</a:t>
            </a:r>
          </a:p>
        </p:txBody>
      </p:sp>
      <p:sp>
        <p:nvSpPr>
          <p:cNvPr id="8" name="TextBox 17"/>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945056E4-6C5E-4046-96D9-6E9C4A080CFB}" type="datetime5">
              <a:rPr lang="en-US" sz="1200" smtClean="0">
                <a:solidFill>
                  <a:schemeClr val="bg2"/>
                </a:solidFill>
              </a:rPr>
              <a:pPr eaLnBrk="1" hangingPunct="1">
                <a:defRPr/>
              </a:pPr>
              <a:t>6-Apr-26</a:t>
            </a:fld>
            <a:endParaRPr lang="en-US" sz="1200">
              <a:solidFill>
                <a:schemeClr val="bg2"/>
              </a:solidFill>
            </a:endParaRPr>
          </a:p>
        </p:txBody>
      </p:sp>
      <p:sp>
        <p:nvSpPr>
          <p:cNvPr id="33827" name="Rectangle 35"/>
          <p:cNvSpPr>
            <a:spLocks noGrp="1" noChangeArrowheads="1"/>
          </p:cNvSpPr>
          <p:nvPr>
            <p:ph type="ctrTitle"/>
          </p:nvPr>
        </p:nvSpPr>
        <p:spPr>
          <a:xfrm>
            <a:off x="636588" y="1828800"/>
            <a:ext cx="7807325" cy="1600200"/>
          </a:xfrm>
        </p:spPr>
        <p:txBody>
          <a:bodyPr/>
          <a:lstStyle>
            <a:lvl1pPr>
              <a:defRPr sz="4000" i="0"/>
            </a:lvl1pPr>
          </a:lstStyle>
          <a:p>
            <a:r>
              <a:rPr lang="en-US"/>
              <a:t>Click to edit Master title style</a:t>
            </a:r>
          </a:p>
        </p:txBody>
      </p:sp>
      <p:sp>
        <p:nvSpPr>
          <p:cNvPr id="9" name="Rectangle 6"/>
          <p:cNvSpPr>
            <a:spLocks noGrp="1" noChangeArrowheads="1"/>
          </p:cNvSpPr>
          <p:nvPr>
            <p:ph type="sldNum" sz="quarter" idx="10"/>
          </p:nvPr>
        </p:nvSpPr>
        <p:spPr/>
        <p:txBody>
          <a:bodyPr/>
          <a:lstStyle>
            <a:lvl1pPr>
              <a:defRPr b="1"/>
            </a:lvl1pPr>
          </a:lstStyle>
          <a:p>
            <a:pPr>
              <a:defRPr/>
            </a:pPr>
            <a:fld id="{DCCDEB40-800D-4058-973E-375F5DF13114}" type="slidenum">
              <a:rPr lang="en-US"/>
              <a:pPr>
                <a:defRPr/>
              </a:pPr>
              <a:t>‹#›</a:t>
            </a:fld>
            <a:endParaRPr lang="en-US">
              <a:solidFill>
                <a:srgbClr val="808080"/>
              </a:solidFill>
            </a:endParaRPr>
          </a:p>
        </p:txBody>
      </p:sp>
    </p:spTree>
    <p:extLst>
      <p:ext uri="{BB962C8B-B14F-4D97-AF65-F5344CB8AC3E}">
        <p14:creationId xmlns:p14="http://schemas.microsoft.com/office/powerpoint/2010/main" val="280471277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 name="Line 14"/>
          <p:cNvSpPr>
            <a:spLocks noChangeShapeType="1"/>
          </p:cNvSpPr>
          <p:nvPr/>
        </p:nvSpPr>
        <p:spPr bwMode="auto">
          <a:xfrm>
            <a:off x="381000" y="64516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 name="Line 28"/>
          <p:cNvSpPr>
            <a:spLocks noChangeShapeType="1"/>
          </p:cNvSpPr>
          <p:nvPr userDrawn="1"/>
        </p:nvSpPr>
        <p:spPr bwMode="auto">
          <a:xfrm>
            <a:off x="381000" y="12319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 name="Text Box 13"/>
          <p:cNvSpPr txBox="1">
            <a:spLocks noChangeArrowheads="1"/>
          </p:cNvSpPr>
          <p:nvPr userDrawn="1"/>
        </p:nvSpPr>
        <p:spPr bwMode="auto">
          <a:xfrm>
            <a:off x="1306513" y="6491288"/>
            <a:ext cx="6553200" cy="336550"/>
          </a:xfrm>
          <a:prstGeom prst="rect">
            <a:avLst/>
          </a:prstGeom>
          <a:noFill/>
          <a:ln>
            <a:noFill/>
          </a:ln>
        </p:spPr>
        <p:txBody>
          <a:bodyPr>
            <a:spAutoFit/>
          </a:bodyPr>
          <a:lstStyle>
            <a:lvl1pPr eaLnBrk="0" hangingPunct="0">
              <a:defRPr sz="6000">
                <a:solidFill>
                  <a:schemeClr val="tx1"/>
                </a:solidFill>
                <a:latin typeface="Arial" charset="0"/>
                <a:cs typeface="Arial" charset="0"/>
              </a:defRPr>
            </a:lvl1pPr>
            <a:lvl2pPr marL="742950" indent="-285750" eaLnBrk="0" hangingPunct="0">
              <a:defRPr sz="6000">
                <a:solidFill>
                  <a:schemeClr val="tx1"/>
                </a:solidFill>
                <a:latin typeface="Arial" charset="0"/>
                <a:cs typeface="Arial" charset="0"/>
              </a:defRPr>
            </a:lvl2pPr>
            <a:lvl3pPr marL="1143000" indent="-228600" eaLnBrk="0" hangingPunct="0">
              <a:defRPr sz="6000">
                <a:solidFill>
                  <a:schemeClr val="tx1"/>
                </a:solidFill>
                <a:latin typeface="Arial" charset="0"/>
                <a:cs typeface="Arial" charset="0"/>
              </a:defRPr>
            </a:lvl3pPr>
            <a:lvl4pPr marL="1600200" indent="-228600" eaLnBrk="0" hangingPunct="0">
              <a:defRPr sz="6000">
                <a:solidFill>
                  <a:schemeClr val="tx1"/>
                </a:solidFill>
                <a:latin typeface="Arial" charset="0"/>
                <a:cs typeface="Arial" charset="0"/>
              </a:defRPr>
            </a:lvl4pPr>
            <a:lvl5pPr marL="2057400" indent="-228600" eaLnBrk="0" hangingPunct="0">
              <a:defRPr sz="6000">
                <a:solidFill>
                  <a:schemeClr val="tx1"/>
                </a:solidFill>
                <a:latin typeface="Arial" charset="0"/>
                <a:cs typeface="Arial" charset="0"/>
              </a:defRPr>
            </a:lvl5pPr>
            <a:lvl6pPr marL="2514600" indent="-228600" eaLnBrk="0" fontAlgn="base" hangingPunct="0">
              <a:spcBef>
                <a:spcPct val="0"/>
              </a:spcBef>
              <a:spcAft>
                <a:spcPct val="0"/>
              </a:spcAft>
              <a:defRPr sz="6000">
                <a:solidFill>
                  <a:schemeClr val="tx1"/>
                </a:solidFill>
                <a:latin typeface="Arial" charset="0"/>
                <a:cs typeface="Arial" charset="0"/>
              </a:defRPr>
            </a:lvl6pPr>
            <a:lvl7pPr marL="2971800" indent="-228600" eaLnBrk="0" fontAlgn="base" hangingPunct="0">
              <a:spcBef>
                <a:spcPct val="0"/>
              </a:spcBef>
              <a:spcAft>
                <a:spcPct val="0"/>
              </a:spcAft>
              <a:defRPr sz="6000">
                <a:solidFill>
                  <a:schemeClr val="tx1"/>
                </a:solidFill>
                <a:latin typeface="Arial" charset="0"/>
                <a:cs typeface="Arial" charset="0"/>
              </a:defRPr>
            </a:lvl7pPr>
            <a:lvl8pPr marL="3429000" indent="-228600" eaLnBrk="0" fontAlgn="base" hangingPunct="0">
              <a:spcBef>
                <a:spcPct val="0"/>
              </a:spcBef>
              <a:spcAft>
                <a:spcPct val="0"/>
              </a:spcAft>
              <a:defRPr sz="6000">
                <a:solidFill>
                  <a:schemeClr val="tx1"/>
                </a:solidFill>
                <a:latin typeface="Arial" charset="0"/>
                <a:cs typeface="Arial" charset="0"/>
              </a:defRPr>
            </a:lvl8pPr>
            <a:lvl9pPr marL="3886200" indent="-228600" eaLnBrk="0" fontAlgn="base" hangingPunct="0">
              <a:spcBef>
                <a:spcPct val="0"/>
              </a:spcBef>
              <a:spcAft>
                <a:spcPct val="0"/>
              </a:spcAft>
              <a:defRPr sz="6000">
                <a:solidFill>
                  <a:schemeClr val="tx1"/>
                </a:solidFill>
                <a:latin typeface="Arial" charset="0"/>
                <a:cs typeface="Arial" charset="0"/>
              </a:defRPr>
            </a:lvl9pPr>
          </a:lstStyle>
          <a:p>
            <a:pPr>
              <a:spcBef>
                <a:spcPct val="50000"/>
              </a:spcBef>
              <a:defRPr/>
            </a:pPr>
            <a:r>
              <a:rPr lang="en-US" sz="1600" i="1" dirty="0">
                <a:solidFill>
                  <a:srgbClr val="000000"/>
                </a:solidFill>
                <a:latin typeface="Century Schoolbook" pitchFamily="18" charset="0"/>
              </a:rPr>
              <a:t>Parts on Target</a:t>
            </a:r>
          </a:p>
        </p:txBody>
      </p:sp>
      <p:sp>
        <p:nvSpPr>
          <p:cNvPr id="6" name="Text Box 42"/>
          <p:cNvSpPr txBox="1">
            <a:spLocks noChangeArrowheads="1"/>
          </p:cNvSpPr>
          <p:nvPr userDrawn="1"/>
        </p:nvSpPr>
        <p:spPr bwMode="auto">
          <a:xfrm>
            <a:off x="0" y="312738"/>
            <a:ext cx="9144000" cy="646112"/>
          </a:xfrm>
          <a:prstGeom prst="rect">
            <a:avLst/>
          </a:prstGeom>
          <a:noFill/>
          <a:ln>
            <a:noFill/>
          </a:ln>
        </p:spPr>
        <p:txBody>
          <a:bodyPr>
            <a:spAutoFit/>
          </a:bodyPr>
          <a:lstStyle>
            <a:lvl1pPr eaLnBrk="0" hangingPunct="0">
              <a:defRPr sz="6000">
                <a:solidFill>
                  <a:schemeClr val="tx1"/>
                </a:solidFill>
                <a:latin typeface="Arial" charset="0"/>
                <a:cs typeface="Arial" charset="0"/>
              </a:defRPr>
            </a:lvl1pPr>
            <a:lvl2pPr marL="742950" indent="-285750" eaLnBrk="0" hangingPunct="0">
              <a:defRPr sz="6000">
                <a:solidFill>
                  <a:schemeClr val="tx1"/>
                </a:solidFill>
                <a:latin typeface="Arial" charset="0"/>
                <a:cs typeface="Arial" charset="0"/>
              </a:defRPr>
            </a:lvl2pPr>
            <a:lvl3pPr marL="1143000" indent="-228600" eaLnBrk="0" hangingPunct="0">
              <a:defRPr sz="6000">
                <a:solidFill>
                  <a:schemeClr val="tx1"/>
                </a:solidFill>
                <a:latin typeface="Arial" charset="0"/>
                <a:cs typeface="Arial" charset="0"/>
              </a:defRPr>
            </a:lvl3pPr>
            <a:lvl4pPr marL="1600200" indent="-228600" eaLnBrk="0" hangingPunct="0">
              <a:defRPr sz="6000">
                <a:solidFill>
                  <a:schemeClr val="tx1"/>
                </a:solidFill>
                <a:latin typeface="Arial" charset="0"/>
                <a:cs typeface="Arial" charset="0"/>
              </a:defRPr>
            </a:lvl4pPr>
            <a:lvl5pPr marL="2057400" indent="-228600" eaLnBrk="0" hangingPunct="0">
              <a:defRPr sz="6000">
                <a:solidFill>
                  <a:schemeClr val="tx1"/>
                </a:solidFill>
                <a:latin typeface="Arial" charset="0"/>
                <a:cs typeface="Arial" charset="0"/>
              </a:defRPr>
            </a:lvl5pPr>
            <a:lvl6pPr marL="2514600" indent="-228600" eaLnBrk="0" fontAlgn="base" hangingPunct="0">
              <a:spcBef>
                <a:spcPct val="0"/>
              </a:spcBef>
              <a:spcAft>
                <a:spcPct val="0"/>
              </a:spcAft>
              <a:defRPr sz="6000">
                <a:solidFill>
                  <a:schemeClr val="tx1"/>
                </a:solidFill>
                <a:latin typeface="Arial" charset="0"/>
                <a:cs typeface="Arial" charset="0"/>
              </a:defRPr>
            </a:lvl6pPr>
            <a:lvl7pPr marL="2971800" indent="-228600" eaLnBrk="0" fontAlgn="base" hangingPunct="0">
              <a:spcBef>
                <a:spcPct val="0"/>
              </a:spcBef>
              <a:spcAft>
                <a:spcPct val="0"/>
              </a:spcAft>
              <a:defRPr sz="6000">
                <a:solidFill>
                  <a:schemeClr val="tx1"/>
                </a:solidFill>
                <a:latin typeface="Arial" charset="0"/>
                <a:cs typeface="Arial" charset="0"/>
              </a:defRPr>
            </a:lvl7pPr>
            <a:lvl8pPr marL="3429000" indent="-228600" eaLnBrk="0" fontAlgn="base" hangingPunct="0">
              <a:spcBef>
                <a:spcPct val="0"/>
              </a:spcBef>
              <a:spcAft>
                <a:spcPct val="0"/>
              </a:spcAft>
              <a:defRPr sz="6000">
                <a:solidFill>
                  <a:schemeClr val="tx1"/>
                </a:solidFill>
                <a:latin typeface="Arial" charset="0"/>
                <a:cs typeface="Arial" charset="0"/>
              </a:defRPr>
            </a:lvl8pPr>
            <a:lvl9pPr marL="3886200" indent="-228600" eaLnBrk="0" fontAlgn="base" hangingPunct="0">
              <a:spcBef>
                <a:spcPct val="0"/>
              </a:spcBef>
              <a:spcAft>
                <a:spcPct val="0"/>
              </a:spcAft>
              <a:defRPr sz="6000">
                <a:solidFill>
                  <a:schemeClr val="tx1"/>
                </a:solidFill>
                <a:latin typeface="Arial" charset="0"/>
                <a:cs typeface="Arial" charset="0"/>
              </a:defRPr>
            </a:lvl9pPr>
          </a:lstStyle>
          <a:p>
            <a:pPr>
              <a:defRPr/>
            </a:pPr>
            <a:r>
              <a:rPr lang="en-US" sz="3600" i="1" dirty="0">
                <a:solidFill>
                  <a:srgbClr val="002060"/>
                </a:solidFill>
                <a:effectLst>
                  <a:outerShdw blurRad="38100" dist="38100" dir="2700000" algn="tl">
                    <a:srgbClr val="000000">
                      <a:alpha val="43137"/>
                    </a:srgbClr>
                  </a:outerShdw>
                </a:effectLst>
              </a:rPr>
              <a:t>448th Supply Chain Management Wing</a:t>
            </a:r>
          </a:p>
        </p:txBody>
      </p:sp>
      <p:pic>
        <p:nvPicPr>
          <p:cNvPr id="7" name="Picture 3"/>
          <p:cNvPicPr>
            <a:picLocks noChangeAspect="1" noChangeArrowheads="1"/>
          </p:cNvPicPr>
          <p:nvPr userDrawn="1"/>
        </p:nvPicPr>
        <p:blipFill>
          <a:blip r:embed="rId2"/>
          <a:srcRect/>
          <a:stretch>
            <a:fillRect/>
          </a:stretch>
        </p:blipFill>
        <p:spPr bwMode="auto">
          <a:xfrm>
            <a:off x="233363" y="4019550"/>
            <a:ext cx="2263775" cy="2209800"/>
          </a:xfrm>
          <a:prstGeom prst="rect">
            <a:avLst/>
          </a:prstGeom>
          <a:ln>
            <a:noFill/>
          </a:ln>
          <a:effectLst>
            <a:outerShdw blurRad="292100" dist="139700" dir="2700000" algn="tl" rotWithShape="0">
              <a:srgbClr val="333333">
                <a:alpha val="65000"/>
              </a:srgbClr>
            </a:outerShdw>
          </a:effectLst>
        </p:spPr>
      </p:pic>
      <p:pic>
        <p:nvPicPr>
          <p:cNvPr id="8" name="Picture 20" descr="448TH SUPPLY CHAIN SUSTAINMENT WING COLOR_Transparentjun08"/>
          <p:cNvPicPr>
            <a:picLocks noChangeAspect="1" noChangeArrowheads="1"/>
          </p:cNvPicPr>
          <p:nvPr userDrawn="1"/>
        </p:nvPicPr>
        <p:blipFill>
          <a:blip r:embed="rId3"/>
          <a:srcRect/>
          <a:stretch>
            <a:fillRect/>
          </a:stretch>
        </p:blipFill>
        <p:spPr bwMode="auto">
          <a:xfrm>
            <a:off x="6591300" y="4019550"/>
            <a:ext cx="2141538" cy="2114550"/>
          </a:xfrm>
          <a:prstGeom prst="rect">
            <a:avLst/>
          </a:prstGeom>
          <a:ln>
            <a:noFill/>
          </a:ln>
          <a:effectLst>
            <a:outerShdw blurRad="292100" dist="139700" dir="2700000" algn="tl" rotWithShape="0">
              <a:srgbClr val="333333">
                <a:alpha val="65000"/>
              </a:srgbClr>
            </a:outerShdw>
          </a:effectLst>
        </p:spPr>
      </p:pic>
      <p:sp>
        <p:nvSpPr>
          <p:cNvPr id="33827" name="Rectangle 35"/>
          <p:cNvSpPr>
            <a:spLocks noGrp="1" noChangeArrowheads="1"/>
          </p:cNvSpPr>
          <p:nvPr>
            <p:ph type="ctrTitle"/>
          </p:nvPr>
        </p:nvSpPr>
        <p:spPr>
          <a:xfrm>
            <a:off x="636588" y="1828800"/>
            <a:ext cx="7807325" cy="1600200"/>
          </a:xfrm>
        </p:spPr>
        <p:txBody>
          <a:bodyPr/>
          <a:lstStyle>
            <a:lvl1pPr>
              <a:defRPr sz="4000" i="0"/>
            </a:lvl1pPr>
          </a:lstStyle>
          <a:p>
            <a:r>
              <a:rPr lang="en-US"/>
              <a:t>Click to edit Master title style</a:t>
            </a:r>
          </a:p>
        </p:txBody>
      </p:sp>
    </p:spTree>
    <p:extLst>
      <p:ext uri="{BB962C8B-B14F-4D97-AF65-F5344CB8AC3E}">
        <p14:creationId xmlns:p14="http://schemas.microsoft.com/office/powerpoint/2010/main" val="19058940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558800" y="1376363"/>
            <a:ext cx="8131175" cy="4875212"/>
          </a:xfrm>
        </p:spPr>
        <p:txBody>
          <a:bodyPr/>
          <a:lstStyle>
            <a:lvl1pPr>
              <a:defRPr b="1">
                <a:latin typeface="Arial" pitchFamily="34" charset="0"/>
                <a:cs typeface="Arial"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p:txBody>
          <a:bodyPr/>
          <a:lstStyle>
            <a:lvl1pPr>
              <a:defRPr b="1"/>
            </a:lvl1pPr>
          </a:lstStyle>
          <a:p>
            <a:pPr>
              <a:defRPr/>
            </a:pPr>
            <a:fld id="{0EBD3C04-AAD0-47A7-BB13-5DF2AE5DDDEC}" type="slidenum">
              <a:rPr lang="en-US"/>
              <a:pPr>
                <a:defRPr/>
              </a:pPr>
              <a:t>‹#›</a:t>
            </a:fld>
            <a:endParaRPr lang="en-US" dirty="0">
              <a:solidFill>
                <a:srgbClr val="808080"/>
              </a:solidFill>
            </a:endParaRPr>
          </a:p>
        </p:txBody>
      </p:sp>
    </p:spTree>
    <p:extLst>
      <p:ext uri="{BB962C8B-B14F-4D97-AF65-F5344CB8AC3E}">
        <p14:creationId xmlns:p14="http://schemas.microsoft.com/office/powerpoint/2010/main" val="7637907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p:txBody>
          <a:bodyPr/>
          <a:lstStyle>
            <a:lvl1pPr>
              <a:defRPr b="1"/>
            </a:lvl1pPr>
          </a:lstStyle>
          <a:p>
            <a:pPr>
              <a:defRPr/>
            </a:pPr>
            <a:fld id="{96CB3CFF-CD73-4A17-B2E5-D39A1794CBA7}" type="slidenum">
              <a:rPr lang="en-US"/>
              <a:pPr>
                <a:defRPr/>
              </a:pPr>
              <a:t>‹#›</a:t>
            </a:fld>
            <a:endParaRPr lang="en-US" dirty="0">
              <a:solidFill>
                <a:srgbClr val="808080"/>
              </a:solidFill>
            </a:endParaRPr>
          </a:p>
        </p:txBody>
      </p:sp>
    </p:spTree>
    <p:extLst>
      <p:ext uri="{BB962C8B-B14F-4D97-AF65-F5344CB8AC3E}">
        <p14:creationId xmlns:p14="http://schemas.microsoft.com/office/powerpoint/2010/main" val="297301750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58800" y="1477963"/>
            <a:ext cx="3989388" cy="4875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0588" y="1477963"/>
            <a:ext cx="3989387" cy="4875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p:txBody>
          <a:bodyPr/>
          <a:lstStyle>
            <a:lvl1pPr>
              <a:defRPr b="1"/>
            </a:lvl1pPr>
          </a:lstStyle>
          <a:p>
            <a:pPr>
              <a:defRPr/>
            </a:pPr>
            <a:fld id="{E95CD2F4-405C-42B3-9A58-E7488AA27943}" type="slidenum">
              <a:rPr lang="en-US"/>
              <a:pPr>
                <a:defRPr/>
              </a:pPr>
              <a:t>‹#›</a:t>
            </a:fld>
            <a:endParaRPr lang="en-US">
              <a:solidFill>
                <a:srgbClr val="808080"/>
              </a:solidFill>
            </a:endParaRPr>
          </a:p>
        </p:txBody>
      </p:sp>
    </p:spTree>
    <p:extLst>
      <p:ext uri="{BB962C8B-B14F-4D97-AF65-F5344CB8AC3E}">
        <p14:creationId xmlns:p14="http://schemas.microsoft.com/office/powerpoint/2010/main" val="142829677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5" name="Picture 20" descr="448TH SUPPLY CHAIN SUSTAINMENT WING COLOR_Transparentjun08"/>
          <p:cNvPicPr>
            <a:picLocks noChangeAspect="1" noChangeArrowheads="1"/>
          </p:cNvPicPr>
          <p:nvPr userDrawn="1"/>
        </p:nvPicPr>
        <p:blipFill>
          <a:blip r:embed="rId2"/>
          <a:srcRect/>
          <a:stretch>
            <a:fillRect/>
          </a:stretch>
        </p:blipFill>
        <p:spPr bwMode="auto">
          <a:xfrm>
            <a:off x="1295400" y="4038600"/>
            <a:ext cx="2141538" cy="2114550"/>
          </a:xfrm>
          <a:prstGeom prst="rect">
            <a:avLst/>
          </a:prstGeom>
          <a:ln>
            <a:noFill/>
          </a:ln>
          <a:effectLst>
            <a:outerShdw blurRad="292100" dist="139700" dir="2700000" algn="tl" rotWithShape="0">
              <a:srgbClr val="333333">
                <a:alpha val="65000"/>
              </a:srgbClr>
            </a:outerShdw>
          </a:effectLst>
        </p:spPr>
      </p:pic>
      <p:pic>
        <p:nvPicPr>
          <p:cNvPr id="6" name="Picture 3"/>
          <p:cNvPicPr>
            <a:picLocks noChangeAspect="1" noChangeArrowheads="1"/>
          </p:cNvPicPr>
          <p:nvPr userDrawn="1"/>
        </p:nvPicPr>
        <p:blipFill>
          <a:blip r:embed="rId3"/>
          <a:srcRect/>
          <a:stretch>
            <a:fillRect/>
          </a:stretch>
        </p:blipFill>
        <p:spPr bwMode="auto">
          <a:xfrm>
            <a:off x="1233488" y="1295400"/>
            <a:ext cx="2263775" cy="2209800"/>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700588" y="1477963"/>
            <a:ext cx="3989387" cy="4875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p:txBody>
          <a:bodyPr/>
          <a:lstStyle>
            <a:lvl1pPr>
              <a:defRPr b="1"/>
            </a:lvl1pPr>
          </a:lstStyle>
          <a:p>
            <a:pPr>
              <a:defRPr/>
            </a:pPr>
            <a:fld id="{4DF4DC72-DE83-4D80-8C7A-863186ADD374}" type="slidenum">
              <a:rPr lang="en-US"/>
              <a:pPr>
                <a:defRPr/>
              </a:pPr>
              <a:t>‹#›</a:t>
            </a:fld>
            <a:endParaRPr lang="en-US">
              <a:solidFill>
                <a:srgbClr val="808080"/>
              </a:solidFill>
            </a:endParaRPr>
          </a:p>
        </p:txBody>
      </p:sp>
    </p:spTree>
    <p:extLst>
      <p:ext uri="{BB962C8B-B14F-4D97-AF65-F5344CB8AC3E}">
        <p14:creationId xmlns:p14="http://schemas.microsoft.com/office/powerpoint/2010/main" val="281318809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TextBox 6"/>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1328E733-BB17-4E63-ADB8-7C27FF7C16D2}" type="datetime5">
              <a:rPr lang="en-US" sz="1200" smtClean="0">
                <a:solidFill>
                  <a:schemeClr val="bg2"/>
                </a:solidFill>
              </a:rPr>
              <a:pPr eaLnBrk="1" hangingPunct="1">
                <a:defRPr/>
              </a:pPr>
              <a:t>6-Apr-26</a:t>
            </a:fld>
            <a:endParaRPr lang="en-US" sz="1200">
              <a:solidFill>
                <a:schemeClr val="bg2"/>
              </a:solidFill>
            </a:endParaRPr>
          </a:p>
        </p:txBody>
      </p:sp>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a:spLocks noGrp="1" noChangeArrowheads="1"/>
          </p:cNvSpPr>
          <p:nvPr>
            <p:ph type="sldNum" sz="quarter" idx="10"/>
          </p:nvPr>
        </p:nvSpPr>
        <p:spPr/>
        <p:txBody>
          <a:bodyPr/>
          <a:lstStyle>
            <a:lvl1pPr>
              <a:defRPr b="1"/>
            </a:lvl1pPr>
          </a:lstStyle>
          <a:p>
            <a:pPr>
              <a:defRPr/>
            </a:pPr>
            <a:fld id="{8FD231D4-9EE3-439B-941A-106535937CA5}" type="slidenum">
              <a:rPr lang="en-US"/>
              <a:pPr>
                <a:defRPr/>
              </a:pPr>
              <a:t>‹#›</a:t>
            </a:fld>
            <a:endParaRPr lang="en-US">
              <a:solidFill>
                <a:srgbClr val="808080"/>
              </a:solidFill>
            </a:endParaRPr>
          </a:p>
        </p:txBody>
      </p:sp>
    </p:spTree>
    <p:extLst>
      <p:ext uri="{BB962C8B-B14F-4D97-AF65-F5344CB8AC3E}">
        <p14:creationId xmlns:p14="http://schemas.microsoft.com/office/powerpoint/2010/main" val="210391555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DAC1D071-8EC4-4F92-AC86-478D12B37340}" type="datetime5">
              <a:rPr lang="en-US" sz="1200" smtClean="0">
                <a:solidFill>
                  <a:schemeClr val="bg2"/>
                </a:solidFill>
              </a:rPr>
              <a:pPr eaLnBrk="1" hangingPunct="1">
                <a:defRPr/>
              </a:pPr>
              <a:t>6-Apr-26</a:t>
            </a:fld>
            <a:endParaRPr lang="en-US" sz="1200">
              <a:solidFill>
                <a:schemeClr val="bg2"/>
              </a:solidFill>
            </a:endParaRPr>
          </a:p>
        </p:txBody>
      </p:sp>
      <p:sp>
        <p:nvSpPr>
          <p:cNvPr id="2" name="Title 1"/>
          <p:cNvSpPr>
            <a:spLocks noGrp="1"/>
          </p:cNvSpPr>
          <p:nvPr>
            <p:ph type="title"/>
          </p:nvPr>
        </p:nvSpPr>
        <p:spPr/>
        <p:txBody>
          <a:bodyPr/>
          <a:lstStyle/>
          <a:p>
            <a:r>
              <a:rPr lang="en-US"/>
              <a:t>Click to edit Master title style</a:t>
            </a:r>
          </a:p>
        </p:txBody>
      </p:sp>
      <p:sp>
        <p:nvSpPr>
          <p:cNvPr id="4" name="Rectangle 6"/>
          <p:cNvSpPr>
            <a:spLocks noGrp="1" noChangeArrowheads="1"/>
          </p:cNvSpPr>
          <p:nvPr>
            <p:ph type="sldNum" sz="quarter" idx="10"/>
          </p:nvPr>
        </p:nvSpPr>
        <p:spPr/>
        <p:txBody>
          <a:bodyPr/>
          <a:lstStyle>
            <a:lvl1pPr>
              <a:defRPr b="1"/>
            </a:lvl1pPr>
          </a:lstStyle>
          <a:p>
            <a:pPr>
              <a:defRPr/>
            </a:pPr>
            <a:fld id="{B2D30C47-1BFA-4E78-94F4-48634E1F7703}" type="slidenum">
              <a:rPr lang="en-US"/>
              <a:pPr>
                <a:defRPr/>
              </a:pPr>
              <a:t>‹#›</a:t>
            </a:fld>
            <a:endParaRPr lang="en-US">
              <a:solidFill>
                <a:srgbClr val="808080"/>
              </a:solidFill>
            </a:endParaRPr>
          </a:p>
        </p:txBody>
      </p:sp>
    </p:spTree>
    <p:extLst>
      <p:ext uri="{BB962C8B-B14F-4D97-AF65-F5344CB8AC3E}">
        <p14:creationId xmlns:p14="http://schemas.microsoft.com/office/powerpoint/2010/main" val="2358206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91B6FA58-D527-4E52-83F9-0FF2EF7096EC}" type="datetime5">
              <a:rPr lang="en-US" sz="1200" smtClean="0">
                <a:solidFill>
                  <a:schemeClr val="bg2"/>
                </a:solidFill>
              </a:rPr>
              <a:pPr eaLnBrk="1" hangingPunct="1">
                <a:defRPr/>
              </a:pPr>
              <a:t>6-Apr-26</a:t>
            </a:fld>
            <a:endParaRPr lang="en-US" sz="1200">
              <a:solidFill>
                <a:schemeClr val="bg2"/>
              </a:solidFill>
            </a:endParaRPr>
          </a:p>
        </p:txBody>
      </p:sp>
      <p:sp>
        <p:nvSpPr>
          <p:cNvPr id="3" name="Rectangle 6"/>
          <p:cNvSpPr>
            <a:spLocks noGrp="1" noChangeArrowheads="1"/>
          </p:cNvSpPr>
          <p:nvPr>
            <p:ph type="sldNum" sz="quarter" idx="10"/>
          </p:nvPr>
        </p:nvSpPr>
        <p:spPr/>
        <p:txBody>
          <a:bodyPr/>
          <a:lstStyle>
            <a:lvl1pPr>
              <a:defRPr b="1"/>
            </a:lvl1pPr>
          </a:lstStyle>
          <a:p>
            <a:pPr>
              <a:defRPr/>
            </a:pPr>
            <a:fld id="{8BD832F4-474D-47DD-BB38-2797300AB15A}" type="slidenum">
              <a:rPr lang="en-US"/>
              <a:pPr>
                <a:defRPr/>
              </a:pPr>
              <a:t>‹#›</a:t>
            </a:fld>
            <a:endParaRPr lang="en-US">
              <a:solidFill>
                <a:srgbClr val="808080"/>
              </a:solidFill>
            </a:endParaRPr>
          </a:p>
        </p:txBody>
      </p:sp>
    </p:spTree>
    <p:extLst>
      <p:ext uri="{BB962C8B-B14F-4D97-AF65-F5344CB8AC3E}">
        <p14:creationId xmlns:p14="http://schemas.microsoft.com/office/powerpoint/2010/main" val="77507480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extBox 4"/>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97B31F54-6047-4D73-A08F-C4BBC067BB2F}" type="datetime5">
              <a:rPr lang="en-US" sz="1200" smtClean="0">
                <a:solidFill>
                  <a:schemeClr val="bg2"/>
                </a:solidFill>
              </a:rPr>
              <a:pPr eaLnBrk="1" hangingPunct="1">
                <a:defRPr/>
              </a:pPr>
              <a:t>6-Apr-26</a:t>
            </a:fld>
            <a:endParaRPr lang="en-US" sz="1200">
              <a:solidFill>
                <a:schemeClr val="bg2"/>
              </a:solidFill>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6"/>
          <p:cNvSpPr>
            <a:spLocks noGrp="1" noChangeArrowheads="1"/>
          </p:cNvSpPr>
          <p:nvPr>
            <p:ph type="sldNum" sz="quarter" idx="10"/>
          </p:nvPr>
        </p:nvSpPr>
        <p:spPr/>
        <p:txBody>
          <a:bodyPr/>
          <a:lstStyle>
            <a:lvl1pPr>
              <a:defRPr b="1"/>
            </a:lvl1pPr>
          </a:lstStyle>
          <a:p>
            <a:pPr>
              <a:defRPr/>
            </a:pPr>
            <a:fld id="{453FCB7E-4406-4EFB-80C9-006CBF35C82B}" type="slidenum">
              <a:rPr lang="en-US"/>
              <a:pPr>
                <a:defRPr/>
              </a:pPr>
              <a:t>‹#›</a:t>
            </a:fld>
            <a:endParaRPr lang="en-US">
              <a:solidFill>
                <a:srgbClr val="808080"/>
              </a:solidFill>
            </a:endParaRPr>
          </a:p>
        </p:txBody>
      </p:sp>
    </p:spTree>
    <p:extLst>
      <p:ext uri="{BB962C8B-B14F-4D97-AF65-F5344CB8AC3E}">
        <p14:creationId xmlns:p14="http://schemas.microsoft.com/office/powerpoint/2010/main" val="238344848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TextBox 4"/>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07C0AE45-8E08-4FEE-80E6-1D30114CA659}" type="datetime5">
              <a:rPr lang="en-US" sz="1200" smtClean="0">
                <a:solidFill>
                  <a:schemeClr val="bg2"/>
                </a:solidFill>
              </a:rPr>
              <a:pPr eaLnBrk="1" hangingPunct="1">
                <a:defRPr/>
              </a:pPr>
              <a:t>6-Apr-26</a:t>
            </a:fld>
            <a:endParaRPr lang="en-US" sz="1200">
              <a:solidFill>
                <a:schemeClr val="bg2"/>
              </a:solidFill>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6"/>
          <p:cNvSpPr>
            <a:spLocks noGrp="1" noChangeArrowheads="1"/>
          </p:cNvSpPr>
          <p:nvPr>
            <p:ph type="sldNum" sz="quarter" idx="10"/>
          </p:nvPr>
        </p:nvSpPr>
        <p:spPr/>
        <p:txBody>
          <a:bodyPr/>
          <a:lstStyle>
            <a:lvl1pPr>
              <a:defRPr b="1"/>
            </a:lvl1pPr>
          </a:lstStyle>
          <a:p>
            <a:pPr>
              <a:defRPr/>
            </a:pPr>
            <a:fld id="{7A87E6EC-0EC2-4C14-AEE5-17598405F7C5}" type="slidenum">
              <a:rPr lang="en-US"/>
              <a:pPr>
                <a:defRPr/>
              </a:pPr>
              <a:t>‹#›</a:t>
            </a:fld>
            <a:endParaRPr lang="en-US">
              <a:solidFill>
                <a:srgbClr val="808080"/>
              </a:solidFill>
            </a:endParaRPr>
          </a:p>
        </p:txBody>
      </p:sp>
    </p:spTree>
    <p:extLst>
      <p:ext uri="{BB962C8B-B14F-4D97-AF65-F5344CB8AC3E}">
        <p14:creationId xmlns:p14="http://schemas.microsoft.com/office/powerpoint/2010/main" val="403228703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293B5389-BFA8-4202-8956-5D560D5C5F1B}" type="datetime5">
              <a:rPr lang="en-US" sz="1200" smtClean="0">
                <a:solidFill>
                  <a:schemeClr val="bg2"/>
                </a:solidFill>
              </a:rPr>
              <a:pPr eaLnBrk="1" hangingPunct="1">
                <a:defRPr/>
              </a:pPr>
              <a:t>6-Apr-26</a:t>
            </a:fld>
            <a:endParaRPr lang="en-US" sz="1200">
              <a:solidFill>
                <a:schemeClr val="bg2"/>
              </a:solidFill>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p:txBody>
          <a:bodyPr/>
          <a:lstStyle>
            <a:lvl1pPr>
              <a:defRPr b="1"/>
            </a:lvl1pPr>
          </a:lstStyle>
          <a:p>
            <a:pPr>
              <a:defRPr/>
            </a:pPr>
            <a:fld id="{B3221BEE-2B23-43DD-A4BE-685B6CC95EF8}" type="slidenum">
              <a:rPr lang="en-US"/>
              <a:pPr>
                <a:defRPr/>
              </a:pPr>
              <a:t>‹#›</a:t>
            </a:fld>
            <a:endParaRPr lang="en-US">
              <a:solidFill>
                <a:srgbClr val="808080"/>
              </a:solidFill>
            </a:endParaRPr>
          </a:p>
        </p:txBody>
      </p:sp>
    </p:spTree>
    <p:extLst>
      <p:ext uri="{BB962C8B-B14F-4D97-AF65-F5344CB8AC3E}">
        <p14:creationId xmlns:p14="http://schemas.microsoft.com/office/powerpoint/2010/main" val="296795989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796B5E3C-9525-4059-AF28-198B87134A25}" type="datetime5">
              <a:rPr lang="en-US" sz="1200" smtClean="0">
                <a:solidFill>
                  <a:schemeClr val="bg2"/>
                </a:solidFill>
              </a:rPr>
              <a:pPr eaLnBrk="1" hangingPunct="1">
                <a:defRPr/>
              </a:pPr>
              <a:t>6-Apr-26</a:t>
            </a:fld>
            <a:endParaRPr lang="en-US" sz="1200">
              <a:solidFill>
                <a:schemeClr val="bg2"/>
              </a:solidFill>
            </a:endParaRPr>
          </a:p>
        </p:txBody>
      </p:sp>
      <p:sp>
        <p:nvSpPr>
          <p:cNvPr id="2" name="Vertical Title 1"/>
          <p:cNvSpPr>
            <a:spLocks noGrp="1"/>
          </p:cNvSpPr>
          <p:nvPr>
            <p:ph type="title" orient="vert"/>
          </p:nvPr>
        </p:nvSpPr>
        <p:spPr>
          <a:xfrm>
            <a:off x="6657975" y="119063"/>
            <a:ext cx="2032000" cy="6234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58800" y="119063"/>
            <a:ext cx="5946775" cy="6234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p:txBody>
          <a:bodyPr/>
          <a:lstStyle>
            <a:lvl1pPr>
              <a:defRPr b="1"/>
            </a:lvl1pPr>
          </a:lstStyle>
          <a:p>
            <a:pPr>
              <a:defRPr/>
            </a:pPr>
            <a:fld id="{B0C3B907-FA4B-413E-B18A-703DFCC6DE2F}" type="slidenum">
              <a:rPr lang="en-US"/>
              <a:pPr>
                <a:defRPr/>
              </a:pPr>
              <a:t>‹#›</a:t>
            </a:fld>
            <a:endParaRPr lang="en-US">
              <a:solidFill>
                <a:srgbClr val="808080"/>
              </a:solidFill>
            </a:endParaRPr>
          </a:p>
        </p:txBody>
      </p:sp>
    </p:spTree>
    <p:extLst>
      <p:ext uri="{BB962C8B-B14F-4D97-AF65-F5344CB8AC3E}">
        <p14:creationId xmlns:p14="http://schemas.microsoft.com/office/powerpoint/2010/main" val="194548524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0F935C6E-4610-48D8-B43C-33DB6C06CC84}" type="datetime5">
              <a:rPr lang="en-US" sz="1200" smtClean="0">
                <a:solidFill>
                  <a:schemeClr val="bg2"/>
                </a:solidFill>
              </a:rPr>
              <a:pPr eaLnBrk="1" hangingPunct="1">
                <a:defRPr/>
              </a:pPr>
              <a:t>6-Apr-26</a:t>
            </a:fld>
            <a:endParaRPr lang="en-US" sz="1200">
              <a:solidFill>
                <a:schemeClr val="bg2"/>
              </a:solidFill>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Slide Number Placeholder 5"/>
          <p:cNvSpPr>
            <a:spLocks noGrp="1"/>
          </p:cNvSpPr>
          <p:nvPr>
            <p:ph type="sldNum" sz="quarter" idx="10"/>
          </p:nvPr>
        </p:nvSpPr>
        <p:spPr/>
        <p:txBody>
          <a:bodyPr/>
          <a:lstStyle>
            <a:lvl1pPr>
              <a:defRPr b="1"/>
            </a:lvl1pPr>
          </a:lstStyle>
          <a:p>
            <a:pPr>
              <a:defRPr/>
            </a:pPr>
            <a:fld id="{B9B1E590-5C32-4106-88AF-2D59CB6E7123}" type="slidenum">
              <a:rPr lang="en-US"/>
              <a:pPr>
                <a:defRPr/>
              </a:pPr>
              <a:t>‹#›</a:t>
            </a:fld>
            <a:endParaRPr lang="en-US"/>
          </a:p>
        </p:txBody>
      </p:sp>
    </p:spTree>
    <p:extLst>
      <p:ext uri="{BB962C8B-B14F-4D97-AF65-F5344CB8AC3E}">
        <p14:creationId xmlns:p14="http://schemas.microsoft.com/office/powerpoint/2010/main" val="3255364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p:cNvSpPr>
            <a:spLocks noGrp="1"/>
          </p:cNvSpPr>
          <p:nvPr>
            <p:ph type="title"/>
          </p:nvPr>
        </p:nvSpPr>
        <p:spPr>
          <a:xfrm>
            <a:off x="301752" y="304800"/>
            <a:ext cx="7167562" cy="612775"/>
          </a:xfrm>
        </p:spPr>
        <p:txBody>
          <a:bodyPr/>
          <a:lstStyle/>
          <a:p>
            <a:r>
              <a:rPr lang="en-US"/>
              <a:t>Click to edit Master title style</a:t>
            </a:r>
          </a:p>
        </p:txBody>
      </p:sp>
      <p:sp>
        <p:nvSpPr>
          <p:cNvPr id="4" name="Date Placeholder 6"/>
          <p:cNvSpPr>
            <a:spLocks noGrp="1"/>
          </p:cNvSpPr>
          <p:nvPr>
            <p:ph type="dt" sz="half" idx="10"/>
          </p:nvPr>
        </p:nvSpPr>
        <p:spPr>
          <a:xfrm>
            <a:off x="1066800" y="6324600"/>
            <a:ext cx="1905000" cy="457200"/>
          </a:xfrm>
          <a:prstGeom prst="rect">
            <a:avLst/>
          </a:prstGeom>
        </p:spPr>
        <p:txBody>
          <a:bodyPr/>
          <a:lstStyle>
            <a:lvl1pPr>
              <a:defRPr/>
            </a:lvl1pPr>
          </a:lstStyle>
          <a:p>
            <a:pPr>
              <a:defRPr/>
            </a:pPr>
            <a:endParaRPr lang="en-US"/>
          </a:p>
        </p:txBody>
      </p:sp>
      <p:sp>
        <p:nvSpPr>
          <p:cNvPr id="5" name="Slide Number Placeholder 7"/>
          <p:cNvSpPr>
            <a:spLocks noGrp="1"/>
          </p:cNvSpPr>
          <p:nvPr>
            <p:ph type="sldNum" sz="quarter" idx="11"/>
          </p:nvPr>
        </p:nvSpPr>
        <p:spPr/>
        <p:txBody>
          <a:bodyPr/>
          <a:lstStyle>
            <a:lvl1pPr>
              <a:defRPr b="1"/>
            </a:lvl1pPr>
          </a:lstStyle>
          <a:p>
            <a:pPr>
              <a:defRPr/>
            </a:pPr>
            <a:fld id="{505C0745-9640-4631-B3E6-202A4D2F36F5}" type="slidenum">
              <a:rPr lang="en-US"/>
              <a:pPr>
                <a:defRPr/>
              </a:pPr>
              <a:t>‹#›</a:t>
            </a:fld>
            <a:endParaRPr lang="en-US" dirty="0"/>
          </a:p>
        </p:txBody>
      </p:sp>
      <p:sp>
        <p:nvSpPr>
          <p:cNvPr id="6" name="Footer Placeholder 8"/>
          <p:cNvSpPr>
            <a:spLocks noGrp="1"/>
          </p:cNvSpPr>
          <p:nvPr>
            <p:ph type="ftr" sz="quarter" idx="12"/>
          </p:nvPr>
        </p:nvSpPr>
        <p:spPr>
          <a:xfrm>
            <a:off x="3505200" y="6324600"/>
            <a:ext cx="2895600" cy="457200"/>
          </a:xfrm>
          <a:prstGeom prst="rect">
            <a:avLst/>
          </a:prstGeom>
        </p:spPr>
        <p:txBody>
          <a:bodyPr/>
          <a:lstStyle>
            <a:lvl1pPr>
              <a:defRPr/>
            </a:lvl1pPr>
          </a:lstStyle>
          <a:p>
            <a:pPr>
              <a:defRPr/>
            </a:pPr>
            <a:endParaRPr lang="en-US"/>
          </a:p>
        </p:txBody>
      </p:sp>
    </p:spTree>
    <p:extLst>
      <p:ext uri="{BB962C8B-B14F-4D97-AF65-F5344CB8AC3E}">
        <p14:creationId xmlns:p14="http://schemas.microsoft.com/office/powerpoint/2010/main" val="409900645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558800" y="1477963"/>
            <a:ext cx="8131175" cy="487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1030" name="Rectangle 6"/>
          <p:cNvSpPr>
            <a:spLocks noGrp="1" noChangeArrowheads="1"/>
          </p:cNvSpPr>
          <p:nvPr>
            <p:ph type="sldNum" sz="quarter" idx="4"/>
          </p:nvPr>
        </p:nvSpPr>
        <p:spPr bwMode="auto">
          <a:xfrm>
            <a:off x="7988300" y="6524625"/>
            <a:ext cx="1143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buClrTx/>
              <a:buSzTx/>
              <a:buFontTx/>
              <a:buNone/>
              <a:defRPr sz="1000" b="0">
                <a:solidFill>
                  <a:srgbClr val="969696"/>
                </a:solidFill>
                <a:cs typeface="+mn-cs"/>
              </a:defRPr>
            </a:lvl1pPr>
          </a:lstStyle>
          <a:p>
            <a:pPr>
              <a:defRPr/>
            </a:pPr>
            <a:fld id="{D3C7EB39-0C28-497B-B3E4-B4B8F1F4C3C1}" type="slidenum">
              <a:rPr lang="en-US"/>
              <a:pPr>
                <a:defRPr/>
              </a:pPr>
              <a:t>‹#›</a:t>
            </a:fld>
            <a:endParaRPr lang="en-US">
              <a:solidFill>
                <a:srgbClr val="808080"/>
              </a:solidFill>
            </a:endParaRPr>
          </a:p>
        </p:txBody>
      </p:sp>
      <p:sp>
        <p:nvSpPr>
          <p:cNvPr id="1028" name="Rectangle 2"/>
          <p:cNvSpPr>
            <a:spLocks noGrp="1" noChangeArrowheads="1"/>
          </p:cNvSpPr>
          <p:nvPr>
            <p:ph type="title"/>
          </p:nvPr>
        </p:nvSpPr>
        <p:spPr bwMode="auto">
          <a:xfrm>
            <a:off x="1174750" y="119063"/>
            <a:ext cx="677862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9" name="Line 15"/>
          <p:cNvSpPr>
            <a:spLocks noChangeShapeType="1"/>
          </p:cNvSpPr>
          <p:nvPr/>
        </p:nvSpPr>
        <p:spPr bwMode="auto">
          <a:xfrm>
            <a:off x="381000" y="64516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Line 1087"/>
          <p:cNvSpPr>
            <a:spLocks noChangeShapeType="1"/>
          </p:cNvSpPr>
          <p:nvPr userDrawn="1"/>
        </p:nvSpPr>
        <p:spPr bwMode="auto">
          <a:xfrm>
            <a:off x="381000" y="10668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3" name="Text Box 13"/>
          <p:cNvSpPr txBox="1">
            <a:spLocks noChangeArrowheads="1"/>
          </p:cNvSpPr>
          <p:nvPr userDrawn="1"/>
        </p:nvSpPr>
        <p:spPr bwMode="auto">
          <a:xfrm>
            <a:off x="1295400" y="6445250"/>
            <a:ext cx="6553200" cy="336550"/>
          </a:xfrm>
          <a:prstGeom prst="rect">
            <a:avLst/>
          </a:prstGeom>
          <a:noFill/>
          <a:ln>
            <a:noFill/>
          </a:ln>
        </p:spPr>
        <p:txBody>
          <a:bodyPr>
            <a:spAutoFit/>
          </a:bodyPr>
          <a:lstStyle>
            <a:lvl1pPr eaLnBrk="0" hangingPunct="0">
              <a:defRPr sz="6000">
                <a:solidFill>
                  <a:schemeClr val="tx1"/>
                </a:solidFill>
                <a:latin typeface="Arial" charset="0"/>
                <a:cs typeface="Arial" charset="0"/>
              </a:defRPr>
            </a:lvl1pPr>
            <a:lvl2pPr marL="742950" indent="-285750" eaLnBrk="0" hangingPunct="0">
              <a:defRPr sz="6000">
                <a:solidFill>
                  <a:schemeClr val="tx1"/>
                </a:solidFill>
                <a:latin typeface="Arial" charset="0"/>
                <a:cs typeface="Arial" charset="0"/>
              </a:defRPr>
            </a:lvl2pPr>
            <a:lvl3pPr marL="1143000" indent="-228600" eaLnBrk="0" hangingPunct="0">
              <a:defRPr sz="6000">
                <a:solidFill>
                  <a:schemeClr val="tx1"/>
                </a:solidFill>
                <a:latin typeface="Arial" charset="0"/>
                <a:cs typeface="Arial" charset="0"/>
              </a:defRPr>
            </a:lvl3pPr>
            <a:lvl4pPr marL="1600200" indent="-228600" eaLnBrk="0" hangingPunct="0">
              <a:defRPr sz="6000">
                <a:solidFill>
                  <a:schemeClr val="tx1"/>
                </a:solidFill>
                <a:latin typeface="Arial" charset="0"/>
                <a:cs typeface="Arial" charset="0"/>
              </a:defRPr>
            </a:lvl4pPr>
            <a:lvl5pPr marL="2057400" indent="-228600" eaLnBrk="0" hangingPunct="0">
              <a:defRPr sz="6000">
                <a:solidFill>
                  <a:schemeClr val="tx1"/>
                </a:solidFill>
                <a:latin typeface="Arial" charset="0"/>
                <a:cs typeface="Arial" charset="0"/>
              </a:defRPr>
            </a:lvl5pPr>
            <a:lvl6pPr marL="2514600" indent="-228600" eaLnBrk="0" fontAlgn="base" hangingPunct="0">
              <a:spcBef>
                <a:spcPct val="0"/>
              </a:spcBef>
              <a:spcAft>
                <a:spcPct val="0"/>
              </a:spcAft>
              <a:defRPr sz="6000">
                <a:solidFill>
                  <a:schemeClr val="tx1"/>
                </a:solidFill>
                <a:latin typeface="Arial" charset="0"/>
                <a:cs typeface="Arial" charset="0"/>
              </a:defRPr>
            </a:lvl6pPr>
            <a:lvl7pPr marL="2971800" indent="-228600" eaLnBrk="0" fontAlgn="base" hangingPunct="0">
              <a:spcBef>
                <a:spcPct val="0"/>
              </a:spcBef>
              <a:spcAft>
                <a:spcPct val="0"/>
              </a:spcAft>
              <a:defRPr sz="6000">
                <a:solidFill>
                  <a:schemeClr val="tx1"/>
                </a:solidFill>
                <a:latin typeface="Arial" charset="0"/>
                <a:cs typeface="Arial" charset="0"/>
              </a:defRPr>
            </a:lvl7pPr>
            <a:lvl8pPr marL="3429000" indent="-228600" eaLnBrk="0" fontAlgn="base" hangingPunct="0">
              <a:spcBef>
                <a:spcPct val="0"/>
              </a:spcBef>
              <a:spcAft>
                <a:spcPct val="0"/>
              </a:spcAft>
              <a:defRPr sz="6000">
                <a:solidFill>
                  <a:schemeClr val="tx1"/>
                </a:solidFill>
                <a:latin typeface="Arial" charset="0"/>
                <a:cs typeface="Arial" charset="0"/>
              </a:defRPr>
            </a:lvl8pPr>
            <a:lvl9pPr marL="3886200" indent="-228600" eaLnBrk="0" fontAlgn="base" hangingPunct="0">
              <a:spcBef>
                <a:spcPct val="0"/>
              </a:spcBef>
              <a:spcAft>
                <a:spcPct val="0"/>
              </a:spcAft>
              <a:defRPr sz="6000">
                <a:solidFill>
                  <a:schemeClr val="tx1"/>
                </a:solidFill>
                <a:latin typeface="Arial" charset="0"/>
                <a:cs typeface="Arial" charset="0"/>
              </a:defRPr>
            </a:lvl9pPr>
          </a:lstStyle>
          <a:p>
            <a:pPr>
              <a:spcBef>
                <a:spcPct val="50000"/>
              </a:spcBef>
              <a:defRPr/>
            </a:pPr>
            <a:r>
              <a:rPr lang="en-US" sz="1600" i="1" dirty="0">
                <a:solidFill>
                  <a:srgbClr val="000000"/>
                </a:solidFill>
                <a:latin typeface="Century Schoolbook" pitchFamily="18" charset="0"/>
              </a:rPr>
              <a:t>Parts on Target</a:t>
            </a:r>
          </a:p>
        </p:txBody>
      </p:sp>
      <p:pic>
        <p:nvPicPr>
          <p:cNvPr id="10" name="Picture 20" descr="448TH SUPPLY CHAIN SUSTAINMENT WING COLOR_Transparentjun08"/>
          <p:cNvPicPr>
            <a:picLocks noChangeAspect="1" noChangeArrowheads="1"/>
          </p:cNvPicPr>
          <p:nvPr userDrawn="1"/>
        </p:nvPicPr>
        <p:blipFill>
          <a:blip r:embed="rId17"/>
          <a:stretch>
            <a:fillRect/>
          </a:stretch>
        </p:blipFill>
        <p:spPr bwMode="auto">
          <a:xfrm>
            <a:off x="8077200" y="25400"/>
            <a:ext cx="1009650" cy="1000125"/>
          </a:xfrm>
          <a:prstGeom prst="rect">
            <a:avLst/>
          </a:prstGeom>
          <a:ln>
            <a:noFill/>
          </a:ln>
          <a:effectLst>
            <a:outerShdw blurRad="292100" dist="139700" dir="2700000" algn="tl" rotWithShape="0">
              <a:srgbClr val="333333">
                <a:alpha val="65000"/>
              </a:srgbClr>
            </a:outerShdw>
          </a:effectLst>
        </p:spPr>
      </p:pic>
      <p:pic>
        <p:nvPicPr>
          <p:cNvPr id="11" name="Picture 3"/>
          <p:cNvPicPr>
            <a:picLocks noChangeAspect="1" noChangeArrowheads="1"/>
          </p:cNvPicPr>
          <p:nvPr userDrawn="1"/>
        </p:nvPicPr>
        <p:blipFill>
          <a:blip r:embed="rId18"/>
          <a:srcRect/>
          <a:stretch>
            <a:fillRect/>
          </a:stretch>
        </p:blipFill>
        <p:spPr bwMode="auto">
          <a:xfrm>
            <a:off x="-1588" y="-9525"/>
            <a:ext cx="1066801" cy="1041400"/>
          </a:xfrm>
          <a:prstGeom prst="rect">
            <a:avLst/>
          </a:prstGeom>
          <a:ln>
            <a:noFill/>
          </a:ln>
          <a:effectLst>
            <a:outerShdw blurRad="292100" dist="139700" dir="2700000" algn="tl" rotWithShape="0">
              <a:srgbClr val="333333">
                <a:alpha val="65000"/>
              </a:srgbClr>
            </a:outerShdw>
          </a:effectLst>
        </p:spPr>
      </p:pic>
      <p:sp>
        <p:nvSpPr>
          <p:cNvPr id="1034" name="TextBox 12"/>
          <p:cNvSpPr txBox="1">
            <a:spLocks noChangeArrowheads="1"/>
          </p:cNvSpPr>
          <p:nvPr userDrawn="1"/>
        </p:nvSpPr>
        <p:spPr bwMode="auto">
          <a:xfrm>
            <a:off x="57150" y="6542088"/>
            <a:ext cx="10747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2"/>
                </a:solidFill>
                <a:latin typeface="Arial" charset="0"/>
              </a:defRPr>
            </a:lvl1pPr>
            <a:lvl2pPr marL="742950" indent="-285750" eaLnBrk="0" hangingPunct="0">
              <a:defRPr sz="3200" b="1">
                <a:solidFill>
                  <a:schemeClr val="tx2"/>
                </a:solidFill>
                <a:latin typeface="Arial" charset="0"/>
              </a:defRPr>
            </a:lvl2pPr>
            <a:lvl3pPr marL="1143000" indent="-228600" eaLnBrk="0" hangingPunct="0">
              <a:defRPr sz="3200" b="1">
                <a:solidFill>
                  <a:schemeClr val="tx2"/>
                </a:solidFill>
                <a:latin typeface="Arial" charset="0"/>
              </a:defRPr>
            </a:lvl3pPr>
            <a:lvl4pPr marL="1600200" indent="-228600" eaLnBrk="0" hangingPunct="0">
              <a:defRPr sz="3200" b="1">
                <a:solidFill>
                  <a:schemeClr val="tx2"/>
                </a:solidFill>
                <a:latin typeface="Arial" charset="0"/>
              </a:defRPr>
            </a:lvl4pPr>
            <a:lvl5pPr marL="2057400" indent="-228600" eaLnBrk="0" hangingPunct="0">
              <a:defRPr sz="3200" b="1">
                <a:solidFill>
                  <a:schemeClr val="tx2"/>
                </a:solidFill>
                <a:latin typeface="Arial" charset="0"/>
              </a:defRPr>
            </a:lvl5pPr>
            <a:lvl6pPr marL="2514600" indent="-228600" algn="ctr" eaLnBrk="0" fontAlgn="base" hangingPunct="0">
              <a:spcBef>
                <a:spcPct val="0"/>
              </a:spcBef>
              <a:spcAft>
                <a:spcPct val="0"/>
              </a:spcAft>
              <a:defRPr sz="3200" b="1">
                <a:solidFill>
                  <a:schemeClr val="tx2"/>
                </a:solidFill>
                <a:latin typeface="Arial" charset="0"/>
              </a:defRPr>
            </a:lvl6pPr>
            <a:lvl7pPr marL="2971800" indent="-228600" algn="ctr" eaLnBrk="0" fontAlgn="base" hangingPunct="0">
              <a:spcBef>
                <a:spcPct val="0"/>
              </a:spcBef>
              <a:spcAft>
                <a:spcPct val="0"/>
              </a:spcAft>
              <a:defRPr sz="3200" b="1">
                <a:solidFill>
                  <a:schemeClr val="tx2"/>
                </a:solidFill>
                <a:latin typeface="Arial" charset="0"/>
              </a:defRPr>
            </a:lvl7pPr>
            <a:lvl8pPr marL="3429000" indent="-228600" algn="ctr" eaLnBrk="0" fontAlgn="base" hangingPunct="0">
              <a:spcBef>
                <a:spcPct val="0"/>
              </a:spcBef>
              <a:spcAft>
                <a:spcPct val="0"/>
              </a:spcAft>
              <a:defRPr sz="3200" b="1">
                <a:solidFill>
                  <a:schemeClr val="tx2"/>
                </a:solidFill>
                <a:latin typeface="Arial" charset="0"/>
              </a:defRPr>
            </a:lvl8pPr>
            <a:lvl9pPr marL="3886200" indent="-228600" algn="ctr" eaLnBrk="0" fontAlgn="base" hangingPunct="0">
              <a:spcBef>
                <a:spcPct val="0"/>
              </a:spcBef>
              <a:spcAft>
                <a:spcPct val="0"/>
              </a:spcAft>
              <a:defRPr sz="3200" b="1">
                <a:solidFill>
                  <a:schemeClr val="tx2"/>
                </a:solidFill>
                <a:latin typeface="Arial" charset="0"/>
              </a:defRPr>
            </a:lvl9pPr>
          </a:lstStyle>
          <a:p>
            <a:pPr eaLnBrk="1" hangingPunct="1">
              <a:defRPr/>
            </a:pPr>
            <a:fld id="{01231ADA-DC3E-4200-8AF8-1A081E1F52C3}" type="datetime5">
              <a:rPr lang="en-US" sz="1200" smtClean="0">
                <a:solidFill>
                  <a:schemeClr val="bg2"/>
                </a:solidFill>
              </a:rPr>
              <a:pPr eaLnBrk="1" hangingPunct="1">
                <a:defRPr/>
              </a:pPr>
              <a:t>6-Apr-26</a:t>
            </a:fld>
            <a:endParaRPr lang="en-US" sz="1200">
              <a:solidFill>
                <a:schemeClr val="bg2"/>
              </a:solidFill>
            </a:endParaRPr>
          </a:p>
        </p:txBody>
      </p:sp>
    </p:spTree>
    <p:extLst>
      <p:ext uri="{BB962C8B-B14F-4D97-AF65-F5344CB8AC3E}">
        <p14:creationId xmlns:p14="http://schemas.microsoft.com/office/powerpoint/2010/main" val="1443529484"/>
      </p:ext>
    </p:extLst>
  </p:cSld>
  <p:clrMap bg1="lt1" tx1="dk1" bg2="lt2" tx2="dk2" accent1="accent1" accent2="accent2" accent3="accent3" accent4="accent4" accent5="accent5" accent6="accent6" hlink="hlink" folHlink="folHlink"/>
  <p:sldLayoutIdLst>
    <p:sldLayoutId id="2147484655" r:id="rId1"/>
    <p:sldLayoutId id="2147484656" r:id="rId2"/>
    <p:sldLayoutId id="2147484657" r:id="rId3"/>
    <p:sldLayoutId id="2147484658" r:id="rId4"/>
    <p:sldLayoutId id="2147484659" r:id="rId5"/>
    <p:sldLayoutId id="2147484660" r:id="rId6"/>
    <p:sldLayoutId id="2147484661" r:id="rId7"/>
    <p:sldLayoutId id="2147484662" r:id="rId8"/>
    <p:sldLayoutId id="2147484663" r:id="rId9"/>
    <p:sldLayoutId id="2147484664" r:id="rId10"/>
    <p:sldLayoutId id="2147484665" r:id="rId11"/>
    <p:sldLayoutId id="2147484666" r:id="rId12"/>
    <p:sldLayoutId id="2147484667" r:id="rId13"/>
    <p:sldLayoutId id="2147484668" r:id="rId14"/>
    <p:sldLayoutId id="2147484669" r:id="rId15"/>
  </p:sldLayoutIdLst>
  <p:transition/>
  <p:hf hdr="0" ftr="0" dt="0"/>
  <p:txStyles>
    <p:titleStyle>
      <a:lvl1pPr algn="ctr" rtl="0" eaLnBrk="0" fontAlgn="base" hangingPunct="0">
        <a:spcBef>
          <a:spcPct val="0"/>
        </a:spcBef>
        <a:spcAft>
          <a:spcPct val="0"/>
        </a:spcAft>
        <a:defRPr sz="3200" b="1" i="1">
          <a:solidFill>
            <a:srgbClr val="151C77"/>
          </a:solidFill>
          <a:latin typeface="+mj-lt"/>
          <a:ea typeface="+mj-ea"/>
          <a:cs typeface="+mj-cs"/>
        </a:defRPr>
      </a:lvl1pPr>
      <a:lvl2pPr algn="ctr" rtl="0" eaLnBrk="0" fontAlgn="base" hangingPunct="0">
        <a:spcBef>
          <a:spcPct val="0"/>
        </a:spcBef>
        <a:spcAft>
          <a:spcPct val="0"/>
        </a:spcAft>
        <a:defRPr sz="3200" b="1" i="1">
          <a:solidFill>
            <a:srgbClr val="151C77"/>
          </a:solidFill>
          <a:latin typeface="Arial" charset="0"/>
        </a:defRPr>
      </a:lvl2pPr>
      <a:lvl3pPr algn="ctr" rtl="0" eaLnBrk="0" fontAlgn="base" hangingPunct="0">
        <a:spcBef>
          <a:spcPct val="0"/>
        </a:spcBef>
        <a:spcAft>
          <a:spcPct val="0"/>
        </a:spcAft>
        <a:defRPr sz="3200" b="1" i="1">
          <a:solidFill>
            <a:srgbClr val="151C77"/>
          </a:solidFill>
          <a:latin typeface="Arial" charset="0"/>
        </a:defRPr>
      </a:lvl3pPr>
      <a:lvl4pPr algn="ctr" rtl="0" eaLnBrk="0" fontAlgn="base" hangingPunct="0">
        <a:spcBef>
          <a:spcPct val="0"/>
        </a:spcBef>
        <a:spcAft>
          <a:spcPct val="0"/>
        </a:spcAft>
        <a:defRPr sz="3200" b="1" i="1">
          <a:solidFill>
            <a:srgbClr val="151C77"/>
          </a:solidFill>
          <a:latin typeface="Arial" charset="0"/>
        </a:defRPr>
      </a:lvl4pPr>
      <a:lvl5pPr algn="ctr" rtl="0" eaLnBrk="0" fontAlgn="base" hangingPunct="0">
        <a:spcBef>
          <a:spcPct val="0"/>
        </a:spcBef>
        <a:spcAft>
          <a:spcPct val="0"/>
        </a:spcAft>
        <a:defRPr sz="3200" b="1" i="1">
          <a:solidFill>
            <a:srgbClr val="151C77"/>
          </a:solidFill>
          <a:latin typeface="Arial" charset="0"/>
        </a:defRPr>
      </a:lvl5pPr>
      <a:lvl6pPr marL="457200" algn="ctr" rtl="0" eaLnBrk="0" fontAlgn="base" hangingPunct="0">
        <a:spcBef>
          <a:spcPct val="0"/>
        </a:spcBef>
        <a:spcAft>
          <a:spcPct val="0"/>
        </a:spcAft>
        <a:defRPr sz="3200" b="1" i="1">
          <a:solidFill>
            <a:srgbClr val="151C77"/>
          </a:solidFill>
          <a:latin typeface="Arial" charset="0"/>
        </a:defRPr>
      </a:lvl6pPr>
      <a:lvl7pPr marL="914400" algn="ctr" rtl="0" eaLnBrk="0" fontAlgn="base" hangingPunct="0">
        <a:spcBef>
          <a:spcPct val="0"/>
        </a:spcBef>
        <a:spcAft>
          <a:spcPct val="0"/>
        </a:spcAft>
        <a:defRPr sz="3200" b="1" i="1">
          <a:solidFill>
            <a:srgbClr val="151C77"/>
          </a:solidFill>
          <a:latin typeface="Arial" charset="0"/>
        </a:defRPr>
      </a:lvl7pPr>
      <a:lvl8pPr marL="1371600" algn="ctr" rtl="0" eaLnBrk="0" fontAlgn="base" hangingPunct="0">
        <a:spcBef>
          <a:spcPct val="0"/>
        </a:spcBef>
        <a:spcAft>
          <a:spcPct val="0"/>
        </a:spcAft>
        <a:defRPr sz="3200" b="1" i="1">
          <a:solidFill>
            <a:srgbClr val="151C77"/>
          </a:solidFill>
          <a:latin typeface="Arial" charset="0"/>
        </a:defRPr>
      </a:lvl8pPr>
      <a:lvl9pPr marL="1828800" algn="ctr" rtl="0" eaLnBrk="0" fontAlgn="base" hangingPunct="0">
        <a:spcBef>
          <a:spcPct val="0"/>
        </a:spcBef>
        <a:spcAft>
          <a:spcPct val="0"/>
        </a:spcAft>
        <a:defRPr sz="3200" b="1" i="1">
          <a:solidFill>
            <a:srgbClr val="151C77"/>
          </a:solidFill>
          <a:latin typeface="Arial" charset="0"/>
        </a:defRPr>
      </a:lvl9pPr>
    </p:titleStyle>
    <p:bodyStyle>
      <a:lvl1pPr marL="285750" indent="-285750" algn="l" rtl="0" eaLnBrk="0" fontAlgn="base" hangingPunct="0">
        <a:spcBef>
          <a:spcPct val="20000"/>
        </a:spcBef>
        <a:spcAft>
          <a:spcPct val="0"/>
        </a:spcAft>
        <a:buClr>
          <a:srgbClr val="151C77"/>
        </a:buClr>
        <a:buFont typeface="Wingdings" pitchFamily="2" charset="2"/>
        <a:buChar char="§"/>
        <a:defRPr sz="2800">
          <a:solidFill>
            <a:schemeClr val="tx1"/>
          </a:solidFill>
          <a:latin typeface="+mn-lt"/>
          <a:ea typeface="+mn-ea"/>
          <a:cs typeface="+mn-cs"/>
        </a:defRPr>
      </a:lvl1pPr>
      <a:lvl2pPr marL="688975" indent="-282575" algn="l" rtl="0" eaLnBrk="0" fontAlgn="base" hangingPunct="0">
        <a:spcBef>
          <a:spcPct val="20000"/>
        </a:spcBef>
        <a:spcAft>
          <a:spcPct val="0"/>
        </a:spcAft>
        <a:buClr>
          <a:srgbClr val="151C77"/>
        </a:buClr>
        <a:buFont typeface="Arial" charset="0"/>
        <a:buChar char="–"/>
        <a:defRPr sz="2400">
          <a:solidFill>
            <a:schemeClr val="tx1"/>
          </a:solidFill>
          <a:latin typeface="+mn-lt"/>
        </a:defRPr>
      </a:lvl2pPr>
      <a:lvl3pPr marL="1027113" indent="-223838" algn="l" rtl="0" eaLnBrk="0" fontAlgn="base" hangingPunct="0">
        <a:spcBef>
          <a:spcPct val="20000"/>
        </a:spcBef>
        <a:spcAft>
          <a:spcPct val="0"/>
        </a:spcAft>
        <a:buClr>
          <a:srgbClr val="151C77"/>
        </a:buClr>
        <a:buFont typeface="Wingdings" pitchFamily="2" charset="2"/>
        <a:buChar char="§"/>
        <a:defRPr sz="2000">
          <a:solidFill>
            <a:schemeClr val="tx1"/>
          </a:solidFill>
          <a:latin typeface="+mn-lt"/>
        </a:defRPr>
      </a:lvl3pPr>
      <a:lvl4pPr marL="1600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46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www.e-publishing.af.mil/"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www.tinker.af.mil/Resources/Technical-Orders/" TargetMode="External"/><Relationship Id="rId2" Type="http://schemas.openxmlformats.org/officeDocument/2006/relationships/hyperlink" Target="https://www.e-publishing.af.mi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3" Type="http://schemas.openxmlformats.org/officeDocument/2006/relationships/hyperlink" Target="https://techdata.wpafb.af.mil/tmss/index.html"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www.e-publishing.af.mi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microsoft.com/office/2018/10/relationships/comments" Target="../comments/modernComment_1B5_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microsoft.com/office/2018/10/relationships/comments" Target="../comments/modernComment_1D5_0.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7.e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9"/>
          <p:cNvSpPr>
            <a:spLocks noGrp="1"/>
          </p:cNvSpPr>
          <p:nvPr>
            <p:ph type="ctrTitle"/>
          </p:nvPr>
        </p:nvSpPr>
        <p:spPr/>
        <p:txBody>
          <a:bodyPr/>
          <a:lstStyle/>
          <a:p>
            <a:pPr eaLnBrk="1" hangingPunct="1"/>
            <a:r>
              <a:rPr lang="en-US" dirty="0"/>
              <a:t>TIME COMPLIANCE</a:t>
            </a:r>
            <a:br>
              <a:rPr lang="en-US" dirty="0"/>
            </a:br>
            <a:r>
              <a:rPr lang="en-US" dirty="0"/>
              <a:t>TECHNICAL ORDERS </a:t>
            </a:r>
            <a:br>
              <a:rPr lang="en-US" dirty="0"/>
            </a:br>
            <a:r>
              <a:rPr lang="en-US" dirty="0"/>
              <a:t>(TCTOs)     </a:t>
            </a:r>
            <a:br>
              <a:rPr lang="en-US" dirty="0"/>
            </a:br>
            <a:r>
              <a:rPr lang="en-US" dirty="0"/>
              <a:t> </a:t>
            </a:r>
          </a:p>
        </p:txBody>
      </p:sp>
      <p:sp>
        <p:nvSpPr>
          <p:cNvPr id="21507" name="Rectangle 2"/>
          <p:cNvSpPr>
            <a:spLocks noGrp="1" noChangeArrowheads="1"/>
          </p:cNvSpPr>
          <p:nvPr>
            <p:ph type="subTitle" idx="1"/>
          </p:nvPr>
        </p:nvSpPr>
        <p:spPr/>
        <p:txBody>
          <a:bodyPr/>
          <a:lstStyle/>
          <a:p>
            <a:pPr eaLnBrk="1" hangingPunct="1"/>
            <a:endParaRPr lang="en-US" dirty="0"/>
          </a:p>
          <a:p>
            <a:pPr eaLnBrk="1" hangingPunct="1"/>
            <a:endParaRPr lang="en-US" dirty="0"/>
          </a:p>
        </p:txBody>
      </p:sp>
      <p:sp>
        <p:nvSpPr>
          <p:cNvPr id="21508" name="Slide Number Placeholder 5"/>
          <p:cNvSpPr>
            <a:spLocks noGrp="1"/>
          </p:cNvSpPr>
          <p:nvPr>
            <p:ph type="sldNum" sz="quarter" idx="10"/>
          </p:nvPr>
        </p:nvSpPr>
        <p:spPr>
          <a:noFill/>
        </p:spPr>
        <p:txBody>
          <a:bodyPr/>
          <a:lstStyle/>
          <a:p>
            <a:fld id="{D9E2B698-AF58-47FB-94C2-C5F10EA1A216}" type="slidenum">
              <a:rPr lang="en-US" smtClean="0"/>
              <a:pPr/>
              <a:t>1</a:t>
            </a:fld>
            <a:endParaRPr lang="en-US"/>
          </a:p>
        </p:txBody>
      </p:sp>
      <p:sp>
        <p:nvSpPr>
          <p:cNvPr id="21509" name="Text Box 6"/>
          <p:cNvSpPr txBox="1">
            <a:spLocks noChangeArrowheads="1"/>
          </p:cNvSpPr>
          <p:nvPr/>
        </p:nvSpPr>
        <p:spPr bwMode="auto">
          <a:xfrm>
            <a:off x="2590800" y="457200"/>
            <a:ext cx="4800600" cy="228600"/>
          </a:xfrm>
          <a:prstGeom prst="rect">
            <a:avLst/>
          </a:prstGeom>
          <a:noFill/>
          <a:ln w="9525">
            <a:noFill/>
            <a:miter lim="800000"/>
            <a:headEnd/>
            <a:tailEnd/>
          </a:ln>
        </p:spPr>
        <p:txBody>
          <a:bodyPr>
            <a:spAutoFit/>
          </a:bodyPr>
          <a:lstStyle/>
          <a:p>
            <a:pPr>
              <a:spcBef>
                <a:spcPct val="50000"/>
              </a:spcBef>
            </a:pPr>
            <a:endParaRPr lang="en-US" b="0"/>
          </a:p>
        </p:txBody>
      </p:sp>
      <p:sp>
        <p:nvSpPr>
          <p:cNvPr id="21510" name="Text Box 7"/>
          <p:cNvSpPr txBox="1">
            <a:spLocks noChangeArrowheads="1"/>
          </p:cNvSpPr>
          <p:nvPr/>
        </p:nvSpPr>
        <p:spPr bwMode="auto">
          <a:xfrm>
            <a:off x="685800" y="5444464"/>
            <a:ext cx="7923213" cy="830997"/>
          </a:xfrm>
          <a:prstGeom prst="rect">
            <a:avLst/>
          </a:prstGeom>
          <a:noFill/>
          <a:ln w="9525">
            <a:noFill/>
            <a:miter lim="800000"/>
            <a:headEnd/>
            <a:tailEnd/>
          </a:ln>
        </p:spPr>
        <p:txBody>
          <a:bodyPr wrap="square">
            <a:spAutoFit/>
          </a:bodyPr>
          <a:lstStyle/>
          <a:p>
            <a:r>
              <a:rPr lang="en-US" sz="2400" dirty="0">
                <a:solidFill>
                  <a:srgbClr val="000099"/>
                </a:solidFill>
              </a:rPr>
              <a:t>Course Number</a:t>
            </a:r>
          </a:p>
          <a:p>
            <a:r>
              <a:rPr lang="en-US" sz="2400" dirty="0">
                <a:solidFill>
                  <a:srgbClr val="000099"/>
                </a:solidFill>
              </a:rPr>
              <a:t>CRXLOG0001100SU</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are we here?</a:t>
            </a:r>
          </a:p>
        </p:txBody>
      </p:sp>
      <p:sp>
        <p:nvSpPr>
          <p:cNvPr id="3" name="Content Placeholder 2"/>
          <p:cNvSpPr>
            <a:spLocks noGrp="1"/>
          </p:cNvSpPr>
          <p:nvPr>
            <p:ph idx="1"/>
          </p:nvPr>
        </p:nvSpPr>
        <p:spPr/>
        <p:txBody>
          <a:bodyPr/>
          <a:lstStyle/>
          <a:p>
            <a:r>
              <a:rPr lang="en-US" dirty="0"/>
              <a:t>The TCTO process consists of policies and procedures used to establish, procure, develop, manage, verify, reproduce, stock, store, issue, comply with and document TCTOs and associated TO Changes and modification kits and special tools.</a:t>
            </a:r>
          </a:p>
        </p:txBody>
      </p:sp>
    </p:spTree>
    <p:extLst>
      <p:ext uri="{BB962C8B-B14F-4D97-AF65-F5344CB8AC3E}">
        <p14:creationId xmlns:p14="http://schemas.microsoft.com/office/powerpoint/2010/main" val="365795354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dirty="0"/>
              <a:t>TCTOs Course Overview</a:t>
            </a:r>
          </a:p>
        </p:txBody>
      </p:sp>
      <p:sp>
        <p:nvSpPr>
          <p:cNvPr id="27651" name="Rectangle 3"/>
          <p:cNvSpPr>
            <a:spLocks noGrp="1" noChangeArrowheads="1"/>
          </p:cNvSpPr>
          <p:nvPr>
            <p:ph idx="1"/>
          </p:nvPr>
        </p:nvSpPr>
        <p:spPr/>
        <p:txBody>
          <a:bodyPr/>
          <a:lstStyle/>
          <a:p>
            <a:pPr eaLnBrk="1" hangingPunct="1"/>
            <a:r>
              <a:rPr lang="en-US" dirty="0"/>
              <a:t>COURSE CHAPTERS</a:t>
            </a:r>
          </a:p>
          <a:p>
            <a:pPr lvl="1" eaLnBrk="1" hangingPunct="1"/>
            <a:r>
              <a:rPr lang="en-US" dirty="0"/>
              <a:t>TCTO Policy and Procedures</a:t>
            </a:r>
          </a:p>
          <a:p>
            <a:pPr lvl="1" eaLnBrk="1" hangingPunct="1"/>
            <a:r>
              <a:rPr lang="en-US" dirty="0"/>
              <a:t>TCTO Planning and Funding</a:t>
            </a:r>
          </a:p>
          <a:p>
            <a:pPr lvl="1" eaLnBrk="1" hangingPunct="1"/>
            <a:r>
              <a:rPr lang="en-US" dirty="0"/>
              <a:t>TCTO Types, Verification, Completion, and Rescission</a:t>
            </a:r>
          </a:p>
          <a:p>
            <a:pPr lvl="1" eaLnBrk="1" hangingPunct="1"/>
            <a:r>
              <a:rPr lang="en-US" dirty="0"/>
              <a:t>Walk-Thru Exercise</a:t>
            </a:r>
          </a:p>
        </p:txBody>
      </p:sp>
      <p:sp>
        <p:nvSpPr>
          <p:cNvPr id="27652" name="Slide Number Placeholder 5"/>
          <p:cNvSpPr>
            <a:spLocks noGrp="1"/>
          </p:cNvSpPr>
          <p:nvPr>
            <p:ph type="sldNum" sz="quarter" idx="10"/>
          </p:nvPr>
        </p:nvSpPr>
        <p:spPr>
          <a:xfrm>
            <a:off x="7239000" y="6519863"/>
            <a:ext cx="1905000" cy="338137"/>
          </a:xfrm>
          <a:noFill/>
        </p:spPr>
        <p:txBody>
          <a:bodyPr/>
          <a:lstStyle/>
          <a:p>
            <a:fld id="{02D1A3B7-E161-47EA-B0CB-A40C1D2DA9F6}" type="slidenum">
              <a:rPr lang="en-US" smtClean="0"/>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Evaluations</a:t>
            </a:r>
          </a:p>
        </p:txBody>
      </p:sp>
      <p:sp>
        <p:nvSpPr>
          <p:cNvPr id="3" name="Content Placeholder 2"/>
          <p:cNvSpPr>
            <a:spLocks noGrp="1"/>
          </p:cNvSpPr>
          <p:nvPr>
            <p:ph idx="1"/>
          </p:nvPr>
        </p:nvSpPr>
        <p:spPr/>
        <p:txBody>
          <a:bodyPr/>
          <a:lstStyle/>
          <a:p>
            <a:r>
              <a:rPr lang="en-US" dirty="0"/>
              <a:t>Walk-Thru Exercise</a:t>
            </a:r>
          </a:p>
          <a:p>
            <a:r>
              <a:rPr lang="en-US" dirty="0"/>
              <a:t>Quiz </a:t>
            </a:r>
          </a:p>
          <a:p>
            <a:pPr lvl="1"/>
            <a:r>
              <a:rPr lang="en-US" dirty="0"/>
              <a:t>Submitted electronically</a:t>
            </a:r>
          </a:p>
          <a:p>
            <a:r>
              <a:rPr lang="en-US" dirty="0"/>
              <a:t>Course Critiques</a:t>
            </a:r>
          </a:p>
          <a:p>
            <a:pPr lvl="1"/>
            <a:r>
              <a:rPr lang="en-US" dirty="0"/>
              <a:t>Submitted electronically</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endParaRPr lang="en-US" dirty="0"/>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12260498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Regulations</a:t>
            </a:r>
          </a:p>
        </p:txBody>
      </p:sp>
      <p:sp>
        <p:nvSpPr>
          <p:cNvPr id="3" name="Content Placeholder 2"/>
          <p:cNvSpPr>
            <a:spLocks noGrp="1"/>
          </p:cNvSpPr>
          <p:nvPr>
            <p:ph idx="1"/>
          </p:nvPr>
        </p:nvSpPr>
        <p:spPr>
          <a:xfrm>
            <a:off x="457200" y="1524000"/>
            <a:ext cx="8686800" cy="4800600"/>
          </a:xfrm>
        </p:spPr>
        <p:txBody>
          <a:bodyPr/>
          <a:lstStyle/>
          <a:p>
            <a:r>
              <a:rPr lang="en-US" sz="2400" dirty="0"/>
              <a:t>AFH 23-123  - Material Management Reference Information</a:t>
            </a:r>
          </a:p>
          <a:p>
            <a:pPr lvl="1"/>
            <a:r>
              <a:rPr lang="en-US" sz="2200" dirty="0">
                <a:solidFill>
                  <a:schemeClr val="accent1"/>
                </a:solidFill>
                <a:hlinkClick r:id="rId3">
                  <a:extLst>
                    <a:ext uri="{A12FA001-AC4F-418D-AE19-62706E023703}">
                      <ahyp:hlinkClr xmlns:ahyp="http://schemas.microsoft.com/office/drawing/2018/hyperlinkcolor" val="tx"/>
                    </a:ext>
                  </a:extLst>
                </a:hlinkClick>
              </a:rPr>
              <a:t>https://www.e-publishing.af.mil/</a:t>
            </a:r>
            <a:endParaRPr lang="en-US" sz="2200" dirty="0">
              <a:solidFill>
                <a:schemeClr val="accent1"/>
              </a:solidFill>
            </a:endParaRPr>
          </a:p>
          <a:p>
            <a:r>
              <a:rPr lang="en-US" sz="2400" dirty="0"/>
              <a:t>AFI 63-101 - Acquisition and Sustainment Life Cycle Management</a:t>
            </a:r>
          </a:p>
          <a:p>
            <a:r>
              <a:rPr lang="en-US" sz="2400" dirty="0"/>
              <a:t>AFI 23-101 - Materiel Management Policy</a:t>
            </a:r>
          </a:p>
          <a:p>
            <a:pPr lvl="1"/>
            <a:r>
              <a:rPr lang="en-US" sz="2200" dirty="0">
                <a:solidFill>
                  <a:schemeClr val="accent1"/>
                </a:solidFill>
                <a:hlinkClick r:id="rId3">
                  <a:extLst>
                    <a:ext uri="{A12FA001-AC4F-418D-AE19-62706E023703}">
                      <ahyp:hlinkClr xmlns:ahyp="http://schemas.microsoft.com/office/drawing/2018/hyperlinkcolor" val="tx"/>
                    </a:ext>
                  </a:extLst>
                </a:hlinkClick>
              </a:rPr>
              <a:t>https://www.e-publishing.af.mil/</a:t>
            </a:r>
            <a:endParaRPr lang="en-US" sz="2200" dirty="0">
              <a:solidFill>
                <a:schemeClr val="accent1"/>
              </a:solidFill>
            </a:endParaRPr>
          </a:p>
          <a:p>
            <a:r>
              <a:rPr lang="en-US" sz="2400" dirty="0"/>
              <a:t>AFMCI 23-110 - Post-Award Part Verification and Approval</a:t>
            </a:r>
          </a:p>
          <a:p>
            <a:r>
              <a:rPr lang="en-US" sz="2400" dirty="0"/>
              <a:t>AFMC 23-102 – Computation of Requirements for Equipment Items</a:t>
            </a:r>
          </a:p>
          <a:p>
            <a:pPr lvl="1"/>
            <a:r>
              <a:rPr lang="en-US" sz="2200" dirty="0">
                <a:solidFill>
                  <a:schemeClr val="accent1"/>
                </a:solidFill>
                <a:hlinkClick r:id="rId3">
                  <a:extLst>
                    <a:ext uri="{A12FA001-AC4F-418D-AE19-62706E023703}">
                      <ahyp:hlinkClr xmlns:ahyp="http://schemas.microsoft.com/office/drawing/2018/hyperlinkcolor" val="tx"/>
                    </a:ext>
                  </a:extLst>
                </a:hlinkClick>
              </a:rPr>
              <a:t>https://www.e-publishing.af.mil/</a:t>
            </a:r>
            <a:endParaRPr lang="en-US" sz="2200" dirty="0">
              <a:solidFill>
                <a:schemeClr val="accent1"/>
              </a:solidFill>
            </a:endParaRPr>
          </a:p>
          <a:p>
            <a:endParaRPr lang="en-US" sz="2400" dirty="0"/>
          </a:p>
          <a:p>
            <a:endParaRPr lang="en-US" dirty="0"/>
          </a:p>
        </p:txBody>
      </p:sp>
    </p:spTree>
    <p:extLst>
      <p:ext uri="{BB962C8B-B14F-4D97-AF65-F5344CB8AC3E}">
        <p14:creationId xmlns:p14="http://schemas.microsoft.com/office/powerpoint/2010/main" val="4529677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D3AF3-4457-D748-AE03-9C6C95B3B2FB}"/>
              </a:ext>
            </a:extLst>
          </p:cNvPr>
          <p:cNvSpPr>
            <a:spLocks noGrp="1"/>
          </p:cNvSpPr>
          <p:nvPr>
            <p:ph type="title"/>
          </p:nvPr>
        </p:nvSpPr>
        <p:spPr/>
        <p:txBody>
          <a:bodyPr/>
          <a:lstStyle/>
          <a:p>
            <a:r>
              <a:rPr lang="en-US" dirty="0"/>
              <a:t>Regulations</a:t>
            </a:r>
          </a:p>
        </p:txBody>
      </p:sp>
      <p:sp>
        <p:nvSpPr>
          <p:cNvPr id="3" name="Content Placeholder 2">
            <a:extLst>
              <a:ext uri="{FF2B5EF4-FFF2-40B4-BE49-F238E27FC236}">
                <a16:creationId xmlns:a16="http://schemas.microsoft.com/office/drawing/2014/main" id="{FC67F307-D48D-DA90-A8B0-1B56398A6333}"/>
              </a:ext>
            </a:extLst>
          </p:cNvPr>
          <p:cNvSpPr>
            <a:spLocks noGrp="1"/>
          </p:cNvSpPr>
          <p:nvPr>
            <p:ph idx="1"/>
          </p:nvPr>
        </p:nvSpPr>
        <p:spPr/>
        <p:txBody>
          <a:bodyPr/>
          <a:lstStyle/>
          <a:p>
            <a:r>
              <a:rPr lang="en-US" sz="2400" dirty="0"/>
              <a:t>AFMAN 23-122 - Material Management Procedure</a:t>
            </a:r>
          </a:p>
          <a:p>
            <a:pPr lvl="1"/>
            <a:r>
              <a:rPr lang="en-US" sz="2200" dirty="0">
                <a:solidFill>
                  <a:schemeClr val="accent1"/>
                </a:solidFill>
                <a:hlinkClick r:id="rId2">
                  <a:extLst>
                    <a:ext uri="{A12FA001-AC4F-418D-AE19-62706E023703}">
                      <ahyp:hlinkClr xmlns:ahyp="http://schemas.microsoft.com/office/drawing/2018/hyperlinkcolor" val="tx"/>
                    </a:ext>
                  </a:extLst>
                </a:hlinkClick>
              </a:rPr>
              <a:t>https://www.</a:t>
            </a:r>
            <a:r>
              <a:rPr lang="en-US" dirty="0">
                <a:solidFill>
                  <a:schemeClr val="accent1"/>
                </a:solidFill>
                <a:hlinkClick r:id="rId2">
                  <a:extLst>
                    <a:ext uri="{A12FA001-AC4F-418D-AE19-62706E023703}">
                      <ahyp:hlinkClr xmlns:ahyp="http://schemas.microsoft.com/office/drawing/2018/hyperlinkcolor" val="tx"/>
                    </a:ext>
                  </a:extLst>
                </a:hlinkClick>
              </a:rPr>
              <a:t>e-publishing</a:t>
            </a:r>
            <a:r>
              <a:rPr lang="en-US" sz="2200" dirty="0">
                <a:solidFill>
                  <a:schemeClr val="accent1"/>
                </a:solidFill>
                <a:hlinkClick r:id="rId2">
                  <a:extLst>
                    <a:ext uri="{A12FA001-AC4F-418D-AE19-62706E023703}">
                      <ahyp:hlinkClr xmlns:ahyp="http://schemas.microsoft.com/office/drawing/2018/hyperlinkcolor" val="tx"/>
                    </a:ext>
                  </a:extLst>
                </a:hlinkClick>
              </a:rPr>
              <a:t>.af.mil/</a:t>
            </a:r>
            <a:endParaRPr lang="en-US" sz="2200" dirty="0">
              <a:solidFill>
                <a:schemeClr val="accent1"/>
              </a:solidFill>
            </a:endParaRPr>
          </a:p>
          <a:p>
            <a:pPr marL="0" indent="0">
              <a:buNone/>
            </a:pPr>
            <a:endParaRPr lang="en-US" sz="2400" dirty="0"/>
          </a:p>
          <a:p>
            <a:r>
              <a:rPr lang="en-US" sz="2400" dirty="0"/>
              <a:t>T.O. 00-5-1 - Air Force Technical Order System</a:t>
            </a:r>
          </a:p>
          <a:p>
            <a:r>
              <a:rPr lang="en-US" sz="2400" dirty="0"/>
              <a:t>T.O. 00-5-3 - AF Technical Order Life Cycle Management</a:t>
            </a:r>
          </a:p>
          <a:p>
            <a:r>
              <a:rPr lang="en-US" sz="2400" dirty="0"/>
              <a:t>T.O. 00-5-15 - Air Force Time Compliance Technical Order Process</a:t>
            </a:r>
          </a:p>
          <a:p>
            <a:pPr lvl="1"/>
            <a:r>
              <a:rPr lang="en-US" sz="2600" dirty="0">
                <a:solidFill>
                  <a:schemeClr val="accent1"/>
                </a:solidFill>
                <a:hlinkClick r:id="rId3">
                  <a:extLst>
                    <a:ext uri="{A12FA001-AC4F-418D-AE19-62706E023703}">
                      <ahyp:hlinkClr xmlns:ahyp="http://schemas.microsoft.com/office/drawing/2018/hyperlinkcolor" val="tx"/>
                    </a:ext>
                  </a:extLst>
                </a:hlinkClick>
              </a:rPr>
              <a:t>https://</a:t>
            </a:r>
            <a:r>
              <a:rPr lang="en-US" dirty="0">
                <a:solidFill>
                  <a:schemeClr val="accent1"/>
                </a:solidFill>
                <a:hlinkClick r:id="rId3">
                  <a:extLst>
                    <a:ext uri="{A12FA001-AC4F-418D-AE19-62706E023703}">
                      <ahyp:hlinkClr xmlns:ahyp="http://schemas.microsoft.com/office/drawing/2018/hyperlinkcolor" val="tx"/>
                    </a:ext>
                  </a:extLst>
                </a:hlinkClick>
              </a:rPr>
              <a:t>www</a:t>
            </a:r>
            <a:r>
              <a:rPr lang="en-US" sz="2600" dirty="0">
                <a:solidFill>
                  <a:schemeClr val="accent1"/>
                </a:solidFill>
                <a:hlinkClick r:id="rId3">
                  <a:extLst>
                    <a:ext uri="{A12FA001-AC4F-418D-AE19-62706E023703}">
                      <ahyp:hlinkClr xmlns:ahyp="http://schemas.microsoft.com/office/drawing/2018/hyperlinkcolor" val="tx"/>
                    </a:ext>
                  </a:extLst>
                </a:hlinkClick>
              </a:rPr>
              <a:t>.tinker.af.mil/Resources/Technical-Orders/</a:t>
            </a:r>
            <a:endParaRPr lang="en-US" sz="2600" dirty="0">
              <a:solidFill>
                <a:schemeClr val="accent1"/>
              </a:solidFill>
            </a:endParaRPr>
          </a:p>
          <a:p>
            <a:pPr lvl="1"/>
            <a:endParaRPr lang="en-US" sz="2600" dirty="0"/>
          </a:p>
          <a:p>
            <a:pPr marL="0" indent="0">
              <a:buNone/>
            </a:pPr>
            <a:endParaRPr lang="en-US" dirty="0"/>
          </a:p>
        </p:txBody>
      </p:sp>
    </p:spTree>
    <p:extLst>
      <p:ext uri="{BB962C8B-B14F-4D97-AF65-F5344CB8AC3E}">
        <p14:creationId xmlns:p14="http://schemas.microsoft.com/office/powerpoint/2010/main" val="357217233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dirty="0"/>
              <a:t>Chapter 1</a:t>
            </a:r>
          </a:p>
        </p:txBody>
      </p:sp>
      <p:sp>
        <p:nvSpPr>
          <p:cNvPr id="28675" name="Rectangle 3"/>
          <p:cNvSpPr>
            <a:spLocks noGrp="1" noChangeArrowheads="1"/>
          </p:cNvSpPr>
          <p:nvPr>
            <p:ph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TCTO Policy and Procedures</a:t>
            </a:r>
          </a:p>
        </p:txBody>
      </p:sp>
      <p:sp>
        <p:nvSpPr>
          <p:cNvPr id="28676" name="Slide Number Placeholder 5"/>
          <p:cNvSpPr>
            <a:spLocks noGrp="1"/>
          </p:cNvSpPr>
          <p:nvPr>
            <p:ph type="sldNum" sz="quarter" idx="10"/>
          </p:nvPr>
        </p:nvSpPr>
        <p:spPr>
          <a:xfrm>
            <a:off x="7239000" y="6519863"/>
            <a:ext cx="1905000" cy="338137"/>
          </a:xfrm>
          <a:noFill/>
        </p:spPr>
        <p:txBody>
          <a:bodyPr/>
          <a:lstStyle/>
          <a:p>
            <a:fld id="{249424B9-6D03-4569-B5E7-9AF8143B2B6A}" type="slidenum">
              <a:rPr lang="en-US" smtClean="0"/>
              <a:pPr/>
              <a:t>7</a:t>
            </a:fld>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t>TCTO Policy and Procedures</a:t>
            </a:r>
          </a:p>
        </p:txBody>
      </p:sp>
      <p:sp>
        <p:nvSpPr>
          <p:cNvPr id="29699" name="Rectangle 3"/>
          <p:cNvSpPr>
            <a:spLocks noGrp="1" noChangeArrowheads="1"/>
          </p:cNvSpPr>
          <p:nvPr>
            <p:ph idx="1"/>
          </p:nvPr>
        </p:nvSpPr>
        <p:spPr/>
        <p:txBody>
          <a:bodyPr/>
          <a:lstStyle/>
          <a:p>
            <a:r>
              <a:rPr lang="en-US" dirty="0"/>
              <a:t>CHAPTER 1 OBJECTIVES</a:t>
            </a:r>
          </a:p>
          <a:p>
            <a:endParaRPr lang="en-US" dirty="0"/>
          </a:p>
          <a:p>
            <a:pPr lvl="1"/>
            <a:r>
              <a:rPr lang="en-US" dirty="0"/>
              <a:t>Identify the policy and procedures involving TCTOs</a:t>
            </a:r>
          </a:p>
          <a:p>
            <a:pPr lvl="1"/>
            <a:r>
              <a:rPr lang="en-US" dirty="0"/>
              <a:t>Define TCTO numbering procedures</a:t>
            </a:r>
          </a:p>
          <a:p>
            <a:pPr lvl="1"/>
            <a:r>
              <a:rPr lang="en-US" dirty="0"/>
              <a:t>Identify policy and procedures involving kits</a:t>
            </a:r>
          </a:p>
          <a:p>
            <a:pPr lvl="1"/>
            <a:r>
              <a:rPr lang="en-US" dirty="0"/>
              <a:t>End of Chapter questions</a:t>
            </a:r>
          </a:p>
        </p:txBody>
      </p:sp>
      <p:sp>
        <p:nvSpPr>
          <p:cNvPr id="29700" name="Slide Number Placeholder 5"/>
          <p:cNvSpPr>
            <a:spLocks noGrp="1"/>
          </p:cNvSpPr>
          <p:nvPr>
            <p:ph type="sldNum" sz="quarter" idx="10"/>
          </p:nvPr>
        </p:nvSpPr>
        <p:spPr>
          <a:xfrm>
            <a:off x="7239000" y="6519863"/>
            <a:ext cx="1905000" cy="338137"/>
          </a:xfrm>
          <a:noFill/>
        </p:spPr>
        <p:txBody>
          <a:bodyPr/>
          <a:lstStyle/>
          <a:p>
            <a:fld id="{2B58BA8B-E87F-4A9A-A30A-5893F1E71B3A}" type="slidenum">
              <a:rPr lang="en-US" smtClean="0"/>
              <a:pPr/>
              <a:t>8</a:t>
            </a:fld>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t>TCTO Policy and Procedures</a:t>
            </a:r>
          </a:p>
        </p:txBody>
      </p:sp>
      <p:sp>
        <p:nvSpPr>
          <p:cNvPr id="30723" name="Rectangle 3"/>
          <p:cNvSpPr>
            <a:spLocks noGrp="1" noChangeArrowheads="1"/>
          </p:cNvSpPr>
          <p:nvPr>
            <p:ph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Objective: Identify the policy and procedures involving TCTOs</a:t>
            </a:r>
          </a:p>
        </p:txBody>
      </p:sp>
      <p:sp>
        <p:nvSpPr>
          <p:cNvPr id="30724" name="Slide Number Placeholder 5"/>
          <p:cNvSpPr>
            <a:spLocks noGrp="1"/>
          </p:cNvSpPr>
          <p:nvPr>
            <p:ph type="sldNum" sz="quarter" idx="10"/>
          </p:nvPr>
        </p:nvSpPr>
        <p:spPr>
          <a:xfrm>
            <a:off x="7239000" y="6519863"/>
            <a:ext cx="1905000" cy="338137"/>
          </a:xfrm>
          <a:noFill/>
        </p:spPr>
        <p:txBody>
          <a:bodyPr/>
          <a:lstStyle/>
          <a:p>
            <a:fld id="{B9F43769-F38F-4424-B958-5D28CEE7D4BE}" type="slidenum">
              <a:rPr lang="en-US" smtClean="0"/>
              <a:pPr/>
              <a:t>9</a:t>
            </a:fld>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t>TCTO Policy and Procedures</a:t>
            </a:r>
          </a:p>
        </p:txBody>
      </p:sp>
      <p:sp>
        <p:nvSpPr>
          <p:cNvPr id="32771" name="Rectangle 3"/>
          <p:cNvSpPr>
            <a:spLocks noGrp="1" noChangeArrowheads="1"/>
          </p:cNvSpPr>
          <p:nvPr>
            <p:ph idx="1"/>
          </p:nvPr>
        </p:nvSpPr>
        <p:spPr/>
        <p:txBody>
          <a:bodyPr/>
          <a:lstStyle/>
          <a:p>
            <a:pPr eaLnBrk="1" hangingPunct="1"/>
            <a:r>
              <a:rPr lang="en-US" dirty="0"/>
              <a:t>Purpose of TCTOs</a:t>
            </a:r>
          </a:p>
          <a:p>
            <a:pPr marL="0" indent="0" eaLnBrk="1" hangingPunct="1">
              <a:buNone/>
            </a:pPr>
            <a:endParaRPr lang="en-US" dirty="0"/>
          </a:p>
          <a:p>
            <a:pPr lvl="1" eaLnBrk="1" hangingPunct="1"/>
            <a:r>
              <a:rPr lang="en-US" dirty="0"/>
              <a:t>A TCTO is a technical/military order</a:t>
            </a:r>
          </a:p>
          <a:p>
            <a:pPr lvl="1" eaLnBrk="1" hangingPunct="1"/>
            <a:r>
              <a:rPr lang="en-US" dirty="0"/>
              <a:t>Issued in the name of the Air Force Chief of Staff</a:t>
            </a:r>
          </a:p>
          <a:p>
            <a:pPr lvl="1" eaLnBrk="1" hangingPunct="1"/>
            <a:r>
              <a:rPr lang="en-US" dirty="0"/>
              <a:t>By order of the Secretary of the Air Force</a:t>
            </a:r>
          </a:p>
        </p:txBody>
      </p:sp>
      <p:sp>
        <p:nvSpPr>
          <p:cNvPr id="32772" name="Slide Number Placeholder 5"/>
          <p:cNvSpPr>
            <a:spLocks noGrp="1"/>
          </p:cNvSpPr>
          <p:nvPr>
            <p:ph type="sldNum" sz="quarter" idx="10"/>
          </p:nvPr>
        </p:nvSpPr>
        <p:spPr>
          <a:xfrm>
            <a:off x="7239000" y="6519863"/>
            <a:ext cx="1905000" cy="338137"/>
          </a:xfrm>
          <a:noFill/>
        </p:spPr>
        <p:txBody>
          <a:bodyPr/>
          <a:lstStyle/>
          <a:p>
            <a:fld id="{6E7E8F60-780F-46CE-8572-A5C89A541ADC}" type="slidenum">
              <a:rPr lang="en-US" smtClean="0"/>
              <a:pPr/>
              <a:t>10</a:t>
            </a:fld>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t>TCTO Policy and Procedures</a:t>
            </a:r>
          </a:p>
        </p:txBody>
      </p:sp>
      <p:sp>
        <p:nvSpPr>
          <p:cNvPr id="33795" name="Rectangle 3"/>
          <p:cNvSpPr>
            <a:spLocks noGrp="1" noChangeArrowheads="1"/>
          </p:cNvSpPr>
          <p:nvPr>
            <p:ph idx="1"/>
          </p:nvPr>
        </p:nvSpPr>
        <p:spPr/>
        <p:txBody>
          <a:bodyPr/>
          <a:lstStyle/>
          <a:p>
            <a:pPr eaLnBrk="1" hangingPunct="1"/>
            <a:r>
              <a:rPr lang="en-US" dirty="0"/>
              <a:t>Purpose of TCTOs</a:t>
            </a:r>
          </a:p>
          <a:p>
            <a:pPr eaLnBrk="1" hangingPunct="1"/>
            <a:endParaRPr lang="en-US" dirty="0"/>
          </a:p>
          <a:p>
            <a:pPr lvl="1" eaLnBrk="1" hangingPunct="1"/>
            <a:r>
              <a:rPr lang="en-US" dirty="0"/>
              <a:t>TO 00-5-15 - Air Force Time Compliance Technical Order Process</a:t>
            </a:r>
          </a:p>
          <a:p>
            <a:pPr lvl="1" eaLnBrk="1" hangingPunct="1"/>
            <a:r>
              <a:rPr lang="en-US" dirty="0"/>
              <a:t>TCTOs applies to all Air Force agencies, including Air National Guard &amp; Air Force Reserve</a:t>
            </a:r>
          </a:p>
          <a:p>
            <a:pPr lvl="1" eaLnBrk="1" hangingPunct="1"/>
            <a:r>
              <a:rPr lang="en-US" dirty="0"/>
              <a:t>TCTOs are required only after the Air Force assumes configuration control of a system or commodity</a:t>
            </a:r>
          </a:p>
        </p:txBody>
      </p:sp>
      <p:sp>
        <p:nvSpPr>
          <p:cNvPr id="33796" name="Slide Number Placeholder 5"/>
          <p:cNvSpPr>
            <a:spLocks noGrp="1"/>
          </p:cNvSpPr>
          <p:nvPr>
            <p:ph type="sldNum" sz="quarter" idx="10"/>
          </p:nvPr>
        </p:nvSpPr>
        <p:spPr>
          <a:xfrm>
            <a:off x="7239000" y="6519863"/>
            <a:ext cx="1905000" cy="338137"/>
          </a:xfrm>
          <a:noFill/>
        </p:spPr>
        <p:txBody>
          <a:bodyPr/>
          <a:lstStyle/>
          <a:p>
            <a:fld id="{D8ED1BAC-9D2E-4C61-8A8B-1B7D7C2CDE6B}" type="slidenum">
              <a:rPr lang="en-US" smtClean="0"/>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t>TCTO Policy and Procedures</a:t>
            </a:r>
          </a:p>
        </p:txBody>
      </p:sp>
      <p:sp>
        <p:nvSpPr>
          <p:cNvPr id="31747" name="Rectangle 3"/>
          <p:cNvSpPr>
            <a:spLocks noGrp="1" noChangeArrowheads="1"/>
          </p:cNvSpPr>
          <p:nvPr>
            <p:ph idx="1"/>
          </p:nvPr>
        </p:nvSpPr>
        <p:spPr/>
        <p:txBody>
          <a:bodyPr/>
          <a:lstStyle/>
          <a:p>
            <a:pPr eaLnBrk="1" hangingPunct="1"/>
            <a:r>
              <a:rPr lang="en-US" dirty="0"/>
              <a:t>Purpose of TCTOs</a:t>
            </a:r>
          </a:p>
          <a:p>
            <a:pPr eaLnBrk="1" hangingPunct="1"/>
            <a:r>
              <a:rPr lang="en-US" dirty="0"/>
              <a:t>Introduction</a:t>
            </a:r>
          </a:p>
          <a:p>
            <a:pPr eaLnBrk="1" hangingPunct="1"/>
            <a:endParaRPr lang="en-US" dirty="0"/>
          </a:p>
          <a:p>
            <a:pPr lvl="1" eaLnBrk="1" hangingPunct="1"/>
            <a:r>
              <a:rPr lang="en-US" dirty="0"/>
              <a:t>TCTOs provide instructions for modifying systems or commodities within specified time limits, initiate special “one time” inspections, or impose temporary restrictions on systems or commodities</a:t>
            </a:r>
          </a:p>
        </p:txBody>
      </p:sp>
      <p:sp>
        <p:nvSpPr>
          <p:cNvPr id="31748" name="Slide Number Placeholder 5"/>
          <p:cNvSpPr>
            <a:spLocks noGrp="1"/>
          </p:cNvSpPr>
          <p:nvPr>
            <p:ph type="sldNum" sz="quarter" idx="10"/>
          </p:nvPr>
        </p:nvSpPr>
        <p:spPr>
          <a:xfrm>
            <a:off x="7239000" y="6519863"/>
            <a:ext cx="1905000" cy="338137"/>
          </a:xfrm>
          <a:noFill/>
        </p:spPr>
        <p:txBody>
          <a:bodyPr/>
          <a:lstStyle/>
          <a:p>
            <a:fld id="{E1B5B88F-D921-4A44-903B-3D28FC899599}" type="slidenum">
              <a:rPr lang="en-US" smtClean="0"/>
              <a:pPr/>
              <a:t>12</a:t>
            </a:fld>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t>TCTO Policy and Procedures</a:t>
            </a:r>
          </a:p>
        </p:txBody>
      </p:sp>
      <p:sp>
        <p:nvSpPr>
          <p:cNvPr id="34819" name="Rectangle 3"/>
          <p:cNvSpPr>
            <a:spLocks noGrp="1" noChangeArrowheads="1"/>
          </p:cNvSpPr>
          <p:nvPr>
            <p:ph idx="1"/>
          </p:nvPr>
        </p:nvSpPr>
        <p:spPr/>
        <p:txBody>
          <a:bodyPr/>
          <a:lstStyle/>
          <a:p>
            <a:pPr eaLnBrk="1" hangingPunct="1"/>
            <a:r>
              <a:rPr lang="en-US" dirty="0"/>
              <a:t>Purpose of TCTOs</a:t>
            </a:r>
          </a:p>
          <a:p>
            <a:pPr marL="0" indent="0" eaLnBrk="1" hangingPunct="1">
              <a:buNone/>
            </a:pPr>
            <a:endParaRPr lang="en-US" dirty="0"/>
          </a:p>
          <a:p>
            <a:pPr lvl="1" eaLnBrk="1" hangingPunct="1"/>
            <a:r>
              <a:rPr lang="en-US" dirty="0"/>
              <a:t>TCTOs can be used to announce and authorize the use of computer software changes</a:t>
            </a:r>
          </a:p>
          <a:p>
            <a:pPr lvl="2" eaLnBrk="1" hangingPunct="1"/>
            <a:r>
              <a:rPr lang="en-US" dirty="0"/>
              <a:t>  Released concurrently with shipments of the software items</a:t>
            </a:r>
          </a:p>
          <a:p>
            <a:pPr lvl="2" eaLnBrk="1" hangingPunct="1"/>
            <a:r>
              <a:rPr lang="en-US" dirty="0"/>
              <a:t>  TO 00-5-16 - Computer program identification number (CPIN)</a:t>
            </a:r>
          </a:p>
          <a:p>
            <a:pPr marL="852488" lvl="2" indent="0" eaLnBrk="1" hangingPunct="1">
              <a:buNone/>
            </a:pPr>
            <a:r>
              <a:rPr lang="en-US" dirty="0"/>
              <a:t>	  Management</a:t>
            </a:r>
          </a:p>
        </p:txBody>
      </p:sp>
      <p:sp>
        <p:nvSpPr>
          <p:cNvPr id="34820" name="Slide Number Placeholder 5"/>
          <p:cNvSpPr>
            <a:spLocks noGrp="1"/>
          </p:cNvSpPr>
          <p:nvPr>
            <p:ph type="sldNum" sz="quarter" idx="10"/>
          </p:nvPr>
        </p:nvSpPr>
        <p:spPr>
          <a:xfrm>
            <a:off x="7239000" y="6519863"/>
            <a:ext cx="1905000" cy="338137"/>
          </a:xfrm>
          <a:noFill/>
        </p:spPr>
        <p:txBody>
          <a:bodyPr/>
          <a:lstStyle/>
          <a:p>
            <a:fld id="{FE8A9B9A-FDA6-4CB2-B654-75801D146F1C}" type="slidenum">
              <a:rPr lang="en-US" smtClean="0"/>
              <a:pPr/>
              <a:t>13</a:t>
            </a:fld>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t>TCTO Policy and Procedures</a:t>
            </a:r>
          </a:p>
        </p:txBody>
      </p:sp>
      <p:sp>
        <p:nvSpPr>
          <p:cNvPr id="35843" name="Rectangle 3"/>
          <p:cNvSpPr>
            <a:spLocks noGrp="1" noChangeArrowheads="1"/>
          </p:cNvSpPr>
          <p:nvPr>
            <p:ph idx="1"/>
          </p:nvPr>
        </p:nvSpPr>
        <p:spPr/>
        <p:txBody>
          <a:bodyPr/>
          <a:lstStyle/>
          <a:p>
            <a:pPr eaLnBrk="1" hangingPunct="1"/>
            <a:r>
              <a:rPr lang="en-US" dirty="0"/>
              <a:t>Purpose of TCTOs</a:t>
            </a:r>
          </a:p>
          <a:p>
            <a:pPr eaLnBrk="1" hangingPunct="1"/>
            <a:endParaRPr lang="en-US" dirty="0"/>
          </a:p>
          <a:p>
            <a:pPr lvl="1" eaLnBrk="1" hangingPunct="1"/>
            <a:r>
              <a:rPr lang="en-US" dirty="0"/>
              <a:t>All acquisitions programs must have a valid Mission Needs Document</a:t>
            </a:r>
          </a:p>
          <a:p>
            <a:pPr lvl="1" eaLnBrk="1" hangingPunct="1"/>
            <a:r>
              <a:rPr lang="en-US" dirty="0"/>
              <a:t>AF Form 1067, Modification Proposal:</a:t>
            </a:r>
          </a:p>
          <a:p>
            <a:pPr lvl="2" eaLnBrk="1" hangingPunct="1"/>
            <a:r>
              <a:rPr lang="en-US" dirty="0"/>
              <a:t>  Used to identify proposed modifications</a:t>
            </a:r>
          </a:p>
          <a:p>
            <a:pPr lvl="2" eaLnBrk="1" hangingPunct="1"/>
            <a:r>
              <a:rPr lang="en-US" dirty="0"/>
              <a:t>  For modifications less than $65 million</a:t>
            </a:r>
          </a:p>
          <a:p>
            <a:pPr lvl="2" eaLnBrk="1" hangingPunct="1"/>
            <a:r>
              <a:rPr lang="en-US" dirty="0"/>
              <a:t>  AFI 63-101, Modification Mgmt.</a:t>
            </a:r>
          </a:p>
        </p:txBody>
      </p:sp>
      <p:sp>
        <p:nvSpPr>
          <p:cNvPr id="35844" name="Slide Number Placeholder 5"/>
          <p:cNvSpPr>
            <a:spLocks noGrp="1"/>
          </p:cNvSpPr>
          <p:nvPr>
            <p:ph type="sldNum" sz="quarter" idx="10"/>
          </p:nvPr>
        </p:nvSpPr>
        <p:spPr>
          <a:xfrm>
            <a:off x="7239000" y="6519863"/>
            <a:ext cx="1905000" cy="338137"/>
          </a:xfrm>
          <a:noFill/>
        </p:spPr>
        <p:txBody>
          <a:bodyPr/>
          <a:lstStyle/>
          <a:p>
            <a:fld id="{730D583F-6189-4CB5-9535-74641430136E}" type="slidenum">
              <a:rPr lang="en-US" smtClean="0"/>
              <a:pPr/>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t>TCTO Policy and Procedures</a:t>
            </a:r>
          </a:p>
        </p:txBody>
      </p:sp>
      <p:sp>
        <p:nvSpPr>
          <p:cNvPr id="36867" name="Rectangle 3"/>
          <p:cNvSpPr>
            <a:spLocks noGrp="1" noChangeArrowheads="1"/>
          </p:cNvSpPr>
          <p:nvPr>
            <p:ph idx="1"/>
          </p:nvPr>
        </p:nvSpPr>
        <p:spPr/>
        <p:txBody>
          <a:bodyPr/>
          <a:lstStyle/>
          <a:p>
            <a:pPr eaLnBrk="1" hangingPunct="1"/>
            <a:r>
              <a:rPr lang="en-US" dirty="0"/>
              <a:t>Purpose of TCTOs</a:t>
            </a:r>
          </a:p>
          <a:p>
            <a:pPr eaLnBrk="1" hangingPunct="1"/>
            <a:endParaRPr lang="en-US" dirty="0"/>
          </a:p>
          <a:p>
            <a:pPr lvl="1" eaLnBrk="1" hangingPunct="1"/>
            <a:r>
              <a:rPr lang="en-US" dirty="0"/>
              <a:t>Over $65 million:</a:t>
            </a:r>
          </a:p>
          <a:p>
            <a:pPr lvl="2" eaLnBrk="1" hangingPunct="1"/>
            <a:r>
              <a:rPr lang="en-US" dirty="0"/>
              <a:t>  Initial Capabilities Document (ICD)</a:t>
            </a:r>
          </a:p>
          <a:p>
            <a:pPr lvl="2" eaLnBrk="1" hangingPunct="1"/>
            <a:r>
              <a:rPr lang="en-US" dirty="0"/>
              <a:t>  Mission Needs Statement (MNS)</a:t>
            </a:r>
          </a:p>
          <a:p>
            <a:pPr lvl="1" eaLnBrk="1" hangingPunct="1"/>
            <a:r>
              <a:rPr lang="en-US" dirty="0"/>
              <a:t>Single Manager (SM) must technically validate the proposals</a:t>
            </a:r>
          </a:p>
        </p:txBody>
      </p:sp>
      <p:sp>
        <p:nvSpPr>
          <p:cNvPr id="36868" name="Slide Number Placeholder 5"/>
          <p:cNvSpPr>
            <a:spLocks noGrp="1"/>
          </p:cNvSpPr>
          <p:nvPr>
            <p:ph type="sldNum" sz="quarter" idx="10"/>
          </p:nvPr>
        </p:nvSpPr>
        <p:spPr>
          <a:xfrm>
            <a:off x="7239000" y="6519863"/>
            <a:ext cx="1905000" cy="338137"/>
          </a:xfrm>
          <a:noFill/>
        </p:spPr>
        <p:txBody>
          <a:bodyPr/>
          <a:lstStyle/>
          <a:p>
            <a:fld id="{EFAC5D1B-214D-4035-BE51-71D899F9D594}" type="slidenum">
              <a:rPr lang="en-US" smtClean="0"/>
              <a:pPr/>
              <a:t>15</a:t>
            </a:fld>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TCTO Policy and Procedures</a:t>
            </a:r>
          </a:p>
        </p:txBody>
      </p:sp>
      <p:sp>
        <p:nvSpPr>
          <p:cNvPr id="37891" name="Rectangle 3"/>
          <p:cNvSpPr>
            <a:spLocks noGrp="1" noChangeArrowheads="1"/>
          </p:cNvSpPr>
          <p:nvPr>
            <p:ph idx="1"/>
          </p:nvPr>
        </p:nvSpPr>
        <p:spPr/>
        <p:txBody>
          <a:bodyPr/>
          <a:lstStyle/>
          <a:p>
            <a:pPr eaLnBrk="1" hangingPunct="1"/>
            <a:r>
              <a:rPr lang="en-US" dirty="0"/>
              <a:t>Purpose of TCTOs</a:t>
            </a:r>
          </a:p>
          <a:p>
            <a:pPr eaLnBrk="1" hangingPunct="1"/>
            <a:endParaRPr lang="en-US" dirty="0"/>
          </a:p>
          <a:p>
            <a:pPr lvl="1" eaLnBrk="1" hangingPunct="1"/>
            <a:r>
              <a:rPr lang="en-US" dirty="0"/>
              <a:t>Configuration Review Board (CRB) conducted by lead command:</a:t>
            </a:r>
          </a:p>
          <a:p>
            <a:pPr lvl="2" eaLnBrk="1" hangingPunct="1"/>
            <a:r>
              <a:rPr lang="en-US" dirty="0"/>
              <a:t>  Prioritizes and approves validated AF Forms 1067</a:t>
            </a:r>
          </a:p>
          <a:p>
            <a:pPr lvl="2" eaLnBrk="1" hangingPunct="1"/>
            <a:r>
              <a:rPr lang="en-US" dirty="0"/>
              <a:t>  Ensures validated need is compatible with the Operation</a:t>
            </a:r>
          </a:p>
          <a:p>
            <a:pPr marL="852488" lvl="2" indent="0" eaLnBrk="1" hangingPunct="1">
              <a:buNone/>
            </a:pPr>
            <a:r>
              <a:rPr lang="en-US" dirty="0"/>
              <a:t>    Requirements Document (ORD)</a:t>
            </a:r>
          </a:p>
          <a:p>
            <a:pPr lvl="1" eaLnBrk="1" hangingPunct="1"/>
            <a:endParaRPr lang="en-US" dirty="0"/>
          </a:p>
        </p:txBody>
      </p:sp>
      <p:sp>
        <p:nvSpPr>
          <p:cNvPr id="37892" name="Slide Number Placeholder 5"/>
          <p:cNvSpPr>
            <a:spLocks noGrp="1"/>
          </p:cNvSpPr>
          <p:nvPr>
            <p:ph type="sldNum" sz="quarter" idx="10"/>
          </p:nvPr>
        </p:nvSpPr>
        <p:spPr>
          <a:xfrm>
            <a:off x="7239000" y="6519863"/>
            <a:ext cx="1905000" cy="338137"/>
          </a:xfrm>
          <a:noFill/>
        </p:spPr>
        <p:txBody>
          <a:bodyPr/>
          <a:lstStyle/>
          <a:p>
            <a:fld id="{99A462D8-CB82-4DE0-A552-A119D0541399}" type="slidenum">
              <a:rPr lang="en-US" smtClean="0"/>
              <a:pPr/>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TCTO Policy and Procedures</a:t>
            </a:r>
          </a:p>
        </p:txBody>
      </p:sp>
      <p:sp>
        <p:nvSpPr>
          <p:cNvPr id="38915" name="Rectangle 3"/>
          <p:cNvSpPr>
            <a:spLocks noGrp="1" noChangeArrowheads="1"/>
          </p:cNvSpPr>
          <p:nvPr>
            <p:ph idx="1"/>
          </p:nvPr>
        </p:nvSpPr>
        <p:spPr/>
        <p:txBody>
          <a:bodyPr/>
          <a:lstStyle/>
          <a:p>
            <a:pPr eaLnBrk="1" hangingPunct="1"/>
            <a:r>
              <a:rPr lang="en-US" dirty="0"/>
              <a:t>Purpose of TCTOs</a:t>
            </a:r>
          </a:p>
          <a:p>
            <a:pPr eaLnBrk="1" hangingPunct="1"/>
            <a:endParaRPr lang="en-US" dirty="0"/>
          </a:p>
          <a:p>
            <a:pPr lvl="1" eaLnBrk="1" hangingPunct="1"/>
            <a:r>
              <a:rPr lang="en-US" dirty="0"/>
              <a:t>Approved CRB proposals results in:</a:t>
            </a:r>
          </a:p>
          <a:p>
            <a:pPr lvl="2" eaLnBrk="1" hangingPunct="1"/>
            <a:r>
              <a:rPr lang="en-US" dirty="0"/>
              <a:t>  A Program Management Document (PMD) with funding</a:t>
            </a:r>
          </a:p>
          <a:p>
            <a:pPr lvl="2" eaLnBrk="1" hangingPunct="1"/>
            <a:r>
              <a:rPr lang="en-US" dirty="0"/>
              <a:t>  Then submitted to the SM for action </a:t>
            </a:r>
          </a:p>
        </p:txBody>
      </p:sp>
      <p:sp>
        <p:nvSpPr>
          <p:cNvPr id="38916" name="Slide Number Placeholder 5"/>
          <p:cNvSpPr>
            <a:spLocks noGrp="1"/>
          </p:cNvSpPr>
          <p:nvPr>
            <p:ph type="sldNum" sz="quarter" idx="10"/>
          </p:nvPr>
        </p:nvSpPr>
        <p:spPr>
          <a:xfrm>
            <a:off x="7239000" y="6519863"/>
            <a:ext cx="1905000" cy="338137"/>
          </a:xfrm>
          <a:noFill/>
        </p:spPr>
        <p:txBody>
          <a:bodyPr/>
          <a:lstStyle/>
          <a:p>
            <a:fld id="{569CBF46-615B-442D-9445-1FFBA2CF80C0}" type="slidenum">
              <a:rPr lang="en-US" smtClean="0"/>
              <a:pPr/>
              <a:t>17</a:t>
            </a:fld>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TCTO Policy and Procedures</a:t>
            </a:r>
          </a:p>
        </p:txBody>
      </p:sp>
      <p:sp>
        <p:nvSpPr>
          <p:cNvPr id="39939" name="Rectangle 3"/>
          <p:cNvSpPr>
            <a:spLocks noGrp="1" noChangeArrowheads="1"/>
          </p:cNvSpPr>
          <p:nvPr>
            <p:ph idx="1"/>
          </p:nvPr>
        </p:nvSpPr>
        <p:spPr/>
        <p:txBody>
          <a:bodyPr/>
          <a:lstStyle/>
          <a:p>
            <a:pPr eaLnBrk="1" hangingPunct="1"/>
            <a:r>
              <a:rPr lang="en-US" dirty="0"/>
              <a:t>Purpose of TCTOs</a:t>
            </a:r>
          </a:p>
          <a:p>
            <a:pPr eaLnBrk="1" hangingPunct="1"/>
            <a:endParaRPr lang="en-US" dirty="0"/>
          </a:p>
          <a:p>
            <a:pPr lvl="1" eaLnBrk="1" hangingPunct="1"/>
            <a:r>
              <a:rPr lang="en-US" dirty="0"/>
              <a:t>SM generates an Engineering Change Proposal (ECP) to:</a:t>
            </a:r>
          </a:p>
          <a:p>
            <a:pPr lvl="2" eaLnBrk="1" hangingPunct="1"/>
            <a:r>
              <a:rPr lang="en-US" dirty="0"/>
              <a:t>  Document required configuration change(s)</a:t>
            </a:r>
          </a:p>
          <a:p>
            <a:pPr lvl="2" eaLnBrk="1" hangingPunct="1"/>
            <a:r>
              <a:rPr lang="en-US" dirty="0"/>
              <a:t>  Document modification approach</a:t>
            </a:r>
          </a:p>
          <a:p>
            <a:pPr lvl="2" eaLnBrk="1" hangingPunct="1"/>
            <a:r>
              <a:rPr lang="en-US" dirty="0"/>
              <a:t>  Submit the ECP to the SM Configuration Control Board (CCB) for </a:t>
            </a:r>
          </a:p>
          <a:p>
            <a:pPr marL="852488" lvl="2" indent="0" eaLnBrk="1" hangingPunct="1">
              <a:buNone/>
            </a:pPr>
            <a:r>
              <a:rPr lang="en-US" dirty="0"/>
              <a:t>    approval</a:t>
            </a:r>
          </a:p>
        </p:txBody>
      </p:sp>
      <p:sp>
        <p:nvSpPr>
          <p:cNvPr id="39940" name="Slide Number Placeholder 5"/>
          <p:cNvSpPr>
            <a:spLocks noGrp="1"/>
          </p:cNvSpPr>
          <p:nvPr>
            <p:ph type="sldNum" sz="quarter" idx="10"/>
          </p:nvPr>
        </p:nvSpPr>
        <p:spPr>
          <a:xfrm>
            <a:off x="7239000" y="6519863"/>
            <a:ext cx="1905000" cy="338137"/>
          </a:xfrm>
          <a:noFill/>
        </p:spPr>
        <p:txBody>
          <a:bodyPr/>
          <a:lstStyle/>
          <a:p>
            <a:fld id="{EBD23E8B-D512-4209-B810-208A9E0456CE}" type="slidenum">
              <a:rPr lang="en-US" smtClean="0"/>
              <a:pPr/>
              <a:t>18</a:t>
            </a:fld>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t>TCTO Policy and Procedures</a:t>
            </a:r>
          </a:p>
        </p:txBody>
      </p:sp>
      <p:sp>
        <p:nvSpPr>
          <p:cNvPr id="40963" name="Rectangle 3"/>
          <p:cNvSpPr>
            <a:spLocks noGrp="1" noChangeArrowheads="1"/>
          </p:cNvSpPr>
          <p:nvPr>
            <p:ph idx="1"/>
          </p:nvPr>
        </p:nvSpPr>
        <p:spPr/>
        <p:txBody>
          <a:bodyPr/>
          <a:lstStyle/>
          <a:p>
            <a:pPr eaLnBrk="1" hangingPunct="1"/>
            <a:r>
              <a:rPr lang="en-US" dirty="0"/>
              <a:t>Purpose of TCTOs</a:t>
            </a:r>
          </a:p>
          <a:p>
            <a:pPr eaLnBrk="1" hangingPunct="1"/>
            <a:endParaRPr lang="en-US" dirty="0"/>
          </a:p>
          <a:p>
            <a:pPr lvl="1" eaLnBrk="1" hangingPunct="1"/>
            <a:r>
              <a:rPr lang="en-US" dirty="0"/>
              <a:t>Configuration Control Board (CCB):</a:t>
            </a:r>
          </a:p>
          <a:p>
            <a:pPr lvl="2" eaLnBrk="1" hangingPunct="1"/>
            <a:r>
              <a:rPr lang="en-US" dirty="0"/>
              <a:t>  Approves configuration changes</a:t>
            </a:r>
          </a:p>
          <a:p>
            <a:pPr lvl="2" eaLnBrk="1" hangingPunct="1"/>
            <a:r>
              <a:rPr lang="en-US" dirty="0"/>
              <a:t>  Documents decisions on:</a:t>
            </a:r>
          </a:p>
          <a:p>
            <a:pPr lvl="3" eaLnBrk="1" hangingPunct="1"/>
            <a:r>
              <a:rPr lang="en-US" dirty="0"/>
              <a:t>AFTO Form 872</a:t>
            </a:r>
          </a:p>
          <a:p>
            <a:pPr lvl="3" eaLnBrk="1" hangingPunct="1"/>
            <a:r>
              <a:rPr lang="en-US" dirty="0"/>
              <a:t>Approved ECPs provide authorization to incorporate configuration changes into TOs</a:t>
            </a:r>
          </a:p>
        </p:txBody>
      </p:sp>
      <p:sp>
        <p:nvSpPr>
          <p:cNvPr id="40964" name="Slide Number Placeholder 5"/>
          <p:cNvSpPr>
            <a:spLocks noGrp="1"/>
          </p:cNvSpPr>
          <p:nvPr>
            <p:ph type="sldNum" sz="quarter" idx="10"/>
          </p:nvPr>
        </p:nvSpPr>
        <p:spPr>
          <a:xfrm>
            <a:off x="7239000" y="6519863"/>
            <a:ext cx="1905000" cy="338137"/>
          </a:xfrm>
          <a:noFill/>
        </p:spPr>
        <p:txBody>
          <a:bodyPr/>
          <a:lstStyle/>
          <a:p>
            <a:fld id="{C2F1B0B0-AEFF-4979-8399-3D9F2140093C}" type="slidenum">
              <a:rPr lang="en-US" smtClean="0"/>
              <a:pPr/>
              <a:t>19</a:t>
            </a:fld>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3"/>
          <p:cNvSpPr>
            <a:spLocks noGrp="1"/>
          </p:cNvSpPr>
          <p:nvPr>
            <p:ph type="sldNum" sz="quarter" idx="10"/>
          </p:nvPr>
        </p:nvSpPr>
        <p:spPr>
          <a:noFill/>
        </p:spPr>
        <p:txBody>
          <a:bodyPr/>
          <a:lstStyle/>
          <a:p>
            <a:fld id="{B2391C55-69E3-4076-9996-400E5053EE43}" type="slidenum">
              <a:rPr lang="en-US" smtClean="0"/>
              <a:pPr/>
              <a:t>20</a:t>
            </a:fld>
            <a:endParaRPr lang="en-US"/>
          </a:p>
        </p:txBody>
      </p:sp>
      <p:sp>
        <p:nvSpPr>
          <p:cNvPr id="1028" name="Rectangle 3"/>
          <p:cNvSpPr>
            <a:spLocks noGrp="1" noChangeArrowheads="1"/>
          </p:cNvSpPr>
          <p:nvPr>
            <p:ph type="body" idx="4294967295"/>
          </p:nvPr>
        </p:nvSpPr>
        <p:spPr>
          <a:xfrm>
            <a:off x="685800" y="1143000"/>
            <a:ext cx="8458200" cy="5410200"/>
          </a:xfrm>
        </p:spPr>
        <p:txBody>
          <a:bodyPr/>
          <a:lstStyle/>
          <a:p>
            <a:pPr marL="609600" indent="-609600" eaLnBrk="1" hangingPunct="1">
              <a:buFontTx/>
              <a:buNone/>
            </a:pPr>
            <a:r>
              <a:rPr lang="en-US" b="1"/>
              <a:t>	</a:t>
            </a:r>
          </a:p>
          <a:p>
            <a:pPr marL="990600" lvl="1" indent="-533400" eaLnBrk="1" hangingPunct="1">
              <a:buFontTx/>
              <a:buNone/>
            </a:pPr>
            <a:endParaRPr lang="en-US" sz="3200" b="1"/>
          </a:p>
        </p:txBody>
      </p:sp>
      <p:sp>
        <p:nvSpPr>
          <p:cNvPr id="1029" name="Rectangle 5"/>
          <p:cNvSpPr>
            <a:spLocks noChangeArrowheads="1"/>
          </p:cNvSpPr>
          <p:nvPr/>
        </p:nvSpPr>
        <p:spPr bwMode="auto">
          <a:xfrm>
            <a:off x="0" y="-400050"/>
            <a:ext cx="9144000" cy="0"/>
          </a:xfrm>
          <a:prstGeom prst="rect">
            <a:avLst/>
          </a:prstGeom>
          <a:noFill/>
          <a:ln w="9525">
            <a:noFill/>
            <a:miter lim="800000"/>
            <a:headEnd/>
            <a:tailEnd/>
          </a:ln>
        </p:spPr>
        <p:txBody>
          <a:bodyPr wrap="none" anchor="ctr">
            <a:spAutoFit/>
          </a:bodyPr>
          <a:lstStyle/>
          <a:p>
            <a:endParaRPr lang="en-US"/>
          </a:p>
        </p:txBody>
      </p:sp>
      <p:sp>
        <p:nvSpPr>
          <p:cNvPr id="1030" name="Rectangle 6755"/>
          <p:cNvSpPr>
            <a:spLocks noChangeArrowheads="1"/>
          </p:cNvSpPr>
          <p:nvPr/>
        </p:nvSpPr>
        <p:spPr bwMode="auto">
          <a:xfrm>
            <a:off x="0" y="-476250"/>
            <a:ext cx="9144000" cy="0"/>
          </a:xfrm>
          <a:prstGeom prst="rect">
            <a:avLst/>
          </a:prstGeom>
          <a:noFill/>
          <a:ln w="9525">
            <a:noFill/>
            <a:miter lim="800000"/>
            <a:headEnd/>
            <a:tailEnd/>
          </a:ln>
        </p:spPr>
        <p:txBody>
          <a:bodyPr wrap="none" anchor="ctr">
            <a:spAutoFit/>
          </a:bodyPr>
          <a:lstStyle/>
          <a:p>
            <a:endParaRPr lang="en-US"/>
          </a:p>
        </p:txBody>
      </p:sp>
      <p:graphicFrame>
        <p:nvGraphicFramePr>
          <p:cNvPr id="1026" name="Object 6754"/>
          <p:cNvGraphicFramePr>
            <a:graphicFrameLocks noChangeAspect="1"/>
          </p:cNvGraphicFramePr>
          <p:nvPr>
            <p:extLst>
              <p:ext uri="{D42A27DB-BD31-4B8C-83A1-F6EECF244321}">
                <p14:modId xmlns:p14="http://schemas.microsoft.com/office/powerpoint/2010/main" val="2907797469"/>
              </p:ext>
            </p:extLst>
          </p:nvPr>
        </p:nvGraphicFramePr>
        <p:xfrm>
          <a:off x="0" y="0"/>
          <a:ext cx="9143999" cy="6889190"/>
        </p:xfrm>
        <a:graphic>
          <a:graphicData uri="http://schemas.openxmlformats.org/presentationml/2006/ole">
            <mc:AlternateContent xmlns:mc="http://schemas.openxmlformats.org/markup-compatibility/2006">
              <mc:Choice xmlns:v="urn:schemas-microsoft-com:vml" Requires="v">
                <p:oleObj name="Worksheet" r:id="rId3" imgW="6248572" imgH="7877296" progId="Excel.Sheet.8">
                  <p:embed/>
                </p:oleObj>
              </mc:Choice>
              <mc:Fallback>
                <p:oleObj name="Worksheet" r:id="rId3" imgW="6248572" imgH="7877296" progId="Excel.Sheet.8">
                  <p:embed/>
                  <p:pic>
                    <p:nvPicPr>
                      <p:cNvPr id="1026" name="Object 6754"/>
                      <p:cNvPicPr>
                        <a:picLocks noChangeAspect="1" noChangeArrowheads="1"/>
                      </p:cNvPicPr>
                      <p:nvPr/>
                    </p:nvPicPr>
                    <p:blipFill>
                      <a:blip r:embed="rId4"/>
                      <a:srcRect/>
                      <a:stretch>
                        <a:fillRect/>
                      </a:stretch>
                    </p:blipFill>
                    <p:spPr bwMode="auto">
                      <a:xfrm>
                        <a:off x="0" y="0"/>
                        <a:ext cx="9143999" cy="6889190"/>
                      </a:xfrm>
                      <a:prstGeom prst="rect">
                        <a:avLst/>
                      </a:prstGeom>
                      <a:noFill/>
                    </p:spPr>
                  </p:pic>
                </p:oleObj>
              </mc:Fallback>
            </mc:AlternateContent>
          </a:graphicData>
        </a:graphic>
      </p:graphicFrame>
      <p:sp>
        <p:nvSpPr>
          <p:cNvPr id="3" name="Arrow: Right 2">
            <a:extLst>
              <a:ext uri="{FF2B5EF4-FFF2-40B4-BE49-F238E27FC236}">
                <a16:creationId xmlns:a16="http://schemas.microsoft.com/office/drawing/2014/main" id="{EEB0C654-7B3B-696F-D306-94E921D5E9AE}"/>
              </a:ext>
            </a:extLst>
          </p:cNvPr>
          <p:cNvSpPr/>
          <p:nvPr/>
        </p:nvSpPr>
        <p:spPr>
          <a:xfrm>
            <a:off x="0" y="304800"/>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t>TCTO Policy and Procedures</a:t>
            </a:r>
          </a:p>
        </p:txBody>
      </p:sp>
      <p:sp>
        <p:nvSpPr>
          <p:cNvPr id="41987" name="Rectangle 3"/>
          <p:cNvSpPr>
            <a:spLocks noGrp="1" noChangeArrowheads="1"/>
          </p:cNvSpPr>
          <p:nvPr>
            <p:ph idx="1"/>
          </p:nvPr>
        </p:nvSpPr>
        <p:spPr/>
        <p:txBody>
          <a:bodyPr/>
          <a:lstStyle/>
          <a:p>
            <a:pPr eaLnBrk="1" hangingPunct="1"/>
            <a:r>
              <a:rPr lang="en-US" dirty="0"/>
              <a:t>Purpose of TCTOs</a:t>
            </a:r>
          </a:p>
          <a:p>
            <a:pPr eaLnBrk="1" hangingPunct="1">
              <a:buFont typeface="Wingdings" pitchFamily="2" charset="2"/>
              <a:buNone/>
            </a:pPr>
            <a:r>
              <a:rPr lang="en-US" dirty="0"/>
              <a:t>	</a:t>
            </a:r>
          </a:p>
          <a:p>
            <a:pPr lvl="1" eaLnBrk="1" hangingPunct="1"/>
            <a:r>
              <a:rPr lang="en-US" dirty="0"/>
              <a:t>TCTOs are developed and formatted according to MIL-DTL-38804F</a:t>
            </a:r>
          </a:p>
          <a:p>
            <a:pPr lvl="2" eaLnBrk="1" hangingPunct="1"/>
            <a:r>
              <a:rPr lang="en-US" dirty="0"/>
              <a:t>  </a:t>
            </a:r>
            <a:r>
              <a:rPr lang="en-US" sz="2400" dirty="0">
                <a:solidFill>
                  <a:schemeClr val="accent1"/>
                </a:solidFill>
                <a:highlight>
                  <a:srgbClr val="FFFFFF"/>
                </a:highlight>
                <a:hlinkClick r:id="rId3">
                  <a:extLst>
                    <a:ext uri="{A12FA001-AC4F-418D-AE19-62706E023703}">
                      <ahyp:hlinkClr xmlns:ahyp="http://schemas.microsoft.com/office/drawing/2018/hyperlinkcolor" val="tx"/>
                    </a:ext>
                  </a:extLst>
                </a:hlinkClick>
              </a:rPr>
              <a:t>https://techdata.wpafb.af.mil/tmss/index.html</a:t>
            </a:r>
            <a:endParaRPr lang="en-US" sz="2400" dirty="0">
              <a:solidFill>
                <a:schemeClr val="accent1"/>
              </a:solidFill>
              <a:highlight>
                <a:srgbClr val="FFFFFF"/>
              </a:highlight>
            </a:endParaRPr>
          </a:p>
          <a:p>
            <a:pPr lvl="1" eaLnBrk="1" hangingPunct="1"/>
            <a:r>
              <a:rPr lang="en-US" dirty="0"/>
              <a:t>TCTO Process/content managed through:</a:t>
            </a:r>
          </a:p>
          <a:p>
            <a:pPr lvl="2" eaLnBrk="1" hangingPunct="1"/>
            <a:r>
              <a:rPr lang="en-US" dirty="0"/>
              <a:t>  AFTO Form 873 (TCTO requirements)</a:t>
            </a:r>
          </a:p>
          <a:p>
            <a:pPr lvl="2" eaLnBrk="1" hangingPunct="1"/>
            <a:r>
              <a:rPr lang="en-US" dirty="0"/>
              <a:t>  AFTO</a:t>
            </a:r>
            <a:r>
              <a:rPr lang="en-US" dirty="0">
                <a:solidFill>
                  <a:srgbClr val="FF0000"/>
                </a:solidFill>
              </a:rPr>
              <a:t> </a:t>
            </a:r>
            <a:r>
              <a:rPr lang="en-US" dirty="0"/>
              <a:t>Form 874 (TCTO supply data requirements)</a:t>
            </a:r>
          </a:p>
          <a:p>
            <a:pPr lvl="2" eaLnBrk="1" hangingPunct="1"/>
            <a:r>
              <a:rPr lang="en-US" dirty="0"/>
              <a:t>  AFTO</a:t>
            </a:r>
            <a:r>
              <a:rPr lang="en-US" dirty="0">
                <a:solidFill>
                  <a:srgbClr val="FF0000"/>
                </a:solidFill>
              </a:rPr>
              <a:t> </a:t>
            </a:r>
            <a:r>
              <a:rPr lang="en-US" dirty="0"/>
              <a:t>Form 875 (TCTO programming document)</a:t>
            </a:r>
          </a:p>
          <a:p>
            <a:pPr lvl="2" eaLnBrk="1" hangingPunct="1"/>
            <a:r>
              <a:rPr lang="en-US" dirty="0"/>
              <a:t>  AFTO Form 82 (TCTO verification certificate)</a:t>
            </a:r>
          </a:p>
          <a:p>
            <a:pPr lvl="2" eaLnBrk="1" hangingPunct="1"/>
            <a:r>
              <a:rPr lang="en-US" dirty="0"/>
              <a:t>  </a:t>
            </a:r>
            <a:r>
              <a:rPr lang="en-US" dirty="0">
                <a:solidFill>
                  <a:schemeClr val="accent1"/>
                </a:solidFill>
                <a:hlinkClick r:id="rId4">
                  <a:extLst>
                    <a:ext uri="{A12FA001-AC4F-418D-AE19-62706E023703}">
                      <ahyp:hlinkClr xmlns:ahyp="http://schemas.microsoft.com/office/drawing/2018/hyperlinkcolor" val="tx"/>
                    </a:ext>
                  </a:extLst>
                </a:hlinkClick>
              </a:rPr>
              <a:t>https://www.e-publishing.af.mil/</a:t>
            </a:r>
            <a:endParaRPr lang="en-US" dirty="0">
              <a:solidFill>
                <a:schemeClr val="accent1"/>
              </a:solidFill>
            </a:endParaRPr>
          </a:p>
          <a:p>
            <a:pPr lvl="2" eaLnBrk="1" hangingPunct="1"/>
            <a:endParaRPr lang="en-US" dirty="0"/>
          </a:p>
        </p:txBody>
      </p:sp>
      <p:sp>
        <p:nvSpPr>
          <p:cNvPr id="41988" name="Slide Number Placeholder 5"/>
          <p:cNvSpPr>
            <a:spLocks noGrp="1"/>
          </p:cNvSpPr>
          <p:nvPr>
            <p:ph type="sldNum" sz="quarter" idx="10"/>
          </p:nvPr>
        </p:nvSpPr>
        <p:spPr>
          <a:xfrm>
            <a:off x="7239000" y="6519863"/>
            <a:ext cx="1905000" cy="338137"/>
          </a:xfrm>
          <a:noFill/>
        </p:spPr>
        <p:txBody>
          <a:bodyPr/>
          <a:lstStyle/>
          <a:p>
            <a:fld id="{5FDA2EE1-8540-4784-9494-3C070E4A603F}" type="slidenum">
              <a:rPr lang="en-US" smtClean="0"/>
              <a:pPr/>
              <a:t>21</a:t>
            </a:fld>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t>TCTO Policy and Procedures</a:t>
            </a:r>
          </a:p>
        </p:txBody>
      </p:sp>
      <p:sp>
        <p:nvSpPr>
          <p:cNvPr id="43011" name="Rectangle 3"/>
          <p:cNvSpPr>
            <a:spLocks noGrp="1" noChangeArrowheads="1"/>
          </p:cNvSpPr>
          <p:nvPr>
            <p:ph idx="1"/>
          </p:nvPr>
        </p:nvSpPr>
        <p:spPr/>
        <p:txBody>
          <a:bodyPr/>
          <a:lstStyle/>
          <a:p>
            <a:pPr eaLnBrk="1" hangingPunct="1"/>
            <a:r>
              <a:rPr lang="en-US" dirty="0"/>
              <a:t>Purpose of TCTOs</a:t>
            </a:r>
          </a:p>
          <a:p>
            <a:pPr eaLnBrk="1" hangingPunct="1"/>
            <a:r>
              <a:rPr lang="en-US" dirty="0"/>
              <a:t>TCTO Verification:</a:t>
            </a:r>
          </a:p>
          <a:p>
            <a:pPr eaLnBrk="1" hangingPunct="1"/>
            <a:endParaRPr lang="en-US" dirty="0"/>
          </a:p>
          <a:p>
            <a:pPr lvl="1" eaLnBrk="1" hangingPunct="1"/>
            <a:r>
              <a:rPr lang="en-US" dirty="0"/>
              <a:t>TCTO verification is performed by a team comparable to those who will accomplish the TCTO</a:t>
            </a:r>
          </a:p>
        </p:txBody>
      </p:sp>
      <p:sp>
        <p:nvSpPr>
          <p:cNvPr id="43012" name="Slide Number Placeholder 5"/>
          <p:cNvSpPr>
            <a:spLocks noGrp="1"/>
          </p:cNvSpPr>
          <p:nvPr>
            <p:ph type="sldNum" sz="quarter" idx="10"/>
          </p:nvPr>
        </p:nvSpPr>
        <p:spPr>
          <a:xfrm>
            <a:off x="7239000" y="6519863"/>
            <a:ext cx="1905000" cy="338137"/>
          </a:xfrm>
          <a:noFill/>
        </p:spPr>
        <p:txBody>
          <a:bodyPr/>
          <a:lstStyle/>
          <a:p>
            <a:fld id="{4CE3D5FF-31B7-4BB2-8E3E-0F271E0A691B}" type="slidenum">
              <a:rPr lang="en-US" smtClean="0"/>
              <a:pPr/>
              <a:t>22</a:t>
            </a:fld>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t>TCTO Policy and Procedures</a:t>
            </a:r>
          </a:p>
        </p:txBody>
      </p:sp>
      <p:sp>
        <p:nvSpPr>
          <p:cNvPr id="44035" name="Rectangle 3"/>
          <p:cNvSpPr>
            <a:spLocks noGrp="1" noChangeArrowheads="1"/>
          </p:cNvSpPr>
          <p:nvPr>
            <p:ph idx="1"/>
          </p:nvPr>
        </p:nvSpPr>
        <p:spPr/>
        <p:txBody>
          <a:bodyPr/>
          <a:lstStyle/>
          <a:p>
            <a:pPr eaLnBrk="1" hangingPunct="1"/>
            <a:r>
              <a:rPr lang="en-US" dirty="0"/>
              <a:t>Purpose of TCTOs</a:t>
            </a:r>
          </a:p>
          <a:p>
            <a:pPr eaLnBrk="1" hangingPunct="1"/>
            <a:r>
              <a:rPr lang="en-US" dirty="0"/>
              <a:t>TCTO Verification</a:t>
            </a:r>
          </a:p>
          <a:p>
            <a:pPr lvl="1" eaLnBrk="1" hangingPunct="1"/>
            <a:endParaRPr lang="en-US" dirty="0"/>
          </a:p>
          <a:p>
            <a:pPr lvl="1" eaLnBrk="1" hangingPunct="1"/>
            <a:r>
              <a:rPr lang="en-US" dirty="0"/>
              <a:t>The SM of the Technical Content Manager (TCM)/ES is responsible for ensuring:</a:t>
            </a:r>
          </a:p>
          <a:p>
            <a:pPr lvl="2" eaLnBrk="1" hangingPunct="1"/>
            <a:r>
              <a:rPr lang="en-US" dirty="0"/>
              <a:t>  The changes and modifications are verified</a:t>
            </a:r>
          </a:p>
          <a:p>
            <a:pPr lvl="2" eaLnBrk="1" hangingPunct="1"/>
            <a:r>
              <a:rPr lang="en-US" dirty="0"/>
              <a:t>  Corrections are incorporated prior to release of the TCTO and Kits</a:t>
            </a:r>
          </a:p>
          <a:p>
            <a:pPr lvl="1" eaLnBrk="1" hangingPunct="1"/>
            <a:endParaRPr lang="en-US" dirty="0"/>
          </a:p>
          <a:p>
            <a:pPr lvl="1" eaLnBrk="1" hangingPunct="1">
              <a:buFontTx/>
              <a:buNone/>
            </a:pPr>
            <a:endParaRPr lang="en-US" dirty="0"/>
          </a:p>
        </p:txBody>
      </p:sp>
      <p:sp>
        <p:nvSpPr>
          <p:cNvPr id="44036" name="Slide Number Placeholder 5"/>
          <p:cNvSpPr>
            <a:spLocks noGrp="1"/>
          </p:cNvSpPr>
          <p:nvPr>
            <p:ph type="sldNum" sz="quarter" idx="10"/>
          </p:nvPr>
        </p:nvSpPr>
        <p:spPr>
          <a:xfrm>
            <a:off x="7239000" y="6519863"/>
            <a:ext cx="1905000" cy="338137"/>
          </a:xfrm>
          <a:noFill/>
        </p:spPr>
        <p:txBody>
          <a:bodyPr/>
          <a:lstStyle/>
          <a:p>
            <a:fld id="{C79275A0-D116-4AAF-9420-EBC300E852ED}" type="slidenum">
              <a:rPr lang="en-US" smtClean="0"/>
              <a:pPr/>
              <a:t>23</a:t>
            </a:fld>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t>TCTO Policy and Procedures</a:t>
            </a:r>
          </a:p>
        </p:txBody>
      </p:sp>
      <p:sp>
        <p:nvSpPr>
          <p:cNvPr id="45059" name="Rectangle 3"/>
          <p:cNvSpPr>
            <a:spLocks noGrp="1" noChangeArrowheads="1"/>
          </p:cNvSpPr>
          <p:nvPr>
            <p:ph idx="1"/>
          </p:nvPr>
        </p:nvSpPr>
        <p:spPr/>
        <p:txBody>
          <a:bodyPr/>
          <a:lstStyle/>
          <a:p>
            <a:pPr eaLnBrk="1" hangingPunct="1"/>
            <a:r>
              <a:rPr lang="en-US" dirty="0"/>
              <a:t>Purpose of TCTOs </a:t>
            </a:r>
          </a:p>
          <a:p>
            <a:pPr eaLnBrk="1" hangingPunct="1"/>
            <a:r>
              <a:rPr lang="en-US" dirty="0"/>
              <a:t>TCTO Verification</a:t>
            </a:r>
          </a:p>
          <a:p>
            <a:pPr lvl="1" eaLnBrk="1" hangingPunct="1"/>
            <a:endParaRPr lang="en-US" dirty="0"/>
          </a:p>
          <a:p>
            <a:pPr lvl="1" eaLnBrk="1" hangingPunct="1"/>
            <a:r>
              <a:rPr lang="en-US" dirty="0"/>
              <a:t>Modification Manager will:</a:t>
            </a:r>
          </a:p>
          <a:p>
            <a:pPr marL="447675" lvl="1" indent="0" eaLnBrk="1" hangingPunct="1">
              <a:buNone/>
            </a:pPr>
            <a:endParaRPr lang="en-US" dirty="0"/>
          </a:p>
          <a:p>
            <a:pPr lvl="2" eaLnBrk="1" hangingPunct="1"/>
            <a:r>
              <a:rPr lang="en-US" dirty="0"/>
              <a:t>  Negotiate with the using commands for verifications of TCTO</a:t>
            </a:r>
          </a:p>
          <a:p>
            <a:pPr lvl="2" eaLnBrk="1" hangingPunct="1"/>
            <a:r>
              <a:rPr lang="en-US" dirty="0"/>
              <a:t>  If accomplished at Organizational and Intermediate level</a:t>
            </a:r>
          </a:p>
          <a:p>
            <a:pPr lvl="1" eaLnBrk="1" hangingPunct="1"/>
            <a:endParaRPr lang="en-US" dirty="0"/>
          </a:p>
        </p:txBody>
      </p:sp>
      <p:sp>
        <p:nvSpPr>
          <p:cNvPr id="45060" name="Slide Number Placeholder 5"/>
          <p:cNvSpPr>
            <a:spLocks noGrp="1"/>
          </p:cNvSpPr>
          <p:nvPr>
            <p:ph type="sldNum" sz="quarter" idx="10"/>
          </p:nvPr>
        </p:nvSpPr>
        <p:spPr>
          <a:xfrm>
            <a:off x="7239000" y="6519863"/>
            <a:ext cx="1905000" cy="338137"/>
          </a:xfrm>
          <a:noFill/>
        </p:spPr>
        <p:txBody>
          <a:bodyPr/>
          <a:lstStyle/>
          <a:p>
            <a:fld id="{5E84DC1F-38DA-4A5F-9435-9A9EFEE563BF}" type="slidenum">
              <a:rPr lang="en-US" smtClean="0"/>
              <a:pPr/>
              <a:t>24</a:t>
            </a:fld>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t>TCTO Policy and Procedures</a:t>
            </a:r>
          </a:p>
        </p:txBody>
      </p:sp>
      <p:sp>
        <p:nvSpPr>
          <p:cNvPr id="46083" name="Rectangle 3"/>
          <p:cNvSpPr>
            <a:spLocks noGrp="1" noChangeArrowheads="1"/>
          </p:cNvSpPr>
          <p:nvPr>
            <p:ph idx="1"/>
          </p:nvPr>
        </p:nvSpPr>
        <p:spPr/>
        <p:txBody>
          <a:bodyPr/>
          <a:lstStyle/>
          <a:p>
            <a:r>
              <a:rPr lang="en-US" dirty="0"/>
              <a:t>Purpose of TCTOs </a:t>
            </a:r>
          </a:p>
          <a:p>
            <a:r>
              <a:rPr lang="en-US" dirty="0"/>
              <a:t>TCTO Verification </a:t>
            </a:r>
          </a:p>
          <a:p>
            <a:pPr lvl="1"/>
            <a:endParaRPr lang="en-US" dirty="0"/>
          </a:p>
          <a:p>
            <a:pPr lvl="1"/>
            <a:r>
              <a:rPr lang="en-US" dirty="0"/>
              <a:t>Single Manager will:</a:t>
            </a:r>
          </a:p>
          <a:p>
            <a:pPr lvl="1"/>
            <a:endParaRPr lang="en-US" dirty="0"/>
          </a:p>
          <a:p>
            <a:pPr lvl="2"/>
            <a:r>
              <a:rPr lang="en-US" dirty="0"/>
              <a:t>  Provides technical and engineering assistance</a:t>
            </a:r>
          </a:p>
          <a:p>
            <a:pPr lvl="1">
              <a:buFontTx/>
              <a:buNone/>
            </a:pPr>
            <a:endParaRPr lang="en-US" dirty="0"/>
          </a:p>
        </p:txBody>
      </p:sp>
      <p:sp>
        <p:nvSpPr>
          <p:cNvPr id="46084" name="Slide Number Placeholder 5"/>
          <p:cNvSpPr>
            <a:spLocks noGrp="1"/>
          </p:cNvSpPr>
          <p:nvPr>
            <p:ph type="sldNum" sz="quarter" idx="10"/>
          </p:nvPr>
        </p:nvSpPr>
        <p:spPr>
          <a:xfrm>
            <a:off x="7239000" y="6519863"/>
            <a:ext cx="1905000" cy="338137"/>
          </a:xfrm>
          <a:noFill/>
        </p:spPr>
        <p:txBody>
          <a:bodyPr/>
          <a:lstStyle/>
          <a:p>
            <a:fld id="{31775EFE-EA05-4E00-A1B7-FD1C6A09F26E}" type="slidenum">
              <a:rPr lang="en-US" smtClean="0"/>
              <a:pPr/>
              <a:t>25</a:t>
            </a:fld>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t>TCTO Policy and Procedures</a:t>
            </a:r>
          </a:p>
        </p:txBody>
      </p:sp>
      <p:sp>
        <p:nvSpPr>
          <p:cNvPr id="47107" name="Rectangle 3"/>
          <p:cNvSpPr>
            <a:spLocks noGrp="1" noChangeArrowheads="1"/>
          </p:cNvSpPr>
          <p:nvPr>
            <p:ph idx="1"/>
          </p:nvPr>
        </p:nvSpPr>
        <p:spPr/>
        <p:txBody>
          <a:bodyPr/>
          <a:lstStyle/>
          <a:p>
            <a:pPr eaLnBrk="1" hangingPunct="1"/>
            <a:r>
              <a:rPr lang="en-US" dirty="0"/>
              <a:t>Purpose of TCTOs </a:t>
            </a:r>
          </a:p>
          <a:p>
            <a:pPr eaLnBrk="1" hangingPunct="1"/>
            <a:r>
              <a:rPr lang="en-US" dirty="0"/>
              <a:t>TCTO Verification </a:t>
            </a:r>
          </a:p>
          <a:p>
            <a:pPr lvl="1" eaLnBrk="1" hangingPunct="1"/>
            <a:endParaRPr lang="en-US" dirty="0"/>
          </a:p>
          <a:p>
            <a:pPr lvl="1" eaLnBrk="1" hangingPunct="1"/>
            <a:r>
              <a:rPr lang="en-US" dirty="0"/>
              <a:t>Lead Command Will:</a:t>
            </a:r>
          </a:p>
          <a:p>
            <a:pPr eaLnBrk="1" hangingPunct="1"/>
            <a:endParaRPr lang="en-US" dirty="0"/>
          </a:p>
          <a:p>
            <a:pPr lvl="2" eaLnBrk="1" hangingPunct="1"/>
            <a:r>
              <a:rPr lang="en-US" dirty="0"/>
              <a:t>  Monitor TCTO verification process on weapon systems and</a:t>
            </a:r>
          </a:p>
          <a:p>
            <a:pPr marL="852488" lvl="2" indent="0" eaLnBrk="1" hangingPunct="1">
              <a:buNone/>
            </a:pPr>
            <a:r>
              <a:rPr lang="en-US" dirty="0"/>
              <a:t>    commodities</a:t>
            </a:r>
          </a:p>
          <a:p>
            <a:pPr lvl="1" eaLnBrk="1" hangingPunct="1"/>
            <a:endParaRPr lang="en-US" dirty="0"/>
          </a:p>
          <a:p>
            <a:pPr lvl="1" eaLnBrk="1" hangingPunct="1"/>
            <a:endParaRPr lang="en-US" dirty="0"/>
          </a:p>
          <a:p>
            <a:pPr lvl="1" eaLnBrk="1" hangingPunct="1"/>
            <a:endParaRPr lang="en-US" dirty="0"/>
          </a:p>
          <a:p>
            <a:pPr lvl="1" eaLnBrk="1" hangingPunct="1"/>
            <a:endParaRPr lang="en-US" dirty="0"/>
          </a:p>
          <a:p>
            <a:pPr lvl="1" eaLnBrk="1" hangingPunct="1"/>
            <a:endParaRPr lang="en-US" dirty="0"/>
          </a:p>
          <a:p>
            <a:pPr lvl="1" eaLnBrk="1" hangingPunct="1"/>
            <a:endParaRPr lang="en-US" dirty="0"/>
          </a:p>
          <a:p>
            <a:pPr marL="406400" lvl="1" indent="0" eaLnBrk="1" hangingPunct="1">
              <a:buNone/>
            </a:pPr>
            <a:r>
              <a:rPr lang="en-US" dirty="0"/>
              <a:t>		 </a:t>
            </a:r>
          </a:p>
        </p:txBody>
      </p:sp>
      <p:sp>
        <p:nvSpPr>
          <p:cNvPr id="47108" name="Slide Number Placeholder 5"/>
          <p:cNvSpPr>
            <a:spLocks noGrp="1"/>
          </p:cNvSpPr>
          <p:nvPr>
            <p:ph type="sldNum" sz="quarter" idx="10"/>
          </p:nvPr>
        </p:nvSpPr>
        <p:spPr>
          <a:xfrm>
            <a:off x="7239000" y="6519863"/>
            <a:ext cx="1905000" cy="338137"/>
          </a:xfrm>
          <a:noFill/>
        </p:spPr>
        <p:txBody>
          <a:bodyPr/>
          <a:lstStyle/>
          <a:p>
            <a:fld id="{51FED852-87E7-4B88-96FF-45ED7BC376ED}" type="slidenum">
              <a:rPr lang="en-US" smtClean="0"/>
              <a:pPr/>
              <a:t>26</a:t>
            </a:fld>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TCTO Policy and Procedures</a:t>
            </a:r>
          </a:p>
        </p:txBody>
      </p:sp>
      <p:sp>
        <p:nvSpPr>
          <p:cNvPr id="48131" name="Rectangle 3"/>
          <p:cNvSpPr>
            <a:spLocks noGrp="1" noChangeArrowheads="1"/>
          </p:cNvSpPr>
          <p:nvPr>
            <p:ph idx="1"/>
          </p:nvPr>
        </p:nvSpPr>
        <p:spPr/>
        <p:txBody>
          <a:bodyPr/>
          <a:lstStyle/>
          <a:p>
            <a:pPr eaLnBrk="1" hangingPunct="1"/>
            <a:r>
              <a:rPr lang="en-US" dirty="0"/>
              <a:t>Purpose of TCTOs </a:t>
            </a:r>
          </a:p>
          <a:p>
            <a:pPr eaLnBrk="1" hangingPunct="1"/>
            <a:r>
              <a:rPr lang="en-US" dirty="0"/>
              <a:t>TCTO Verification </a:t>
            </a:r>
          </a:p>
          <a:p>
            <a:pPr eaLnBrk="1" hangingPunct="1"/>
            <a:endParaRPr lang="en-US" dirty="0"/>
          </a:p>
          <a:p>
            <a:pPr lvl="1" eaLnBrk="1" hangingPunct="1"/>
            <a:r>
              <a:rPr lang="en-US" dirty="0"/>
              <a:t>Using Command for O&amp;I TCTO will:</a:t>
            </a:r>
          </a:p>
          <a:p>
            <a:pPr marL="447675" lvl="1" indent="0" eaLnBrk="1" hangingPunct="1">
              <a:buNone/>
            </a:pPr>
            <a:endParaRPr lang="en-US" dirty="0"/>
          </a:p>
          <a:p>
            <a:pPr lvl="2" eaLnBrk="1" hangingPunct="1"/>
            <a:r>
              <a:rPr lang="en-US" dirty="0"/>
              <a:t>  Provide Facilities, personnel, housekeeping, tools etc.</a:t>
            </a:r>
          </a:p>
          <a:p>
            <a:pPr lvl="2" eaLnBrk="1" hangingPunct="1"/>
            <a:r>
              <a:rPr lang="en-US" dirty="0"/>
              <a:t>  Ensure successful verification</a:t>
            </a:r>
          </a:p>
          <a:p>
            <a:pPr lvl="2" eaLnBrk="1" hangingPunct="1"/>
            <a:r>
              <a:rPr lang="en-US" dirty="0"/>
              <a:t>  Complete verification form </a:t>
            </a:r>
          </a:p>
          <a:p>
            <a:pPr lvl="2" eaLnBrk="1" hangingPunct="1"/>
            <a:r>
              <a:rPr lang="en-US" dirty="0"/>
              <a:t>  Provide any comments </a:t>
            </a:r>
          </a:p>
          <a:p>
            <a:pPr lvl="4" eaLnBrk="1" hangingPunct="1"/>
            <a:endParaRPr lang="en-US" dirty="0"/>
          </a:p>
          <a:p>
            <a:pPr lvl="3" eaLnBrk="1" hangingPunct="1"/>
            <a:endParaRPr lang="en-US" dirty="0"/>
          </a:p>
          <a:p>
            <a:pPr lvl="3" eaLnBrk="1" hangingPunct="1"/>
            <a:endParaRPr lang="en-US" dirty="0"/>
          </a:p>
          <a:p>
            <a:pPr lvl="3" eaLnBrk="1" hangingPunct="1"/>
            <a:endParaRPr lang="en-US" dirty="0"/>
          </a:p>
          <a:p>
            <a:pPr lvl="1" eaLnBrk="1" hangingPunct="1">
              <a:buFontTx/>
              <a:buNone/>
            </a:pPr>
            <a:r>
              <a:rPr lang="en-US" dirty="0"/>
              <a:t>                 </a:t>
            </a:r>
          </a:p>
        </p:txBody>
      </p:sp>
      <p:sp>
        <p:nvSpPr>
          <p:cNvPr id="48132" name="Slide Number Placeholder 5"/>
          <p:cNvSpPr>
            <a:spLocks noGrp="1"/>
          </p:cNvSpPr>
          <p:nvPr>
            <p:ph type="sldNum" sz="quarter" idx="10"/>
          </p:nvPr>
        </p:nvSpPr>
        <p:spPr>
          <a:xfrm>
            <a:off x="7239000" y="6519863"/>
            <a:ext cx="1905000" cy="338137"/>
          </a:xfrm>
          <a:noFill/>
        </p:spPr>
        <p:txBody>
          <a:bodyPr/>
          <a:lstStyle/>
          <a:p>
            <a:fld id="{EE801F1F-15A3-461F-A7F0-3322F27192AF}" type="slidenum">
              <a:rPr lang="en-US" smtClean="0"/>
              <a:pPr/>
              <a:t>27</a:t>
            </a:fld>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t>TCTO Policy and Procedures</a:t>
            </a:r>
          </a:p>
        </p:txBody>
      </p:sp>
      <p:sp>
        <p:nvSpPr>
          <p:cNvPr id="49155" name="Rectangle 3"/>
          <p:cNvSpPr>
            <a:spLocks noGrp="1" noChangeArrowheads="1"/>
          </p:cNvSpPr>
          <p:nvPr>
            <p:ph idx="1"/>
          </p:nvPr>
        </p:nvSpPr>
        <p:spPr/>
        <p:txBody>
          <a:bodyPr/>
          <a:lstStyle/>
          <a:p>
            <a:pPr eaLnBrk="1" hangingPunct="1"/>
            <a:r>
              <a:rPr lang="en-US" dirty="0"/>
              <a:t>Purpose of TCTOs </a:t>
            </a:r>
          </a:p>
          <a:p>
            <a:pPr eaLnBrk="1" hangingPunct="1"/>
            <a:r>
              <a:rPr lang="en-US" dirty="0"/>
              <a:t>TCTO Verification </a:t>
            </a:r>
          </a:p>
          <a:p>
            <a:pPr lvl="1" eaLnBrk="1" hangingPunct="1"/>
            <a:endParaRPr lang="en-US" dirty="0"/>
          </a:p>
          <a:p>
            <a:pPr lvl="1" eaLnBrk="1" hangingPunct="1"/>
            <a:r>
              <a:rPr lang="en-US" dirty="0"/>
              <a:t>Technical Content Manager (TCM) responsible for the TCTO will:</a:t>
            </a:r>
          </a:p>
          <a:p>
            <a:pPr marL="447675" lvl="1" indent="0" eaLnBrk="1" hangingPunct="1">
              <a:buNone/>
            </a:pPr>
            <a:endParaRPr lang="en-US" dirty="0"/>
          </a:p>
          <a:p>
            <a:pPr lvl="2" eaLnBrk="1" hangingPunct="1"/>
            <a:r>
              <a:rPr lang="en-US" dirty="0"/>
              <a:t>  Finalize and document plans for the verification prior to CCB</a:t>
            </a:r>
          </a:p>
          <a:p>
            <a:pPr lvl="2" eaLnBrk="1" hangingPunct="1"/>
            <a:r>
              <a:rPr lang="en-US" dirty="0"/>
              <a:t>  Accomplish verification (O&amp;I/Depot)</a:t>
            </a:r>
          </a:p>
          <a:p>
            <a:pPr lvl="2" eaLnBrk="1" hangingPunct="1"/>
            <a:r>
              <a:rPr lang="en-US" dirty="0"/>
              <a:t>  Install 1st production kit (not prototype)	</a:t>
            </a:r>
          </a:p>
          <a:p>
            <a:pPr lvl="2" eaLnBrk="1" hangingPunct="1"/>
            <a:r>
              <a:rPr lang="en-US" dirty="0"/>
              <a:t>  Verify associated TO changes	</a:t>
            </a:r>
          </a:p>
        </p:txBody>
      </p:sp>
      <p:sp>
        <p:nvSpPr>
          <p:cNvPr id="49156" name="Slide Number Placeholder 5"/>
          <p:cNvSpPr>
            <a:spLocks noGrp="1"/>
          </p:cNvSpPr>
          <p:nvPr>
            <p:ph type="sldNum" sz="quarter" idx="10"/>
          </p:nvPr>
        </p:nvSpPr>
        <p:spPr>
          <a:xfrm>
            <a:off x="7239000" y="6519863"/>
            <a:ext cx="1905000" cy="338137"/>
          </a:xfrm>
          <a:noFill/>
        </p:spPr>
        <p:txBody>
          <a:bodyPr/>
          <a:lstStyle/>
          <a:p>
            <a:fld id="{CEBDEE17-B08D-408B-9D47-CF88532B832F}" type="slidenum">
              <a:rPr lang="en-US" smtClean="0"/>
              <a:pPr/>
              <a:t>28</a:t>
            </a:fld>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t>TCTO Policy and Procedures</a:t>
            </a:r>
          </a:p>
        </p:txBody>
      </p:sp>
      <p:sp>
        <p:nvSpPr>
          <p:cNvPr id="50179" name="Rectangle 3"/>
          <p:cNvSpPr>
            <a:spLocks noGrp="1" noChangeArrowheads="1"/>
          </p:cNvSpPr>
          <p:nvPr>
            <p:ph idx="1"/>
          </p:nvPr>
        </p:nvSpPr>
        <p:spPr/>
        <p:txBody>
          <a:bodyPr/>
          <a:lstStyle/>
          <a:p>
            <a:pPr eaLnBrk="1" hangingPunct="1"/>
            <a:r>
              <a:rPr lang="en-US" dirty="0"/>
              <a:t>Purpose of TCTOs </a:t>
            </a:r>
          </a:p>
          <a:p>
            <a:pPr eaLnBrk="1" hangingPunct="1"/>
            <a:r>
              <a:rPr lang="en-US" dirty="0"/>
              <a:t>TCTO Verification </a:t>
            </a:r>
          </a:p>
          <a:p>
            <a:pPr lvl="1" eaLnBrk="1" hangingPunct="1"/>
            <a:endParaRPr lang="en-US" dirty="0"/>
          </a:p>
          <a:p>
            <a:pPr lvl="1" eaLnBrk="1" hangingPunct="1"/>
            <a:r>
              <a:rPr lang="en-US" dirty="0"/>
              <a:t>Technical Content Manager (TCM) responsible for the TCTO will: 	</a:t>
            </a:r>
          </a:p>
          <a:p>
            <a:pPr eaLnBrk="1" hangingPunct="1">
              <a:buFont typeface="Wingdings" pitchFamily="2" charset="2"/>
              <a:buNone/>
            </a:pPr>
            <a:r>
              <a:rPr lang="en-US" dirty="0"/>
              <a:t> </a:t>
            </a:r>
          </a:p>
          <a:p>
            <a:pPr lvl="2" eaLnBrk="1" hangingPunct="1"/>
            <a:r>
              <a:rPr lang="en-US" dirty="0"/>
              <a:t>  Ensure corrections incorporated prior to release of TCTO and kits</a:t>
            </a:r>
          </a:p>
          <a:p>
            <a:pPr lvl="1" eaLnBrk="1" hangingPunct="1"/>
            <a:endParaRPr lang="en-US" dirty="0"/>
          </a:p>
          <a:p>
            <a:pPr lvl="2" eaLnBrk="1" hangingPunct="1"/>
            <a:r>
              <a:rPr lang="en-US" dirty="0"/>
              <a:t>  Include TCTO verification (AFTO Form 82)</a:t>
            </a:r>
          </a:p>
          <a:p>
            <a:pPr lvl="1" eaLnBrk="1" hangingPunct="1">
              <a:buFontTx/>
              <a:buNone/>
            </a:pPr>
            <a:r>
              <a:rPr lang="en-US" dirty="0"/>
              <a:t>	</a:t>
            </a:r>
          </a:p>
        </p:txBody>
      </p:sp>
      <p:sp>
        <p:nvSpPr>
          <p:cNvPr id="50180" name="Slide Number Placeholder 5"/>
          <p:cNvSpPr>
            <a:spLocks noGrp="1"/>
          </p:cNvSpPr>
          <p:nvPr>
            <p:ph type="sldNum" sz="quarter" idx="10"/>
          </p:nvPr>
        </p:nvSpPr>
        <p:spPr>
          <a:xfrm>
            <a:off x="7239000" y="6519863"/>
            <a:ext cx="1905000" cy="338137"/>
          </a:xfrm>
          <a:noFill/>
        </p:spPr>
        <p:txBody>
          <a:bodyPr/>
          <a:lstStyle/>
          <a:p>
            <a:fld id="{79D63460-B153-4FA6-ADA9-410363AD2508}" type="slidenum">
              <a:rPr lang="en-US" smtClean="0"/>
              <a:pPr/>
              <a:t>29</a:t>
            </a:fld>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TCTO Policy and Procedures</a:t>
            </a:r>
          </a:p>
        </p:txBody>
      </p:sp>
      <p:sp>
        <p:nvSpPr>
          <p:cNvPr id="51203" name="Rectangle 3"/>
          <p:cNvSpPr>
            <a:spLocks noGrp="1" noChangeArrowheads="1"/>
          </p:cNvSpPr>
          <p:nvPr>
            <p:ph idx="1"/>
          </p:nvPr>
        </p:nvSpPr>
        <p:spPr/>
        <p:txBody>
          <a:bodyPr/>
          <a:lstStyle/>
          <a:p>
            <a:pPr eaLnBrk="1" hangingPunct="1"/>
            <a:r>
              <a:rPr lang="en-US" dirty="0"/>
              <a:t>Purpose of TCTOs </a:t>
            </a:r>
          </a:p>
          <a:p>
            <a:pPr eaLnBrk="1" hangingPunct="1"/>
            <a:endParaRPr lang="en-US" dirty="0"/>
          </a:p>
          <a:p>
            <a:pPr lvl="1" eaLnBrk="1" hangingPunct="1"/>
            <a:r>
              <a:rPr lang="en-US" dirty="0"/>
              <a:t>Configuration Control Principles AFI 63-101</a:t>
            </a:r>
          </a:p>
          <a:p>
            <a:pPr eaLnBrk="1" hangingPunct="1"/>
            <a:endParaRPr lang="en-US" dirty="0"/>
          </a:p>
          <a:p>
            <a:pPr lvl="2" eaLnBrk="1" hangingPunct="1"/>
            <a:r>
              <a:rPr lang="en-US" dirty="0"/>
              <a:t>  Identification</a:t>
            </a:r>
          </a:p>
          <a:p>
            <a:pPr lvl="2" eaLnBrk="1" hangingPunct="1"/>
            <a:r>
              <a:rPr lang="en-US" dirty="0"/>
              <a:t>  Control</a:t>
            </a:r>
          </a:p>
          <a:p>
            <a:pPr lvl="2" eaLnBrk="1" hangingPunct="1"/>
            <a:r>
              <a:rPr lang="en-US" dirty="0"/>
              <a:t>  Audits</a:t>
            </a:r>
          </a:p>
          <a:p>
            <a:pPr lvl="2" eaLnBrk="1" hangingPunct="1"/>
            <a:r>
              <a:rPr lang="en-US" dirty="0"/>
              <a:t>  Status Accounting</a:t>
            </a:r>
          </a:p>
        </p:txBody>
      </p:sp>
      <p:sp>
        <p:nvSpPr>
          <p:cNvPr id="51204" name="Slide Number Placeholder 5"/>
          <p:cNvSpPr>
            <a:spLocks noGrp="1"/>
          </p:cNvSpPr>
          <p:nvPr>
            <p:ph type="sldNum" sz="quarter" idx="10"/>
          </p:nvPr>
        </p:nvSpPr>
        <p:spPr>
          <a:xfrm>
            <a:off x="7239000" y="6519863"/>
            <a:ext cx="1905000" cy="338137"/>
          </a:xfrm>
          <a:noFill/>
        </p:spPr>
        <p:txBody>
          <a:bodyPr/>
          <a:lstStyle/>
          <a:p>
            <a:fld id="{31E5B63C-BD72-43DF-9314-5933519BEED2}" type="slidenum">
              <a:rPr lang="en-US" smtClean="0"/>
              <a:pPr/>
              <a:t>30</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t>TCTO Policy and Procedures</a:t>
            </a:r>
          </a:p>
        </p:txBody>
      </p:sp>
      <p:sp>
        <p:nvSpPr>
          <p:cNvPr id="52227" name="Rectangle 3"/>
          <p:cNvSpPr>
            <a:spLocks noGrp="1" noChangeArrowheads="1"/>
          </p:cNvSpPr>
          <p:nvPr>
            <p:ph idx="1"/>
          </p:nvPr>
        </p:nvSpPr>
        <p:spPr/>
        <p:txBody>
          <a:bodyPr/>
          <a:lstStyle/>
          <a:p>
            <a:pPr eaLnBrk="1" hangingPunct="1"/>
            <a:r>
              <a:rPr lang="en-US" dirty="0"/>
              <a:t>Purpose of TCTOs </a:t>
            </a:r>
          </a:p>
          <a:p>
            <a:pPr eaLnBrk="1" hangingPunct="1"/>
            <a:r>
              <a:rPr lang="en-US" dirty="0"/>
              <a:t>Identification</a:t>
            </a:r>
          </a:p>
          <a:p>
            <a:pPr eaLnBrk="1" hangingPunct="1"/>
            <a:endParaRPr lang="en-US" dirty="0"/>
          </a:p>
          <a:p>
            <a:pPr lvl="1" eaLnBrk="1" hangingPunct="1"/>
            <a:r>
              <a:rPr lang="en-US" dirty="0"/>
              <a:t>Identification of Configuration Items (CI)</a:t>
            </a:r>
          </a:p>
          <a:p>
            <a:pPr lvl="1" eaLnBrk="1" hangingPunct="1"/>
            <a:endParaRPr lang="en-US" dirty="0"/>
          </a:p>
          <a:p>
            <a:pPr lvl="1" eaLnBrk="1" hangingPunct="1"/>
            <a:r>
              <a:rPr lang="en-US" dirty="0"/>
              <a:t>Configuration Documentation</a:t>
            </a:r>
          </a:p>
          <a:p>
            <a:pPr lvl="4" eaLnBrk="1" hangingPunct="1"/>
            <a:endParaRPr lang="en-US" dirty="0"/>
          </a:p>
          <a:p>
            <a:pPr lvl="3" eaLnBrk="1" hangingPunct="1"/>
            <a:endParaRPr lang="en-US" dirty="0"/>
          </a:p>
          <a:p>
            <a:pPr lvl="3" eaLnBrk="1" hangingPunct="1"/>
            <a:endParaRPr lang="en-US" dirty="0"/>
          </a:p>
          <a:p>
            <a:pPr eaLnBrk="1" hangingPunct="1">
              <a:buFont typeface="Wingdings" pitchFamily="2" charset="2"/>
              <a:buNone/>
            </a:pPr>
            <a:r>
              <a:rPr lang="en-US" dirty="0"/>
              <a:t>					</a:t>
            </a:r>
          </a:p>
        </p:txBody>
      </p:sp>
      <p:sp>
        <p:nvSpPr>
          <p:cNvPr id="52228" name="Slide Number Placeholder 5"/>
          <p:cNvSpPr>
            <a:spLocks noGrp="1"/>
          </p:cNvSpPr>
          <p:nvPr>
            <p:ph type="sldNum" sz="quarter" idx="10"/>
          </p:nvPr>
        </p:nvSpPr>
        <p:spPr>
          <a:xfrm>
            <a:off x="7239000" y="6519863"/>
            <a:ext cx="1905000" cy="338137"/>
          </a:xfrm>
          <a:noFill/>
        </p:spPr>
        <p:txBody>
          <a:bodyPr/>
          <a:lstStyle/>
          <a:p>
            <a:fld id="{C8E6340C-3C2A-4CDA-9D2D-0F8F13E9B5CC}" type="slidenum">
              <a:rPr lang="en-US" smtClean="0"/>
              <a:pPr/>
              <a:t>31</a:t>
            </a:fld>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t>TCTO Policy and Procedures</a:t>
            </a:r>
          </a:p>
        </p:txBody>
      </p:sp>
      <p:sp>
        <p:nvSpPr>
          <p:cNvPr id="53251" name="Rectangle 3"/>
          <p:cNvSpPr>
            <a:spLocks noGrp="1" noChangeArrowheads="1"/>
          </p:cNvSpPr>
          <p:nvPr>
            <p:ph idx="1"/>
          </p:nvPr>
        </p:nvSpPr>
        <p:spPr/>
        <p:txBody>
          <a:bodyPr/>
          <a:lstStyle/>
          <a:p>
            <a:pPr eaLnBrk="1" hangingPunct="1"/>
            <a:r>
              <a:rPr lang="en-US" dirty="0"/>
              <a:t>Purpose of TCTOs </a:t>
            </a:r>
          </a:p>
          <a:p>
            <a:pPr eaLnBrk="1" hangingPunct="1"/>
            <a:r>
              <a:rPr lang="en-US" dirty="0"/>
              <a:t>Identification</a:t>
            </a:r>
          </a:p>
          <a:p>
            <a:pPr marL="0" indent="0" eaLnBrk="1" hangingPunct="1">
              <a:buNone/>
            </a:pPr>
            <a:endParaRPr lang="en-US" dirty="0"/>
          </a:p>
          <a:p>
            <a:pPr lvl="1" eaLnBrk="1" hangingPunct="1"/>
            <a:r>
              <a:rPr lang="en-US" dirty="0"/>
              <a:t>Identification of Configuration Items (CI)</a:t>
            </a:r>
          </a:p>
          <a:p>
            <a:pPr lvl="2" eaLnBrk="1" hangingPunct="1"/>
            <a:r>
              <a:rPr lang="en-US" dirty="0"/>
              <a:t>  Hardware or software designated for configuration control</a:t>
            </a:r>
          </a:p>
          <a:p>
            <a:pPr lvl="2" eaLnBrk="1" hangingPunct="1"/>
            <a:r>
              <a:rPr lang="en-US" dirty="0"/>
              <a:t>  Identified during development of the system</a:t>
            </a:r>
          </a:p>
        </p:txBody>
      </p:sp>
      <p:sp>
        <p:nvSpPr>
          <p:cNvPr id="53252" name="Slide Number Placeholder 5"/>
          <p:cNvSpPr>
            <a:spLocks noGrp="1"/>
          </p:cNvSpPr>
          <p:nvPr>
            <p:ph type="sldNum" sz="quarter" idx="10"/>
          </p:nvPr>
        </p:nvSpPr>
        <p:spPr>
          <a:xfrm>
            <a:off x="7239000" y="6519863"/>
            <a:ext cx="1905000" cy="338137"/>
          </a:xfrm>
          <a:noFill/>
        </p:spPr>
        <p:txBody>
          <a:bodyPr/>
          <a:lstStyle/>
          <a:p>
            <a:fld id="{788E7300-DE71-438F-BA0B-31F1ABCAF75E}" type="slidenum">
              <a:rPr lang="en-US" smtClean="0"/>
              <a:pPr/>
              <a:t>32</a:t>
            </a:fld>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t>TCTO Policy and Procedures</a:t>
            </a:r>
          </a:p>
        </p:txBody>
      </p:sp>
      <p:sp>
        <p:nvSpPr>
          <p:cNvPr id="54275" name="Rectangle 3"/>
          <p:cNvSpPr>
            <a:spLocks noGrp="1" noChangeArrowheads="1"/>
          </p:cNvSpPr>
          <p:nvPr>
            <p:ph idx="1"/>
          </p:nvPr>
        </p:nvSpPr>
        <p:spPr/>
        <p:txBody>
          <a:bodyPr/>
          <a:lstStyle/>
          <a:p>
            <a:pPr eaLnBrk="1" hangingPunct="1"/>
            <a:r>
              <a:rPr lang="en-US" dirty="0"/>
              <a:t>Purpose of TCTOs </a:t>
            </a:r>
          </a:p>
          <a:p>
            <a:pPr eaLnBrk="1" hangingPunct="1"/>
            <a:r>
              <a:rPr lang="en-US" dirty="0"/>
              <a:t>Identification</a:t>
            </a:r>
          </a:p>
          <a:p>
            <a:pPr lvl="1" eaLnBrk="1" hangingPunct="1"/>
            <a:r>
              <a:rPr lang="en-US" sz="2000" dirty="0"/>
              <a:t>Configuration Documentation</a:t>
            </a:r>
          </a:p>
          <a:p>
            <a:pPr lvl="2" eaLnBrk="1" hangingPunct="1"/>
            <a:r>
              <a:rPr lang="en-US" sz="1800" dirty="0"/>
              <a:t>  Baseline is configuration identification by a document</a:t>
            </a:r>
          </a:p>
          <a:p>
            <a:pPr lvl="2" eaLnBrk="1" hangingPunct="1"/>
            <a:r>
              <a:rPr lang="en-US" sz="1800" dirty="0"/>
              <a:t>  System Performance Specification</a:t>
            </a:r>
          </a:p>
          <a:p>
            <a:pPr lvl="3" eaLnBrk="1" hangingPunct="1"/>
            <a:r>
              <a:rPr lang="en-US" sz="1800" dirty="0"/>
              <a:t>To include drawings, code listing etc.</a:t>
            </a:r>
          </a:p>
          <a:p>
            <a:pPr lvl="1" eaLnBrk="1" hangingPunct="1"/>
            <a:r>
              <a:rPr lang="en-US" sz="2000" dirty="0"/>
              <a:t>Item Performance Specification (individual CI specification)</a:t>
            </a:r>
          </a:p>
          <a:p>
            <a:pPr lvl="1" eaLnBrk="1" hangingPunct="1"/>
            <a:r>
              <a:rPr lang="en-US" sz="2000" dirty="0"/>
              <a:t>Detailed Specification (exact design of the item)</a:t>
            </a:r>
          </a:p>
          <a:p>
            <a:pPr lvl="1" eaLnBrk="1" hangingPunct="1"/>
            <a:r>
              <a:rPr lang="en-US" sz="2000" dirty="0"/>
              <a:t>Specifications are baselined:</a:t>
            </a:r>
          </a:p>
          <a:p>
            <a:pPr lvl="2" eaLnBrk="1" hangingPunct="1"/>
            <a:r>
              <a:rPr lang="en-US" sz="1800" dirty="0"/>
              <a:t>  System    =   Functional Baseline</a:t>
            </a:r>
          </a:p>
          <a:p>
            <a:pPr lvl="2" eaLnBrk="1" hangingPunct="1"/>
            <a:r>
              <a:rPr lang="en-US" sz="1800" dirty="0"/>
              <a:t>  Item         =   Allocated Baseline</a:t>
            </a:r>
          </a:p>
          <a:p>
            <a:pPr lvl="2" eaLnBrk="1" hangingPunct="1"/>
            <a:r>
              <a:rPr lang="en-US" sz="1800" dirty="0"/>
              <a:t>  Detailed   =   Product Baseline</a:t>
            </a:r>
            <a:r>
              <a:rPr lang="en-US" dirty="0"/>
              <a:t>	</a:t>
            </a:r>
          </a:p>
        </p:txBody>
      </p:sp>
      <p:sp>
        <p:nvSpPr>
          <p:cNvPr id="54276" name="Slide Number Placeholder 5"/>
          <p:cNvSpPr>
            <a:spLocks noGrp="1"/>
          </p:cNvSpPr>
          <p:nvPr>
            <p:ph type="sldNum" sz="quarter" idx="10"/>
          </p:nvPr>
        </p:nvSpPr>
        <p:spPr>
          <a:xfrm>
            <a:off x="7239000" y="6519863"/>
            <a:ext cx="1905000" cy="338137"/>
          </a:xfrm>
          <a:noFill/>
        </p:spPr>
        <p:txBody>
          <a:bodyPr/>
          <a:lstStyle/>
          <a:p>
            <a:fld id="{8E2AEF53-6BE3-4FEB-ACBB-C192163128D3}" type="slidenum">
              <a:rPr lang="en-US" smtClean="0"/>
              <a:pPr/>
              <a:t>33</a:t>
            </a:fld>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t>TCTO Policy and Procedures</a:t>
            </a:r>
          </a:p>
        </p:txBody>
      </p:sp>
      <p:sp>
        <p:nvSpPr>
          <p:cNvPr id="55299" name="Rectangle 3"/>
          <p:cNvSpPr>
            <a:spLocks noGrp="1" noChangeArrowheads="1"/>
          </p:cNvSpPr>
          <p:nvPr>
            <p:ph idx="1"/>
          </p:nvPr>
        </p:nvSpPr>
        <p:spPr/>
        <p:txBody>
          <a:bodyPr/>
          <a:lstStyle/>
          <a:p>
            <a:pPr eaLnBrk="1" hangingPunct="1"/>
            <a:r>
              <a:rPr lang="en-US" dirty="0"/>
              <a:t>Purpose of TCTOs </a:t>
            </a:r>
          </a:p>
          <a:p>
            <a:pPr eaLnBrk="1" hangingPunct="1"/>
            <a:r>
              <a:rPr lang="en-US" dirty="0"/>
              <a:t>Control</a:t>
            </a:r>
          </a:p>
          <a:p>
            <a:pPr marL="0" indent="0" eaLnBrk="1" hangingPunct="1">
              <a:buNone/>
            </a:pPr>
            <a:endParaRPr lang="en-US" dirty="0"/>
          </a:p>
          <a:p>
            <a:pPr lvl="1" eaLnBrk="1" hangingPunct="1"/>
            <a:r>
              <a:rPr lang="en-US" dirty="0"/>
              <a:t>Process of Implementing &amp; Documenting changes to a configuration baseline</a:t>
            </a:r>
          </a:p>
          <a:p>
            <a:pPr lvl="1" eaLnBrk="1" hangingPunct="1"/>
            <a:r>
              <a:rPr lang="en-US" dirty="0"/>
              <a:t>ECP authorizes changes to a CI baseline </a:t>
            </a:r>
          </a:p>
          <a:p>
            <a:pPr lvl="1" eaLnBrk="1" hangingPunct="1"/>
            <a:r>
              <a:rPr lang="en-US" dirty="0"/>
              <a:t>SM CCB evaluates and approve or disapprove ECP</a:t>
            </a:r>
          </a:p>
          <a:p>
            <a:pPr lvl="2" eaLnBrk="1" hangingPunct="1"/>
            <a:r>
              <a:rPr lang="en-US" dirty="0"/>
              <a:t>CCB can only approve configuration changes</a:t>
            </a:r>
          </a:p>
          <a:p>
            <a:pPr lvl="2" eaLnBrk="1" hangingPunct="1"/>
            <a:endParaRPr lang="en-US" dirty="0"/>
          </a:p>
          <a:p>
            <a:pPr eaLnBrk="1" hangingPunct="1">
              <a:buFont typeface="Wingdings" pitchFamily="2" charset="2"/>
              <a:buNone/>
            </a:pPr>
            <a:r>
              <a:rPr lang="en-US" dirty="0"/>
              <a:t>					</a:t>
            </a:r>
          </a:p>
        </p:txBody>
      </p:sp>
      <p:sp>
        <p:nvSpPr>
          <p:cNvPr id="55300" name="Slide Number Placeholder 5"/>
          <p:cNvSpPr>
            <a:spLocks noGrp="1"/>
          </p:cNvSpPr>
          <p:nvPr>
            <p:ph type="sldNum" sz="quarter" idx="10"/>
          </p:nvPr>
        </p:nvSpPr>
        <p:spPr>
          <a:xfrm>
            <a:off x="7239000" y="6519863"/>
            <a:ext cx="1905000" cy="338137"/>
          </a:xfrm>
          <a:noFill/>
        </p:spPr>
        <p:txBody>
          <a:bodyPr/>
          <a:lstStyle/>
          <a:p>
            <a:fld id="{398991F9-77C8-45CA-AE63-A74C7FD45565}" type="slidenum">
              <a:rPr lang="en-US" smtClean="0"/>
              <a:pPr/>
              <a:t>34</a:t>
            </a:fld>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t>TCTO Policy and Procedures</a:t>
            </a:r>
          </a:p>
        </p:txBody>
      </p:sp>
      <p:sp>
        <p:nvSpPr>
          <p:cNvPr id="56323" name="Rectangle 3"/>
          <p:cNvSpPr>
            <a:spLocks noGrp="1" noChangeArrowheads="1"/>
          </p:cNvSpPr>
          <p:nvPr>
            <p:ph idx="1"/>
          </p:nvPr>
        </p:nvSpPr>
        <p:spPr/>
        <p:txBody>
          <a:bodyPr/>
          <a:lstStyle/>
          <a:p>
            <a:pPr eaLnBrk="1" hangingPunct="1"/>
            <a:r>
              <a:rPr lang="en-US" dirty="0"/>
              <a:t>Purpose of TCTOs </a:t>
            </a:r>
          </a:p>
          <a:p>
            <a:pPr eaLnBrk="1" hangingPunct="1"/>
            <a:r>
              <a:rPr lang="en-US" dirty="0"/>
              <a:t>Control</a:t>
            </a:r>
          </a:p>
          <a:p>
            <a:pPr marL="0" indent="0" eaLnBrk="1" hangingPunct="1">
              <a:buNone/>
            </a:pPr>
            <a:endParaRPr lang="en-US" dirty="0"/>
          </a:p>
          <a:p>
            <a:pPr lvl="1" eaLnBrk="1" hangingPunct="1"/>
            <a:r>
              <a:rPr lang="en-US" dirty="0"/>
              <a:t>Modification is implemented by TCTO</a:t>
            </a:r>
          </a:p>
          <a:p>
            <a:pPr lvl="1" eaLnBrk="1" hangingPunct="1"/>
            <a:r>
              <a:rPr lang="en-US" dirty="0"/>
              <a:t>CI Baseline + Changes to the baseline = the current configuration</a:t>
            </a:r>
          </a:p>
          <a:p>
            <a:pPr eaLnBrk="1" hangingPunct="1">
              <a:buFont typeface="Wingdings" pitchFamily="2" charset="2"/>
              <a:buNone/>
            </a:pPr>
            <a:r>
              <a:rPr lang="en-US" dirty="0"/>
              <a:t>					</a:t>
            </a:r>
          </a:p>
        </p:txBody>
      </p:sp>
      <p:sp>
        <p:nvSpPr>
          <p:cNvPr id="56324" name="Slide Number Placeholder 5"/>
          <p:cNvSpPr>
            <a:spLocks noGrp="1"/>
          </p:cNvSpPr>
          <p:nvPr>
            <p:ph type="sldNum" sz="quarter" idx="10"/>
          </p:nvPr>
        </p:nvSpPr>
        <p:spPr>
          <a:xfrm>
            <a:off x="7239000" y="6519863"/>
            <a:ext cx="1905000" cy="338137"/>
          </a:xfrm>
          <a:noFill/>
        </p:spPr>
        <p:txBody>
          <a:bodyPr/>
          <a:lstStyle/>
          <a:p>
            <a:fld id="{9223A676-BED7-4F7F-AA30-29D293BC6BCA}" type="slidenum">
              <a:rPr lang="en-US" smtClean="0"/>
              <a:pPr/>
              <a:t>35</a:t>
            </a:fld>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t>TCTO Policy and Procedures</a:t>
            </a:r>
          </a:p>
        </p:txBody>
      </p:sp>
      <p:sp>
        <p:nvSpPr>
          <p:cNvPr id="57347" name="Rectangle 3"/>
          <p:cNvSpPr>
            <a:spLocks noGrp="1" noChangeArrowheads="1"/>
          </p:cNvSpPr>
          <p:nvPr>
            <p:ph idx="1"/>
          </p:nvPr>
        </p:nvSpPr>
        <p:spPr/>
        <p:txBody>
          <a:bodyPr/>
          <a:lstStyle/>
          <a:p>
            <a:pPr eaLnBrk="1" hangingPunct="1"/>
            <a:r>
              <a:rPr lang="en-US" dirty="0"/>
              <a:t>Purpose of TCTOs </a:t>
            </a:r>
          </a:p>
          <a:p>
            <a:pPr eaLnBrk="1" hangingPunct="1"/>
            <a:r>
              <a:rPr lang="en-US" dirty="0"/>
              <a:t>Configuration Audits	</a:t>
            </a:r>
          </a:p>
          <a:p>
            <a:pPr marL="0" indent="0" eaLnBrk="1" hangingPunct="1">
              <a:buNone/>
            </a:pPr>
            <a:r>
              <a:rPr lang="en-US" dirty="0"/>
              <a:t>	</a:t>
            </a:r>
          </a:p>
          <a:p>
            <a:pPr lvl="1" eaLnBrk="1" hangingPunct="1"/>
            <a:r>
              <a:rPr lang="en-US" dirty="0"/>
              <a:t>Audits verify that the product (i.e., CI) conforms to the contract</a:t>
            </a:r>
          </a:p>
          <a:p>
            <a:pPr lvl="1" eaLnBrk="1" hangingPunct="1"/>
            <a:endParaRPr lang="en-US" dirty="0"/>
          </a:p>
          <a:p>
            <a:pPr lvl="2" eaLnBrk="1" hangingPunct="1"/>
            <a:r>
              <a:rPr lang="en-US" dirty="0"/>
              <a:t>  Functional Configuration Audit (FCA)</a:t>
            </a:r>
          </a:p>
          <a:p>
            <a:pPr lvl="2" eaLnBrk="1" hangingPunct="1"/>
            <a:endParaRPr lang="en-US" dirty="0"/>
          </a:p>
          <a:p>
            <a:pPr lvl="2" eaLnBrk="1" hangingPunct="1"/>
            <a:r>
              <a:rPr lang="en-US" dirty="0"/>
              <a:t>  Physical Configuration Audit (PCA)</a:t>
            </a:r>
          </a:p>
        </p:txBody>
      </p:sp>
      <p:sp>
        <p:nvSpPr>
          <p:cNvPr id="57348" name="Slide Number Placeholder 5"/>
          <p:cNvSpPr>
            <a:spLocks noGrp="1"/>
          </p:cNvSpPr>
          <p:nvPr>
            <p:ph type="sldNum" sz="quarter" idx="10"/>
          </p:nvPr>
        </p:nvSpPr>
        <p:spPr>
          <a:xfrm>
            <a:off x="7239000" y="6519863"/>
            <a:ext cx="1905000" cy="338137"/>
          </a:xfrm>
          <a:noFill/>
        </p:spPr>
        <p:txBody>
          <a:bodyPr/>
          <a:lstStyle/>
          <a:p>
            <a:fld id="{17F46DBE-8FC0-47BD-8E78-1EAA827E8D37}" type="slidenum">
              <a:rPr lang="en-US" smtClean="0"/>
              <a:pPr/>
              <a:t>36</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t>TCTO Policy and Procedures</a:t>
            </a:r>
          </a:p>
        </p:txBody>
      </p:sp>
      <p:sp>
        <p:nvSpPr>
          <p:cNvPr id="58371" name="Rectangle 3"/>
          <p:cNvSpPr>
            <a:spLocks noGrp="1" noChangeArrowheads="1"/>
          </p:cNvSpPr>
          <p:nvPr>
            <p:ph idx="1"/>
          </p:nvPr>
        </p:nvSpPr>
        <p:spPr/>
        <p:txBody>
          <a:bodyPr/>
          <a:lstStyle/>
          <a:p>
            <a:pPr eaLnBrk="1" hangingPunct="1"/>
            <a:r>
              <a:rPr lang="en-US" dirty="0"/>
              <a:t>Purpose of TCTOs </a:t>
            </a:r>
          </a:p>
          <a:p>
            <a:pPr eaLnBrk="1" hangingPunct="1"/>
            <a:r>
              <a:rPr lang="en-US" dirty="0"/>
              <a:t>Configuration Audits</a:t>
            </a:r>
          </a:p>
          <a:p>
            <a:pPr eaLnBrk="1" hangingPunct="1">
              <a:buFont typeface="Wingdings" pitchFamily="2" charset="2"/>
              <a:buNone/>
            </a:pPr>
            <a:r>
              <a:rPr lang="en-US" dirty="0"/>
              <a:t>			 </a:t>
            </a:r>
          </a:p>
          <a:p>
            <a:pPr lvl="1" eaLnBrk="1" hangingPunct="1"/>
            <a:r>
              <a:rPr lang="en-US" dirty="0"/>
              <a:t>FCA – Verifies the performance has met the requirements against an approved baseline</a:t>
            </a:r>
          </a:p>
          <a:p>
            <a:pPr eaLnBrk="1" hangingPunct="1"/>
            <a:endParaRPr lang="en-US" dirty="0"/>
          </a:p>
          <a:p>
            <a:pPr lvl="2" eaLnBrk="1" hangingPunct="1"/>
            <a:r>
              <a:rPr lang="en-US" dirty="0"/>
              <a:t>  System Performance Specification  (Functional Baseline)</a:t>
            </a:r>
          </a:p>
          <a:p>
            <a:pPr lvl="1" eaLnBrk="1" hangingPunct="1"/>
            <a:endParaRPr lang="en-US" dirty="0"/>
          </a:p>
          <a:p>
            <a:pPr lvl="2" eaLnBrk="1" hangingPunct="1"/>
            <a:r>
              <a:rPr lang="en-US" dirty="0"/>
              <a:t>  Item Performance Specification         (Allocated Baseline)</a:t>
            </a:r>
          </a:p>
          <a:p>
            <a:pPr eaLnBrk="1" hangingPunct="1"/>
            <a:endParaRPr lang="en-US" dirty="0"/>
          </a:p>
          <a:p>
            <a:pPr eaLnBrk="1" hangingPunct="1">
              <a:buFont typeface="Wingdings" pitchFamily="2" charset="2"/>
              <a:buNone/>
            </a:pPr>
            <a:r>
              <a:rPr lang="en-US" dirty="0"/>
              <a:t>   </a:t>
            </a:r>
          </a:p>
        </p:txBody>
      </p:sp>
      <p:sp>
        <p:nvSpPr>
          <p:cNvPr id="58372" name="Slide Number Placeholder 5"/>
          <p:cNvSpPr>
            <a:spLocks noGrp="1"/>
          </p:cNvSpPr>
          <p:nvPr>
            <p:ph type="sldNum" sz="quarter" idx="10"/>
          </p:nvPr>
        </p:nvSpPr>
        <p:spPr>
          <a:xfrm>
            <a:off x="7239000" y="6519863"/>
            <a:ext cx="1905000" cy="338137"/>
          </a:xfrm>
          <a:noFill/>
        </p:spPr>
        <p:txBody>
          <a:bodyPr/>
          <a:lstStyle/>
          <a:p>
            <a:fld id="{80733728-1AF8-4BFC-9641-04C77171DB16}" type="slidenum">
              <a:rPr lang="en-US" smtClean="0"/>
              <a:pPr/>
              <a:t>37</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t>TCTO Policy and Procedures</a:t>
            </a:r>
          </a:p>
        </p:txBody>
      </p:sp>
      <p:sp>
        <p:nvSpPr>
          <p:cNvPr id="59395" name="Rectangle 3"/>
          <p:cNvSpPr>
            <a:spLocks noGrp="1" noChangeArrowheads="1"/>
          </p:cNvSpPr>
          <p:nvPr>
            <p:ph idx="1"/>
          </p:nvPr>
        </p:nvSpPr>
        <p:spPr/>
        <p:txBody>
          <a:bodyPr/>
          <a:lstStyle/>
          <a:p>
            <a:pPr eaLnBrk="1" hangingPunct="1"/>
            <a:r>
              <a:rPr lang="en-US" dirty="0"/>
              <a:t>Purpose of TCTOs </a:t>
            </a:r>
          </a:p>
          <a:p>
            <a:pPr eaLnBrk="1" hangingPunct="1"/>
            <a:r>
              <a:rPr lang="en-US" dirty="0"/>
              <a:t>Configuration Audits</a:t>
            </a:r>
          </a:p>
          <a:p>
            <a:pPr eaLnBrk="1" hangingPunct="1"/>
            <a:endParaRPr lang="en-US" dirty="0"/>
          </a:p>
          <a:p>
            <a:pPr lvl="1" eaLnBrk="1" hangingPunct="1"/>
            <a:r>
              <a:rPr lang="en-US" dirty="0"/>
              <a:t>PCA - Formal physical examination in detail of each CI as-built by the contractor to ensure it conforms to the Product Baseline</a:t>
            </a:r>
          </a:p>
          <a:p>
            <a:pPr lvl="1" eaLnBrk="1" hangingPunct="1"/>
            <a:endParaRPr lang="en-US" dirty="0"/>
          </a:p>
          <a:p>
            <a:pPr lvl="2" eaLnBrk="1" hangingPunct="1"/>
            <a:r>
              <a:rPr lang="en-US" dirty="0"/>
              <a:t>  Item Detailed Specification  (Product Baseline)</a:t>
            </a:r>
          </a:p>
          <a:p>
            <a:pPr eaLnBrk="1" hangingPunct="1"/>
            <a:endParaRPr lang="en-US" dirty="0"/>
          </a:p>
          <a:p>
            <a:pPr eaLnBrk="1" hangingPunct="1">
              <a:buFont typeface="Wingdings" pitchFamily="2" charset="2"/>
              <a:buNone/>
            </a:pPr>
            <a:r>
              <a:rPr lang="en-US" dirty="0"/>
              <a:t>  </a:t>
            </a:r>
          </a:p>
        </p:txBody>
      </p:sp>
      <p:sp>
        <p:nvSpPr>
          <p:cNvPr id="59396" name="Slide Number Placeholder 5"/>
          <p:cNvSpPr>
            <a:spLocks noGrp="1"/>
          </p:cNvSpPr>
          <p:nvPr>
            <p:ph type="sldNum" sz="quarter" idx="10"/>
          </p:nvPr>
        </p:nvSpPr>
        <p:spPr>
          <a:xfrm>
            <a:off x="7239000" y="6519863"/>
            <a:ext cx="1905000" cy="338137"/>
          </a:xfrm>
          <a:noFill/>
        </p:spPr>
        <p:txBody>
          <a:bodyPr/>
          <a:lstStyle/>
          <a:p>
            <a:fld id="{951A5ADA-7D24-46E8-ADB6-2B667A683AEF}" type="slidenum">
              <a:rPr lang="en-US" smtClean="0"/>
              <a:pPr/>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t>TCTO Policy and Procedures</a:t>
            </a:r>
          </a:p>
        </p:txBody>
      </p:sp>
      <p:sp>
        <p:nvSpPr>
          <p:cNvPr id="60419" name="Rectangle 3"/>
          <p:cNvSpPr>
            <a:spLocks noGrp="1" noChangeArrowheads="1"/>
          </p:cNvSpPr>
          <p:nvPr>
            <p:ph idx="1"/>
          </p:nvPr>
        </p:nvSpPr>
        <p:spPr/>
        <p:txBody>
          <a:bodyPr/>
          <a:lstStyle/>
          <a:p>
            <a:pPr eaLnBrk="1" hangingPunct="1"/>
            <a:r>
              <a:rPr lang="en-US" dirty="0"/>
              <a:t>Purpose of TCTOs </a:t>
            </a:r>
          </a:p>
          <a:p>
            <a:pPr eaLnBrk="1" hangingPunct="1"/>
            <a:r>
              <a:rPr lang="en-US" dirty="0"/>
              <a:t>Configuration Audits</a:t>
            </a:r>
          </a:p>
          <a:p>
            <a:pPr eaLnBrk="1" hangingPunct="1">
              <a:buFont typeface="Wingdings" pitchFamily="2" charset="2"/>
              <a:buNone/>
            </a:pPr>
            <a:r>
              <a:rPr lang="en-US" dirty="0"/>
              <a:t>			 </a:t>
            </a:r>
          </a:p>
          <a:p>
            <a:pPr lvl="1" eaLnBrk="1" hangingPunct="1"/>
            <a:r>
              <a:rPr lang="en-US" dirty="0"/>
              <a:t>Emphasis placed on</a:t>
            </a:r>
          </a:p>
          <a:p>
            <a:pPr lvl="2" eaLnBrk="1" hangingPunct="1"/>
            <a:r>
              <a:rPr lang="en-US" dirty="0"/>
              <a:t>  Industry standards and specifications</a:t>
            </a:r>
          </a:p>
          <a:p>
            <a:pPr lvl="2" eaLnBrk="1" hangingPunct="1"/>
            <a:endParaRPr lang="en-US" dirty="0"/>
          </a:p>
          <a:p>
            <a:pPr lvl="1" eaLnBrk="1" hangingPunct="1"/>
            <a:r>
              <a:rPr lang="en-US" dirty="0"/>
              <a:t>Government Audits primarily focus on:</a:t>
            </a:r>
          </a:p>
          <a:p>
            <a:pPr lvl="2" eaLnBrk="1" hangingPunct="1"/>
            <a:r>
              <a:rPr lang="en-US" dirty="0"/>
              <a:t>  Functional Specifications</a:t>
            </a:r>
          </a:p>
          <a:p>
            <a:pPr lvl="2" eaLnBrk="1" hangingPunct="1"/>
            <a:r>
              <a:rPr lang="en-US" dirty="0"/>
              <a:t>  Performance Requirements</a:t>
            </a:r>
          </a:p>
          <a:p>
            <a:pPr lvl="2" eaLnBrk="1" hangingPunct="1"/>
            <a:r>
              <a:rPr lang="en-US" dirty="0"/>
              <a:t>  Interface Requirements</a:t>
            </a:r>
          </a:p>
          <a:p>
            <a:pPr lvl="1" eaLnBrk="1" hangingPunct="1"/>
            <a:endParaRPr lang="en-US" dirty="0"/>
          </a:p>
          <a:p>
            <a:pPr eaLnBrk="1" hangingPunct="1">
              <a:buFont typeface="Wingdings" pitchFamily="2" charset="2"/>
              <a:buNone/>
            </a:pPr>
            <a:r>
              <a:rPr lang="en-US" dirty="0"/>
              <a:t>   </a:t>
            </a:r>
          </a:p>
        </p:txBody>
      </p:sp>
      <p:sp>
        <p:nvSpPr>
          <p:cNvPr id="60420" name="Slide Number Placeholder 5"/>
          <p:cNvSpPr>
            <a:spLocks noGrp="1"/>
          </p:cNvSpPr>
          <p:nvPr>
            <p:ph type="sldNum" sz="quarter" idx="10"/>
          </p:nvPr>
        </p:nvSpPr>
        <p:spPr>
          <a:xfrm>
            <a:off x="7239000" y="6519863"/>
            <a:ext cx="1905000" cy="338137"/>
          </a:xfrm>
          <a:noFill/>
        </p:spPr>
        <p:txBody>
          <a:bodyPr/>
          <a:lstStyle/>
          <a:p>
            <a:fld id="{2E8C7C1A-3D64-4D90-8BE9-7E9B0E195475}" type="slidenum">
              <a:rPr lang="en-US" smtClean="0"/>
              <a:pPr/>
              <a:t>39</a:t>
            </a:fld>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t>TCTO Policy and Procedures</a:t>
            </a:r>
          </a:p>
        </p:txBody>
      </p:sp>
      <p:sp>
        <p:nvSpPr>
          <p:cNvPr id="61443" name="Rectangle 3"/>
          <p:cNvSpPr>
            <a:spLocks noGrp="1" noChangeArrowheads="1"/>
          </p:cNvSpPr>
          <p:nvPr>
            <p:ph idx="1"/>
          </p:nvPr>
        </p:nvSpPr>
        <p:spPr/>
        <p:txBody>
          <a:bodyPr/>
          <a:lstStyle/>
          <a:p>
            <a:pPr eaLnBrk="1" hangingPunct="1"/>
            <a:r>
              <a:rPr lang="en-US" dirty="0"/>
              <a:t>Purpose of TCTOs </a:t>
            </a:r>
          </a:p>
          <a:p>
            <a:pPr eaLnBrk="1" hangingPunct="1"/>
            <a:r>
              <a:rPr lang="en-US" dirty="0"/>
              <a:t> Status Accounting</a:t>
            </a:r>
          </a:p>
          <a:p>
            <a:pPr eaLnBrk="1" hangingPunct="1"/>
            <a:endParaRPr lang="en-US" dirty="0"/>
          </a:p>
          <a:p>
            <a:pPr lvl="1" eaLnBrk="1" hangingPunct="1"/>
            <a:r>
              <a:rPr lang="en-US" dirty="0"/>
              <a:t>Knowing the configuration of an item</a:t>
            </a:r>
          </a:p>
          <a:p>
            <a:pPr lvl="1" eaLnBrk="1" hangingPunct="1"/>
            <a:endParaRPr lang="en-US" dirty="0"/>
          </a:p>
          <a:p>
            <a:pPr lvl="2" eaLnBrk="1" hangingPunct="1"/>
            <a:r>
              <a:rPr lang="en-US" dirty="0"/>
              <a:t>  Beginning from the time it enters the AF inventory until it is removed from the AF inventory</a:t>
            </a:r>
          </a:p>
          <a:p>
            <a:pPr lvl="2" eaLnBrk="1" hangingPunct="1"/>
            <a:endParaRPr lang="en-US" dirty="0"/>
          </a:p>
          <a:p>
            <a:pPr lvl="2" eaLnBrk="1" hangingPunct="1"/>
            <a:r>
              <a:rPr lang="en-US" dirty="0"/>
              <a:t>  CIs enter the AF inventory with documentation identifying them</a:t>
            </a:r>
          </a:p>
          <a:p>
            <a:pPr marL="852488" lvl="2" indent="0" eaLnBrk="1" hangingPunct="1">
              <a:buNone/>
            </a:pPr>
            <a:r>
              <a:rPr lang="en-US" dirty="0"/>
              <a:t>    as the baseline configuration</a:t>
            </a:r>
          </a:p>
          <a:p>
            <a:pPr lvl="3" eaLnBrk="1" hangingPunct="1"/>
            <a:endParaRPr lang="en-US" dirty="0"/>
          </a:p>
        </p:txBody>
      </p:sp>
      <p:sp>
        <p:nvSpPr>
          <p:cNvPr id="61444" name="Slide Number Placeholder 5"/>
          <p:cNvSpPr>
            <a:spLocks noGrp="1"/>
          </p:cNvSpPr>
          <p:nvPr>
            <p:ph type="sldNum" sz="quarter" idx="10"/>
          </p:nvPr>
        </p:nvSpPr>
        <p:spPr>
          <a:xfrm>
            <a:off x="7239000" y="6519863"/>
            <a:ext cx="1905000" cy="338137"/>
          </a:xfrm>
          <a:noFill/>
        </p:spPr>
        <p:txBody>
          <a:bodyPr/>
          <a:lstStyle/>
          <a:p>
            <a:fld id="{6BB47FD8-7F31-4562-ADBD-F4636E2D5682}" type="slidenum">
              <a:rPr lang="en-US" smtClean="0"/>
              <a:pPr/>
              <a:t>40</a:t>
            </a:fld>
            <a:endParaRPr 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t>TCTO Policy and Procedures</a:t>
            </a:r>
          </a:p>
        </p:txBody>
      </p:sp>
      <p:sp>
        <p:nvSpPr>
          <p:cNvPr id="62467" name="Rectangle 3"/>
          <p:cNvSpPr>
            <a:spLocks noGrp="1" noChangeArrowheads="1"/>
          </p:cNvSpPr>
          <p:nvPr>
            <p:ph idx="1"/>
          </p:nvPr>
        </p:nvSpPr>
        <p:spPr/>
        <p:txBody>
          <a:bodyPr/>
          <a:lstStyle/>
          <a:p>
            <a:pPr eaLnBrk="1" hangingPunct="1"/>
            <a:r>
              <a:rPr lang="en-US" dirty="0"/>
              <a:t>Purpose of TCTOs </a:t>
            </a:r>
          </a:p>
          <a:p>
            <a:pPr eaLnBrk="1" hangingPunct="1"/>
            <a:r>
              <a:rPr lang="en-US" dirty="0"/>
              <a:t>Status Accounting</a:t>
            </a:r>
          </a:p>
          <a:p>
            <a:pPr marL="0" indent="0" eaLnBrk="1" hangingPunct="1">
              <a:buNone/>
            </a:pPr>
            <a:endParaRPr lang="en-US" dirty="0"/>
          </a:p>
          <a:p>
            <a:pPr lvl="1" eaLnBrk="1" hangingPunct="1"/>
            <a:r>
              <a:rPr lang="en-US" dirty="0"/>
              <a:t>Any changes to the item are accomplished according to the Control process (TCTO)</a:t>
            </a:r>
          </a:p>
          <a:p>
            <a:pPr lvl="1" eaLnBrk="1" hangingPunct="1"/>
            <a:r>
              <a:rPr lang="en-US" dirty="0"/>
              <a:t>TCTOs are loaded in REMIS by the Modification Manager or Production Management Specialist and pushed to IMDS</a:t>
            </a:r>
          </a:p>
          <a:p>
            <a:pPr lvl="2" eaLnBrk="1" hangingPunct="1"/>
            <a:r>
              <a:rPr lang="en-US" dirty="0"/>
              <a:t>  TCTO compliance is reported in IMDS</a:t>
            </a:r>
          </a:p>
          <a:p>
            <a:pPr lvl="3" eaLnBrk="1" hangingPunct="1"/>
            <a:r>
              <a:rPr lang="en-US" dirty="0"/>
              <a:t>Integrated Maintenance  Data System (GO54)</a:t>
            </a:r>
          </a:p>
          <a:p>
            <a:pPr lvl="2" eaLnBrk="1" hangingPunct="1"/>
            <a:r>
              <a:rPr lang="en-US" dirty="0"/>
              <a:t>  IMDS over lays the data to REMIS</a:t>
            </a:r>
          </a:p>
          <a:p>
            <a:pPr lvl="3" eaLnBrk="1" hangingPunct="1"/>
            <a:r>
              <a:rPr lang="en-US" dirty="0"/>
              <a:t>Reliability &amp; Maintainability </a:t>
            </a:r>
            <a:r>
              <a:rPr lang="en-US"/>
              <a:t>Information System </a:t>
            </a:r>
            <a:r>
              <a:rPr lang="en-US" dirty="0"/>
              <a:t>(G099)</a:t>
            </a:r>
          </a:p>
        </p:txBody>
      </p:sp>
      <p:sp>
        <p:nvSpPr>
          <p:cNvPr id="62468" name="Slide Number Placeholder 5"/>
          <p:cNvSpPr>
            <a:spLocks noGrp="1"/>
          </p:cNvSpPr>
          <p:nvPr>
            <p:ph type="sldNum" sz="quarter" idx="10"/>
          </p:nvPr>
        </p:nvSpPr>
        <p:spPr>
          <a:xfrm>
            <a:off x="7239000" y="6519863"/>
            <a:ext cx="1905000" cy="338137"/>
          </a:xfrm>
          <a:noFill/>
        </p:spPr>
        <p:txBody>
          <a:bodyPr/>
          <a:lstStyle/>
          <a:p>
            <a:fld id="{F1DBD0F2-4F5F-4F19-AEC2-8DB99273D47C}" type="slidenum">
              <a:rPr lang="en-US" smtClean="0"/>
              <a:pPr/>
              <a:t>41</a:t>
            </a:fld>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t>TCTO Policy and Procedures</a:t>
            </a:r>
          </a:p>
        </p:txBody>
      </p:sp>
      <p:sp>
        <p:nvSpPr>
          <p:cNvPr id="63491" name="Rectangle 3"/>
          <p:cNvSpPr>
            <a:spLocks noGrp="1" noChangeArrowheads="1"/>
          </p:cNvSpPr>
          <p:nvPr>
            <p:ph idx="1"/>
          </p:nvPr>
        </p:nvSpPr>
        <p:spPr/>
        <p:txBody>
          <a:bodyPr/>
          <a:lstStyle/>
          <a:p>
            <a:pPr eaLnBrk="1" hangingPunct="1"/>
            <a:r>
              <a:rPr lang="en-US" dirty="0"/>
              <a:t>Purpose of TCTOs </a:t>
            </a:r>
          </a:p>
          <a:p>
            <a:pPr eaLnBrk="1" hangingPunct="1"/>
            <a:r>
              <a:rPr lang="en-US" dirty="0"/>
              <a:t>Status Accounting</a:t>
            </a:r>
          </a:p>
          <a:p>
            <a:pPr lvl="1" eaLnBrk="1" hangingPunct="1"/>
            <a:endParaRPr lang="en-US" dirty="0"/>
          </a:p>
          <a:p>
            <a:pPr lvl="1" eaLnBrk="1" hangingPunct="1"/>
            <a:r>
              <a:rPr lang="en-US" dirty="0"/>
              <a:t>REMIS </a:t>
            </a:r>
          </a:p>
          <a:p>
            <a:pPr lvl="2" eaLnBrk="1" hangingPunct="1"/>
            <a:r>
              <a:rPr lang="en-US" dirty="0"/>
              <a:t>  A Subsystem of REMIS is Generic Configuration Status</a:t>
            </a:r>
          </a:p>
          <a:p>
            <a:pPr marL="852488" lvl="2" indent="0" eaLnBrk="1" hangingPunct="1">
              <a:buNone/>
            </a:pPr>
            <a:r>
              <a:rPr lang="en-US" dirty="0"/>
              <a:t>    Accounting System (GCSAS)</a:t>
            </a:r>
          </a:p>
          <a:p>
            <a:pPr lvl="2" eaLnBrk="1" hangingPunct="1"/>
            <a:endParaRPr lang="en-US" dirty="0"/>
          </a:p>
          <a:p>
            <a:pPr lvl="2" eaLnBrk="1" hangingPunct="1"/>
            <a:r>
              <a:rPr lang="en-US" dirty="0"/>
              <a:t>  GCSAS is the single source for all AF weapon system </a:t>
            </a:r>
          </a:p>
          <a:p>
            <a:pPr marL="852488" lvl="2" indent="0" eaLnBrk="1" hangingPunct="1">
              <a:buNone/>
            </a:pPr>
            <a:r>
              <a:rPr lang="en-US" dirty="0"/>
              <a:t>    configuration data</a:t>
            </a:r>
          </a:p>
          <a:p>
            <a:pPr lvl="2" eaLnBrk="1" hangingPunct="1"/>
            <a:endParaRPr lang="en-US" dirty="0"/>
          </a:p>
          <a:p>
            <a:pPr lvl="2" eaLnBrk="1" hangingPunct="1"/>
            <a:r>
              <a:rPr lang="en-US" dirty="0"/>
              <a:t>  Provides cradle-to-grave tracking of serially controlled   </a:t>
            </a:r>
          </a:p>
          <a:p>
            <a:pPr marL="852488" lvl="2" indent="0" eaLnBrk="1" hangingPunct="1">
              <a:buNone/>
            </a:pPr>
            <a:r>
              <a:rPr lang="en-US" dirty="0"/>
              <a:t>    Configuration Items</a:t>
            </a:r>
          </a:p>
        </p:txBody>
      </p:sp>
      <p:sp>
        <p:nvSpPr>
          <p:cNvPr id="63492" name="Slide Number Placeholder 5"/>
          <p:cNvSpPr>
            <a:spLocks noGrp="1"/>
          </p:cNvSpPr>
          <p:nvPr>
            <p:ph type="sldNum" sz="quarter" idx="10"/>
          </p:nvPr>
        </p:nvSpPr>
        <p:spPr>
          <a:xfrm>
            <a:off x="7239000" y="6519863"/>
            <a:ext cx="1905000" cy="338137"/>
          </a:xfrm>
          <a:noFill/>
        </p:spPr>
        <p:txBody>
          <a:bodyPr/>
          <a:lstStyle/>
          <a:p>
            <a:fld id="{52B3FCD5-D64D-4D61-878C-496A5D9A75AA}" type="slidenum">
              <a:rPr lang="en-US" smtClean="0"/>
              <a:pPr/>
              <a:t>42</a:t>
            </a:fld>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t>TCTO Policy and Procedures</a:t>
            </a:r>
          </a:p>
        </p:txBody>
      </p:sp>
      <p:sp>
        <p:nvSpPr>
          <p:cNvPr id="64515" name="Rectangle 3"/>
          <p:cNvSpPr>
            <a:spLocks noGrp="1" noChangeArrowheads="1"/>
          </p:cNvSpPr>
          <p:nvPr>
            <p:ph idx="1"/>
          </p:nvPr>
        </p:nvSpPr>
        <p:spPr/>
        <p:txBody>
          <a:bodyPr/>
          <a:lstStyle/>
          <a:p>
            <a:pPr eaLnBrk="1" hangingPunct="1"/>
            <a:r>
              <a:rPr lang="en-US" dirty="0"/>
              <a:t>Purpose of TCTOs </a:t>
            </a:r>
          </a:p>
          <a:p>
            <a:pPr eaLnBrk="1" hangingPunct="1"/>
            <a:r>
              <a:rPr lang="en-US" dirty="0"/>
              <a:t>Status Accounting</a:t>
            </a:r>
          </a:p>
          <a:p>
            <a:pPr marL="0" indent="0" eaLnBrk="1" hangingPunct="1">
              <a:buNone/>
            </a:pPr>
            <a:endParaRPr lang="en-US" dirty="0"/>
          </a:p>
          <a:p>
            <a:pPr lvl="1" eaLnBrk="1" hangingPunct="1"/>
            <a:r>
              <a:rPr lang="en-US" dirty="0"/>
              <a:t>REMIS Subsystem GCSAS also provides:</a:t>
            </a:r>
          </a:p>
          <a:p>
            <a:pPr lvl="2" eaLnBrk="1" hangingPunct="1"/>
            <a:endParaRPr lang="en-US" dirty="0"/>
          </a:p>
          <a:p>
            <a:pPr lvl="2" eaLnBrk="1" hangingPunct="1"/>
            <a:r>
              <a:rPr lang="en-US" dirty="0"/>
              <a:t>  Administration and Management of TCTO data</a:t>
            </a:r>
          </a:p>
          <a:p>
            <a:pPr lvl="2" eaLnBrk="1" hangingPunct="1"/>
            <a:endParaRPr lang="en-US" dirty="0"/>
          </a:p>
          <a:p>
            <a:pPr lvl="2" eaLnBrk="1" hangingPunct="1"/>
            <a:r>
              <a:rPr lang="en-US" dirty="0"/>
              <a:t>  Administration and Management of approved configuration data             </a:t>
            </a:r>
          </a:p>
          <a:p>
            <a:pPr lvl="2" eaLnBrk="1" hangingPunct="1"/>
            <a:endParaRPr lang="en-US" dirty="0"/>
          </a:p>
          <a:p>
            <a:pPr lvl="2" eaLnBrk="1" hangingPunct="1"/>
            <a:endParaRPr lang="en-US" dirty="0"/>
          </a:p>
        </p:txBody>
      </p:sp>
      <p:sp>
        <p:nvSpPr>
          <p:cNvPr id="64516" name="Slide Number Placeholder 5"/>
          <p:cNvSpPr>
            <a:spLocks noGrp="1"/>
          </p:cNvSpPr>
          <p:nvPr>
            <p:ph type="sldNum" sz="quarter" idx="10"/>
          </p:nvPr>
        </p:nvSpPr>
        <p:spPr>
          <a:xfrm>
            <a:off x="7239000" y="6519863"/>
            <a:ext cx="1905000" cy="338137"/>
          </a:xfrm>
          <a:noFill/>
        </p:spPr>
        <p:txBody>
          <a:bodyPr/>
          <a:lstStyle/>
          <a:p>
            <a:fld id="{9579178F-062D-4438-A6DB-7367B4F7E139}" type="slidenum">
              <a:rPr lang="en-US" smtClean="0"/>
              <a:pPr/>
              <a:t>43</a:t>
            </a:fld>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t>TCTO Policy and Procedures</a:t>
            </a:r>
          </a:p>
        </p:txBody>
      </p:sp>
      <p:sp>
        <p:nvSpPr>
          <p:cNvPr id="65539" name="Rectangle 3"/>
          <p:cNvSpPr>
            <a:spLocks noGrp="1" noChangeArrowheads="1"/>
          </p:cNvSpPr>
          <p:nvPr>
            <p:ph idx="1"/>
          </p:nvPr>
        </p:nvSpPr>
        <p:spPr/>
        <p:txBody>
          <a:bodyPr/>
          <a:lstStyle/>
          <a:p>
            <a:pPr eaLnBrk="1" hangingPunct="1"/>
            <a:r>
              <a:rPr lang="en-US" dirty="0"/>
              <a:t>Purpose of TCTOs </a:t>
            </a:r>
          </a:p>
          <a:p>
            <a:pPr eaLnBrk="1" hangingPunct="1"/>
            <a:r>
              <a:rPr lang="en-US" dirty="0"/>
              <a:t>Engineering Change Proposals (ECPs)</a:t>
            </a:r>
          </a:p>
          <a:p>
            <a:pPr marL="0" indent="0" eaLnBrk="1" hangingPunct="1">
              <a:buNone/>
            </a:pPr>
            <a:endParaRPr lang="en-US" dirty="0"/>
          </a:p>
          <a:p>
            <a:pPr lvl="1" eaLnBrk="1" hangingPunct="1"/>
            <a:r>
              <a:rPr lang="en-US" dirty="0"/>
              <a:t>ECP is a proposed change to a configuration item after establishing the baseline</a:t>
            </a:r>
          </a:p>
          <a:p>
            <a:pPr eaLnBrk="1" hangingPunct="1"/>
            <a:endParaRPr lang="en-US" dirty="0"/>
          </a:p>
          <a:p>
            <a:pPr lvl="1" eaLnBrk="1" hangingPunct="1"/>
            <a:r>
              <a:rPr lang="en-US" dirty="0"/>
              <a:t>ECP is the documentation that describes and suggests corrective action</a:t>
            </a:r>
          </a:p>
          <a:p>
            <a:pPr eaLnBrk="1" hangingPunct="1"/>
            <a:endParaRPr lang="en-US" dirty="0"/>
          </a:p>
          <a:p>
            <a:pPr eaLnBrk="1" hangingPunct="1"/>
            <a:endParaRPr lang="en-US" dirty="0"/>
          </a:p>
          <a:p>
            <a:pPr lvl="3" eaLnBrk="1" hangingPunct="1"/>
            <a:endParaRPr lang="en-US" dirty="0"/>
          </a:p>
        </p:txBody>
      </p:sp>
      <p:sp>
        <p:nvSpPr>
          <p:cNvPr id="65540" name="Slide Number Placeholder 5"/>
          <p:cNvSpPr>
            <a:spLocks noGrp="1"/>
          </p:cNvSpPr>
          <p:nvPr>
            <p:ph type="sldNum" sz="quarter" idx="10"/>
          </p:nvPr>
        </p:nvSpPr>
        <p:spPr>
          <a:xfrm>
            <a:off x="7239000" y="6519863"/>
            <a:ext cx="1905000" cy="338137"/>
          </a:xfrm>
          <a:noFill/>
        </p:spPr>
        <p:txBody>
          <a:bodyPr/>
          <a:lstStyle/>
          <a:p>
            <a:fld id="{9365A918-E28E-4CF3-BE90-B71A690EF239}" type="slidenum">
              <a:rPr lang="en-US" smtClean="0"/>
              <a:pPr/>
              <a:t>44</a:t>
            </a:fld>
            <a:endParaRPr 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t>TCTO Policy and Procedures</a:t>
            </a:r>
          </a:p>
        </p:txBody>
      </p:sp>
      <p:sp>
        <p:nvSpPr>
          <p:cNvPr id="66563" name="Rectangle 3"/>
          <p:cNvSpPr>
            <a:spLocks noGrp="1" noChangeArrowheads="1"/>
          </p:cNvSpPr>
          <p:nvPr>
            <p:ph idx="1"/>
          </p:nvPr>
        </p:nvSpPr>
        <p:spPr/>
        <p:txBody>
          <a:bodyPr/>
          <a:lstStyle/>
          <a:p>
            <a:pPr eaLnBrk="1" hangingPunct="1"/>
            <a:r>
              <a:rPr lang="en-US" dirty="0"/>
              <a:t>Purpose of TCTOs </a:t>
            </a:r>
          </a:p>
          <a:p>
            <a:pPr eaLnBrk="1" hangingPunct="1"/>
            <a:r>
              <a:rPr lang="en-US" dirty="0"/>
              <a:t>Engineering Change Proposal (ECP)</a:t>
            </a:r>
          </a:p>
          <a:p>
            <a:pPr marL="0" indent="0" eaLnBrk="1" hangingPunct="1">
              <a:buNone/>
            </a:pPr>
            <a:endParaRPr lang="en-US" dirty="0"/>
          </a:p>
          <a:p>
            <a:pPr lvl="1" eaLnBrk="1" hangingPunct="1"/>
            <a:r>
              <a:rPr lang="en-US" dirty="0"/>
              <a:t>ECP identifies and controls the modification </a:t>
            </a:r>
          </a:p>
          <a:p>
            <a:pPr lvl="1" eaLnBrk="1" hangingPunct="1"/>
            <a:r>
              <a:rPr lang="en-US" dirty="0"/>
              <a:t>Requires CCB approval</a:t>
            </a:r>
          </a:p>
          <a:p>
            <a:pPr lvl="1" eaLnBrk="1" hangingPunct="1"/>
            <a:r>
              <a:rPr lang="en-US" dirty="0"/>
              <a:t>The modification is implemented issuing a TCTO </a:t>
            </a:r>
          </a:p>
          <a:p>
            <a:pPr eaLnBrk="1" hangingPunct="1"/>
            <a:endParaRPr lang="en-US" dirty="0"/>
          </a:p>
          <a:p>
            <a:pPr eaLnBrk="1" hangingPunct="1"/>
            <a:endParaRPr lang="en-US" dirty="0"/>
          </a:p>
          <a:p>
            <a:pPr lvl="3" eaLnBrk="1" hangingPunct="1"/>
            <a:endParaRPr lang="en-US" dirty="0"/>
          </a:p>
        </p:txBody>
      </p:sp>
      <p:sp>
        <p:nvSpPr>
          <p:cNvPr id="66564" name="Slide Number Placeholder 5"/>
          <p:cNvSpPr>
            <a:spLocks noGrp="1"/>
          </p:cNvSpPr>
          <p:nvPr>
            <p:ph type="sldNum" sz="quarter" idx="10"/>
          </p:nvPr>
        </p:nvSpPr>
        <p:spPr>
          <a:xfrm>
            <a:off x="7239000" y="6519863"/>
            <a:ext cx="1905000" cy="338137"/>
          </a:xfrm>
          <a:noFill/>
        </p:spPr>
        <p:txBody>
          <a:bodyPr/>
          <a:lstStyle/>
          <a:p>
            <a:fld id="{8D0444CB-9232-4711-9C13-857321F9440D}" type="slidenum">
              <a:rPr lang="en-US" smtClean="0"/>
              <a:pPr/>
              <a:t>45</a:t>
            </a:fld>
            <a:endParaRPr 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t>TCTO Policy and Procedures</a:t>
            </a:r>
          </a:p>
        </p:txBody>
      </p:sp>
      <p:sp>
        <p:nvSpPr>
          <p:cNvPr id="67587" name="Rectangle 3"/>
          <p:cNvSpPr>
            <a:spLocks noGrp="1" noChangeArrowheads="1"/>
          </p:cNvSpPr>
          <p:nvPr>
            <p:ph idx="1"/>
          </p:nvPr>
        </p:nvSpPr>
        <p:spPr/>
        <p:txBody>
          <a:bodyPr/>
          <a:lstStyle/>
          <a:p>
            <a:pPr eaLnBrk="1" hangingPunct="1"/>
            <a:r>
              <a:rPr lang="en-US" dirty="0"/>
              <a:t>Purpose of TCTOs </a:t>
            </a:r>
          </a:p>
          <a:p>
            <a:pPr eaLnBrk="1" hangingPunct="1"/>
            <a:r>
              <a:rPr lang="en-US" dirty="0"/>
              <a:t>Engineering Change Proposal (ECP)</a:t>
            </a:r>
          </a:p>
          <a:p>
            <a:pPr marL="0" indent="0" eaLnBrk="1" hangingPunct="1">
              <a:buNone/>
            </a:pPr>
            <a:endParaRPr lang="en-US" dirty="0"/>
          </a:p>
          <a:p>
            <a:pPr lvl="1" eaLnBrk="1" hangingPunct="1"/>
            <a:r>
              <a:rPr lang="en-US" dirty="0"/>
              <a:t>ECPs are classified as Class I or II Depending on:</a:t>
            </a:r>
          </a:p>
          <a:p>
            <a:pPr lvl="2" eaLnBrk="1" hangingPunct="1"/>
            <a:r>
              <a:rPr lang="en-US" dirty="0"/>
              <a:t>  The degree of analysis  </a:t>
            </a:r>
          </a:p>
          <a:p>
            <a:pPr lvl="2" eaLnBrk="1" hangingPunct="1"/>
            <a:r>
              <a:rPr lang="en-US" dirty="0"/>
              <a:t>  The need for government approval</a:t>
            </a:r>
          </a:p>
          <a:p>
            <a:pPr eaLnBrk="1" hangingPunct="1"/>
            <a:endParaRPr lang="en-US" dirty="0"/>
          </a:p>
          <a:p>
            <a:pPr eaLnBrk="1" hangingPunct="1"/>
            <a:endParaRPr lang="en-US" dirty="0"/>
          </a:p>
          <a:p>
            <a:pPr lvl="3" eaLnBrk="1" hangingPunct="1"/>
            <a:endParaRPr lang="en-US" dirty="0"/>
          </a:p>
        </p:txBody>
      </p:sp>
      <p:sp>
        <p:nvSpPr>
          <p:cNvPr id="67588" name="Slide Number Placeholder 5"/>
          <p:cNvSpPr>
            <a:spLocks noGrp="1"/>
          </p:cNvSpPr>
          <p:nvPr>
            <p:ph type="sldNum" sz="quarter" idx="10"/>
          </p:nvPr>
        </p:nvSpPr>
        <p:spPr>
          <a:xfrm>
            <a:off x="7239000" y="6519863"/>
            <a:ext cx="1905000" cy="338137"/>
          </a:xfrm>
          <a:noFill/>
        </p:spPr>
        <p:txBody>
          <a:bodyPr/>
          <a:lstStyle/>
          <a:p>
            <a:fld id="{EAA74497-94EC-4494-831B-9C10BA2B7973}" type="slidenum">
              <a:rPr lang="en-US" smtClean="0"/>
              <a:pPr/>
              <a:t>46</a:t>
            </a:fld>
            <a:endParaRPr 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t>TCTO Policy and Procedures</a:t>
            </a:r>
          </a:p>
        </p:txBody>
      </p:sp>
      <p:sp>
        <p:nvSpPr>
          <p:cNvPr id="68611" name="Rectangle 3"/>
          <p:cNvSpPr>
            <a:spLocks noGrp="1" noChangeArrowheads="1"/>
          </p:cNvSpPr>
          <p:nvPr>
            <p:ph idx="1"/>
          </p:nvPr>
        </p:nvSpPr>
        <p:spPr/>
        <p:txBody>
          <a:bodyPr/>
          <a:lstStyle/>
          <a:p>
            <a:pPr eaLnBrk="1" hangingPunct="1"/>
            <a:r>
              <a:rPr lang="en-US"/>
              <a:t>Purpose of TCTOs </a:t>
            </a:r>
          </a:p>
          <a:p>
            <a:pPr eaLnBrk="1" hangingPunct="1"/>
            <a:r>
              <a:rPr lang="en-US"/>
              <a:t>Engineering Change Proposals 	</a:t>
            </a:r>
          </a:p>
          <a:p>
            <a:pPr eaLnBrk="1" hangingPunct="1"/>
            <a:endParaRPr lang="en-US"/>
          </a:p>
          <a:p>
            <a:pPr lvl="1" eaLnBrk="1" hangingPunct="1"/>
            <a:r>
              <a:rPr lang="en-US"/>
              <a:t>Class I ECP</a:t>
            </a:r>
          </a:p>
          <a:p>
            <a:pPr lvl="2" eaLnBrk="1" hangingPunct="1"/>
            <a:r>
              <a:rPr lang="en-US"/>
              <a:t>  A proposed change that is complex and complete</a:t>
            </a:r>
          </a:p>
          <a:p>
            <a:pPr lvl="2" eaLnBrk="1" hangingPunct="1"/>
            <a:r>
              <a:rPr lang="en-US"/>
              <a:t>  Changes the Form, Fit or Function</a:t>
            </a:r>
          </a:p>
          <a:p>
            <a:pPr lvl="2" eaLnBrk="1" hangingPunct="1"/>
            <a:r>
              <a:rPr lang="en-US"/>
              <a:t>  Requires a complete &amp; thorough analysis</a:t>
            </a:r>
          </a:p>
          <a:p>
            <a:pPr lvl="2" eaLnBrk="1" hangingPunct="1"/>
            <a:r>
              <a:rPr lang="en-US"/>
              <a:t>  Requires approval by the SM CCB                                                                                    </a:t>
            </a:r>
          </a:p>
          <a:p>
            <a:pPr eaLnBrk="1" hangingPunct="1">
              <a:buFont typeface="Wingdings" pitchFamily="2" charset="2"/>
              <a:buNone/>
            </a:pPr>
            <a:r>
              <a:rPr lang="en-US"/>
              <a:t>					 </a:t>
            </a:r>
          </a:p>
          <a:p>
            <a:pPr eaLnBrk="1" hangingPunct="1">
              <a:buFont typeface="Wingdings" pitchFamily="2" charset="2"/>
              <a:buNone/>
            </a:pPr>
            <a:r>
              <a:rPr lang="en-US"/>
              <a:t>	</a:t>
            </a:r>
            <a:endParaRPr lang="en-US" dirty="0"/>
          </a:p>
        </p:txBody>
      </p:sp>
      <p:sp>
        <p:nvSpPr>
          <p:cNvPr id="68612" name="Slide Number Placeholder 5"/>
          <p:cNvSpPr>
            <a:spLocks noGrp="1"/>
          </p:cNvSpPr>
          <p:nvPr>
            <p:ph type="sldNum" sz="quarter" idx="10"/>
          </p:nvPr>
        </p:nvSpPr>
        <p:spPr>
          <a:xfrm>
            <a:off x="7239000" y="6519863"/>
            <a:ext cx="1905000" cy="338137"/>
          </a:xfrm>
          <a:noFill/>
        </p:spPr>
        <p:txBody>
          <a:bodyPr/>
          <a:lstStyle/>
          <a:p>
            <a:fld id="{E9B067D9-2633-4501-9554-54677BFC8D77}" type="slidenum">
              <a:rPr lang="en-US" smtClean="0"/>
              <a:pPr/>
              <a:t>47</a:t>
            </a:fld>
            <a:endParaRPr 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t>TCTO Policy and Procedures</a:t>
            </a:r>
          </a:p>
        </p:txBody>
      </p:sp>
      <p:sp>
        <p:nvSpPr>
          <p:cNvPr id="69635" name="Rectangle 3"/>
          <p:cNvSpPr>
            <a:spLocks noGrp="1" noChangeArrowheads="1"/>
          </p:cNvSpPr>
          <p:nvPr>
            <p:ph idx="1"/>
          </p:nvPr>
        </p:nvSpPr>
        <p:spPr/>
        <p:txBody>
          <a:bodyPr/>
          <a:lstStyle/>
          <a:p>
            <a:pPr eaLnBrk="1" hangingPunct="1"/>
            <a:r>
              <a:rPr lang="en-US" dirty="0"/>
              <a:t>Purpose of TCTOs </a:t>
            </a:r>
          </a:p>
          <a:p>
            <a:pPr eaLnBrk="1" hangingPunct="1"/>
            <a:r>
              <a:rPr lang="en-US" dirty="0"/>
              <a:t>Engineering Change Proposals (ECPs) </a:t>
            </a:r>
          </a:p>
          <a:p>
            <a:pPr lvl="1" eaLnBrk="1" hangingPunct="1"/>
            <a:endParaRPr lang="en-US" dirty="0"/>
          </a:p>
          <a:p>
            <a:pPr lvl="1" eaLnBrk="1" hangingPunct="1"/>
            <a:r>
              <a:rPr lang="en-US" dirty="0"/>
              <a:t>Class II ECP</a:t>
            </a:r>
          </a:p>
          <a:p>
            <a:pPr lvl="2" eaLnBrk="1" hangingPunct="1"/>
            <a:r>
              <a:rPr lang="en-US" dirty="0"/>
              <a:t>  Minor in nature</a:t>
            </a:r>
          </a:p>
          <a:p>
            <a:pPr lvl="2" eaLnBrk="1" hangingPunct="1"/>
            <a:r>
              <a:rPr lang="en-US" dirty="0"/>
              <a:t>  Does not change form, fit, function  </a:t>
            </a:r>
          </a:p>
          <a:p>
            <a:pPr lvl="2" eaLnBrk="1" hangingPunct="1"/>
            <a:r>
              <a:rPr lang="en-US" dirty="0"/>
              <a:t>  Approved by procuring agency</a:t>
            </a:r>
          </a:p>
          <a:p>
            <a:pPr lvl="2" eaLnBrk="1" hangingPunct="1"/>
            <a:r>
              <a:rPr lang="en-US" dirty="0"/>
              <a:t>  There is a limited description and Involves</a:t>
            </a:r>
          </a:p>
          <a:p>
            <a:pPr lvl="3" eaLnBrk="1" hangingPunct="1"/>
            <a:r>
              <a:rPr lang="en-US" dirty="0"/>
              <a:t>Error correction</a:t>
            </a:r>
          </a:p>
          <a:p>
            <a:pPr lvl="3" eaLnBrk="1" hangingPunct="1"/>
            <a:r>
              <a:rPr lang="en-US" dirty="0"/>
              <a:t>Clarifying notes</a:t>
            </a:r>
          </a:p>
          <a:p>
            <a:pPr lvl="3" eaLnBrk="1" hangingPunct="1"/>
            <a:r>
              <a:rPr lang="en-US" dirty="0"/>
              <a:t>Substituting material            </a:t>
            </a:r>
          </a:p>
          <a:p>
            <a:pPr eaLnBrk="1" hangingPunct="1">
              <a:buFont typeface="Wingdings" pitchFamily="2" charset="2"/>
              <a:buNone/>
            </a:pPr>
            <a:r>
              <a:rPr lang="en-US" dirty="0"/>
              <a:t>       </a:t>
            </a:r>
          </a:p>
          <a:p>
            <a:pPr eaLnBrk="1" hangingPunct="1">
              <a:buFont typeface="Wingdings" pitchFamily="2" charset="2"/>
              <a:buNone/>
            </a:pPr>
            <a:r>
              <a:rPr lang="en-US" dirty="0"/>
              <a:t>				</a:t>
            </a:r>
          </a:p>
        </p:txBody>
      </p:sp>
      <p:sp>
        <p:nvSpPr>
          <p:cNvPr id="69636" name="Slide Number Placeholder 5"/>
          <p:cNvSpPr>
            <a:spLocks noGrp="1"/>
          </p:cNvSpPr>
          <p:nvPr>
            <p:ph type="sldNum" sz="quarter" idx="10"/>
          </p:nvPr>
        </p:nvSpPr>
        <p:spPr>
          <a:xfrm>
            <a:off x="7239000" y="6519863"/>
            <a:ext cx="1905000" cy="338137"/>
          </a:xfrm>
          <a:noFill/>
        </p:spPr>
        <p:txBody>
          <a:bodyPr/>
          <a:lstStyle/>
          <a:p>
            <a:fld id="{50184D6E-51E0-4ADF-AAD3-10E8A0207257}" type="slidenum">
              <a:rPr lang="en-US" smtClean="0"/>
              <a:pPr/>
              <a:t>48</a:t>
            </a:fld>
            <a:endParaRPr 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t>TCTO Policy and Procedures</a:t>
            </a:r>
          </a:p>
        </p:txBody>
      </p:sp>
      <p:sp>
        <p:nvSpPr>
          <p:cNvPr id="70659"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a:t>
            </a:r>
          </a:p>
          <a:p>
            <a:pPr eaLnBrk="1" hangingPunct="1">
              <a:buFont typeface="Wingdings" pitchFamily="2" charset="2"/>
              <a:buNone/>
            </a:pPr>
            <a:r>
              <a:rPr lang="en-US" dirty="0"/>
              <a:t>   (events that can generate a TCTO)</a:t>
            </a:r>
          </a:p>
          <a:p>
            <a:pPr eaLnBrk="1" hangingPunct="1">
              <a:buFont typeface="Wingdings" pitchFamily="2" charset="2"/>
              <a:buNone/>
            </a:pPr>
            <a:endParaRPr lang="en-US" dirty="0"/>
          </a:p>
          <a:p>
            <a:pPr lvl="1" eaLnBrk="1" hangingPunct="1"/>
            <a:r>
              <a:rPr lang="en-US" dirty="0"/>
              <a:t>Safety</a:t>
            </a:r>
          </a:p>
          <a:p>
            <a:pPr lvl="1" eaLnBrk="1" hangingPunct="1"/>
            <a:r>
              <a:rPr lang="en-US" dirty="0"/>
              <a:t>Operational Requirements</a:t>
            </a:r>
          </a:p>
          <a:p>
            <a:pPr lvl="1" eaLnBrk="1" hangingPunct="1"/>
            <a:r>
              <a:rPr lang="en-US" dirty="0"/>
              <a:t>Reliability &amp; Maintainability</a:t>
            </a:r>
          </a:p>
          <a:p>
            <a:pPr lvl="1" eaLnBrk="1" hangingPunct="1"/>
            <a:r>
              <a:rPr lang="en-US" dirty="0"/>
              <a:t>Software Changes  </a:t>
            </a:r>
          </a:p>
        </p:txBody>
      </p:sp>
      <p:sp>
        <p:nvSpPr>
          <p:cNvPr id="70660" name="Slide Number Placeholder 5"/>
          <p:cNvSpPr>
            <a:spLocks noGrp="1"/>
          </p:cNvSpPr>
          <p:nvPr>
            <p:ph type="sldNum" sz="quarter" idx="10"/>
          </p:nvPr>
        </p:nvSpPr>
        <p:spPr>
          <a:xfrm>
            <a:off x="7239000" y="6519863"/>
            <a:ext cx="1905000" cy="338137"/>
          </a:xfrm>
          <a:noFill/>
        </p:spPr>
        <p:txBody>
          <a:bodyPr/>
          <a:lstStyle/>
          <a:p>
            <a:fld id="{6A741030-AB3F-406B-868C-1C19982A71B8}" type="slidenum">
              <a:rPr lang="en-US" smtClean="0"/>
              <a:pPr/>
              <a:t>49</a:t>
            </a:fld>
            <a:endParaRPr 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t>TCTO Policy and Procedures</a:t>
            </a:r>
          </a:p>
        </p:txBody>
      </p:sp>
      <p:sp>
        <p:nvSpPr>
          <p:cNvPr id="71683"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buFont typeface="Wingdings" pitchFamily="2" charset="2"/>
              <a:buNone/>
            </a:pPr>
            <a:r>
              <a:rPr lang="en-US" dirty="0"/>
              <a:t>   (events that can generate a TCTO)</a:t>
            </a:r>
          </a:p>
          <a:p>
            <a:pPr eaLnBrk="1" hangingPunct="1">
              <a:buFont typeface="Wingdings" pitchFamily="2" charset="2"/>
              <a:buNone/>
            </a:pPr>
            <a:endParaRPr lang="en-US" dirty="0"/>
          </a:p>
          <a:p>
            <a:pPr lvl="1" eaLnBrk="1" hangingPunct="1"/>
            <a:r>
              <a:rPr lang="en-US" dirty="0"/>
              <a:t>DR/MIP</a:t>
            </a:r>
          </a:p>
          <a:p>
            <a:pPr lvl="1" eaLnBrk="1" hangingPunct="1"/>
            <a:r>
              <a:rPr lang="en-US" dirty="0"/>
              <a:t>RDT&amp;E</a:t>
            </a:r>
          </a:p>
          <a:p>
            <a:pPr lvl="1" eaLnBrk="1" hangingPunct="1"/>
            <a:r>
              <a:rPr lang="en-US" dirty="0"/>
              <a:t>Material Failures	</a:t>
            </a:r>
          </a:p>
        </p:txBody>
      </p:sp>
      <p:sp>
        <p:nvSpPr>
          <p:cNvPr id="71684" name="Slide Number Placeholder 5"/>
          <p:cNvSpPr>
            <a:spLocks noGrp="1"/>
          </p:cNvSpPr>
          <p:nvPr>
            <p:ph type="sldNum" sz="quarter" idx="10"/>
          </p:nvPr>
        </p:nvSpPr>
        <p:spPr>
          <a:xfrm>
            <a:off x="7239000" y="6519863"/>
            <a:ext cx="1905000" cy="338137"/>
          </a:xfrm>
          <a:noFill/>
        </p:spPr>
        <p:txBody>
          <a:bodyPr/>
          <a:lstStyle/>
          <a:p>
            <a:fld id="{3515CEE8-157A-4555-8D42-0DC69C605C83}" type="slidenum">
              <a:rPr lang="en-US" smtClean="0"/>
              <a:pPr/>
              <a:t>50</a:t>
            </a:fld>
            <a:endParaRPr 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t>TCTO Policy and Procedures</a:t>
            </a:r>
          </a:p>
        </p:txBody>
      </p:sp>
      <p:sp>
        <p:nvSpPr>
          <p:cNvPr id="72707"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eaLnBrk="1" hangingPunct="1"/>
            <a:endParaRPr lang="en-US" dirty="0"/>
          </a:p>
          <a:p>
            <a:pPr lvl="1" eaLnBrk="1" hangingPunct="1"/>
            <a:r>
              <a:rPr lang="en-US" dirty="0"/>
              <a:t>Injury or fatality to personnel</a:t>
            </a:r>
          </a:p>
          <a:p>
            <a:pPr lvl="1" eaLnBrk="1" hangingPunct="1"/>
            <a:r>
              <a:rPr lang="en-US" dirty="0"/>
              <a:t>Damage or destruction to Equipment</a:t>
            </a:r>
          </a:p>
          <a:p>
            <a:pPr lvl="1" eaLnBrk="1" hangingPunct="1"/>
            <a:r>
              <a:rPr lang="en-US" dirty="0"/>
              <a:t>Could cause a Class A MISHAP</a:t>
            </a:r>
          </a:p>
          <a:p>
            <a:pPr eaLnBrk="1" hangingPunct="1"/>
            <a:endParaRPr lang="en-US" dirty="0"/>
          </a:p>
          <a:p>
            <a:pPr lvl="1" eaLnBrk="1" hangingPunct="1"/>
            <a:endParaRPr lang="en-US" dirty="0"/>
          </a:p>
        </p:txBody>
      </p:sp>
      <p:sp>
        <p:nvSpPr>
          <p:cNvPr id="72708" name="Slide Number Placeholder 5"/>
          <p:cNvSpPr>
            <a:spLocks noGrp="1"/>
          </p:cNvSpPr>
          <p:nvPr>
            <p:ph type="sldNum" sz="quarter" idx="10"/>
          </p:nvPr>
        </p:nvSpPr>
        <p:spPr>
          <a:xfrm>
            <a:off x="7239000" y="6519863"/>
            <a:ext cx="1905000" cy="338137"/>
          </a:xfrm>
          <a:noFill/>
        </p:spPr>
        <p:txBody>
          <a:bodyPr/>
          <a:lstStyle/>
          <a:p>
            <a:fld id="{6865D08F-FF51-4F5F-AD86-604DE0855106}" type="slidenum">
              <a:rPr lang="en-US" smtClean="0"/>
              <a:pPr/>
              <a:t>51</a:t>
            </a:fld>
            <a:endParaRPr 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a:t>TCTO Policy and Procedures</a:t>
            </a:r>
          </a:p>
        </p:txBody>
      </p:sp>
      <p:sp>
        <p:nvSpPr>
          <p:cNvPr id="73731"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lvl="1" eaLnBrk="1" hangingPunct="1"/>
            <a:endParaRPr lang="en-US" dirty="0"/>
          </a:p>
          <a:p>
            <a:pPr lvl="1" eaLnBrk="1" hangingPunct="1"/>
            <a:r>
              <a:rPr lang="en-US" dirty="0"/>
              <a:t>Priority for funding &amp; Implementation</a:t>
            </a:r>
          </a:p>
          <a:p>
            <a:pPr lvl="1" eaLnBrk="1" hangingPunct="1"/>
            <a:r>
              <a:rPr lang="en-US" dirty="0"/>
              <a:t>The safety determination must be agreed to by</a:t>
            </a:r>
          </a:p>
          <a:p>
            <a:pPr lvl="2" eaLnBrk="1" hangingPunct="1"/>
            <a:r>
              <a:rPr lang="en-US" dirty="0"/>
              <a:t>  MAJCOM/CC</a:t>
            </a:r>
          </a:p>
          <a:p>
            <a:pPr lvl="2" eaLnBrk="1" hangingPunct="1"/>
            <a:r>
              <a:rPr lang="en-US" dirty="0"/>
              <a:t>  AFMC/CC</a:t>
            </a:r>
          </a:p>
          <a:p>
            <a:pPr lvl="2" eaLnBrk="1" hangingPunct="1"/>
            <a:r>
              <a:rPr lang="en-US" dirty="0"/>
              <a:t>  AFSA/CC (Air Force Safety Agency)</a:t>
            </a:r>
          </a:p>
          <a:p>
            <a:pPr eaLnBrk="1" hangingPunct="1"/>
            <a:endParaRPr lang="en-US" dirty="0"/>
          </a:p>
          <a:p>
            <a:pPr eaLnBrk="1" hangingPunct="1"/>
            <a:endParaRPr lang="en-US" dirty="0"/>
          </a:p>
          <a:p>
            <a:pPr lvl="1" eaLnBrk="1" hangingPunct="1"/>
            <a:endParaRPr lang="en-US" dirty="0"/>
          </a:p>
        </p:txBody>
      </p:sp>
      <p:sp>
        <p:nvSpPr>
          <p:cNvPr id="73732" name="Slide Number Placeholder 5"/>
          <p:cNvSpPr>
            <a:spLocks noGrp="1"/>
          </p:cNvSpPr>
          <p:nvPr>
            <p:ph type="sldNum" sz="quarter" idx="10"/>
          </p:nvPr>
        </p:nvSpPr>
        <p:spPr>
          <a:xfrm>
            <a:off x="7239000" y="6519863"/>
            <a:ext cx="1905000" cy="338137"/>
          </a:xfrm>
          <a:noFill/>
        </p:spPr>
        <p:txBody>
          <a:bodyPr/>
          <a:lstStyle/>
          <a:p>
            <a:fld id="{B79AC67E-B2C3-4747-91EE-08331A49002E}" type="slidenum">
              <a:rPr lang="en-US" smtClean="0"/>
              <a:pPr/>
              <a:t>52</a:t>
            </a:fld>
            <a:endParaRPr 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a:t>TCTO Policy and Procedures</a:t>
            </a:r>
          </a:p>
        </p:txBody>
      </p:sp>
      <p:sp>
        <p:nvSpPr>
          <p:cNvPr id="74755"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lvl="1" eaLnBrk="1" hangingPunct="1"/>
            <a:endParaRPr lang="en-US" dirty="0"/>
          </a:p>
          <a:p>
            <a:pPr lvl="1" eaLnBrk="1" hangingPunct="1"/>
            <a:r>
              <a:rPr lang="en-US" dirty="0"/>
              <a:t>Requires the SM Conduct a risk assessment</a:t>
            </a:r>
          </a:p>
          <a:p>
            <a:pPr lvl="2" eaLnBrk="1" hangingPunct="1"/>
            <a:r>
              <a:rPr lang="en-US" dirty="0"/>
              <a:t>  Approved by the AF Safety agency</a:t>
            </a:r>
          </a:p>
          <a:p>
            <a:pPr eaLnBrk="1" hangingPunct="1"/>
            <a:endParaRPr lang="en-US" dirty="0"/>
          </a:p>
        </p:txBody>
      </p:sp>
      <p:sp>
        <p:nvSpPr>
          <p:cNvPr id="74756" name="Slide Number Placeholder 5"/>
          <p:cNvSpPr>
            <a:spLocks noGrp="1"/>
          </p:cNvSpPr>
          <p:nvPr>
            <p:ph type="sldNum" sz="quarter" idx="10"/>
          </p:nvPr>
        </p:nvSpPr>
        <p:spPr>
          <a:xfrm>
            <a:off x="7239000" y="6519863"/>
            <a:ext cx="1905000" cy="338137"/>
          </a:xfrm>
          <a:noFill/>
        </p:spPr>
        <p:txBody>
          <a:bodyPr/>
          <a:lstStyle/>
          <a:p>
            <a:fld id="{6532B1E1-B2E1-4407-96F9-6B8BCAD9F291}" type="slidenum">
              <a:rPr lang="en-US" smtClean="0"/>
              <a:pPr/>
              <a:t>53</a:t>
            </a:fld>
            <a:endParaRPr 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a:t>TCTO Policy and Procedures</a:t>
            </a:r>
          </a:p>
        </p:txBody>
      </p:sp>
      <p:sp>
        <p:nvSpPr>
          <p:cNvPr id="75779"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eaLnBrk="1" hangingPunct="1"/>
            <a:endParaRPr lang="en-US" dirty="0"/>
          </a:p>
          <a:p>
            <a:pPr lvl="1" eaLnBrk="1" hangingPunct="1"/>
            <a:r>
              <a:rPr lang="en-US" dirty="0"/>
              <a:t>Safety Modifications which correct a material deficiency which could cause a class A Mishap results in: </a:t>
            </a:r>
          </a:p>
          <a:p>
            <a:pPr lvl="2" eaLnBrk="1" hangingPunct="1"/>
            <a:r>
              <a:rPr lang="en-US" dirty="0"/>
              <a:t>  The SM &amp; lead command recommends a corrective action to the</a:t>
            </a:r>
          </a:p>
          <a:p>
            <a:pPr marL="852488" lvl="2" indent="0" eaLnBrk="1" hangingPunct="1">
              <a:buNone/>
            </a:pPr>
            <a:r>
              <a:rPr lang="en-US" dirty="0"/>
              <a:t>    HQ USAF/SE </a:t>
            </a:r>
          </a:p>
          <a:p>
            <a:pPr lvl="1" eaLnBrk="1" hangingPunct="1">
              <a:buFontTx/>
              <a:buNone/>
            </a:pPr>
            <a:endParaRPr lang="en-US" dirty="0"/>
          </a:p>
          <a:p>
            <a:pPr eaLnBrk="1" hangingPunct="1"/>
            <a:endParaRPr lang="en-US" dirty="0"/>
          </a:p>
        </p:txBody>
      </p:sp>
      <p:sp>
        <p:nvSpPr>
          <p:cNvPr id="75780" name="Slide Number Placeholder 5"/>
          <p:cNvSpPr>
            <a:spLocks noGrp="1"/>
          </p:cNvSpPr>
          <p:nvPr>
            <p:ph type="sldNum" sz="quarter" idx="10"/>
          </p:nvPr>
        </p:nvSpPr>
        <p:spPr>
          <a:xfrm>
            <a:off x="7239000" y="6519863"/>
            <a:ext cx="1905000" cy="338137"/>
          </a:xfrm>
          <a:noFill/>
        </p:spPr>
        <p:txBody>
          <a:bodyPr/>
          <a:lstStyle/>
          <a:p>
            <a:fld id="{836492BB-8975-440B-9097-C0386DF26AA4}" type="slidenum">
              <a:rPr lang="en-US" smtClean="0"/>
              <a:pPr/>
              <a:t>54</a:t>
            </a:fld>
            <a:endParaRPr 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t>TCTO Policy and Procedures</a:t>
            </a:r>
          </a:p>
        </p:txBody>
      </p:sp>
      <p:sp>
        <p:nvSpPr>
          <p:cNvPr id="76803"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eaLnBrk="1" hangingPunct="1"/>
            <a:endParaRPr lang="en-US" dirty="0"/>
          </a:p>
          <a:p>
            <a:pPr lvl="1" eaLnBrk="1" hangingPunct="1"/>
            <a:r>
              <a:rPr lang="en-US" dirty="0"/>
              <a:t>The SM must coordinate with the Program Executive Officer (PEO)</a:t>
            </a:r>
          </a:p>
          <a:p>
            <a:pPr eaLnBrk="1" hangingPunct="1"/>
            <a:endParaRPr lang="en-US" dirty="0"/>
          </a:p>
        </p:txBody>
      </p:sp>
      <p:sp>
        <p:nvSpPr>
          <p:cNvPr id="76804" name="Slide Number Placeholder 5"/>
          <p:cNvSpPr>
            <a:spLocks noGrp="1"/>
          </p:cNvSpPr>
          <p:nvPr>
            <p:ph type="sldNum" sz="quarter" idx="10"/>
          </p:nvPr>
        </p:nvSpPr>
        <p:spPr>
          <a:xfrm>
            <a:off x="7239000" y="6519863"/>
            <a:ext cx="1905000" cy="338137"/>
          </a:xfrm>
          <a:noFill/>
        </p:spPr>
        <p:txBody>
          <a:bodyPr/>
          <a:lstStyle/>
          <a:p>
            <a:fld id="{A23B3220-C934-4D0D-8CF8-540FCFBA83F9}" type="slidenum">
              <a:rPr lang="en-US" smtClean="0"/>
              <a:pPr/>
              <a:t>55</a:t>
            </a:fld>
            <a:endParaRPr lang="en-US"/>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t>TCTO Policy and Procedures</a:t>
            </a:r>
          </a:p>
        </p:txBody>
      </p:sp>
      <p:sp>
        <p:nvSpPr>
          <p:cNvPr id="77827"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eaLnBrk="1" hangingPunct="1"/>
            <a:endParaRPr lang="en-US" dirty="0"/>
          </a:p>
          <a:p>
            <a:pPr lvl="1" eaLnBrk="1" hangingPunct="1"/>
            <a:r>
              <a:rPr lang="en-US" dirty="0"/>
              <a:t>For all other cases, the following steps must occur to warrant a safety modification:</a:t>
            </a:r>
          </a:p>
          <a:p>
            <a:pPr eaLnBrk="1" hangingPunct="1"/>
            <a:endParaRPr lang="en-US" dirty="0"/>
          </a:p>
          <a:p>
            <a:pPr lvl="1" eaLnBrk="1" hangingPunct="1">
              <a:buFontTx/>
              <a:buNone/>
            </a:pPr>
            <a:r>
              <a:rPr lang="en-US" dirty="0"/>
              <a:t>	1. The SM/lead Command determines if the deficiency affects Safety </a:t>
            </a:r>
          </a:p>
        </p:txBody>
      </p:sp>
      <p:sp>
        <p:nvSpPr>
          <p:cNvPr id="77828" name="Slide Number Placeholder 5"/>
          <p:cNvSpPr>
            <a:spLocks noGrp="1"/>
          </p:cNvSpPr>
          <p:nvPr>
            <p:ph type="sldNum" sz="quarter" idx="10"/>
          </p:nvPr>
        </p:nvSpPr>
        <p:spPr>
          <a:xfrm>
            <a:off x="7239000" y="6519863"/>
            <a:ext cx="1905000" cy="338137"/>
          </a:xfrm>
          <a:noFill/>
        </p:spPr>
        <p:txBody>
          <a:bodyPr/>
          <a:lstStyle/>
          <a:p>
            <a:fld id="{2A0948A0-0372-4001-90D0-4CB2CD16051A}" type="slidenum">
              <a:rPr lang="en-US" smtClean="0"/>
              <a:pPr/>
              <a:t>56</a:t>
            </a:fld>
            <a:endParaRPr 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t>TCTO Policy and Procedures</a:t>
            </a:r>
          </a:p>
        </p:txBody>
      </p:sp>
      <p:sp>
        <p:nvSpPr>
          <p:cNvPr id="78851"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eaLnBrk="1" hangingPunct="1"/>
            <a:endParaRPr lang="en-US" dirty="0"/>
          </a:p>
          <a:p>
            <a:pPr lvl="1" eaLnBrk="1" hangingPunct="1">
              <a:buFontTx/>
              <a:buNone/>
            </a:pPr>
            <a:r>
              <a:rPr lang="en-US" dirty="0"/>
              <a:t>   2. SM perform a risk analysis to determine if a modification is required</a:t>
            </a:r>
          </a:p>
          <a:p>
            <a:pPr lvl="2" eaLnBrk="1" hangingPunct="1"/>
            <a:r>
              <a:rPr lang="en-US" dirty="0"/>
              <a:t>  The analysis is based on two factors</a:t>
            </a:r>
          </a:p>
          <a:p>
            <a:pPr lvl="3" eaLnBrk="1" hangingPunct="1"/>
            <a:r>
              <a:rPr lang="en-US" dirty="0"/>
              <a:t>Probability the event will occur</a:t>
            </a:r>
          </a:p>
          <a:p>
            <a:pPr lvl="3" eaLnBrk="1" hangingPunct="1"/>
            <a:r>
              <a:rPr lang="en-US" dirty="0"/>
              <a:t>Level of or damage if the event occurs</a:t>
            </a:r>
          </a:p>
        </p:txBody>
      </p:sp>
      <p:sp>
        <p:nvSpPr>
          <p:cNvPr id="78852" name="Slide Number Placeholder 5"/>
          <p:cNvSpPr>
            <a:spLocks noGrp="1"/>
          </p:cNvSpPr>
          <p:nvPr>
            <p:ph type="sldNum" sz="quarter" idx="10"/>
          </p:nvPr>
        </p:nvSpPr>
        <p:spPr>
          <a:xfrm>
            <a:off x="7239000" y="6519863"/>
            <a:ext cx="1905000" cy="338137"/>
          </a:xfrm>
          <a:noFill/>
        </p:spPr>
        <p:txBody>
          <a:bodyPr/>
          <a:lstStyle/>
          <a:p>
            <a:fld id="{A7C59727-4AD3-4A3F-9039-2F94856FB110}" type="slidenum">
              <a:rPr lang="en-US" smtClean="0"/>
              <a:pPr/>
              <a:t>57</a:t>
            </a:fld>
            <a:endParaRPr lang="en-US"/>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a:t>TCTO Policy and Procedures</a:t>
            </a:r>
          </a:p>
        </p:txBody>
      </p:sp>
      <p:sp>
        <p:nvSpPr>
          <p:cNvPr id="79875"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eaLnBrk="1" hangingPunct="1"/>
            <a:endParaRPr lang="en-US" dirty="0"/>
          </a:p>
          <a:p>
            <a:pPr lvl="1" eaLnBrk="1" hangingPunct="1">
              <a:buFontTx/>
              <a:buNone/>
            </a:pPr>
            <a:r>
              <a:rPr lang="en-US" dirty="0"/>
              <a:t>   3. SM will take action to limit any risk prior to  modification </a:t>
            </a:r>
          </a:p>
          <a:p>
            <a:pPr lvl="2" eaLnBrk="1" hangingPunct="1"/>
            <a:r>
              <a:rPr lang="en-US" dirty="0"/>
              <a:t>  Interim Action </a:t>
            </a:r>
          </a:p>
          <a:p>
            <a:pPr lvl="3" eaLnBrk="1" hangingPunct="1"/>
            <a:r>
              <a:rPr lang="en-US" dirty="0"/>
              <a:t>System restricted</a:t>
            </a:r>
          </a:p>
          <a:p>
            <a:pPr lvl="3" eaLnBrk="1" hangingPunct="1"/>
            <a:r>
              <a:rPr lang="en-US" dirty="0"/>
              <a:t>System removed from service</a:t>
            </a:r>
          </a:p>
          <a:p>
            <a:pPr lvl="1" eaLnBrk="1" hangingPunct="1"/>
            <a:endParaRPr lang="en-US" dirty="0"/>
          </a:p>
        </p:txBody>
      </p:sp>
      <p:sp>
        <p:nvSpPr>
          <p:cNvPr id="79876" name="Slide Number Placeholder 5"/>
          <p:cNvSpPr>
            <a:spLocks noGrp="1"/>
          </p:cNvSpPr>
          <p:nvPr>
            <p:ph type="sldNum" sz="quarter" idx="10"/>
          </p:nvPr>
        </p:nvSpPr>
        <p:spPr>
          <a:xfrm>
            <a:off x="7239000" y="6519863"/>
            <a:ext cx="1905000" cy="338137"/>
          </a:xfrm>
          <a:noFill/>
        </p:spPr>
        <p:txBody>
          <a:bodyPr/>
          <a:lstStyle/>
          <a:p>
            <a:fld id="{5DA383E6-4276-47E8-9265-C231FCB9BFF1}" type="slidenum">
              <a:rPr lang="en-US" smtClean="0"/>
              <a:pPr/>
              <a:t>58</a:t>
            </a:fld>
            <a:endParaRPr lang="en-US"/>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t>TCTO Policy and Procedures</a:t>
            </a:r>
          </a:p>
        </p:txBody>
      </p:sp>
      <p:sp>
        <p:nvSpPr>
          <p:cNvPr id="80899"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Safety</a:t>
            </a:r>
          </a:p>
          <a:p>
            <a:pPr eaLnBrk="1" hangingPunct="1"/>
            <a:endParaRPr lang="en-US" dirty="0"/>
          </a:p>
          <a:p>
            <a:pPr lvl="1" eaLnBrk="1" hangingPunct="1">
              <a:buFontTx/>
              <a:buNone/>
            </a:pPr>
            <a:r>
              <a:rPr lang="en-US" dirty="0"/>
              <a:t>   4. SM/Lead Command must forward a request for a safety modification designation approval to:</a:t>
            </a:r>
          </a:p>
          <a:p>
            <a:pPr lvl="2" eaLnBrk="1" hangingPunct="1"/>
            <a:r>
              <a:rPr lang="en-US" dirty="0"/>
              <a:t>  Chief of the Air Force Safety </a:t>
            </a:r>
          </a:p>
        </p:txBody>
      </p:sp>
      <p:sp>
        <p:nvSpPr>
          <p:cNvPr id="80900" name="Slide Number Placeholder 5"/>
          <p:cNvSpPr>
            <a:spLocks noGrp="1"/>
          </p:cNvSpPr>
          <p:nvPr>
            <p:ph type="sldNum" sz="quarter" idx="10"/>
          </p:nvPr>
        </p:nvSpPr>
        <p:spPr>
          <a:xfrm>
            <a:off x="7239000" y="6519863"/>
            <a:ext cx="1905000" cy="338137"/>
          </a:xfrm>
          <a:noFill/>
        </p:spPr>
        <p:txBody>
          <a:bodyPr/>
          <a:lstStyle/>
          <a:p>
            <a:fld id="{93E365CB-BB3B-496F-9F4F-0AD62F1794C4}" type="slidenum">
              <a:rPr lang="en-US" smtClean="0"/>
              <a:pPr/>
              <a:t>59</a:t>
            </a:fld>
            <a:endParaRPr 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a:t>TCTO Policy and Procedures</a:t>
            </a:r>
          </a:p>
        </p:txBody>
      </p:sp>
      <p:sp>
        <p:nvSpPr>
          <p:cNvPr id="81923"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Operational Requirements</a:t>
            </a:r>
          </a:p>
          <a:p>
            <a:pPr marL="0" indent="0" eaLnBrk="1" hangingPunct="1">
              <a:buNone/>
            </a:pPr>
            <a:endParaRPr lang="en-US" dirty="0"/>
          </a:p>
          <a:p>
            <a:pPr lvl="1" eaLnBrk="1" hangingPunct="1"/>
            <a:r>
              <a:rPr lang="en-US" dirty="0"/>
              <a:t>Need to modify existing systems/equipment when mission requirements change</a:t>
            </a:r>
          </a:p>
          <a:p>
            <a:pPr lvl="2" eaLnBrk="1" hangingPunct="1"/>
            <a:r>
              <a:rPr lang="en-US" dirty="0"/>
              <a:t>  Changing threats</a:t>
            </a:r>
          </a:p>
          <a:p>
            <a:pPr lvl="2" eaLnBrk="1" hangingPunct="1"/>
            <a:r>
              <a:rPr lang="en-US" dirty="0"/>
              <a:t>  Political climate</a:t>
            </a:r>
          </a:p>
          <a:p>
            <a:pPr lvl="2" eaLnBrk="1" hangingPunct="1"/>
            <a:r>
              <a:rPr lang="en-US" dirty="0"/>
              <a:t>  Other proposals</a:t>
            </a:r>
          </a:p>
        </p:txBody>
      </p:sp>
      <p:sp>
        <p:nvSpPr>
          <p:cNvPr id="81924" name="Slide Number Placeholder 5"/>
          <p:cNvSpPr>
            <a:spLocks noGrp="1"/>
          </p:cNvSpPr>
          <p:nvPr>
            <p:ph type="sldNum" sz="quarter" idx="10"/>
          </p:nvPr>
        </p:nvSpPr>
        <p:spPr>
          <a:xfrm>
            <a:off x="7239000" y="6519863"/>
            <a:ext cx="1905000" cy="338137"/>
          </a:xfrm>
          <a:noFill/>
        </p:spPr>
        <p:txBody>
          <a:bodyPr/>
          <a:lstStyle/>
          <a:p>
            <a:fld id="{99B70FF7-1A52-4E8E-9DE2-BBAA53C5DDB7}" type="slidenum">
              <a:rPr lang="en-US" smtClean="0"/>
              <a:pPr/>
              <a:t>60</a:t>
            </a:fld>
            <a:endParaRPr lang="en-US"/>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a:t>TCTO Policy and Procedures</a:t>
            </a:r>
          </a:p>
        </p:txBody>
      </p:sp>
      <p:sp>
        <p:nvSpPr>
          <p:cNvPr id="82947"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 Operational Requirements</a:t>
            </a:r>
          </a:p>
          <a:p>
            <a:pPr marL="0" indent="0" eaLnBrk="1" hangingPunct="1">
              <a:buNone/>
            </a:pPr>
            <a:endParaRPr lang="en-US" dirty="0"/>
          </a:p>
          <a:p>
            <a:pPr lvl="1" eaLnBrk="1" hangingPunct="1"/>
            <a:r>
              <a:rPr lang="en-US" dirty="0"/>
              <a:t>Initial Capabilities Document (ICD) identifies the need</a:t>
            </a:r>
          </a:p>
          <a:p>
            <a:pPr lvl="2" eaLnBrk="1" hangingPunct="1"/>
            <a:endParaRPr lang="en-US" dirty="0"/>
          </a:p>
          <a:p>
            <a:pPr lvl="1" eaLnBrk="1" hangingPunct="1"/>
            <a:r>
              <a:rPr lang="en-US" dirty="0"/>
              <a:t>Performance Based Statement Of Work (PB SOW) is sent to industry identify Gov. requirements</a:t>
            </a:r>
          </a:p>
          <a:p>
            <a:pPr lvl="1" eaLnBrk="1" hangingPunct="1">
              <a:buFontTx/>
              <a:buNone/>
            </a:pPr>
            <a:r>
              <a:rPr lang="en-US" dirty="0"/>
              <a:t>                </a:t>
            </a:r>
          </a:p>
          <a:p>
            <a:pPr lvl="1" eaLnBrk="1" hangingPunct="1"/>
            <a:r>
              <a:rPr lang="en-US" dirty="0"/>
              <a:t>Industry identifies their solution documented in a   Statement Of Work</a:t>
            </a:r>
          </a:p>
          <a:p>
            <a:pPr eaLnBrk="1" hangingPunct="1">
              <a:buFont typeface="Wingdings" pitchFamily="2" charset="2"/>
              <a:buNone/>
            </a:pPr>
            <a:r>
              <a:rPr lang="en-US" dirty="0"/>
              <a:t>          </a:t>
            </a:r>
          </a:p>
          <a:p>
            <a:pPr lvl="4" eaLnBrk="1" hangingPunct="1"/>
            <a:endParaRPr lang="en-US" dirty="0"/>
          </a:p>
          <a:p>
            <a:pPr eaLnBrk="1" hangingPunct="1"/>
            <a:endParaRPr lang="en-US" dirty="0"/>
          </a:p>
        </p:txBody>
      </p:sp>
      <p:sp>
        <p:nvSpPr>
          <p:cNvPr id="82948" name="Slide Number Placeholder 5"/>
          <p:cNvSpPr>
            <a:spLocks noGrp="1"/>
          </p:cNvSpPr>
          <p:nvPr>
            <p:ph type="sldNum" sz="quarter" idx="10"/>
          </p:nvPr>
        </p:nvSpPr>
        <p:spPr>
          <a:xfrm>
            <a:off x="7239000" y="6519863"/>
            <a:ext cx="1905000" cy="338137"/>
          </a:xfrm>
          <a:noFill/>
        </p:spPr>
        <p:txBody>
          <a:bodyPr/>
          <a:lstStyle/>
          <a:p>
            <a:fld id="{E13BFC7E-7FDA-41B9-A9DB-FAE76B101F35}" type="slidenum">
              <a:rPr lang="en-US" smtClean="0"/>
              <a:pPr/>
              <a:t>61</a:t>
            </a:fld>
            <a:endParaRPr 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a:t>TCTO Policy and Procedures</a:t>
            </a:r>
          </a:p>
        </p:txBody>
      </p:sp>
      <p:sp>
        <p:nvSpPr>
          <p:cNvPr id="83971"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Reliability and Maintainability</a:t>
            </a:r>
          </a:p>
          <a:p>
            <a:pPr marL="0" indent="0" eaLnBrk="1" hangingPunct="1">
              <a:buNone/>
            </a:pPr>
            <a:endParaRPr lang="en-US" dirty="0"/>
          </a:p>
          <a:p>
            <a:pPr lvl="1" eaLnBrk="1" hangingPunct="1"/>
            <a:r>
              <a:rPr lang="en-US" dirty="0"/>
              <a:t>Need can be Identified by:</a:t>
            </a:r>
          </a:p>
          <a:p>
            <a:pPr lvl="2" eaLnBrk="1" hangingPunct="1"/>
            <a:r>
              <a:rPr lang="en-US" dirty="0"/>
              <a:t>  Service Parts Management (SPM) &amp; REMIS </a:t>
            </a:r>
          </a:p>
          <a:p>
            <a:pPr lvl="2" eaLnBrk="1" hangingPunct="1"/>
            <a:r>
              <a:rPr lang="en-US" dirty="0"/>
              <a:t>  Product Improvement Working Group (PIWG)</a:t>
            </a:r>
          </a:p>
          <a:p>
            <a:pPr lvl="2" eaLnBrk="1" hangingPunct="1"/>
            <a:r>
              <a:rPr lang="en-US" dirty="0"/>
              <a:t>  Engineering and Technical Evaluations</a:t>
            </a:r>
          </a:p>
          <a:p>
            <a:pPr lvl="2" eaLnBrk="1" hangingPunct="1"/>
            <a:endParaRPr lang="en-US" dirty="0"/>
          </a:p>
          <a:p>
            <a:pPr lvl="1" eaLnBrk="1" hangingPunct="1"/>
            <a:r>
              <a:rPr lang="en-US" dirty="0"/>
              <a:t>Mod justified by cost savings alone</a:t>
            </a:r>
          </a:p>
          <a:p>
            <a:pPr lvl="2" eaLnBrk="1" hangingPunct="1"/>
            <a:r>
              <a:rPr lang="en-US" dirty="0"/>
              <a:t>Maximum 5 year to show savings</a:t>
            </a:r>
          </a:p>
          <a:p>
            <a:pPr eaLnBrk="1" hangingPunct="1"/>
            <a:endParaRPr lang="en-US" dirty="0"/>
          </a:p>
          <a:p>
            <a:pPr eaLnBrk="1" hangingPunct="1"/>
            <a:endParaRPr lang="en-US" dirty="0"/>
          </a:p>
        </p:txBody>
      </p:sp>
      <p:sp>
        <p:nvSpPr>
          <p:cNvPr id="83972" name="Slide Number Placeholder 5"/>
          <p:cNvSpPr>
            <a:spLocks noGrp="1"/>
          </p:cNvSpPr>
          <p:nvPr>
            <p:ph type="sldNum" sz="quarter" idx="10"/>
          </p:nvPr>
        </p:nvSpPr>
        <p:spPr>
          <a:xfrm>
            <a:off x="7239000" y="6519863"/>
            <a:ext cx="1905000" cy="338137"/>
          </a:xfrm>
          <a:noFill/>
        </p:spPr>
        <p:txBody>
          <a:bodyPr/>
          <a:lstStyle/>
          <a:p>
            <a:fld id="{1C54BBA4-67E8-4F8A-97F1-4EA231609FD8}" type="slidenum">
              <a:rPr lang="en-US" smtClean="0"/>
              <a:pPr/>
              <a:t>62</a:t>
            </a:fld>
            <a:endParaRPr lang="en-US"/>
          </a:p>
        </p:txBody>
      </p:sp>
    </p:spTree>
  </p:cSld>
  <p:clrMapOvr>
    <a:masterClrMapping/>
  </p:clrMapOvr>
  <p:transition/>
  <p:extLst>
    <p:ext uri="{6950BFC3-D8DA-4A85-94F7-54DA5524770B}">
      <p188:commentRel xmlns:p188="http://schemas.microsoft.com/office/powerpoint/2018/8/main" r:id="rId2"/>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en-US"/>
              <a:t>TCTO Policy and Procedures</a:t>
            </a:r>
          </a:p>
        </p:txBody>
      </p:sp>
      <p:sp>
        <p:nvSpPr>
          <p:cNvPr id="84995"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Software Changes  </a:t>
            </a:r>
          </a:p>
          <a:p>
            <a:pPr eaLnBrk="1" hangingPunct="1"/>
            <a:endParaRPr lang="en-US" dirty="0"/>
          </a:p>
          <a:p>
            <a:pPr lvl="1" eaLnBrk="1" hangingPunct="1"/>
            <a:r>
              <a:rPr lang="en-US" dirty="0"/>
              <a:t>TCTOs announce and authorize </a:t>
            </a:r>
          </a:p>
          <a:p>
            <a:pPr lvl="2" eaLnBrk="1" hangingPunct="1"/>
            <a:r>
              <a:rPr lang="en-US" dirty="0"/>
              <a:t>  Software changes</a:t>
            </a:r>
          </a:p>
          <a:p>
            <a:pPr lvl="2" eaLnBrk="1" hangingPunct="1"/>
            <a:r>
              <a:rPr lang="en-US" dirty="0"/>
              <a:t>  Shipment of software concurrently </a:t>
            </a:r>
          </a:p>
          <a:p>
            <a:pPr eaLnBrk="1" hangingPunct="1"/>
            <a:endParaRPr lang="en-US" dirty="0"/>
          </a:p>
          <a:p>
            <a:pPr eaLnBrk="1" hangingPunct="1">
              <a:buFont typeface="Wingdings" pitchFamily="2" charset="2"/>
              <a:buNone/>
            </a:pPr>
            <a:r>
              <a:rPr lang="en-US" dirty="0"/>
              <a:t>									</a:t>
            </a:r>
          </a:p>
        </p:txBody>
      </p:sp>
      <p:sp>
        <p:nvSpPr>
          <p:cNvPr id="84996" name="Slide Number Placeholder 5"/>
          <p:cNvSpPr>
            <a:spLocks noGrp="1"/>
          </p:cNvSpPr>
          <p:nvPr>
            <p:ph type="sldNum" sz="quarter" idx="10"/>
          </p:nvPr>
        </p:nvSpPr>
        <p:spPr>
          <a:xfrm>
            <a:off x="7239000" y="6519863"/>
            <a:ext cx="1905000" cy="338137"/>
          </a:xfrm>
          <a:noFill/>
        </p:spPr>
        <p:txBody>
          <a:bodyPr/>
          <a:lstStyle/>
          <a:p>
            <a:fld id="{89898193-065D-43B7-BA0A-735D6F748A49}" type="slidenum">
              <a:rPr lang="en-US" smtClean="0"/>
              <a:pPr/>
              <a:t>63</a:t>
            </a:fld>
            <a:endParaRPr lang="en-US"/>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en-US"/>
              <a:t>TCTO Policy and Procedures</a:t>
            </a:r>
          </a:p>
        </p:txBody>
      </p:sp>
      <p:sp>
        <p:nvSpPr>
          <p:cNvPr id="86019"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Software Changes  </a:t>
            </a:r>
          </a:p>
          <a:p>
            <a:pPr eaLnBrk="1" hangingPunct="1"/>
            <a:endParaRPr lang="en-US" dirty="0"/>
          </a:p>
          <a:p>
            <a:pPr lvl="1" eaLnBrk="1" hangingPunct="1"/>
            <a:r>
              <a:rPr lang="en-US" dirty="0"/>
              <a:t>TCTO Provides instructions for </a:t>
            </a:r>
          </a:p>
          <a:p>
            <a:pPr lvl="2" eaLnBrk="1" hangingPunct="1"/>
            <a:r>
              <a:rPr lang="en-US" dirty="0"/>
              <a:t>  Use of the media</a:t>
            </a:r>
          </a:p>
          <a:p>
            <a:pPr lvl="2" eaLnBrk="1" hangingPunct="1"/>
            <a:r>
              <a:rPr lang="en-US" dirty="0"/>
              <a:t>  Media Identification labels</a:t>
            </a:r>
          </a:p>
          <a:p>
            <a:pPr lvl="2" eaLnBrk="1" hangingPunct="1"/>
            <a:r>
              <a:rPr lang="en-US" dirty="0"/>
              <a:t>  Disposition Instructions of previous copies of software (return or</a:t>
            </a:r>
          </a:p>
          <a:p>
            <a:pPr marL="852488" lvl="2" indent="0" eaLnBrk="1" hangingPunct="1">
              <a:buNone/>
            </a:pPr>
            <a:r>
              <a:rPr lang="en-US" dirty="0"/>
              <a:t>    destroy)</a:t>
            </a:r>
          </a:p>
          <a:p>
            <a:pPr eaLnBrk="1" hangingPunct="1">
              <a:buFont typeface="Wingdings" pitchFamily="2" charset="2"/>
              <a:buNone/>
            </a:pPr>
            <a:r>
              <a:rPr lang="en-US" dirty="0"/>
              <a:t>									</a:t>
            </a:r>
          </a:p>
        </p:txBody>
      </p:sp>
      <p:sp>
        <p:nvSpPr>
          <p:cNvPr id="86020" name="Slide Number Placeholder 5"/>
          <p:cNvSpPr>
            <a:spLocks noGrp="1"/>
          </p:cNvSpPr>
          <p:nvPr>
            <p:ph type="sldNum" sz="quarter" idx="10"/>
          </p:nvPr>
        </p:nvSpPr>
        <p:spPr>
          <a:xfrm>
            <a:off x="7239000" y="6519863"/>
            <a:ext cx="1905000" cy="338137"/>
          </a:xfrm>
          <a:noFill/>
        </p:spPr>
        <p:txBody>
          <a:bodyPr/>
          <a:lstStyle/>
          <a:p>
            <a:fld id="{25EB5148-C4BE-44DD-B7F9-8FAC2FE9B601}" type="slidenum">
              <a:rPr lang="en-US" smtClean="0"/>
              <a:pPr/>
              <a:t>64</a:t>
            </a:fld>
            <a:endParaRPr lang="en-US"/>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en-US"/>
              <a:t>TCTO Policy and Procedures</a:t>
            </a:r>
          </a:p>
        </p:txBody>
      </p:sp>
      <p:sp>
        <p:nvSpPr>
          <p:cNvPr id="87043"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Deficiency Reporting /Material Improvement Projects (DR/MIP)</a:t>
            </a:r>
          </a:p>
          <a:p>
            <a:pPr eaLnBrk="1" hangingPunct="1"/>
            <a:endParaRPr lang="en-US" dirty="0"/>
          </a:p>
          <a:p>
            <a:pPr eaLnBrk="1" hangingPunct="1"/>
            <a:r>
              <a:rPr lang="en-US" dirty="0"/>
              <a:t>Deficiency can be for </a:t>
            </a:r>
          </a:p>
          <a:p>
            <a:pPr lvl="1" eaLnBrk="1" hangingPunct="1"/>
            <a:r>
              <a:rPr lang="en-US" dirty="0"/>
              <a:t>Material</a:t>
            </a:r>
          </a:p>
          <a:p>
            <a:pPr lvl="1" eaLnBrk="1" hangingPunct="1"/>
            <a:r>
              <a:rPr lang="en-US" dirty="0"/>
              <a:t>Warranty</a:t>
            </a:r>
          </a:p>
          <a:p>
            <a:pPr lvl="1" eaLnBrk="1" hangingPunct="1"/>
            <a:r>
              <a:rPr lang="en-US" dirty="0"/>
              <a:t>Software </a:t>
            </a:r>
          </a:p>
          <a:p>
            <a:pPr lvl="1" eaLnBrk="1" hangingPunct="1"/>
            <a:r>
              <a:rPr lang="en-US" dirty="0"/>
              <a:t>Quality</a:t>
            </a:r>
          </a:p>
          <a:p>
            <a:pPr eaLnBrk="1" hangingPunct="1"/>
            <a:endParaRPr lang="en-US" dirty="0"/>
          </a:p>
          <a:p>
            <a:pPr eaLnBrk="1" hangingPunct="1">
              <a:buFont typeface="Wingdings" pitchFamily="2" charset="2"/>
              <a:buNone/>
            </a:pPr>
            <a:r>
              <a:rPr lang="en-US" dirty="0"/>
              <a:t>					 </a:t>
            </a:r>
          </a:p>
        </p:txBody>
      </p:sp>
      <p:sp>
        <p:nvSpPr>
          <p:cNvPr id="87044" name="Slide Number Placeholder 5"/>
          <p:cNvSpPr>
            <a:spLocks noGrp="1"/>
          </p:cNvSpPr>
          <p:nvPr>
            <p:ph type="sldNum" sz="quarter" idx="10"/>
          </p:nvPr>
        </p:nvSpPr>
        <p:spPr>
          <a:xfrm>
            <a:off x="7239000" y="6519863"/>
            <a:ext cx="1905000" cy="338137"/>
          </a:xfrm>
          <a:noFill/>
        </p:spPr>
        <p:txBody>
          <a:bodyPr/>
          <a:lstStyle/>
          <a:p>
            <a:fld id="{787E8FB2-087A-43C1-83BA-4E9E8B6D26A1}" type="slidenum">
              <a:rPr lang="en-US" smtClean="0"/>
              <a:pPr/>
              <a:t>65</a:t>
            </a:fld>
            <a:endParaRPr lang="en-US"/>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en-US"/>
              <a:t>TCTO Policy and Procedures</a:t>
            </a:r>
          </a:p>
        </p:txBody>
      </p:sp>
      <p:sp>
        <p:nvSpPr>
          <p:cNvPr id="88067"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a:t>
            </a:r>
          </a:p>
          <a:p>
            <a:pPr eaLnBrk="1" hangingPunct="1"/>
            <a:r>
              <a:rPr lang="en-US" dirty="0"/>
              <a:t> DR/MIP</a:t>
            </a:r>
          </a:p>
          <a:p>
            <a:pPr lvl="1" eaLnBrk="1" hangingPunct="1"/>
            <a:r>
              <a:rPr lang="en-US" dirty="0"/>
              <a:t>DR identify deficiencies affecting Operation Safety, Suitability and Effectiveness (OSS&amp;E) of Systems or Equipment</a:t>
            </a:r>
          </a:p>
          <a:p>
            <a:pPr lvl="2" eaLnBrk="1" hangingPunct="1"/>
            <a:r>
              <a:rPr lang="en-US" dirty="0"/>
              <a:t>  Safety</a:t>
            </a:r>
          </a:p>
          <a:p>
            <a:pPr lvl="2" eaLnBrk="1" hangingPunct="1"/>
            <a:r>
              <a:rPr lang="en-US" dirty="0"/>
              <a:t>  Suitability</a:t>
            </a:r>
          </a:p>
          <a:p>
            <a:pPr lvl="2" eaLnBrk="1" hangingPunct="1"/>
            <a:r>
              <a:rPr lang="en-US" dirty="0"/>
              <a:t>  Effectiveness</a:t>
            </a:r>
          </a:p>
          <a:p>
            <a:pPr lvl="2" eaLnBrk="1" hangingPunct="1"/>
            <a:endParaRPr lang="en-US" dirty="0"/>
          </a:p>
          <a:p>
            <a:pPr lvl="1" eaLnBrk="1" hangingPunct="1"/>
            <a:r>
              <a:rPr lang="en-US" dirty="0"/>
              <a:t>Joint Discrepancy Reporting System (JDRS) </a:t>
            </a:r>
          </a:p>
          <a:p>
            <a:pPr eaLnBrk="1" hangingPunct="1"/>
            <a:endParaRPr lang="en-US" dirty="0"/>
          </a:p>
          <a:p>
            <a:pPr eaLnBrk="1" hangingPunct="1">
              <a:buFont typeface="Wingdings" pitchFamily="2" charset="2"/>
              <a:buNone/>
            </a:pPr>
            <a:r>
              <a:rPr lang="en-US" dirty="0"/>
              <a:t>				 </a:t>
            </a:r>
          </a:p>
        </p:txBody>
      </p:sp>
      <p:sp>
        <p:nvSpPr>
          <p:cNvPr id="88068" name="Slide Number Placeholder 5"/>
          <p:cNvSpPr>
            <a:spLocks noGrp="1"/>
          </p:cNvSpPr>
          <p:nvPr>
            <p:ph type="sldNum" sz="quarter" idx="10"/>
          </p:nvPr>
        </p:nvSpPr>
        <p:spPr>
          <a:xfrm>
            <a:off x="7239000" y="6519863"/>
            <a:ext cx="1905000" cy="338137"/>
          </a:xfrm>
          <a:noFill/>
        </p:spPr>
        <p:txBody>
          <a:bodyPr/>
          <a:lstStyle/>
          <a:p>
            <a:fld id="{C076F646-C883-4278-B2D5-91C8A974C08B}" type="slidenum">
              <a:rPr lang="en-US" smtClean="0"/>
              <a:pPr/>
              <a:t>66</a:t>
            </a:fld>
            <a:endParaRPr lang="en-US"/>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a:t>TCTO Policy and Procedures</a:t>
            </a:r>
          </a:p>
        </p:txBody>
      </p:sp>
      <p:sp>
        <p:nvSpPr>
          <p:cNvPr id="90115"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Research Development Test &amp; Evaluation  (RDT&amp;E) can identify a need for</a:t>
            </a:r>
          </a:p>
          <a:p>
            <a:pPr marL="0" indent="0" eaLnBrk="1" hangingPunct="1">
              <a:buNone/>
            </a:pPr>
            <a:endParaRPr lang="en-US" dirty="0"/>
          </a:p>
          <a:p>
            <a:pPr lvl="1" eaLnBrk="1" hangingPunct="1"/>
            <a:r>
              <a:rPr lang="en-US" dirty="0"/>
              <a:t>Support project inspections</a:t>
            </a:r>
          </a:p>
          <a:p>
            <a:pPr lvl="2" eaLnBrk="1" hangingPunct="1"/>
            <a:r>
              <a:rPr lang="en-US" dirty="0"/>
              <a:t>  Contractor unsolicited proposals </a:t>
            </a:r>
          </a:p>
          <a:p>
            <a:pPr lvl="2" eaLnBrk="1" hangingPunct="1"/>
            <a:r>
              <a:rPr lang="en-US" dirty="0"/>
              <a:t>  Diminishing manufacturing sources</a:t>
            </a:r>
          </a:p>
          <a:p>
            <a:pPr lvl="1" eaLnBrk="1" hangingPunct="1"/>
            <a:endParaRPr lang="en-US" dirty="0"/>
          </a:p>
          <a:p>
            <a:pPr eaLnBrk="1" hangingPunct="1">
              <a:buFont typeface="Wingdings" pitchFamily="2" charset="2"/>
              <a:buNone/>
            </a:pPr>
            <a:r>
              <a:rPr lang="en-US" dirty="0"/>
              <a:t>					 </a:t>
            </a:r>
          </a:p>
        </p:txBody>
      </p:sp>
      <p:sp>
        <p:nvSpPr>
          <p:cNvPr id="90116" name="Slide Number Placeholder 5"/>
          <p:cNvSpPr>
            <a:spLocks noGrp="1"/>
          </p:cNvSpPr>
          <p:nvPr>
            <p:ph type="sldNum" sz="quarter" idx="10"/>
          </p:nvPr>
        </p:nvSpPr>
        <p:spPr>
          <a:xfrm>
            <a:off x="7239000" y="6519863"/>
            <a:ext cx="1905000" cy="338137"/>
          </a:xfrm>
          <a:noFill/>
        </p:spPr>
        <p:txBody>
          <a:bodyPr/>
          <a:lstStyle/>
          <a:p>
            <a:fld id="{6A120FCB-E456-482D-A971-5ABD733BF2C7}" type="slidenum">
              <a:rPr lang="en-US" smtClean="0"/>
              <a:pPr/>
              <a:t>67</a:t>
            </a:fld>
            <a:endParaRPr lang="en-US"/>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t>TCTO Policy and Procedures</a:t>
            </a:r>
          </a:p>
        </p:txBody>
      </p:sp>
      <p:sp>
        <p:nvSpPr>
          <p:cNvPr id="91139" name="Rectangle 3"/>
          <p:cNvSpPr>
            <a:spLocks noGrp="1" noChangeArrowheads="1"/>
          </p:cNvSpPr>
          <p:nvPr>
            <p:ph idx="1"/>
          </p:nvPr>
        </p:nvSpPr>
        <p:spPr/>
        <p:txBody>
          <a:bodyPr/>
          <a:lstStyle/>
          <a:p>
            <a:pPr eaLnBrk="1" hangingPunct="1"/>
            <a:r>
              <a:rPr lang="en-US" dirty="0"/>
              <a:t>Purpose of TCTOs </a:t>
            </a:r>
          </a:p>
          <a:p>
            <a:pPr eaLnBrk="1" hangingPunct="1"/>
            <a:r>
              <a:rPr lang="en-US" dirty="0"/>
              <a:t>Types of Requirements/Modifications </a:t>
            </a:r>
          </a:p>
          <a:p>
            <a:pPr eaLnBrk="1" hangingPunct="1"/>
            <a:r>
              <a:rPr lang="en-US" dirty="0"/>
              <a:t>Material Failures</a:t>
            </a:r>
          </a:p>
          <a:p>
            <a:pPr lvl="1" eaLnBrk="1" hangingPunct="1"/>
            <a:r>
              <a:rPr lang="en-US" dirty="0"/>
              <a:t>High Demands</a:t>
            </a:r>
          </a:p>
          <a:p>
            <a:pPr lvl="1" eaLnBrk="1" hangingPunct="1"/>
            <a:r>
              <a:rPr lang="en-US" dirty="0"/>
              <a:t>Analytical Condition Inspection  (ACI)</a:t>
            </a:r>
          </a:p>
          <a:p>
            <a:pPr lvl="2" eaLnBrk="1" hangingPunct="1"/>
            <a:r>
              <a:rPr lang="en-US" dirty="0"/>
              <a:t>  Determine defects in end item/Equipment including Non-</a:t>
            </a:r>
          </a:p>
          <a:p>
            <a:pPr marL="852488" lvl="2" indent="0" eaLnBrk="1" hangingPunct="1">
              <a:buNone/>
            </a:pPr>
            <a:r>
              <a:rPr lang="en-US" dirty="0"/>
              <a:t>    Destructive Inspection (NDI)</a:t>
            </a:r>
          </a:p>
          <a:p>
            <a:pPr lvl="1" eaLnBrk="1" hangingPunct="1"/>
            <a:r>
              <a:rPr lang="en-US" dirty="0"/>
              <a:t>Aircraft Structural Integrity Program </a:t>
            </a:r>
          </a:p>
          <a:p>
            <a:pPr lvl="2" eaLnBrk="1" hangingPunct="1"/>
            <a:r>
              <a:rPr lang="en-US" dirty="0"/>
              <a:t>  Inspection program to determine the strength of the aircraft and</a:t>
            </a:r>
          </a:p>
          <a:p>
            <a:pPr marL="852488" lvl="2" indent="0" eaLnBrk="1" hangingPunct="1">
              <a:buNone/>
            </a:pPr>
            <a:r>
              <a:rPr lang="en-US" dirty="0"/>
              <a:t>    longevity</a:t>
            </a:r>
          </a:p>
          <a:p>
            <a:pPr eaLnBrk="1" hangingPunct="1">
              <a:buFont typeface="Wingdings" pitchFamily="2" charset="2"/>
              <a:buNone/>
            </a:pPr>
            <a:r>
              <a:rPr lang="en-US" dirty="0"/>
              <a:t>				 </a:t>
            </a:r>
          </a:p>
        </p:txBody>
      </p:sp>
      <p:sp>
        <p:nvSpPr>
          <p:cNvPr id="91140" name="Slide Number Placeholder 5"/>
          <p:cNvSpPr>
            <a:spLocks noGrp="1"/>
          </p:cNvSpPr>
          <p:nvPr>
            <p:ph type="sldNum" sz="quarter" idx="10"/>
          </p:nvPr>
        </p:nvSpPr>
        <p:spPr>
          <a:xfrm>
            <a:off x="7239000" y="6519863"/>
            <a:ext cx="1905000" cy="338137"/>
          </a:xfrm>
          <a:noFill/>
        </p:spPr>
        <p:txBody>
          <a:bodyPr/>
          <a:lstStyle/>
          <a:p>
            <a:fld id="{B680F0E9-17E1-4945-82B0-4AAA9F0CBC3C}" type="slidenum">
              <a:rPr lang="en-US" smtClean="0"/>
              <a:pPr/>
              <a:t>68</a:t>
            </a:fld>
            <a:endParaRPr lang="en-US"/>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t>TCTO Policy and Procedures</a:t>
            </a:r>
          </a:p>
        </p:txBody>
      </p:sp>
      <p:sp>
        <p:nvSpPr>
          <p:cNvPr id="92163" name="Rectangle 3"/>
          <p:cNvSpPr>
            <a:spLocks noGrp="1" noChangeArrowheads="1"/>
          </p:cNvSpPr>
          <p:nvPr>
            <p:ph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Objective:  Define TCTO numbering procedures</a:t>
            </a:r>
          </a:p>
        </p:txBody>
      </p:sp>
      <p:sp>
        <p:nvSpPr>
          <p:cNvPr id="92164" name="Slide Number Placeholder 5"/>
          <p:cNvSpPr>
            <a:spLocks noGrp="1"/>
          </p:cNvSpPr>
          <p:nvPr>
            <p:ph type="sldNum" sz="quarter" idx="10"/>
          </p:nvPr>
        </p:nvSpPr>
        <p:spPr>
          <a:xfrm>
            <a:off x="7239000" y="6519863"/>
            <a:ext cx="1905000" cy="338137"/>
          </a:xfrm>
          <a:noFill/>
        </p:spPr>
        <p:txBody>
          <a:bodyPr/>
          <a:lstStyle/>
          <a:p>
            <a:fld id="{6A7DABE6-13DB-4198-8F3C-5AC354A80D7F}" type="slidenum">
              <a:rPr lang="en-US" smtClean="0"/>
              <a:pPr/>
              <a:t>69</a:t>
            </a:fld>
            <a:endParaRPr 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t>TCTO Policy and Procedures</a:t>
            </a:r>
          </a:p>
        </p:txBody>
      </p:sp>
      <p:sp>
        <p:nvSpPr>
          <p:cNvPr id="93187" name="Rectangle 3"/>
          <p:cNvSpPr>
            <a:spLocks noGrp="1" noChangeArrowheads="1"/>
          </p:cNvSpPr>
          <p:nvPr>
            <p:ph idx="1"/>
          </p:nvPr>
        </p:nvSpPr>
        <p:spPr/>
        <p:txBody>
          <a:bodyPr/>
          <a:lstStyle/>
          <a:p>
            <a:pPr eaLnBrk="1" hangingPunct="1"/>
            <a:r>
              <a:rPr lang="en-US" dirty="0"/>
              <a:t>Numbering</a:t>
            </a:r>
          </a:p>
          <a:p>
            <a:pPr eaLnBrk="1" hangingPunct="1"/>
            <a:endParaRPr lang="en-US" dirty="0"/>
          </a:p>
          <a:p>
            <a:pPr lvl="1" eaLnBrk="1" hangingPunct="1"/>
            <a:r>
              <a:rPr lang="en-US" dirty="0"/>
              <a:t>TCTO Numbers</a:t>
            </a:r>
          </a:p>
          <a:p>
            <a:pPr lvl="1" eaLnBrk="1" hangingPunct="1"/>
            <a:r>
              <a:rPr lang="en-US" dirty="0"/>
              <a:t>Data Codes</a:t>
            </a:r>
          </a:p>
          <a:p>
            <a:pPr lvl="1" eaLnBrk="1" hangingPunct="1"/>
            <a:r>
              <a:rPr lang="en-US" dirty="0"/>
              <a:t>TCTO Issue Date</a:t>
            </a:r>
          </a:p>
        </p:txBody>
      </p:sp>
      <p:sp>
        <p:nvSpPr>
          <p:cNvPr id="93188" name="Slide Number Placeholder 5"/>
          <p:cNvSpPr>
            <a:spLocks noGrp="1"/>
          </p:cNvSpPr>
          <p:nvPr>
            <p:ph type="sldNum" sz="quarter" idx="10"/>
          </p:nvPr>
        </p:nvSpPr>
        <p:spPr>
          <a:xfrm>
            <a:off x="7239000" y="6519863"/>
            <a:ext cx="1905000" cy="338137"/>
          </a:xfrm>
          <a:noFill/>
        </p:spPr>
        <p:txBody>
          <a:bodyPr/>
          <a:lstStyle/>
          <a:p>
            <a:fld id="{0FEFB3C3-2E51-431E-8E79-DB073E7D9F74}" type="slidenum">
              <a:rPr lang="en-US" smtClean="0"/>
              <a:pPr/>
              <a:t>70</a:t>
            </a:fld>
            <a:endParaRPr lang="en-US"/>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t>TCTO Policy and Procedures</a:t>
            </a:r>
          </a:p>
        </p:txBody>
      </p:sp>
      <p:sp>
        <p:nvSpPr>
          <p:cNvPr id="94211" name="Rectangle 3"/>
          <p:cNvSpPr>
            <a:spLocks noGrp="1" noChangeArrowheads="1"/>
          </p:cNvSpPr>
          <p:nvPr>
            <p:ph idx="1"/>
          </p:nvPr>
        </p:nvSpPr>
        <p:spPr/>
        <p:txBody>
          <a:bodyPr/>
          <a:lstStyle/>
          <a:p>
            <a:pPr eaLnBrk="1" hangingPunct="1"/>
            <a:r>
              <a:rPr lang="en-US" dirty="0"/>
              <a:t>Numbering</a:t>
            </a:r>
          </a:p>
          <a:p>
            <a:pPr eaLnBrk="1" hangingPunct="1"/>
            <a:endParaRPr lang="en-US" dirty="0"/>
          </a:p>
          <a:p>
            <a:pPr eaLnBrk="1" hangingPunct="1"/>
            <a:r>
              <a:rPr lang="en-US" dirty="0"/>
              <a:t>TCTO Numbers</a:t>
            </a:r>
          </a:p>
          <a:p>
            <a:pPr eaLnBrk="1" hangingPunct="1"/>
            <a:endParaRPr lang="en-US" dirty="0"/>
          </a:p>
          <a:p>
            <a:pPr lvl="1" eaLnBrk="1" hangingPunct="1"/>
            <a:r>
              <a:rPr lang="en-US" dirty="0"/>
              <a:t>Categorized on TO numbers (T.O. 00-5-18, page 1-3)</a:t>
            </a:r>
          </a:p>
          <a:p>
            <a:pPr lvl="2" eaLnBrk="1" hangingPunct="1"/>
            <a:r>
              <a:rPr lang="en-US" dirty="0"/>
              <a:t>  Based on functional usage </a:t>
            </a:r>
          </a:p>
          <a:p>
            <a:pPr lvl="2" eaLnBrk="1" hangingPunct="1"/>
            <a:r>
              <a:rPr lang="en-US" dirty="0"/>
              <a:t>  Or family groupings </a:t>
            </a:r>
          </a:p>
          <a:p>
            <a:pPr eaLnBrk="1" hangingPunct="1">
              <a:buFont typeface="Wingdings" pitchFamily="2" charset="2"/>
              <a:buNone/>
            </a:pPr>
            <a:r>
              <a:rPr lang="en-US" dirty="0"/>
              <a:t>	</a:t>
            </a:r>
          </a:p>
          <a:p>
            <a:pPr eaLnBrk="1" hangingPunct="1"/>
            <a:endParaRPr lang="en-US" dirty="0"/>
          </a:p>
        </p:txBody>
      </p:sp>
      <p:sp>
        <p:nvSpPr>
          <p:cNvPr id="94212" name="Slide Number Placeholder 5"/>
          <p:cNvSpPr>
            <a:spLocks noGrp="1"/>
          </p:cNvSpPr>
          <p:nvPr>
            <p:ph type="sldNum" sz="quarter" idx="10"/>
          </p:nvPr>
        </p:nvSpPr>
        <p:spPr>
          <a:xfrm>
            <a:off x="7239000" y="6519863"/>
            <a:ext cx="1905000" cy="338137"/>
          </a:xfrm>
          <a:noFill/>
        </p:spPr>
        <p:txBody>
          <a:bodyPr/>
          <a:lstStyle/>
          <a:p>
            <a:fld id="{C093B3AD-F0F7-4AA2-8C90-37766AEABB2B}" type="slidenum">
              <a:rPr lang="en-US" smtClean="0"/>
              <a:pPr/>
              <a:t>71</a:t>
            </a:fld>
            <a:endParaRPr lang="en-US"/>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a:t>TCTO Policy and Procedures</a:t>
            </a:r>
          </a:p>
        </p:txBody>
      </p:sp>
      <p:sp>
        <p:nvSpPr>
          <p:cNvPr id="95235" name="Rectangle 3"/>
          <p:cNvSpPr>
            <a:spLocks noGrp="1" noChangeArrowheads="1"/>
          </p:cNvSpPr>
          <p:nvPr>
            <p:ph idx="1"/>
          </p:nvPr>
        </p:nvSpPr>
        <p:spPr/>
        <p:txBody>
          <a:bodyPr/>
          <a:lstStyle/>
          <a:p>
            <a:pPr eaLnBrk="1" hangingPunct="1"/>
            <a:r>
              <a:rPr lang="en-US" dirty="0"/>
              <a:t>Numbering</a:t>
            </a:r>
          </a:p>
          <a:p>
            <a:pPr eaLnBrk="1" hangingPunct="1"/>
            <a:endParaRPr lang="en-US" dirty="0"/>
          </a:p>
          <a:p>
            <a:pPr eaLnBrk="1" hangingPunct="1"/>
            <a:r>
              <a:rPr lang="en-US" dirty="0"/>
              <a:t>TCTO Numbers </a:t>
            </a:r>
          </a:p>
          <a:p>
            <a:pPr eaLnBrk="1" hangingPunct="1"/>
            <a:endParaRPr lang="en-US" dirty="0"/>
          </a:p>
          <a:p>
            <a:pPr lvl="1" eaLnBrk="1" hangingPunct="1"/>
            <a:r>
              <a:rPr lang="en-US" dirty="0"/>
              <a:t>Number Supplements:</a:t>
            </a:r>
          </a:p>
          <a:p>
            <a:pPr lvl="2" eaLnBrk="1" hangingPunct="1"/>
            <a:r>
              <a:rPr lang="en-US" dirty="0"/>
              <a:t>  By adding a suffix to the basic TCTO  number</a:t>
            </a:r>
          </a:p>
          <a:p>
            <a:pPr lvl="2" eaLnBrk="1" hangingPunct="1"/>
            <a:endParaRPr lang="en-US" dirty="0"/>
          </a:p>
          <a:p>
            <a:pPr lvl="1" eaLnBrk="1" hangingPunct="1"/>
            <a:r>
              <a:rPr lang="en-US" dirty="0"/>
              <a:t>Supplements carry the same rescission as the basic</a:t>
            </a:r>
          </a:p>
          <a:p>
            <a:pPr lvl="2" eaLnBrk="1" hangingPunct="1"/>
            <a:r>
              <a:rPr lang="en-US" dirty="0"/>
              <a:t>  Unless they explicitly change the date</a:t>
            </a:r>
          </a:p>
        </p:txBody>
      </p:sp>
      <p:sp>
        <p:nvSpPr>
          <p:cNvPr id="95236" name="Slide Number Placeholder 5"/>
          <p:cNvSpPr>
            <a:spLocks noGrp="1"/>
          </p:cNvSpPr>
          <p:nvPr>
            <p:ph type="sldNum" sz="quarter" idx="10"/>
          </p:nvPr>
        </p:nvSpPr>
        <p:spPr>
          <a:xfrm>
            <a:off x="7239000" y="6519863"/>
            <a:ext cx="1905000" cy="338137"/>
          </a:xfrm>
          <a:noFill/>
        </p:spPr>
        <p:txBody>
          <a:bodyPr/>
          <a:lstStyle/>
          <a:p>
            <a:fld id="{E45189D7-A6A9-4F0D-8F79-36FA52404289}" type="slidenum">
              <a:rPr lang="en-US" smtClean="0"/>
              <a:pPr/>
              <a:t>72</a:t>
            </a:fld>
            <a:endParaRPr 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a:t>TCTO Policy and Procedures</a:t>
            </a:r>
          </a:p>
        </p:txBody>
      </p:sp>
      <p:sp>
        <p:nvSpPr>
          <p:cNvPr id="96259" name="Rectangle 3"/>
          <p:cNvSpPr>
            <a:spLocks noGrp="1" noChangeArrowheads="1"/>
          </p:cNvSpPr>
          <p:nvPr>
            <p:ph idx="1"/>
          </p:nvPr>
        </p:nvSpPr>
        <p:spPr/>
        <p:txBody>
          <a:bodyPr/>
          <a:lstStyle/>
          <a:p>
            <a:pPr eaLnBrk="1" hangingPunct="1"/>
            <a:r>
              <a:rPr lang="en-US" dirty="0"/>
              <a:t>Numbering</a:t>
            </a:r>
          </a:p>
          <a:p>
            <a:pPr eaLnBrk="1" hangingPunct="1"/>
            <a:endParaRPr lang="en-US" dirty="0"/>
          </a:p>
          <a:p>
            <a:pPr eaLnBrk="1" hangingPunct="1"/>
            <a:r>
              <a:rPr lang="en-US" dirty="0"/>
              <a:t>TCTO Numbers</a:t>
            </a:r>
          </a:p>
          <a:p>
            <a:pPr eaLnBrk="1" hangingPunct="1"/>
            <a:endParaRPr lang="en-US" dirty="0"/>
          </a:p>
          <a:p>
            <a:pPr lvl="1" eaLnBrk="1" hangingPunct="1"/>
            <a:r>
              <a:rPr lang="en-US" dirty="0"/>
              <a:t>Supplement number is same as the basic TCTO number</a:t>
            </a:r>
          </a:p>
          <a:p>
            <a:pPr lvl="2" eaLnBrk="1" hangingPunct="1"/>
            <a:r>
              <a:rPr lang="en-US" dirty="0"/>
              <a:t>  With a suffix letter added to the number</a:t>
            </a:r>
          </a:p>
          <a:p>
            <a:pPr lvl="2" eaLnBrk="1" hangingPunct="1"/>
            <a:r>
              <a:rPr lang="en-US" dirty="0"/>
              <a:t>  E.g., 1F-15-503C, 1F-15-503D</a:t>
            </a:r>
          </a:p>
          <a:p>
            <a:pPr lvl="2" eaLnBrk="1" hangingPunct="1"/>
            <a:r>
              <a:rPr lang="en-US" dirty="0"/>
              <a:t>  Letters A and B for classified supplements</a:t>
            </a:r>
          </a:p>
          <a:p>
            <a:pPr lvl="2" eaLnBrk="1" hangingPunct="1"/>
            <a:r>
              <a:rPr lang="en-US" dirty="0"/>
              <a:t>  I and O not used to avoid confusion</a:t>
            </a:r>
          </a:p>
          <a:p>
            <a:pPr lvl="1" eaLnBrk="1" hangingPunct="1"/>
            <a:endParaRPr lang="en-US" dirty="0"/>
          </a:p>
          <a:p>
            <a:pPr eaLnBrk="1" hangingPunct="1"/>
            <a:endParaRPr lang="en-US" dirty="0"/>
          </a:p>
          <a:p>
            <a:pPr eaLnBrk="1" hangingPunct="1"/>
            <a:endParaRPr lang="en-US" dirty="0"/>
          </a:p>
        </p:txBody>
      </p:sp>
      <p:sp>
        <p:nvSpPr>
          <p:cNvPr id="96260" name="Slide Number Placeholder 5"/>
          <p:cNvSpPr>
            <a:spLocks noGrp="1"/>
          </p:cNvSpPr>
          <p:nvPr>
            <p:ph type="sldNum" sz="quarter" idx="10"/>
          </p:nvPr>
        </p:nvSpPr>
        <p:spPr>
          <a:xfrm>
            <a:off x="7239000" y="6519863"/>
            <a:ext cx="1905000" cy="338137"/>
          </a:xfrm>
          <a:noFill/>
        </p:spPr>
        <p:txBody>
          <a:bodyPr/>
          <a:lstStyle/>
          <a:p>
            <a:fld id="{222EE6A3-0BD6-46B4-B150-578CE8EAFB00}" type="slidenum">
              <a:rPr lang="en-US" smtClean="0"/>
              <a:pPr/>
              <a:t>73</a:t>
            </a:fld>
            <a:endParaRPr lang="en-US"/>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a:t>TCTO Policy and Procedures</a:t>
            </a:r>
          </a:p>
        </p:txBody>
      </p:sp>
      <p:sp>
        <p:nvSpPr>
          <p:cNvPr id="97283" name="Rectangle 3"/>
          <p:cNvSpPr>
            <a:spLocks noGrp="1" noChangeArrowheads="1"/>
          </p:cNvSpPr>
          <p:nvPr>
            <p:ph idx="1"/>
          </p:nvPr>
        </p:nvSpPr>
        <p:spPr/>
        <p:txBody>
          <a:bodyPr/>
          <a:lstStyle/>
          <a:p>
            <a:pPr eaLnBrk="1" hangingPunct="1"/>
            <a:r>
              <a:rPr lang="en-US" dirty="0"/>
              <a:t>Numbering  </a:t>
            </a:r>
          </a:p>
          <a:p>
            <a:pPr eaLnBrk="1" hangingPunct="1"/>
            <a:endParaRPr lang="en-US" dirty="0"/>
          </a:p>
          <a:p>
            <a:pPr eaLnBrk="1" hangingPunct="1"/>
            <a:r>
              <a:rPr lang="en-US" dirty="0"/>
              <a:t>Data Codes.</a:t>
            </a:r>
          </a:p>
          <a:p>
            <a:pPr eaLnBrk="1" hangingPunct="1"/>
            <a:endParaRPr lang="en-US" dirty="0"/>
          </a:p>
          <a:p>
            <a:pPr lvl="1" eaLnBrk="1" hangingPunct="1"/>
            <a:r>
              <a:rPr lang="en-US" dirty="0"/>
              <a:t>Assign a REMIS identifiable, data code to each TCTO</a:t>
            </a:r>
          </a:p>
          <a:p>
            <a:pPr lvl="2" eaLnBrk="1" hangingPunct="1"/>
            <a:r>
              <a:rPr lang="en-US" dirty="0"/>
              <a:t>  Link between TCTO and it’s Kits</a:t>
            </a:r>
          </a:p>
          <a:p>
            <a:pPr lvl="2" eaLnBrk="1" hangingPunct="1"/>
            <a:r>
              <a:rPr lang="en-US" dirty="0"/>
              <a:t>  Data code part of the Kit NSN</a:t>
            </a:r>
          </a:p>
          <a:p>
            <a:pPr lvl="1" eaLnBrk="1" hangingPunct="1"/>
            <a:endParaRPr lang="en-US" dirty="0"/>
          </a:p>
          <a:p>
            <a:pPr lvl="1" eaLnBrk="1" hangingPunct="1"/>
            <a:endParaRPr lang="en-US" dirty="0"/>
          </a:p>
          <a:p>
            <a:pPr lvl="1" eaLnBrk="1" hangingPunct="1"/>
            <a:endParaRPr lang="en-US" dirty="0"/>
          </a:p>
          <a:p>
            <a:pPr eaLnBrk="1" hangingPunct="1"/>
            <a:endParaRPr lang="en-US" dirty="0"/>
          </a:p>
          <a:p>
            <a:pPr eaLnBrk="1" hangingPunct="1"/>
            <a:endParaRPr lang="en-US" dirty="0"/>
          </a:p>
          <a:p>
            <a:pPr eaLnBrk="1" hangingPunct="1">
              <a:buFont typeface="Wingdings" pitchFamily="2" charset="2"/>
              <a:buNone/>
            </a:pPr>
            <a:r>
              <a:rPr lang="en-US" dirty="0"/>
              <a:t>	</a:t>
            </a:r>
          </a:p>
        </p:txBody>
      </p:sp>
      <p:sp>
        <p:nvSpPr>
          <p:cNvPr id="97284" name="Slide Number Placeholder 5"/>
          <p:cNvSpPr>
            <a:spLocks noGrp="1"/>
          </p:cNvSpPr>
          <p:nvPr>
            <p:ph type="sldNum" sz="quarter" idx="10"/>
          </p:nvPr>
        </p:nvSpPr>
        <p:spPr>
          <a:xfrm>
            <a:off x="7239000" y="6519863"/>
            <a:ext cx="1905000" cy="338137"/>
          </a:xfrm>
          <a:noFill/>
        </p:spPr>
        <p:txBody>
          <a:bodyPr/>
          <a:lstStyle/>
          <a:p>
            <a:fld id="{24E64C3D-CD2F-4B7D-B6D7-79DEC7FD9C84}" type="slidenum">
              <a:rPr lang="en-US" smtClean="0"/>
              <a:pPr/>
              <a:t>74</a:t>
            </a:fld>
            <a:endParaRPr lang="en-US"/>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en-US"/>
              <a:t>TCTO Policy and Procedures</a:t>
            </a:r>
          </a:p>
        </p:txBody>
      </p:sp>
      <p:sp>
        <p:nvSpPr>
          <p:cNvPr id="98307" name="Content Placeholder 8"/>
          <p:cNvSpPr>
            <a:spLocks noGrp="1"/>
          </p:cNvSpPr>
          <p:nvPr>
            <p:ph idx="1"/>
          </p:nvPr>
        </p:nvSpPr>
        <p:spPr/>
        <p:txBody>
          <a:bodyPr/>
          <a:lstStyle/>
          <a:p>
            <a:pPr eaLnBrk="1" hangingPunct="1"/>
            <a:r>
              <a:rPr lang="en-US"/>
              <a:t>Components of a Kit Number</a:t>
            </a:r>
          </a:p>
        </p:txBody>
      </p:sp>
      <p:sp>
        <p:nvSpPr>
          <p:cNvPr id="98308" name="Slide Number Placeholder 5"/>
          <p:cNvSpPr>
            <a:spLocks noGrp="1"/>
          </p:cNvSpPr>
          <p:nvPr>
            <p:ph type="sldNum" sz="quarter" idx="10"/>
          </p:nvPr>
        </p:nvSpPr>
        <p:spPr>
          <a:xfrm>
            <a:off x="7239000" y="6519863"/>
            <a:ext cx="1905000" cy="338137"/>
          </a:xfrm>
          <a:noFill/>
        </p:spPr>
        <p:txBody>
          <a:bodyPr/>
          <a:lstStyle/>
          <a:p>
            <a:fld id="{AC9204A7-9051-4F8A-ACCC-C66F3D9BD50B}" type="slidenum">
              <a:rPr lang="en-US" smtClean="0"/>
              <a:pPr/>
              <a:t>75</a:t>
            </a:fld>
            <a:endParaRPr lang="en-US"/>
          </a:p>
        </p:txBody>
      </p:sp>
      <p:pic>
        <p:nvPicPr>
          <p:cNvPr id="98309" name="Picture 6"/>
          <p:cNvPicPr>
            <a:picLocks noChangeAspect="1" noChangeArrowheads="1"/>
          </p:cNvPicPr>
          <p:nvPr/>
        </p:nvPicPr>
        <p:blipFill>
          <a:blip r:embed="rId3" cstate="print"/>
          <a:srcRect l="14844" t="43750" b="11458"/>
          <a:stretch>
            <a:fillRect/>
          </a:stretch>
        </p:blipFill>
        <p:spPr bwMode="auto">
          <a:xfrm>
            <a:off x="388961" y="2813713"/>
            <a:ext cx="8305800" cy="3276600"/>
          </a:xfrm>
          <a:prstGeom prst="rect">
            <a:avLst/>
          </a:prstGeom>
          <a:noFill/>
          <a:ln w="9525">
            <a:noFill/>
            <a:miter lim="800000"/>
            <a:headEnd/>
            <a:tailEnd/>
          </a:ln>
        </p:spPr>
      </p:pic>
      <p:sp>
        <p:nvSpPr>
          <p:cNvPr id="98310" name="Text Box 8"/>
          <p:cNvSpPr txBox="1">
            <a:spLocks noChangeArrowheads="1"/>
          </p:cNvSpPr>
          <p:nvPr/>
        </p:nvSpPr>
        <p:spPr bwMode="auto">
          <a:xfrm>
            <a:off x="2133600" y="1676400"/>
            <a:ext cx="685800" cy="304800"/>
          </a:xfrm>
          <a:prstGeom prst="rect">
            <a:avLst/>
          </a:prstGeom>
          <a:noFill/>
          <a:ln w="9525">
            <a:noFill/>
            <a:miter lim="800000"/>
            <a:headEnd/>
            <a:tailEnd/>
          </a:ln>
        </p:spPr>
        <p:txBody>
          <a:bodyPr>
            <a:spAutoFit/>
          </a:bodyPr>
          <a:lstStyle/>
          <a:p>
            <a:pPr>
              <a:spcBef>
                <a:spcPct val="50000"/>
              </a:spcBef>
            </a:pPr>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en-US"/>
              <a:t>TCTO Policy and Procedures</a:t>
            </a:r>
          </a:p>
        </p:txBody>
      </p:sp>
      <p:sp>
        <p:nvSpPr>
          <p:cNvPr id="99331" name="Rectangle 3"/>
          <p:cNvSpPr>
            <a:spLocks noGrp="1" noChangeArrowheads="1"/>
          </p:cNvSpPr>
          <p:nvPr>
            <p:ph idx="1"/>
          </p:nvPr>
        </p:nvSpPr>
        <p:spPr/>
        <p:txBody>
          <a:bodyPr/>
          <a:lstStyle/>
          <a:p>
            <a:pPr eaLnBrk="1" hangingPunct="1"/>
            <a:r>
              <a:rPr lang="en-US" dirty="0"/>
              <a:t>Numbering</a:t>
            </a:r>
          </a:p>
          <a:p>
            <a:pPr eaLnBrk="1" hangingPunct="1"/>
            <a:endParaRPr lang="en-US" dirty="0"/>
          </a:p>
          <a:p>
            <a:pPr eaLnBrk="1" hangingPunct="1"/>
            <a:r>
              <a:rPr lang="en-US" dirty="0"/>
              <a:t>Data Codes cont.</a:t>
            </a:r>
          </a:p>
          <a:p>
            <a:pPr eaLnBrk="1" hangingPunct="1">
              <a:buFont typeface="Wingdings" pitchFamily="2" charset="2"/>
              <a:buNone/>
            </a:pPr>
            <a:r>
              <a:rPr lang="en-US" dirty="0"/>
              <a:t>    </a:t>
            </a:r>
          </a:p>
          <a:p>
            <a:pPr lvl="1" eaLnBrk="1" hangingPunct="1"/>
            <a:r>
              <a:rPr lang="en-US" dirty="0"/>
              <a:t>Data  Code Appears </a:t>
            </a:r>
          </a:p>
          <a:p>
            <a:pPr lvl="2" eaLnBrk="1" hangingPunct="1"/>
            <a:r>
              <a:rPr lang="en-US" dirty="0"/>
              <a:t>  Upper right-hand corner</a:t>
            </a:r>
          </a:p>
          <a:p>
            <a:pPr lvl="2" eaLnBrk="1" hangingPunct="1"/>
            <a:r>
              <a:rPr lang="en-US" dirty="0"/>
              <a:t>  Below the TCTO number</a:t>
            </a:r>
          </a:p>
          <a:p>
            <a:pPr lvl="2" eaLnBrk="1" hangingPunct="1"/>
            <a:endParaRPr lang="en-US" dirty="0"/>
          </a:p>
          <a:p>
            <a:pPr lvl="1" eaLnBrk="1" hangingPunct="1"/>
            <a:r>
              <a:rPr lang="en-US" dirty="0"/>
              <a:t>REMIS cross-reference between </a:t>
            </a:r>
          </a:p>
          <a:p>
            <a:pPr lvl="2" eaLnBrk="1" hangingPunct="1"/>
            <a:r>
              <a:rPr lang="en-US" dirty="0"/>
              <a:t>  Data code</a:t>
            </a:r>
          </a:p>
          <a:p>
            <a:pPr lvl="2" eaLnBrk="1" hangingPunct="1"/>
            <a:r>
              <a:rPr lang="en-US" dirty="0"/>
              <a:t>  TCTO numbers</a:t>
            </a:r>
          </a:p>
          <a:p>
            <a:pPr eaLnBrk="1" hangingPunct="1">
              <a:buFont typeface="Wingdings" pitchFamily="2" charset="2"/>
              <a:buNone/>
            </a:pPr>
            <a:r>
              <a:rPr lang="en-US" dirty="0"/>
              <a:t>	</a:t>
            </a:r>
          </a:p>
        </p:txBody>
      </p:sp>
      <p:sp>
        <p:nvSpPr>
          <p:cNvPr id="99332" name="Slide Number Placeholder 5"/>
          <p:cNvSpPr>
            <a:spLocks noGrp="1"/>
          </p:cNvSpPr>
          <p:nvPr>
            <p:ph type="sldNum" sz="quarter" idx="10"/>
          </p:nvPr>
        </p:nvSpPr>
        <p:spPr>
          <a:xfrm>
            <a:off x="7239000" y="6519863"/>
            <a:ext cx="1905000" cy="338137"/>
          </a:xfrm>
          <a:noFill/>
        </p:spPr>
        <p:txBody>
          <a:bodyPr/>
          <a:lstStyle/>
          <a:p>
            <a:fld id="{36102170-7092-4729-A32B-BA1CA2F91CBD}" type="slidenum">
              <a:rPr lang="en-US" smtClean="0"/>
              <a:pPr/>
              <a:t>76</a:t>
            </a:fld>
            <a:endParaRPr lang="en-US"/>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a:t>TCTO Policy and Procedures</a:t>
            </a:r>
          </a:p>
        </p:txBody>
      </p:sp>
      <p:sp>
        <p:nvSpPr>
          <p:cNvPr id="100355" name="Rectangle 3"/>
          <p:cNvSpPr>
            <a:spLocks noGrp="1" noChangeArrowheads="1"/>
          </p:cNvSpPr>
          <p:nvPr>
            <p:ph idx="1"/>
          </p:nvPr>
        </p:nvSpPr>
        <p:spPr/>
        <p:txBody>
          <a:bodyPr/>
          <a:lstStyle/>
          <a:p>
            <a:pPr eaLnBrk="1" hangingPunct="1"/>
            <a:r>
              <a:rPr lang="en-US" dirty="0"/>
              <a:t>Numbering</a:t>
            </a:r>
          </a:p>
          <a:p>
            <a:pPr eaLnBrk="1" hangingPunct="1"/>
            <a:endParaRPr lang="en-US" dirty="0"/>
          </a:p>
          <a:p>
            <a:pPr eaLnBrk="1" hangingPunct="1"/>
            <a:r>
              <a:rPr lang="en-US" dirty="0"/>
              <a:t>Data Codes cont.</a:t>
            </a:r>
          </a:p>
          <a:p>
            <a:pPr lvl="1" eaLnBrk="1" hangingPunct="1"/>
            <a:r>
              <a:rPr lang="en-US" dirty="0"/>
              <a:t>First two digits identify TO category</a:t>
            </a:r>
          </a:p>
          <a:p>
            <a:pPr marL="447675" lvl="1" indent="0" eaLnBrk="1" hangingPunct="1">
              <a:buNone/>
            </a:pPr>
            <a:endParaRPr lang="en-US" dirty="0"/>
          </a:p>
          <a:p>
            <a:pPr lvl="1" eaLnBrk="1" hangingPunct="1"/>
            <a:r>
              <a:rPr lang="en-US" dirty="0"/>
              <a:t>Remaining five digits identify and maintain serialization control</a:t>
            </a:r>
          </a:p>
          <a:p>
            <a:pPr marL="447675" lvl="1" indent="0" eaLnBrk="1" hangingPunct="1">
              <a:buNone/>
            </a:pPr>
            <a:endParaRPr lang="en-US" dirty="0"/>
          </a:p>
          <a:p>
            <a:pPr lvl="1" eaLnBrk="1" hangingPunct="1"/>
            <a:r>
              <a:rPr lang="en-US" dirty="0"/>
              <a:t>Data code 3306871 indicates:</a:t>
            </a:r>
          </a:p>
          <a:p>
            <a:pPr lvl="2" eaLnBrk="1" hangingPunct="1"/>
            <a:r>
              <a:rPr lang="en-US" dirty="0"/>
              <a:t>TO category 33 (test equipment)</a:t>
            </a:r>
          </a:p>
          <a:p>
            <a:pPr lvl="2" eaLnBrk="1" hangingPunct="1"/>
            <a:r>
              <a:rPr lang="en-US" dirty="0"/>
              <a:t>06871 represents unique identity and serial control number</a:t>
            </a:r>
          </a:p>
        </p:txBody>
      </p:sp>
      <p:sp>
        <p:nvSpPr>
          <p:cNvPr id="100356" name="Slide Number Placeholder 5"/>
          <p:cNvSpPr>
            <a:spLocks noGrp="1"/>
          </p:cNvSpPr>
          <p:nvPr>
            <p:ph type="sldNum" sz="quarter" idx="10"/>
          </p:nvPr>
        </p:nvSpPr>
        <p:spPr>
          <a:xfrm>
            <a:off x="7239000" y="6519863"/>
            <a:ext cx="1905000" cy="338137"/>
          </a:xfrm>
          <a:noFill/>
        </p:spPr>
        <p:txBody>
          <a:bodyPr/>
          <a:lstStyle/>
          <a:p>
            <a:fld id="{C144AA2B-556B-425A-A7D3-A10F167CFF5F}" type="slidenum">
              <a:rPr lang="en-US" smtClean="0"/>
              <a:pPr/>
              <a:t>77</a:t>
            </a:fld>
            <a:endParaRPr lang="en-US"/>
          </a:p>
        </p:txBody>
      </p:sp>
    </p:spTree>
  </p:cSld>
  <p:clrMapOvr>
    <a:masterClrMapping/>
  </p:clrMapOvr>
  <p:transition/>
  <p:extLst>
    <p:ext uri="{6950BFC3-D8DA-4A85-94F7-54DA5524770B}">
      <p188:commentRel xmlns:p188="http://schemas.microsoft.com/office/powerpoint/2018/8/main" r:id="rId3"/>
    </p:ext>
  </p:extLs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en-US"/>
              <a:t>TCTO Policy and Procedures</a:t>
            </a:r>
          </a:p>
        </p:txBody>
      </p:sp>
      <p:sp>
        <p:nvSpPr>
          <p:cNvPr id="101379" name="Rectangle 3"/>
          <p:cNvSpPr>
            <a:spLocks noGrp="1" noChangeArrowheads="1"/>
          </p:cNvSpPr>
          <p:nvPr>
            <p:ph idx="1"/>
          </p:nvPr>
        </p:nvSpPr>
        <p:spPr/>
        <p:txBody>
          <a:bodyPr/>
          <a:lstStyle/>
          <a:p>
            <a:pPr eaLnBrk="1" hangingPunct="1"/>
            <a:r>
              <a:rPr lang="en-US" dirty="0"/>
              <a:t>Numbering</a:t>
            </a:r>
          </a:p>
          <a:p>
            <a:pPr eaLnBrk="1" hangingPunct="1"/>
            <a:endParaRPr lang="en-US" dirty="0"/>
          </a:p>
          <a:p>
            <a:pPr eaLnBrk="1" hangingPunct="1"/>
            <a:r>
              <a:rPr lang="en-US" dirty="0"/>
              <a:t>Data Codes cont.</a:t>
            </a:r>
          </a:p>
          <a:p>
            <a:pPr eaLnBrk="1" hangingPunct="1"/>
            <a:endParaRPr lang="en-US" dirty="0"/>
          </a:p>
          <a:p>
            <a:pPr lvl="1" eaLnBrk="1" hangingPunct="1"/>
            <a:r>
              <a:rPr lang="en-US" dirty="0"/>
              <a:t>TCTO numbers obtained from ETIMS</a:t>
            </a:r>
          </a:p>
          <a:p>
            <a:pPr eaLnBrk="1" hangingPunct="1"/>
            <a:endParaRPr lang="en-US" dirty="0"/>
          </a:p>
          <a:p>
            <a:pPr lvl="1" eaLnBrk="1" hangingPunct="1"/>
            <a:r>
              <a:rPr lang="en-US" dirty="0"/>
              <a:t>Data Code numbers from OC-ALC</a:t>
            </a:r>
          </a:p>
          <a:p>
            <a:pPr lvl="2" eaLnBrk="1" hangingPunct="1"/>
            <a:r>
              <a:rPr lang="en-US" dirty="0"/>
              <a:t>Issued through TO manager</a:t>
            </a:r>
          </a:p>
          <a:p>
            <a:pPr lvl="1" eaLnBrk="1" hangingPunct="1"/>
            <a:endParaRPr lang="en-US" dirty="0"/>
          </a:p>
          <a:p>
            <a:pPr lvl="1" eaLnBrk="1" hangingPunct="1"/>
            <a:r>
              <a:rPr lang="en-US" dirty="0"/>
              <a:t>TCTO Supplements with no additional work do not require a new data code</a:t>
            </a:r>
          </a:p>
        </p:txBody>
      </p:sp>
      <p:sp>
        <p:nvSpPr>
          <p:cNvPr id="101380" name="Slide Number Placeholder 5"/>
          <p:cNvSpPr>
            <a:spLocks noGrp="1"/>
          </p:cNvSpPr>
          <p:nvPr>
            <p:ph type="sldNum" sz="quarter" idx="10"/>
          </p:nvPr>
        </p:nvSpPr>
        <p:spPr>
          <a:xfrm>
            <a:off x="7239000" y="6519863"/>
            <a:ext cx="1905000" cy="338137"/>
          </a:xfrm>
          <a:noFill/>
        </p:spPr>
        <p:txBody>
          <a:bodyPr/>
          <a:lstStyle/>
          <a:p>
            <a:fld id="{AA63AFC1-8CE1-47FD-B0CC-84893643FDE8}" type="slidenum">
              <a:rPr lang="en-US" smtClean="0"/>
              <a:pPr/>
              <a:t>78</a:t>
            </a:fld>
            <a:endParaRPr lang="en-US"/>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t>TCTO Policy and Procedures</a:t>
            </a:r>
          </a:p>
        </p:txBody>
      </p:sp>
      <p:sp>
        <p:nvSpPr>
          <p:cNvPr id="102403" name="Rectangle 3"/>
          <p:cNvSpPr>
            <a:spLocks noGrp="1" noChangeArrowheads="1"/>
          </p:cNvSpPr>
          <p:nvPr>
            <p:ph idx="1"/>
          </p:nvPr>
        </p:nvSpPr>
        <p:spPr/>
        <p:txBody>
          <a:bodyPr/>
          <a:lstStyle/>
          <a:p>
            <a:pPr eaLnBrk="1" hangingPunct="1"/>
            <a:r>
              <a:rPr lang="en-US" dirty="0"/>
              <a:t>Numbering</a:t>
            </a:r>
          </a:p>
          <a:p>
            <a:pPr eaLnBrk="1" hangingPunct="1"/>
            <a:endParaRPr lang="en-US" dirty="0"/>
          </a:p>
          <a:p>
            <a:pPr eaLnBrk="1" hangingPunct="1"/>
            <a:r>
              <a:rPr lang="en-US" dirty="0"/>
              <a:t>Data Codes cont.</a:t>
            </a:r>
          </a:p>
          <a:p>
            <a:pPr eaLnBrk="1" hangingPunct="1"/>
            <a:endParaRPr lang="en-US" dirty="0"/>
          </a:p>
          <a:p>
            <a:pPr lvl="1" eaLnBrk="1" hangingPunct="1"/>
            <a:r>
              <a:rPr lang="en-US" dirty="0"/>
              <a:t>Supplements requiring additional work</a:t>
            </a:r>
          </a:p>
          <a:p>
            <a:pPr lvl="2" eaLnBrk="1" hangingPunct="1"/>
            <a:r>
              <a:rPr lang="en-US" dirty="0"/>
              <a:t>  Will have a new data code </a:t>
            </a:r>
          </a:p>
          <a:p>
            <a:pPr lvl="2" eaLnBrk="1" hangingPunct="1"/>
            <a:r>
              <a:rPr lang="en-US" dirty="0"/>
              <a:t>  This ensures: </a:t>
            </a:r>
          </a:p>
          <a:p>
            <a:pPr lvl="3" eaLnBrk="1" hangingPunct="1"/>
            <a:r>
              <a:rPr lang="en-US" dirty="0"/>
              <a:t>Identification of those systems and equipment with previously recorded compliance of a TCTO that requires additional work </a:t>
            </a:r>
          </a:p>
          <a:p>
            <a:pPr lvl="1" eaLnBrk="1" hangingPunct="1"/>
            <a:endParaRPr lang="en-US" dirty="0"/>
          </a:p>
          <a:p>
            <a:pPr lvl="1" eaLnBrk="1" hangingPunct="1"/>
            <a:endParaRPr lang="en-US" dirty="0"/>
          </a:p>
        </p:txBody>
      </p:sp>
      <p:sp>
        <p:nvSpPr>
          <p:cNvPr id="102404" name="Slide Number Placeholder 5"/>
          <p:cNvSpPr>
            <a:spLocks noGrp="1"/>
          </p:cNvSpPr>
          <p:nvPr>
            <p:ph type="sldNum" sz="quarter" idx="10"/>
          </p:nvPr>
        </p:nvSpPr>
        <p:spPr>
          <a:xfrm>
            <a:off x="7239000" y="6519863"/>
            <a:ext cx="1905000" cy="338137"/>
          </a:xfrm>
          <a:noFill/>
        </p:spPr>
        <p:txBody>
          <a:bodyPr/>
          <a:lstStyle/>
          <a:p>
            <a:fld id="{EA06431D-BEE8-48B0-A24A-6F488D456540}" type="slidenum">
              <a:rPr lang="en-US" smtClean="0"/>
              <a:pPr/>
              <a:t>79</a:t>
            </a:fld>
            <a:endParaRPr lang="en-US"/>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en-US"/>
              <a:t>TCTO Policy and Procedures</a:t>
            </a:r>
          </a:p>
        </p:txBody>
      </p:sp>
      <p:sp>
        <p:nvSpPr>
          <p:cNvPr id="103427" name="Rectangle 3"/>
          <p:cNvSpPr>
            <a:spLocks noGrp="1" noChangeArrowheads="1"/>
          </p:cNvSpPr>
          <p:nvPr>
            <p:ph idx="1"/>
          </p:nvPr>
        </p:nvSpPr>
        <p:spPr/>
        <p:txBody>
          <a:bodyPr/>
          <a:lstStyle/>
          <a:p>
            <a:pPr eaLnBrk="1" hangingPunct="1"/>
            <a:r>
              <a:rPr lang="en-US" dirty="0"/>
              <a:t>Numbering</a:t>
            </a:r>
          </a:p>
          <a:p>
            <a:pPr eaLnBrk="1" hangingPunct="1">
              <a:buFont typeface="Wingdings" pitchFamily="2" charset="2"/>
              <a:buNone/>
            </a:pPr>
            <a:endParaRPr lang="en-US" dirty="0"/>
          </a:p>
          <a:p>
            <a:pPr eaLnBrk="1" hangingPunct="1"/>
            <a:r>
              <a:rPr lang="en-US" dirty="0"/>
              <a:t>TCTO Issue Date</a:t>
            </a:r>
          </a:p>
          <a:p>
            <a:pPr marL="0" indent="0" eaLnBrk="1" hangingPunct="1">
              <a:buNone/>
            </a:pPr>
            <a:endParaRPr lang="en-US" dirty="0"/>
          </a:p>
          <a:p>
            <a:pPr lvl="1" eaLnBrk="1" hangingPunct="1"/>
            <a:r>
              <a:rPr lang="en-US" dirty="0"/>
              <a:t> The release date of:</a:t>
            </a:r>
          </a:p>
          <a:p>
            <a:pPr lvl="2" eaLnBrk="1" hangingPunct="1"/>
            <a:r>
              <a:rPr lang="en-US" dirty="0"/>
              <a:t>  TCTO</a:t>
            </a:r>
          </a:p>
          <a:p>
            <a:pPr lvl="2" eaLnBrk="1" hangingPunct="1"/>
            <a:r>
              <a:rPr lang="en-US" dirty="0"/>
              <a:t>  Supplement </a:t>
            </a:r>
          </a:p>
          <a:p>
            <a:pPr lvl="2" eaLnBrk="1" hangingPunct="1"/>
            <a:r>
              <a:rPr lang="en-US" dirty="0"/>
              <a:t>  Replacement</a:t>
            </a:r>
          </a:p>
          <a:p>
            <a:pPr lvl="2" eaLnBrk="1" hangingPunct="1"/>
            <a:endParaRPr lang="en-US" dirty="0"/>
          </a:p>
          <a:p>
            <a:pPr lvl="1" eaLnBrk="1" hangingPunct="1"/>
            <a:r>
              <a:rPr lang="en-US" dirty="0"/>
              <a:t>Should be Consistent with:</a:t>
            </a:r>
          </a:p>
          <a:p>
            <a:pPr lvl="2" eaLnBrk="1" hangingPunct="1"/>
            <a:r>
              <a:rPr lang="en-US" dirty="0"/>
              <a:t>  Availability of first Kit</a:t>
            </a:r>
          </a:p>
          <a:p>
            <a:pPr lvl="2" eaLnBrk="1" hangingPunct="1"/>
            <a:r>
              <a:rPr lang="en-US" dirty="0"/>
              <a:t>  Published TO updates  </a:t>
            </a:r>
          </a:p>
          <a:p>
            <a:pPr lvl="1" eaLnBrk="1" hangingPunct="1"/>
            <a:endParaRPr lang="en-US" dirty="0"/>
          </a:p>
          <a:p>
            <a:pPr lvl="1" eaLnBrk="1" hangingPunct="1"/>
            <a:endParaRPr lang="en-US" dirty="0"/>
          </a:p>
        </p:txBody>
      </p:sp>
      <p:sp>
        <p:nvSpPr>
          <p:cNvPr id="103428" name="Slide Number Placeholder 5"/>
          <p:cNvSpPr>
            <a:spLocks noGrp="1"/>
          </p:cNvSpPr>
          <p:nvPr>
            <p:ph type="sldNum" sz="quarter" idx="10"/>
          </p:nvPr>
        </p:nvSpPr>
        <p:spPr>
          <a:xfrm>
            <a:off x="7239000" y="6519863"/>
            <a:ext cx="1905000" cy="338137"/>
          </a:xfrm>
          <a:noFill/>
        </p:spPr>
        <p:txBody>
          <a:bodyPr/>
          <a:lstStyle/>
          <a:p>
            <a:fld id="{D1FEACFD-470E-481A-9902-96D6C421C916}" type="slidenum">
              <a:rPr lang="en-US" smtClean="0"/>
              <a:pPr/>
              <a:t>80</a:t>
            </a:fld>
            <a:endParaRPr lang="en-US"/>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US"/>
              <a:t>TCTO Policy and Procedures</a:t>
            </a:r>
          </a:p>
        </p:txBody>
      </p:sp>
      <p:sp>
        <p:nvSpPr>
          <p:cNvPr id="104451" name="Rectangle 3"/>
          <p:cNvSpPr>
            <a:spLocks noGrp="1" noChangeArrowheads="1"/>
          </p:cNvSpPr>
          <p:nvPr>
            <p:ph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Objective:  Identify policy and procedures involving kits</a:t>
            </a:r>
          </a:p>
        </p:txBody>
      </p:sp>
      <p:sp>
        <p:nvSpPr>
          <p:cNvPr id="104452" name="Slide Number Placeholder 5"/>
          <p:cNvSpPr>
            <a:spLocks noGrp="1"/>
          </p:cNvSpPr>
          <p:nvPr>
            <p:ph type="sldNum" sz="quarter" idx="10"/>
          </p:nvPr>
        </p:nvSpPr>
        <p:spPr>
          <a:xfrm>
            <a:off x="7239000" y="6519863"/>
            <a:ext cx="1905000" cy="338137"/>
          </a:xfrm>
          <a:noFill/>
        </p:spPr>
        <p:txBody>
          <a:bodyPr/>
          <a:lstStyle/>
          <a:p>
            <a:fld id="{86F17144-21A0-4541-9969-5E44D3CFA6AA}" type="slidenum">
              <a:rPr lang="en-US" smtClean="0"/>
              <a:pPr/>
              <a:t>81</a:t>
            </a:fld>
            <a:endParaRPr lang="en-US"/>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en-US"/>
              <a:t>TCTO Policy and Procedures</a:t>
            </a:r>
          </a:p>
        </p:txBody>
      </p:sp>
      <p:sp>
        <p:nvSpPr>
          <p:cNvPr id="105475" name="Rectangle 3"/>
          <p:cNvSpPr>
            <a:spLocks noGrp="1" noChangeArrowheads="1"/>
          </p:cNvSpPr>
          <p:nvPr>
            <p:ph idx="1"/>
          </p:nvPr>
        </p:nvSpPr>
        <p:spPr/>
        <p:txBody>
          <a:bodyPr/>
          <a:lstStyle/>
          <a:p>
            <a:pPr eaLnBrk="1" hangingPunct="1"/>
            <a:r>
              <a:rPr lang="en-US" dirty="0"/>
              <a:t>Kits</a:t>
            </a:r>
          </a:p>
          <a:p>
            <a:pPr eaLnBrk="1" hangingPunct="1"/>
            <a:endParaRPr lang="en-US" dirty="0"/>
          </a:p>
          <a:p>
            <a:pPr eaLnBrk="1" hangingPunct="1"/>
            <a:r>
              <a:rPr lang="en-US" dirty="0"/>
              <a:t>Modification Kits</a:t>
            </a:r>
          </a:p>
          <a:p>
            <a:pPr lvl="1" eaLnBrk="1" hangingPunct="1"/>
            <a:r>
              <a:rPr lang="en-US" dirty="0"/>
              <a:t>Used one time to modify an item</a:t>
            </a:r>
          </a:p>
          <a:p>
            <a:pPr lvl="1" eaLnBrk="1" hangingPunct="1"/>
            <a:r>
              <a:rPr lang="en-US" dirty="0"/>
              <a:t>Normally funded separately</a:t>
            </a:r>
          </a:p>
          <a:p>
            <a:pPr lvl="1" eaLnBrk="1" hangingPunct="1"/>
            <a:r>
              <a:rPr lang="en-US" dirty="0"/>
              <a:t>Free issue to installation activity</a:t>
            </a:r>
          </a:p>
          <a:p>
            <a:pPr lvl="1" eaLnBrk="1" hangingPunct="1"/>
            <a:r>
              <a:rPr lang="en-US" dirty="0"/>
              <a:t>AFTO Form 874 documents Kit information</a:t>
            </a:r>
          </a:p>
          <a:p>
            <a:pPr lvl="1" eaLnBrk="1" hangingPunct="1"/>
            <a:endParaRPr lang="en-US" dirty="0"/>
          </a:p>
          <a:p>
            <a:pPr eaLnBrk="1" hangingPunct="1"/>
            <a:r>
              <a:rPr lang="en-US" dirty="0"/>
              <a:t>Repair/Overhaul Kits</a:t>
            </a:r>
          </a:p>
          <a:p>
            <a:pPr lvl="1" eaLnBrk="1" hangingPunct="1"/>
            <a:r>
              <a:rPr lang="en-US" dirty="0"/>
              <a:t>Used anytime to repair or overhaul an item</a:t>
            </a:r>
          </a:p>
          <a:p>
            <a:pPr lvl="1" eaLnBrk="1" hangingPunct="1"/>
            <a:r>
              <a:rPr lang="en-US" dirty="0"/>
              <a:t>Paid by installing activity</a:t>
            </a:r>
          </a:p>
        </p:txBody>
      </p:sp>
      <p:sp>
        <p:nvSpPr>
          <p:cNvPr id="105476" name="Slide Number Placeholder 5"/>
          <p:cNvSpPr>
            <a:spLocks noGrp="1"/>
          </p:cNvSpPr>
          <p:nvPr>
            <p:ph type="sldNum" sz="quarter" idx="10"/>
          </p:nvPr>
        </p:nvSpPr>
        <p:spPr>
          <a:xfrm>
            <a:off x="7239000" y="6519863"/>
            <a:ext cx="1905000" cy="338137"/>
          </a:xfrm>
          <a:noFill/>
        </p:spPr>
        <p:txBody>
          <a:bodyPr/>
          <a:lstStyle/>
          <a:p>
            <a:fld id="{3F043FDA-20DC-4EFB-B7F3-0B6AB92C61AC}" type="slidenum">
              <a:rPr lang="en-US" smtClean="0"/>
              <a:pPr/>
              <a:t>82</a:t>
            </a:fld>
            <a:endParaRPr lang="en-US"/>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en-US"/>
              <a:t>TCTO Policy and Procedures</a:t>
            </a:r>
          </a:p>
        </p:txBody>
      </p:sp>
      <p:sp>
        <p:nvSpPr>
          <p:cNvPr id="106499" name="Rectangle 3"/>
          <p:cNvSpPr>
            <a:spLocks noGrp="1" noChangeArrowheads="1"/>
          </p:cNvSpPr>
          <p:nvPr>
            <p:ph idx="1"/>
          </p:nvPr>
        </p:nvSpPr>
        <p:spPr/>
        <p:txBody>
          <a:bodyPr/>
          <a:lstStyle/>
          <a:p>
            <a:pPr eaLnBrk="1" hangingPunct="1"/>
            <a:r>
              <a:rPr lang="en-US"/>
              <a:t>Kits</a:t>
            </a:r>
          </a:p>
          <a:p>
            <a:pPr eaLnBrk="1" hangingPunct="1"/>
            <a:endParaRPr lang="en-US"/>
          </a:p>
          <a:p>
            <a:pPr lvl="1" eaLnBrk="1" hangingPunct="1"/>
            <a:r>
              <a:rPr lang="en-US"/>
              <a:t>Policy</a:t>
            </a:r>
          </a:p>
          <a:p>
            <a:pPr lvl="1" eaLnBrk="1" hangingPunct="1"/>
            <a:r>
              <a:rPr lang="en-US"/>
              <a:t>Security Assistance Program Policy</a:t>
            </a:r>
          </a:p>
          <a:p>
            <a:pPr lvl="1" eaLnBrk="1" hangingPunct="1"/>
            <a:r>
              <a:rPr lang="en-US"/>
              <a:t>HAZMAT/Shelf Life/Time Change</a:t>
            </a:r>
          </a:p>
          <a:p>
            <a:pPr lvl="1" eaLnBrk="1" hangingPunct="1"/>
            <a:r>
              <a:rPr lang="en-US"/>
              <a:t>Waivers to Complete Kit Concept</a:t>
            </a:r>
          </a:p>
          <a:p>
            <a:pPr lvl="1" eaLnBrk="1" hangingPunct="1"/>
            <a:r>
              <a:rPr lang="en-US"/>
              <a:t>Assembly of TCTO kits</a:t>
            </a:r>
          </a:p>
          <a:p>
            <a:pPr lvl="1" eaLnBrk="1" hangingPunct="1"/>
            <a:r>
              <a:rPr lang="en-US"/>
              <a:t>Kit numbering</a:t>
            </a:r>
          </a:p>
        </p:txBody>
      </p:sp>
      <p:sp>
        <p:nvSpPr>
          <p:cNvPr id="106500" name="Slide Number Placeholder 5"/>
          <p:cNvSpPr>
            <a:spLocks noGrp="1"/>
          </p:cNvSpPr>
          <p:nvPr>
            <p:ph type="sldNum" sz="quarter" idx="10"/>
          </p:nvPr>
        </p:nvSpPr>
        <p:spPr>
          <a:xfrm>
            <a:off x="7239000" y="6519863"/>
            <a:ext cx="1905000" cy="338137"/>
          </a:xfrm>
          <a:noFill/>
        </p:spPr>
        <p:txBody>
          <a:bodyPr/>
          <a:lstStyle/>
          <a:p>
            <a:fld id="{8BEAD6BE-541E-4F26-AF80-930598F62013}" type="slidenum">
              <a:rPr lang="en-US" smtClean="0"/>
              <a:pPr/>
              <a:t>83</a:t>
            </a:fld>
            <a:endParaRPr lang="en-US"/>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a:t>TCTO Policy and Procedures</a:t>
            </a:r>
          </a:p>
        </p:txBody>
      </p:sp>
      <p:sp>
        <p:nvSpPr>
          <p:cNvPr id="107523" name="Rectangle 3"/>
          <p:cNvSpPr>
            <a:spLocks noGrp="1" noChangeArrowheads="1"/>
          </p:cNvSpPr>
          <p:nvPr>
            <p:ph idx="1"/>
          </p:nvPr>
        </p:nvSpPr>
        <p:spPr>
          <a:xfrm>
            <a:off x="0" y="1327149"/>
            <a:ext cx="9144000" cy="5192713"/>
          </a:xfrm>
        </p:spPr>
        <p:txBody>
          <a:bodyPr/>
          <a:lstStyle/>
          <a:p>
            <a:pPr eaLnBrk="1" hangingPunct="1"/>
            <a:r>
              <a:rPr lang="en-US" dirty="0"/>
              <a:t>Kits</a:t>
            </a:r>
          </a:p>
          <a:p>
            <a:pPr eaLnBrk="1" hangingPunct="1"/>
            <a:r>
              <a:rPr lang="en-US" dirty="0"/>
              <a:t>Policy	</a:t>
            </a:r>
          </a:p>
          <a:p>
            <a:pPr lvl="1" eaLnBrk="1" hangingPunct="1"/>
            <a:r>
              <a:rPr lang="en-US" dirty="0"/>
              <a:t>Complete kit concept ensures </a:t>
            </a:r>
          </a:p>
          <a:p>
            <a:pPr lvl="2" eaLnBrk="1" hangingPunct="1"/>
            <a:r>
              <a:rPr lang="en-US" dirty="0"/>
              <a:t>  All parts and material are available</a:t>
            </a:r>
          </a:p>
          <a:p>
            <a:pPr lvl="2" eaLnBrk="1" hangingPunct="1"/>
            <a:r>
              <a:rPr lang="en-US" dirty="0"/>
              <a:t>  Exception petroleum products</a:t>
            </a:r>
          </a:p>
          <a:p>
            <a:pPr lvl="3" eaLnBrk="1" hangingPunct="1"/>
            <a:r>
              <a:rPr lang="en-US" dirty="0"/>
              <a:t>Jet fuels </a:t>
            </a:r>
          </a:p>
          <a:p>
            <a:pPr lvl="3" eaLnBrk="1" hangingPunct="1"/>
            <a:r>
              <a:rPr lang="en-US" dirty="0"/>
              <a:t>Lubricating oil</a:t>
            </a:r>
          </a:p>
          <a:p>
            <a:pPr lvl="3" eaLnBrk="1" hangingPunct="1"/>
            <a:r>
              <a:rPr lang="en-US" dirty="0"/>
              <a:t>Solvents</a:t>
            </a:r>
          </a:p>
          <a:p>
            <a:pPr lvl="2" eaLnBrk="1" hangingPunct="1"/>
            <a:r>
              <a:rPr lang="en-US" dirty="0"/>
              <a:t>  Material and parts required to accomplish one system or equipment</a:t>
            </a:r>
          </a:p>
          <a:p>
            <a:pPr lvl="2" eaLnBrk="1" hangingPunct="1"/>
            <a:r>
              <a:rPr lang="en-US" dirty="0"/>
              <a:t>  Kit will contain a bill of materials</a:t>
            </a:r>
          </a:p>
          <a:p>
            <a:pPr lvl="2" eaLnBrk="1" hangingPunct="1"/>
            <a:r>
              <a:rPr lang="en-US" dirty="0"/>
              <a:t>  The new Nuclear Weapons Related Materiel (NWRM) guidance</a:t>
            </a:r>
          </a:p>
          <a:p>
            <a:pPr marL="852488" lvl="2" indent="0" eaLnBrk="1" hangingPunct="1">
              <a:buNone/>
            </a:pPr>
            <a:r>
              <a:rPr lang="en-US" dirty="0"/>
              <a:t>    AFI 20-110 prohibits having NWRM items in a TCTO kit. T.O. 00</a:t>
            </a:r>
          </a:p>
          <a:p>
            <a:pPr marL="852488" lvl="2" indent="0" eaLnBrk="1" hangingPunct="1">
              <a:buNone/>
            </a:pPr>
            <a:r>
              <a:rPr lang="en-US" dirty="0"/>
              <a:t>   -5-15 has been updated to reflect this requirement. </a:t>
            </a:r>
          </a:p>
        </p:txBody>
      </p:sp>
      <p:sp>
        <p:nvSpPr>
          <p:cNvPr id="107524" name="Slide Number Placeholder 5"/>
          <p:cNvSpPr>
            <a:spLocks noGrp="1"/>
          </p:cNvSpPr>
          <p:nvPr>
            <p:ph type="sldNum" sz="quarter" idx="10"/>
          </p:nvPr>
        </p:nvSpPr>
        <p:spPr>
          <a:xfrm>
            <a:off x="7239000" y="6519863"/>
            <a:ext cx="1905000" cy="338137"/>
          </a:xfrm>
          <a:noFill/>
        </p:spPr>
        <p:txBody>
          <a:bodyPr/>
          <a:lstStyle/>
          <a:p>
            <a:fld id="{8BCD8801-92C4-449D-B70A-1CB5C9A98E2E}" type="slidenum">
              <a:rPr lang="en-US" smtClean="0"/>
              <a:pPr/>
              <a:t>84</a:t>
            </a:fld>
            <a:endParaRPr lang="en-US"/>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en-US"/>
              <a:t>TCTO Policy and Procedures</a:t>
            </a:r>
          </a:p>
        </p:txBody>
      </p:sp>
      <p:sp>
        <p:nvSpPr>
          <p:cNvPr id="108547" name="Rectangle 3"/>
          <p:cNvSpPr>
            <a:spLocks noGrp="1" noChangeArrowheads="1"/>
          </p:cNvSpPr>
          <p:nvPr>
            <p:ph idx="1"/>
          </p:nvPr>
        </p:nvSpPr>
        <p:spPr/>
        <p:txBody>
          <a:bodyPr/>
          <a:lstStyle/>
          <a:p>
            <a:pPr eaLnBrk="1" hangingPunct="1"/>
            <a:r>
              <a:rPr lang="en-US" dirty="0"/>
              <a:t>Kits  </a:t>
            </a:r>
          </a:p>
          <a:p>
            <a:pPr eaLnBrk="1" hangingPunct="1"/>
            <a:r>
              <a:rPr lang="en-US" dirty="0"/>
              <a:t>Policy</a:t>
            </a:r>
          </a:p>
          <a:p>
            <a:pPr eaLnBrk="1" hangingPunct="1">
              <a:buFont typeface="Wingdings" pitchFamily="2" charset="2"/>
              <a:buNone/>
            </a:pPr>
            <a:r>
              <a:rPr lang="en-US" dirty="0"/>
              <a:t>	</a:t>
            </a:r>
          </a:p>
          <a:p>
            <a:pPr lvl="1" eaLnBrk="1" hangingPunct="1"/>
            <a:r>
              <a:rPr lang="en-US" dirty="0"/>
              <a:t>Exceptions to the Complete kit concept</a:t>
            </a:r>
          </a:p>
          <a:p>
            <a:pPr lvl="2" eaLnBrk="1" hangingPunct="1"/>
            <a:r>
              <a:rPr lang="en-US" dirty="0"/>
              <a:t>  Immediate and Urgent Action TCTO</a:t>
            </a:r>
          </a:p>
          <a:p>
            <a:pPr lvl="3" eaLnBrk="1" hangingPunct="1"/>
            <a:r>
              <a:rPr lang="en-US" dirty="0"/>
              <a:t>Expedite actions to procure/obtain the parts and assemble necessary kits required for the TCTO</a:t>
            </a:r>
          </a:p>
          <a:p>
            <a:pPr lvl="2" eaLnBrk="1" hangingPunct="1"/>
            <a:r>
              <a:rPr lang="en-US" dirty="0"/>
              <a:t>  Inspection TCTO</a:t>
            </a:r>
          </a:p>
          <a:p>
            <a:pPr lvl="1" eaLnBrk="1" hangingPunct="1"/>
            <a:endParaRPr lang="en-US" dirty="0"/>
          </a:p>
          <a:p>
            <a:pPr lvl="1" eaLnBrk="1" hangingPunct="1"/>
            <a:endParaRPr lang="en-US" dirty="0"/>
          </a:p>
        </p:txBody>
      </p:sp>
      <p:sp>
        <p:nvSpPr>
          <p:cNvPr id="108548" name="Slide Number Placeholder 5"/>
          <p:cNvSpPr>
            <a:spLocks noGrp="1"/>
          </p:cNvSpPr>
          <p:nvPr>
            <p:ph type="sldNum" sz="quarter" idx="10"/>
          </p:nvPr>
        </p:nvSpPr>
        <p:spPr>
          <a:xfrm>
            <a:off x="7239000" y="6519863"/>
            <a:ext cx="1905000" cy="338137"/>
          </a:xfrm>
          <a:noFill/>
        </p:spPr>
        <p:txBody>
          <a:bodyPr/>
          <a:lstStyle/>
          <a:p>
            <a:fld id="{BB68D4A9-0D34-444C-AB19-170B9BC544EE}" type="slidenum">
              <a:rPr lang="en-US" smtClean="0"/>
              <a:pPr/>
              <a:t>85</a:t>
            </a:fld>
            <a:endParaRPr lang="en-US"/>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en-US"/>
              <a:t>TCTO Policy and Procedures</a:t>
            </a:r>
          </a:p>
        </p:txBody>
      </p:sp>
      <p:sp>
        <p:nvSpPr>
          <p:cNvPr id="109571"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endParaRPr lang="en-US" dirty="0"/>
          </a:p>
          <a:p>
            <a:pPr lvl="1" eaLnBrk="1" hangingPunct="1"/>
            <a:r>
              <a:rPr lang="en-US" dirty="0"/>
              <a:t>The TCTO Kit Managing ALC will:</a:t>
            </a:r>
          </a:p>
          <a:p>
            <a:pPr lvl="2" eaLnBrk="1" hangingPunct="1"/>
            <a:r>
              <a:rPr lang="en-US" dirty="0"/>
              <a:t>  Procure                </a:t>
            </a:r>
          </a:p>
          <a:p>
            <a:pPr lvl="2" eaLnBrk="1" hangingPunct="1"/>
            <a:r>
              <a:rPr lang="en-US" dirty="0"/>
              <a:t>  Assemble</a:t>
            </a:r>
          </a:p>
          <a:p>
            <a:pPr lvl="2" eaLnBrk="1" hangingPunct="1"/>
            <a:r>
              <a:rPr lang="en-US" dirty="0"/>
              <a:t>  Stocked</a:t>
            </a:r>
          </a:p>
          <a:p>
            <a:pPr lvl="2" eaLnBrk="1" hangingPunct="1"/>
            <a:r>
              <a:rPr lang="en-US" dirty="0"/>
              <a:t>  Store</a:t>
            </a:r>
          </a:p>
          <a:p>
            <a:pPr lvl="2" eaLnBrk="1" hangingPunct="1"/>
            <a:r>
              <a:rPr lang="en-US" dirty="0"/>
              <a:t>  Issue</a:t>
            </a:r>
          </a:p>
          <a:p>
            <a:pPr eaLnBrk="1" hangingPunct="1">
              <a:buFont typeface="Wingdings" pitchFamily="2" charset="2"/>
              <a:buNone/>
            </a:pPr>
            <a:r>
              <a:rPr lang="en-US" dirty="0"/>
              <a:t> </a:t>
            </a:r>
          </a:p>
          <a:p>
            <a:pPr lvl="1" eaLnBrk="1" hangingPunct="1"/>
            <a:endParaRPr lang="en-US" dirty="0"/>
          </a:p>
          <a:p>
            <a:pPr lvl="1" eaLnBrk="1" hangingPunct="1"/>
            <a:endParaRPr lang="en-US" dirty="0"/>
          </a:p>
        </p:txBody>
      </p:sp>
      <p:sp>
        <p:nvSpPr>
          <p:cNvPr id="109572" name="Slide Number Placeholder 5"/>
          <p:cNvSpPr>
            <a:spLocks noGrp="1"/>
          </p:cNvSpPr>
          <p:nvPr>
            <p:ph type="sldNum" sz="quarter" idx="10"/>
          </p:nvPr>
        </p:nvSpPr>
        <p:spPr>
          <a:xfrm>
            <a:off x="7239000" y="6519863"/>
            <a:ext cx="1905000" cy="338137"/>
          </a:xfrm>
          <a:noFill/>
        </p:spPr>
        <p:txBody>
          <a:bodyPr/>
          <a:lstStyle/>
          <a:p>
            <a:fld id="{51787BAF-8FD6-42E1-BEC8-B789F8514E25}" type="slidenum">
              <a:rPr lang="en-US" smtClean="0"/>
              <a:pPr/>
              <a:t>86</a:t>
            </a:fld>
            <a:endParaRPr lang="en-US"/>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en-US"/>
              <a:t>TCTO Policy and Procedures</a:t>
            </a:r>
          </a:p>
        </p:txBody>
      </p:sp>
      <p:sp>
        <p:nvSpPr>
          <p:cNvPr id="110595"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endParaRPr lang="en-US" dirty="0"/>
          </a:p>
          <a:p>
            <a:pPr lvl="1" eaLnBrk="1" hangingPunct="1"/>
            <a:r>
              <a:rPr lang="en-US" dirty="0"/>
              <a:t>Using activities are not normally required to manufacture parts for TCTO</a:t>
            </a:r>
          </a:p>
          <a:p>
            <a:pPr lvl="2" eaLnBrk="1" hangingPunct="1"/>
            <a:r>
              <a:rPr lang="en-US" dirty="0"/>
              <a:t>  Provided in the TCTO kit</a:t>
            </a:r>
          </a:p>
          <a:p>
            <a:pPr lvl="3" eaLnBrk="1" hangingPunct="1"/>
            <a:r>
              <a:rPr lang="en-US" dirty="0"/>
              <a:t>Stock and non-stock listed items</a:t>
            </a:r>
          </a:p>
          <a:p>
            <a:pPr lvl="3" eaLnBrk="1" hangingPunct="1"/>
            <a:r>
              <a:rPr lang="en-US" dirty="0"/>
              <a:t>Local purchase </a:t>
            </a:r>
          </a:p>
          <a:p>
            <a:pPr lvl="3" eaLnBrk="1" hangingPunct="1"/>
            <a:r>
              <a:rPr lang="en-US" dirty="0"/>
              <a:t>Local manufacture</a:t>
            </a:r>
          </a:p>
          <a:p>
            <a:pPr lvl="1" eaLnBrk="1" hangingPunct="1"/>
            <a:endParaRPr lang="en-US" dirty="0"/>
          </a:p>
          <a:p>
            <a:pPr lvl="1" eaLnBrk="1" hangingPunct="1"/>
            <a:endParaRPr lang="en-US" dirty="0"/>
          </a:p>
        </p:txBody>
      </p:sp>
      <p:sp>
        <p:nvSpPr>
          <p:cNvPr id="110596" name="Slide Number Placeholder 5"/>
          <p:cNvSpPr>
            <a:spLocks noGrp="1"/>
          </p:cNvSpPr>
          <p:nvPr>
            <p:ph type="sldNum" sz="quarter" idx="10"/>
          </p:nvPr>
        </p:nvSpPr>
        <p:spPr>
          <a:xfrm>
            <a:off x="7239000" y="6519863"/>
            <a:ext cx="1905000" cy="338137"/>
          </a:xfrm>
          <a:noFill/>
        </p:spPr>
        <p:txBody>
          <a:bodyPr/>
          <a:lstStyle/>
          <a:p>
            <a:fld id="{F2D54281-7E12-49FE-A7BD-EB285C14B0D6}" type="slidenum">
              <a:rPr lang="en-US" smtClean="0"/>
              <a:pPr/>
              <a:t>87</a:t>
            </a:fld>
            <a:endParaRPr lang="en-US"/>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en-US"/>
              <a:t>TCTO Policy and Procedures</a:t>
            </a:r>
          </a:p>
        </p:txBody>
      </p:sp>
      <p:sp>
        <p:nvSpPr>
          <p:cNvPr id="111619"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endParaRPr lang="en-US" dirty="0"/>
          </a:p>
          <a:p>
            <a:pPr lvl="1" eaLnBrk="1" hangingPunct="1"/>
            <a:r>
              <a:rPr lang="en-US" dirty="0"/>
              <a:t>All items for kit assembly will be</a:t>
            </a:r>
          </a:p>
          <a:p>
            <a:pPr lvl="2" eaLnBrk="1" hangingPunct="1"/>
            <a:r>
              <a:rPr lang="en-US" dirty="0"/>
              <a:t>  Manufactured or purchased </a:t>
            </a:r>
          </a:p>
          <a:p>
            <a:pPr lvl="2" eaLnBrk="1" hangingPunct="1"/>
            <a:r>
              <a:rPr lang="en-US" dirty="0"/>
              <a:t>  Contractor or Depot assembling the kits</a:t>
            </a:r>
          </a:p>
          <a:p>
            <a:pPr lvl="2" eaLnBrk="1" hangingPunct="1"/>
            <a:r>
              <a:rPr lang="en-US" dirty="0"/>
              <a:t>  Packaged as prescribed in the TCTO</a:t>
            </a:r>
          </a:p>
          <a:p>
            <a:pPr lvl="1" eaLnBrk="1" hangingPunct="1"/>
            <a:endParaRPr lang="en-US" dirty="0"/>
          </a:p>
          <a:p>
            <a:pPr lvl="1" eaLnBrk="1" hangingPunct="1"/>
            <a:endParaRPr lang="en-US" dirty="0"/>
          </a:p>
        </p:txBody>
      </p:sp>
      <p:sp>
        <p:nvSpPr>
          <p:cNvPr id="111620" name="Slide Number Placeholder 5"/>
          <p:cNvSpPr>
            <a:spLocks noGrp="1"/>
          </p:cNvSpPr>
          <p:nvPr>
            <p:ph type="sldNum" sz="quarter" idx="10"/>
          </p:nvPr>
        </p:nvSpPr>
        <p:spPr>
          <a:xfrm>
            <a:off x="7239000" y="6519863"/>
            <a:ext cx="1905000" cy="338137"/>
          </a:xfrm>
          <a:noFill/>
        </p:spPr>
        <p:txBody>
          <a:bodyPr/>
          <a:lstStyle/>
          <a:p>
            <a:fld id="{8151649E-A5BD-43C4-BF95-46AE7C44099B}" type="slidenum">
              <a:rPr lang="en-US" smtClean="0"/>
              <a:pPr/>
              <a:t>88</a:t>
            </a:fld>
            <a:endParaRPr lang="en-US"/>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en-US" dirty="0"/>
              <a:t>TCTO Policy and Procedures</a:t>
            </a:r>
          </a:p>
        </p:txBody>
      </p:sp>
      <p:sp>
        <p:nvSpPr>
          <p:cNvPr id="112643"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endParaRPr lang="en-US" dirty="0"/>
          </a:p>
          <a:p>
            <a:pPr lvl="1" eaLnBrk="1" hangingPunct="1"/>
            <a:r>
              <a:rPr lang="en-US" dirty="0"/>
              <a:t>Items with restrictive physical characteristics</a:t>
            </a:r>
          </a:p>
          <a:p>
            <a:pPr lvl="2" eaLnBrk="1" hangingPunct="1"/>
            <a:r>
              <a:rPr lang="en-US" dirty="0"/>
              <a:t>  Shelf life</a:t>
            </a:r>
          </a:p>
          <a:p>
            <a:pPr lvl="2" eaLnBrk="1" hangingPunct="1"/>
            <a:r>
              <a:rPr lang="en-US" dirty="0"/>
              <a:t>  Flammable</a:t>
            </a:r>
          </a:p>
          <a:p>
            <a:pPr lvl="2" eaLnBrk="1" hangingPunct="1"/>
            <a:r>
              <a:rPr lang="en-US" dirty="0"/>
              <a:t>  Explosive</a:t>
            </a:r>
          </a:p>
          <a:p>
            <a:pPr lvl="2" eaLnBrk="1" hangingPunct="1"/>
            <a:r>
              <a:rPr lang="en-US" dirty="0"/>
              <a:t>  Medical Material</a:t>
            </a:r>
          </a:p>
          <a:p>
            <a:pPr lvl="2" eaLnBrk="1" hangingPunct="1"/>
            <a:r>
              <a:rPr lang="en-US" dirty="0"/>
              <a:t>  Nuclear Weapons </a:t>
            </a:r>
            <a:r>
              <a:rPr lang="en-US"/>
              <a:t>Related Materiel </a:t>
            </a:r>
            <a:r>
              <a:rPr lang="en-US" dirty="0"/>
              <a:t>(NWRM) do not kit!</a:t>
            </a:r>
          </a:p>
          <a:p>
            <a:pPr lvl="1" eaLnBrk="1" hangingPunct="1"/>
            <a:endParaRPr lang="en-US" dirty="0"/>
          </a:p>
          <a:p>
            <a:pPr eaLnBrk="1" hangingPunct="1"/>
            <a:endParaRPr lang="en-US" dirty="0"/>
          </a:p>
          <a:p>
            <a:pPr eaLnBrk="1" hangingPunct="1"/>
            <a:endParaRPr lang="en-US" dirty="0"/>
          </a:p>
          <a:p>
            <a:pPr lvl="1" eaLnBrk="1" hangingPunct="1"/>
            <a:endParaRPr lang="en-US" dirty="0"/>
          </a:p>
        </p:txBody>
      </p:sp>
      <p:sp>
        <p:nvSpPr>
          <p:cNvPr id="112644" name="Slide Number Placeholder 5"/>
          <p:cNvSpPr>
            <a:spLocks noGrp="1"/>
          </p:cNvSpPr>
          <p:nvPr>
            <p:ph type="sldNum" sz="quarter" idx="10"/>
          </p:nvPr>
        </p:nvSpPr>
        <p:spPr>
          <a:xfrm>
            <a:off x="7239000" y="6519863"/>
            <a:ext cx="1905000" cy="338137"/>
          </a:xfrm>
          <a:noFill/>
        </p:spPr>
        <p:txBody>
          <a:bodyPr/>
          <a:lstStyle/>
          <a:p>
            <a:fld id="{5010AC47-D43F-4DE3-92F9-F6931B50E5E1}" type="slidenum">
              <a:rPr lang="en-US" smtClean="0"/>
              <a:pPr/>
              <a:t>89</a:t>
            </a:fld>
            <a:endParaRPr lang="en-US"/>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en-US"/>
              <a:t>TCTO Policy and Procedures</a:t>
            </a:r>
          </a:p>
        </p:txBody>
      </p:sp>
      <p:sp>
        <p:nvSpPr>
          <p:cNvPr id="113667"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endParaRPr lang="en-US" dirty="0"/>
          </a:p>
          <a:p>
            <a:pPr lvl="1" eaLnBrk="1" hangingPunct="1"/>
            <a:r>
              <a:rPr lang="en-US" dirty="0"/>
              <a:t>Will be included in the kit BUT may require</a:t>
            </a:r>
          </a:p>
          <a:p>
            <a:pPr lvl="2" eaLnBrk="1" hangingPunct="1"/>
            <a:r>
              <a:rPr lang="en-US" dirty="0"/>
              <a:t>  Separate container</a:t>
            </a:r>
          </a:p>
          <a:p>
            <a:pPr lvl="2" eaLnBrk="1" hangingPunct="1"/>
            <a:r>
              <a:rPr lang="en-US" dirty="0"/>
              <a:t>  Packaging</a:t>
            </a:r>
          </a:p>
          <a:p>
            <a:pPr lvl="2" eaLnBrk="1" hangingPunct="1"/>
            <a:r>
              <a:rPr lang="en-US" dirty="0"/>
              <a:t>  Shipment </a:t>
            </a:r>
          </a:p>
          <a:p>
            <a:pPr lvl="2" eaLnBrk="1" hangingPunct="1"/>
            <a:r>
              <a:rPr lang="en-US" dirty="0"/>
              <a:t>  Storage</a:t>
            </a:r>
          </a:p>
          <a:p>
            <a:pPr eaLnBrk="1" hangingPunct="1"/>
            <a:endParaRPr lang="en-US" dirty="0"/>
          </a:p>
          <a:p>
            <a:pPr eaLnBrk="1" hangingPunct="1"/>
            <a:endParaRPr lang="en-US" dirty="0"/>
          </a:p>
          <a:p>
            <a:pPr lvl="1" eaLnBrk="1" hangingPunct="1"/>
            <a:endParaRPr lang="en-US" dirty="0"/>
          </a:p>
        </p:txBody>
      </p:sp>
      <p:sp>
        <p:nvSpPr>
          <p:cNvPr id="113668" name="Slide Number Placeholder 5"/>
          <p:cNvSpPr>
            <a:spLocks noGrp="1"/>
          </p:cNvSpPr>
          <p:nvPr>
            <p:ph type="sldNum" sz="quarter" idx="10"/>
          </p:nvPr>
        </p:nvSpPr>
        <p:spPr>
          <a:xfrm>
            <a:off x="7239000" y="6519863"/>
            <a:ext cx="1905000" cy="338137"/>
          </a:xfrm>
          <a:noFill/>
        </p:spPr>
        <p:txBody>
          <a:bodyPr/>
          <a:lstStyle/>
          <a:p>
            <a:fld id="{66A64689-6146-4EDA-8EC9-AFCF199A2CB2}" type="slidenum">
              <a:rPr lang="en-US" smtClean="0"/>
              <a:pPr/>
              <a:t>90</a:t>
            </a:fld>
            <a:endParaRPr lang="en-US"/>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en-US"/>
              <a:t>TCTO Policy and Procedures</a:t>
            </a:r>
          </a:p>
        </p:txBody>
      </p:sp>
      <p:sp>
        <p:nvSpPr>
          <p:cNvPr id="114691"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r>
              <a:rPr lang="en-US" dirty="0"/>
              <a:t> Depot-Level TCTO  </a:t>
            </a:r>
          </a:p>
          <a:p>
            <a:pPr marL="0" indent="0" eaLnBrk="1" hangingPunct="1">
              <a:buNone/>
            </a:pPr>
            <a:endParaRPr lang="en-US" dirty="0"/>
          </a:p>
          <a:p>
            <a:pPr lvl="1" eaLnBrk="1" hangingPunct="1"/>
            <a:r>
              <a:rPr lang="en-US" dirty="0"/>
              <a:t>Depending on circumstances</a:t>
            </a:r>
          </a:p>
          <a:p>
            <a:pPr lvl="1" eaLnBrk="1" hangingPunct="1"/>
            <a:r>
              <a:rPr lang="en-US" dirty="0"/>
              <a:t>Some items and parts may not be furnished as an individual packaged kits</a:t>
            </a:r>
          </a:p>
          <a:p>
            <a:pPr lvl="1" eaLnBrk="1" hangingPunct="1"/>
            <a:endParaRPr lang="en-US" dirty="0"/>
          </a:p>
          <a:p>
            <a:pPr eaLnBrk="1" hangingPunct="1"/>
            <a:endParaRPr lang="en-US" dirty="0"/>
          </a:p>
          <a:p>
            <a:pPr eaLnBrk="1" hangingPunct="1"/>
            <a:endParaRPr lang="en-US" dirty="0"/>
          </a:p>
          <a:p>
            <a:pPr lvl="1" eaLnBrk="1" hangingPunct="1"/>
            <a:endParaRPr lang="en-US" dirty="0"/>
          </a:p>
        </p:txBody>
      </p:sp>
      <p:sp>
        <p:nvSpPr>
          <p:cNvPr id="114692" name="Slide Number Placeholder 5"/>
          <p:cNvSpPr>
            <a:spLocks noGrp="1"/>
          </p:cNvSpPr>
          <p:nvPr>
            <p:ph type="sldNum" sz="quarter" idx="10"/>
          </p:nvPr>
        </p:nvSpPr>
        <p:spPr>
          <a:xfrm>
            <a:off x="7239000" y="6519863"/>
            <a:ext cx="1905000" cy="338137"/>
          </a:xfrm>
          <a:noFill/>
        </p:spPr>
        <p:txBody>
          <a:bodyPr/>
          <a:lstStyle/>
          <a:p>
            <a:fld id="{D4F6503F-926E-4BA1-B07D-D1D85EA5B30D}" type="slidenum">
              <a:rPr lang="en-US" smtClean="0"/>
              <a:pPr/>
              <a:t>91</a:t>
            </a:fld>
            <a:endParaRPr lang="en-US"/>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r>
              <a:rPr lang="en-US"/>
              <a:t>TCTO Policy and Procedures</a:t>
            </a:r>
          </a:p>
        </p:txBody>
      </p:sp>
      <p:sp>
        <p:nvSpPr>
          <p:cNvPr id="115715"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r>
              <a:rPr lang="en-US" dirty="0"/>
              <a:t> Depot-Level TCTO  cont.</a:t>
            </a:r>
          </a:p>
          <a:p>
            <a:pPr marL="0" indent="0" eaLnBrk="1" hangingPunct="1">
              <a:buNone/>
            </a:pPr>
            <a:endParaRPr lang="en-US" dirty="0"/>
          </a:p>
          <a:p>
            <a:pPr lvl="1" eaLnBrk="1" hangingPunct="1"/>
            <a:r>
              <a:rPr lang="en-US" dirty="0"/>
              <a:t>Accomplished as an assembly line</a:t>
            </a:r>
          </a:p>
          <a:p>
            <a:pPr lvl="1" eaLnBrk="1" hangingPunct="1">
              <a:buFontTx/>
              <a:buNone/>
            </a:pPr>
            <a:r>
              <a:rPr lang="en-US" dirty="0"/>
              <a:t> </a:t>
            </a:r>
          </a:p>
          <a:p>
            <a:pPr lvl="2" eaLnBrk="1" hangingPunct="1"/>
            <a:r>
              <a:rPr lang="en-US" dirty="0"/>
              <a:t>  Kits may be assembled and packaged</a:t>
            </a:r>
          </a:p>
          <a:p>
            <a:pPr lvl="2" eaLnBrk="1" hangingPunct="1"/>
            <a:r>
              <a:rPr lang="en-US" dirty="0"/>
              <a:t>  Each station on the assembly line has the necessary parts and</a:t>
            </a:r>
          </a:p>
          <a:p>
            <a:pPr marL="852488" lvl="2" indent="0" eaLnBrk="1" hangingPunct="1">
              <a:buNone/>
            </a:pPr>
            <a:r>
              <a:rPr lang="en-US" dirty="0"/>
              <a:t>    material for each phase of the modification</a:t>
            </a:r>
          </a:p>
          <a:p>
            <a:pPr lvl="2" eaLnBrk="1" hangingPunct="1"/>
            <a:endParaRPr lang="en-US" dirty="0"/>
          </a:p>
          <a:p>
            <a:pPr lvl="1" eaLnBrk="1" hangingPunct="1"/>
            <a:endParaRPr lang="en-US" dirty="0"/>
          </a:p>
          <a:p>
            <a:pPr lvl="1" eaLnBrk="1" hangingPunct="1"/>
            <a:endParaRPr lang="en-US" dirty="0"/>
          </a:p>
        </p:txBody>
      </p:sp>
      <p:sp>
        <p:nvSpPr>
          <p:cNvPr id="115716" name="Slide Number Placeholder 5"/>
          <p:cNvSpPr>
            <a:spLocks noGrp="1"/>
          </p:cNvSpPr>
          <p:nvPr>
            <p:ph type="sldNum" sz="quarter" idx="10"/>
          </p:nvPr>
        </p:nvSpPr>
        <p:spPr>
          <a:xfrm>
            <a:off x="7239000" y="6519863"/>
            <a:ext cx="1905000" cy="338137"/>
          </a:xfrm>
          <a:noFill/>
        </p:spPr>
        <p:txBody>
          <a:bodyPr/>
          <a:lstStyle/>
          <a:p>
            <a:fld id="{2B2D569E-58D3-47AF-A24A-D834E2FF951F}" type="slidenum">
              <a:rPr lang="en-US" smtClean="0"/>
              <a:pPr/>
              <a:t>92</a:t>
            </a:fld>
            <a:endParaRPr lang="en-US"/>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en-US"/>
              <a:t>TCTO Policy and Procedures</a:t>
            </a:r>
          </a:p>
        </p:txBody>
      </p:sp>
      <p:sp>
        <p:nvSpPr>
          <p:cNvPr id="116739"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r>
              <a:rPr lang="en-US" dirty="0"/>
              <a:t>More than one container required to package a complete kit</a:t>
            </a:r>
          </a:p>
          <a:p>
            <a:pPr eaLnBrk="1" hangingPunct="1"/>
            <a:endParaRPr lang="en-US" dirty="0"/>
          </a:p>
          <a:p>
            <a:pPr lvl="1" eaLnBrk="1" hangingPunct="1"/>
            <a:r>
              <a:rPr lang="en-US" dirty="0"/>
              <a:t>Containers numbered consecutively</a:t>
            </a:r>
          </a:p>
          <a:p>
            <a:pPr lvl="2" eaLnBrk="1" hangingPunct="1"/>
            <a:r>
              <a:rPr lang="en-US" dirty="0"/>
              <a:t>  E.g., box 1,  box 2,  box 3,  etc.</a:t>
            </a:r>
          </a:p>
          <a:p>
            <a:pPr lvl="2" eaLnBrk="1" hangingPunct="1"/>
            <a:endParaRPr lang="en-US" dirty="0"/>
          </a:p>
          <a:p>
            <a:pPr lvl="2" eaLnBrk="1" hangingPunct="1"/>
            <a:r>
              <a:rPr lang="en-US" dirty="0"/>
              <a:t>  List of all items placed in/outside box 1</a:t>
            </a:r>
          </a:p>
          <a:p>
            <a:pPr lvl="1" eaLnBrk="1" hangingPunct="1">
              <a:buFontTx/>
              <a:buNone/>
            </a:pPr>
            <a:endParaRPr lang="en-US" dirty="0"/>
          </a:p>
        </p:txBody>
      </p:sp>
      <p:sp>
        <p:nvSpPr>
          <p:cNvPr id="116740" name="Slide Number Placeholder 5"/>
          <p:cNvSpPr>
            <a:spLocks noGrp="1"/>
          </p:cNvSpPr>
          <p:nvPr>
            <p:ph type="sldNum" sz="quarter" idx="10"/>
          </p:nvPr>
        </p:nvSpPr>
        <p:spPr>
          <a:xfrm>
            <a:off x="7239000" y="6519863"/>
            <a:ext cx="1905000" cy="338137"/>
          </a:xfrm>
          <a:noFill/>
        </p:spPr>
        <p:txBody>
          <a:bodyPr/>
          <a:lstStyle/>
          <a:p>
            <a:fld id="{B2BA4EAA-8517-4821-8272-2173D431FCF2}" type="slidenum">
              <a:rPr lang="en-US" smtClean="0"/>
              <a:pPr/>
              <a:t>93</a:t>
            </a:fld>
            <a:endParaRPr lang="en-US"/>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r>
              <a:rPr lang="en-US"/>
              <a:t>TCTO Policy and Procedures</a:t>
            </a:r>
          </a:p>
        </p:txBody>
      </p:sp>
      <p:sp>
        <p:nvSpPr>
          <p:cNvPr id="117763"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r>
              <a:rPr lang="en-US" dirty="0"/>
              <a:t>More than one container required to package a complete kit</a:t>
            </a:r>
          </a:p>
          <a:p>
            <a:pPr marL="0" indent="0" eaLnBrk="1" hangingPunct="1">
              <a:buNone/>
            </a:pPr>
            <a:endParaRPr lang="en-US" dirty="0"/>
          </a:p>
          <a:p>
            <a:pPr lvl="1" eaLnBrk="1" hangingPunct="1"/>
            <a:r>
              <a:rPr lang="en-US" dirty="0"/>
              <a:t>Annotate the list to show  </a:t>
            </a:r>
          </a:p>
          <a:p>
            <a:pPr lvl="2" eaLnBrk="1" hangingPunct="1"/>
            <a:r>
              <a:rPr lang="en-US" dirty="0"/>
              <a:t>  Box number of each item</a:t>
            </a:r>
          </a:p>
          <a:p>
            <a:pPr lvl="2" eaLnBrk="1" hangingPunct="1"/>
            <a:endParaRPr lang="en-US" dirty="0"/>
          </a:p>
          <a:p>
            <a:pPr lvl="1" eaLnBrk="1" hangingPunct="1"/>
            <a:r>
              <a:rPr lang="en-US" dirty="0"/>
              <a:t>Kits are also identified by groups:</a:t>
            </a:r>
          </a:p>
          <a:p>
            <a:pPr lvl="2" eaLnBrk="1" hangingPunct="1"/>
            <a:r>
              <a:rPr lang="en-US" dirty="0"/>
              <a:t>  Group A:     Hardware  </a:t>
            </a:r>
          </a:p>
          <a:p>
            <a:pPr lvl="2" eaLnBrk="1" hangingPunct="1"/>
            <a:r>
              <a:rPr lang="en-US" dirty="0"/>
              <a:t>  Group B:     Recoverable items</a:t>
            </a:r>
          </a:p>
        </p:txBody>
      </p:sp>
      <p:sp>
        <p:nvSpPr>
          <p:cNvPr id="117764" name="Slide Number Placeholder 5"/>
          <p:cNvSpPr>
            <a:spLocks noGrp="1"/>
          </p:cNvSpPr>
          <p:nvPr>
            <p:ph type="sldNum" sz="quarter" idx="10"/>
          </p:nvPr>
        </p:nvSpPr>
        <p:spPr>
          <a:xfrm>
            <a:off x="7239000" y="6519863"/>
            <a:ext cx="1905000" cy="338137"/>
          </a:xfrm>
          <a:noFill/>
        </p:spPr>
        <p:txBody>
          <a:bodyPr/>
          <a:lstStyle/>
          <a:p>
            <a:fld id="{6EAC7868-B8C9-4A72-9B7C-95A9D6261595}" type="slidenum">
              <a:rPr lang="en-US" smtClean="0"/>
              <a:pPr/>
              <a:t>94</a:t>
            </a:fld>
            <a:endParaRPr lang="en-US"/>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r>
              <a:rPr lang="en-US"/>
              <a:t>TCTO Policy and Procedures</a:t>
            </a:r>
          </a:p>
        </p:txBody>
      </p:sp>
      <p:sp>
        <p:nvSpPr>
          <p:cNvPr id="118787"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r>
              <a:rPr lang="en-US" dirty="0"/>
              <a:t>Authorized substitution of parts</a:t>
            </a:r>
          </a:p>
          <a:p>
            <a:pPr eaLnBrk="1" hangingPunct="1"/>
            <a:endParaRPr lang="en-US" dirty="0"/>
          </a:p>
          <a:p>
            <a:pPr lvl="1" eaLnBrk="1" hangingPunct="1"/>
            <a:r>
              <a:rPr lang="en-US" dirty="0"/>
              <a:t>Activity accomplishing a TCTO</a:t>
            </a:r>
          </a:p>
          <a:p>
            <a:pPr lvl="2" eaLnBrk="1" hangingPunct="1"/>
            <a:r>
              <a:rPr lang="en-US" dirty="0"/>
              <a:t>  Authorized to accept substitute parts</a:t>
            </a:r>
          </a:p>
          <a:p>
            <a:pPr lvl="2" eaLnBrk="1" hangingPunct="1"/>
            <a:r>
              <a:rPr lang="en-US" dirty="0"/>
              <a:t>  Must be properly tagged</a:t>
            </a:r>
          </a:p>
          <a:p>
            <a:pPr lvl="2" eaLnBrk="1" hangingPunct="1"/>
            <a:r>
              <a:rPr lang="en-US" dirty="0"/>
              <a:t>  Authorized in FLITES</a:t>
            </a:r>
          </a:p>
          <a:p>
            <a:pPr lvl="1" eaLnBrk="1" hangingPunct="1"/>
            <a:endParaRPr lang="en-US" dirty="0"/>
          </a:p>
          <a:p>
            <a:pPr eaLnBrk="1" hangingPunct="1"/>
            <a:endParaRPr lang="en-US" dirty="0"/>
          </a:p>
          <a:p>
            <a:pPr lvl="1" eaLnBrk="1" hangingPunct="1"/>
            <a:endParaRPr lang="en-US" dirty="0"/>
          </a:p>
          <a:p>
            <a:pPr eaLnBrk="1" hangingPunct="1"/>
            <a:endParaRPr lang="en-US" dirty="0"/>
          </a:p>
          <a:p>
            <a:pPr lvl="1" eaLnBrk="1" hangingPunct="1"/>
            <a:endParaRPr lang="en-US" dirty="0"/>
          </a:p>
        </p:txBody>
      </p:sp>
      <p:sp>
        <p:nvSpPr>
          <p:cNvPr id="118788" name="Slide Number Placeholder 5"/>
          <p:cNvSpPr>
            <a:spLocks noGrp="1"/>
          </p:cNvSpPr>
          <p:nvPr>
            <p:ph type="sldNum" sz="quarter" idx="10"/>
          </p:nvPr>
        </p:nvSpPr>
        <p:spPr>
          <a:xfrm>
            <a:off x="7239000" y="6519863"/>
            <a:ext cx="1905000" cy="338137"/>
          </a:xfrm>
          <a:noFill/>
        </p:spPr>
        <p:txBody>
          <a:bodyPr/>
          <a:lstStyle/>
          <a:p>
            <a:fld id="{5DC46580-17C9-4BD5-840A-488185D700C7}" type="slidenum">
              <a:rPr lang="en-US" smtClean="0"/>
              <a:pPr/>
              <a:t>95</a:t>
            </a:fld>
            <a:endParaRPr lang="en-US"/>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r>
              <a:rPr lang="en-US"/>
              <a:t>TCTO Policy and Procedures</a:t>
            </a:r>
          </a:p>
        </p:txBody>
      </p:sp>
      <p:sp>
        <p:nvSpPr>
          <p:cNvPr id="119811"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r>
              <a:rPr lang="en-US" dirty="0"/>
              <a:t>TCTO Kits procured for ALC assembly/accomplishment</a:t>
            </a:r>
          </a:p>
          <a:p>
            <a:pPr eaLnBrk="1" hangingPunct="1"/>
            <a:endParaRPr lang="en-US" dirty="0"/>
          </a:p>
          <a:p>
            <a:pPr lvl="1" eaLnBrk="1" hangingPunct="1"/>
            <a:r>
              <a:rPr lang="en-US" dirty="0"/>
              <a:t>Retained by the ALC Supply agency for issue</a:t>
            </a:r>
          </a:p>
          <a:p>
            <a:pPr marL="447675" lvl="1" indent="0" eaLnBrk="1" hangingPunct="1">
              <a:buNone/>
            </a:pPr>
            <a:endParaRPr lang="en-US" dirty="0"/>
          </a:p>
          <a:p>
            <a:pPr lvl="1" eaLnBrk="1" hangingPunct="1"/>
            <a:r>
              <a:rPr lang="en-US" dirty="0"/>
              <a:t>Other kit management &amp; location arrangements are reflected:</a:t>
            </a:r>
          </a:p>
          <a:p>
            <a:pPr lvl="2" eaLnBrk="1" hangingPunct="1"/>
            <a:r>
              <a:rPr lang="en-US" dirty="0"/>
              <a:t>  By the last two digits of the Kit number</a:t>
            </a:r>
          </a:p>
          <a:p>
            <a:pPr lvl="2" eaLnBrk="1" hangingPunct="1"/>
            <a:r>
              <a:rPr lang="en-US" dirty="0"/>
              <a:t>  Material Management Aggregation Code </a:t>
            </a:r>
          </a:p>
          <a:p>
            <a:pPr eaLnBrk="1" hangingPunct="1">
              <a:buFont typeface="Wingdings" pitchFamily="2" charset="2"/>
              <a:buNone/>
            </a:pPr>
            <a:endParaRPr lang="en-US" dirty="0"/>
          </a:p>
          <a:p>
            <a:pPr lvl="1" eaLnBrk="1" hangingPunct="1"/>
            <a:endParaRPr lang="en-US" dirty="0"/>
          </a:p>
        </p:txBody>
      </p:sp>
      <p:sp>
        <p:nvSpPr>
          <p:cNvPr id="119812" name="Slide Number Placeholder 5"/>
          <p:cNvSpPr>
            <a:spLocks noGrp="1"/>
          </p:cNvSpPr>
          <p:nvPr>
            <p:ph type="sldNum" sz="quarter" idx="10"/>
          </p:nvPr>
        </p:nvSpPr>
        <p:spPr>
          <a:xfrm>
            <a:off x="7239000" y="6519863"/>
            <a:ext cx="1905000" cy="338137"/>
          </a:xfrm>
          <a:noFill/>
        </p:spPr>
        <p:txBody>
          <a:bodyPr/>
          <a:lstStyle/>
          <a:p>
            <a:fld id="{53F9DCF6-B8C5-42BC-B312-FB71EC6D8EBF}" type="slidenum">
              <a:rPr lang="en-US" smtClean="0"/>
              <a:pPr/>
              <a:t>96</a:t>
            </a:fld>
            <a:endParaRPr lang="en-US"/>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eaLnBrk="1" hangingPunct="1"/>
            <a:r>
              <a:rPr lang="en-US"/>
              <a:t>TCTO Policy and Procedures</a:t>
            </a:r>
          </a:p>
        </p:txBody>
      </p:sp>
      <p:sp>
        <p:nvSpPr>
          <p:cNvPr id="121859"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r>
              <a:rPr lang="en-US" dirty="0"/>
              <a:t>Computer software distributed by TCTO</a:t>
            </a:r>
          </a:p>
          <a:p>
            <a:pPr lvl="1" eaLnBrk="1" hangingPunct="1"/>
            <a:endParaRPr lang="en-US" dirty="0"/>
          </a:p>
          <a:p>
            <a:pPr lvl="1" eaLnBrk="1" hangingPunct="1"/>
            <a:r>
              <a:rPr lang="en-US" dirty="0"/>
              <a:t>E.g., tapes, cards, disks etc.</a:t>
            </a:r>
          </a:p>
          <a:p>
            <a:pPr lvl="2" eaLnBrk="1" hangingPunct="1"/>
            <a:r>
              <a:rPr lang="en-US" dirty="0"/>
              <a:t>  Will be issued prior to or concurrently</a:t>
            </a:r>
          </a:p>
          <a:p>
            <a:pPr lvl="2" eaLnBrk="1" hangingPunct="1"/>
            <a:r>
              <a:rPr lang="en-US" dirty="0"/>
              <a:t>  With kit delivery to users</a:t>
            </a:r>
          </a:p>
          <a:p>
            <a:pPr eaLnBrk="1" hangingPunct="1"/>
            <a:endParaRPr lang="en-US" dirty="0"/>
          </a:p>
          <a:p>
            <a:pPr eaLnBrk="1" hangingPunct="1"/>
            <a:endParaRPr lang="en-US" dirty="0"/>
          </a:p>
          <a:p>
            <a:pPr lvl="1" eaLnBrk="1" hangingPunct="1"/>
            <a:endParaRPr lang="en-US" dirty="0"/>
          </a:p>
        </p:txBody>
      </p:sp>
      <p:sp>
        <p:nvSpPr>
          <p:cNvPr id="121860" name="Slide Number Placeholder 5"/>
          <p:cNvSpPr>
            <a:spLocks noGrp="1"/>
          </p:cNvSpPr>
          <p:nvPr>
            <p:ph type="sldNum" sz="quarter" idx="10"/>
          </p:nvPr>
        </p:nvSpPr>
        <p:spPr>
          <a:xfrm>
            <a:off x="7239000" y="6519863"/>
            <a:ext cx="1905000" cy="338137"/>
          </a:xfrm>
          <a:noFill/>
        </p:spPr>
        <p:txBody>
          <a:bodyPr/>
          <a:lstStyle/>
          <a:p>
            <a:fld id="{8150BB42-9654-4F56-A7D1-4F1371B702D9}" type="slidenum">
              <a:rPr lang="en-US" smtClean="0"/>
              <a:pPr/>
              <a:t>97</a:t>
            </a:fld>
            <a:endParaRPr lang="en-US"/>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a:t>TCTO Policy and Procedures</a:t>
            </a:r>
          </a:p>
        </p:txBody>
      </p:sp>
      <p:sp>
        <p:nvSpPr>
          <p:cNvPr id="122883" name="Rectangle 3"/>
          <p:cNvSpPr>
            <a:spLocks noGrp="1" noChangeArrowheads="1"/>
          </p:cNvSpPr>
          <p:nvPr>
            <p:ph idx="1"/>
          </p:nvPr>
        </p:nvSpPr>
        <p:spPr/>
        <p:txBody>
          <a:bodyPr/>
          <a:lstStyle/>
          <a:p>
            <a:pPr eaLnBrk="1" hangingPunct="1"/>
            <a:r>
              <a:rPr lang="en-US" dirty="0"/>
              <a:t>Kits</a:t>
            </a:r>
          </a:p>
          <a:p>
            <a:pPr eaLnBrk="1" hangingPunct="1"/>
            <a:r>
              <a:rPr lang="en-US" dirty="0"/>
              <a:t>Policy</a:t>
            </a:r>
          </a:p>
          <a:p>
            <a:pPr eaLnBrk="1" hangingPunct="1"/>
            <a:r>
              <a:rPr lang="en-US" dirty="0"/>
              <a:t>Special Tools, if required, will be:</a:t>
            </a:r>
          </a:p>
          <a:p>
            <a:pPr lvl="2" eaLnBrk="1" hangingPunct="1"/>
            <a:r>
              <a:rPr lang="en-US" dirty="0"/>
              <a:t>  Included in TCTO kit, or</a:t>
            </a:r>
          </a:p>
          <a:p>
            <a:pPr lvl="2" eaLnBrk="1" hangingPunct="1"/>
            <a:r>
              <a:rPr lang="en-US" dirty="0"/>
              <a:t>  Separate kit</a:t>
            </a:r>
          </a:p>
          <a:p>
            <a:pPr lvl="1" eaLnBrk="1" hangingPunct="1"/>
            <a:r>
              <a:rPr lang="en-US" dirty="0"/>
              <a:t>Command agrees</a:t>
            </a:r>
          </a:p>
          <a:p>
            <a:pPr lvl="2" eaLnBrk="1" hangingPunct="1"/>
            <a:r>
              <a:rPr lang="en-US" dirty="0"/>
              <a:t>  The Special tools not to be in the kit</a:t>
            </a:r>
          </a:p>
          <a:p>
            <a:pPr lvl="2" eaLnBrk="1" hangingPunct="1"/>
            <a:r>
              <a:rPr lang="en-US" dirty="0"/>
              <a:t>  TCTO shall include exact method to obtain or local manufacture</a:t>
            </a:r>
          </a:p>
          <a:p>
            <a:pPr marL="852488" lvl="2" indent="0" eaLnBrk="1" hangingPunct="1">
              <a:buNone/>
            </a:pPr>
            <a:r>
              <a:rPr lang="en-US" dirty="0"/>
              <a:t>    the tool</a:t>
            </a:r>
          </a:p>
          <a:p>
            <a:pPr eaLnBrk="1" hangingPunct="1"/>
            <a:endParaRPr lang="en-US" dirty="0"/>
          </a:p>
          <a:p>
            <a:pPr eaLnBrk="1" hangingPunct="1"/>
            <a:endParaRPr lang="en-US" dirty="0"/>
          </a:p>
          <a:p>
            <a:pPr lvl="1" eaLnBrk="1" hangingPunct="1"/>
            <a:endParaRPr lang="en-US" dirty="0"/>
          </a:p>
        </p:txBody>
      </p:sp>
      <p:sp>
        <p:nvSpPr>
          <p:cNvPr id="122884" name="Slide Number Placeholder 5"/>
          <p:cNvSpPr>
            <a:spLocks noGrp="1"/>
          </p:cNvSpPr>
          <p:nvPr>
            <p:ph type="sldNum" sz="quarter" idx="10"/>
          </p:nvPr>
        </p:nvSpPr>
        <p:spPr>
          <a:xfrm>
            <a:off x="7239000" y="6519863"/>
            <a:ext cx="1905000" cy="338137"/>
          </a:xfrm>
          <a:noFill/>
        </p:spPr>
        <p:txBody>
          <a:bodyPr/>
          <a:lstStyle/>
          <a:p>
            <a:fld id="{27C3FEDE-836A-4673-9D5D-1B47EF48A0D7}" type="slidenum">
              <a:rPr lang="en-US" smtClean="0"/>
              <a:pPr/>
              <a:t>98</a:t>
            </a:fld>
            <a:endParaRPr lang="en-US"/>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r>
              <a:rPr lang="en-US"/>
              <a:t>TCTO Policy and Procedures</a:t>
            </a:r>
          </a:p>
        </p:txBody>
      </p:sp>
      <p:sp>
        <p:nvSpPr>
          <p:cNvPr id="123907" name="Rectangle 3"/>
          <p:cNvSpPr>
            <a:spLocks noGrp="1" noChangeArrowheads="1"/>
          </p:cNvSpPr>
          <p:nvPr>
            <p:ph idx="1"/>
          </p:nvPr>
        </p:nvSpPr>
        <p:spPr/>
        <p:txBody>
          <a:bodyPr/>
          <a:lstStyle/>
          <a:p>
            <a:pPr eaLnBrk="1" hangingPunct="1"/>
            <a:r>
              <a:rPr lang="en-US"/>
              <a:t>Kits</a:t>
            </a:r>
          </a:p>
          <a:p>
            <a:pPr eaLnBrk="1" hangingPunct="1"/>
            <a:r>
              <a:rPr lang="en-US"/>
              <a:t>Policy</a:t>
            </a:r>
          </a:p>
          <a:p>
            <a:pPr eaLnBrk="1" hangingPunct="1"/>
            <a:r>
              <a:rPr lang="en-US"/>
              <a:t>Ground Training Aircraft</a:t>
            </a:r>
          </a:p>
          <a:p>
            <a:pPr eaLnBrk="1" hangingPunct="1"/>
            <a:endParaRPr lang="en-US"/>
          </a:p>
          <a:p>
            <a:pPr lvl="1" eaLnBrk="1" hangingPunct="1"/>
            <a:r>
              <a:rPr lang="en-US"/>
              <a:t>Kits issued the same as operational kits</a:t>
            </a:r>
          </a:p>
          <a:p>
            <a:pPr lvl="1" eaLnBrk="1" hangingPunct="1"/>
            <a:endParaRPr lang="en-US"/>
          </a:p>
        </p:txBody>
      </p:sp>
      <p:sp>
        <p:nvSpPr>
          <p:cNvPr id="123908" name="Slide Number Placeholder 5"/>
          <p:cNvSpPr>
            <a:spLocks noGrp="1"/>
          </p:cNvSpPr>
          <p:nvPr>
            <p:ph type="sldNum" sz="quarter" idx="10"/>
          </p:nvPr>
        </p:nvSpPr>
        <p:spPr>
          <a:xfrm>
            <a:off x="7239000" y="6519863"/>
            <a:ext cx="1905000" cy="338137"/>
          </a:xfrm>
          <a:noFill/>
        </p:spPr>
        <p:txBody>
          <a:bodyPr/>
          <a:lstStyle/>
          <a:p>
            <a:fld id="{4CB34392-03CE-4248-B826-210397018F26}" type="slidenum">
              <a:rPr lang="en-US" smtClean="0"/>
              <a:pPr/>
              <a:t>99</a:t>
            </a:fld>
            <a:endParaRPr lang="en-US"/>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en-US"/>
              <a:t>TCTO Policy and Procedures</a:t>
            </a:r>
          </a:p>
        </p:txBody>
      </p:sp>
      <p:sp>
        <p:nvSpPr>
          <p:cNvPr id="124931" name="Rectangle 3"/>
          <p:cNvSpPr>
            <a:spLocks noGrp="1" noChangeArrowheads="1"/>
          </p:cNvSpPr>
          <p:nvPr>
            <p:ph idx="1"/>
          </p:nvPr>
        </p:nvSpPr>
        <p:spPr/>
        <p:txBody>
          <a:bodyPr/>
          <a:lstStyle/>
          <a:p>
            <a:pPr eaLnBrk="1" hangingPunct="1"/>
            <a:r>
              <a:rPr lang="en-US"/>
              <a:t>Kits</a:t>
            </a:r>
          </a:p>
          <a:p>
            <a:pPr eaLnBrk="1" hangingPunct="1"/>
            <a:r>
              <a:rPr lang="en-US"/>
              <a:t>Security Assistance Program Kit </a:t>
            </a:r>
          </a:p>
          <a:p>
            <a:pPr eaLnBrk="1" hangingPunct="1">
              <a:buFont typeface="Wingdings" pitchFamily="2" charset="2"/>
              <a:buNone/>
            </a:pPr>
            <a:r>
              <a:rPr lang="en-US"/>
              <a:t>	</a:t>
            </a:r>
          </a:p>
          <a:p>
            <a:pPr lvl="1" eaLnBrk="1" hangingPunct="1"/>
            <a:r>
              <a:rPr lang="en-US"/>
              <a:t>Subject to SA program and funds</a:t>
            </a:r>
          </a:p>
          <a:p>
            <a:pPr lvl="1" eaLnBrk="1" hangingPunct="1"/>
            <a:r>
              <a:rPr lang="en-US"/>
              <a:t>Included in the original procurement</a:t>
            </a:r>
          </a:p>
          <a:p>
            <a:pPr lvl="1" eaLnBrk="1" hangingPunct="1"/>
            <a:r>
              <a:rPr lang="en-US"/>
              <a:t>With Air Force requirements</a:t>
            </a:r>
          </a:p>
          <a:p>
            <a:pPr lvl="1" eaLnBrk="1" hangingPunct="1"/>
            <a:r>
              <a:rPr lang="en-US"/>
              <a:t>Procure kits for all affected equipment</a:t>
            </a:r>
          </a:p>
          <a:p>
            <a:pPr eaLnBrk="1" hangingPunct="1">
              <a:buFont typeface="Wingdings" pitchFamily="2" charset="2"/>
              <a:buNone/>
            </a:pPr>
            <a:endParaRPr lang="en-US"/>
          </a:p>
        </p:txBody>
      </p:sp>
      <p:sp>
        <p:nvSpPr>
          <p:cNvPr id="124932" name="Slide Number Placeholder 5"/>
          <p:cNvSpPr>
            <a:spLocks noGrp="1"/>
          </p:cNvSpPr>
          <p:nvPr>
            <p:ph type="sldNum" sz="quarter" idx="10"/>
          </p:nvPr>
        </p:nvSpPr>
        <p:spPr>
          <a:xfrm>
            <a:off x="7239000" y="6519863"/>
            <a:ext cx="1905000" cy="338137"/>
          </a:xfrm>
          <a:noFill/>
        </p:spPr>
        <p:txBody>
          <a:bodyPr/>
          <a:lstStyle/>
          <a:p>
            <a:fld id="{CE8966C9-3A94-4559-8931-0E9AE908EE94}" type="slidenum">
              <a:rPr lang="en-US" smtClean="0"/>
              <a:pPr/>
              <a:t>100</a:t>
            </a:fld>
            <a:endParaRPr lang="en-US"/>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eaLnBrk="1" hangingPunct="1"/>
            <a:r>
              <a:rPr lang="en-US"/>
              <a:t>TCTO Policy and Procedures</a:t>
            </a:r>
          </a:p>
        </p:txBody>
      </p:sp>
      <p:sp>
        <p:nvSpPr>
          <p:cNvPr id="125955" name="Rectangle 3"/>
          <p:cNvSpPr>
            <a:spLocks noGrp="1" noChangeArrowheads="1"/>
          </p:cNvSpPr>
          <p:nvPr>
            <p:ph idx="1"/>
          </p:nvPr>
        </p:nvSpPr>
        <p:spPr/>
        <p:txBody>
          <a:bodyPr/>
          <a:lstStyle/>
          <a:p>
            <a:pPr eaLnBrk="1" hangingPunct="1"/>
            <a:r>
              <a:rPr lang="en-US" dirty="0"/>
              <a:t>Kits </a:t>
            </a:r>
          </a:p>
          <a:p>
            <a:pPr eaLnBrk="1" hangingPunct="1"/>
            <a:r>
              <a:rPr lang="en-US" dirty="0"/>
              <a:t>HAZMAT/Shelf Life/Time Change</a:t>
            </a:r>
          </a:p>
          <a:p>
            <a:pPr eaLnBrk="1" hangingPunct="1"/>
            <a:endParaRPr lang="en-US" dirty="0"/>
          </a:p>
          <a:p>
            <a:pPr lvl="1" eaLnBrk="1" hangingPunct="1"/>
            <a:r>
              <a:rPr lang="en-US" dirty="0"/>
              <a:t>TO 00-5-15 directs consideration of regional/federal restrictions  </a:t>
            </a:r>
          </a:p>
          <a:p>
            <a:pPr lvl="2" eaLnBrk="1" hangingPunct="1"/>
            <a:r>
              <a:rPr lang="en-US" dirty="0"/>
              <a:t>  Use of HAZMAT </a:t>
            </a:r>
          </a:p>
          <a:p>
            <a:pPr lvl="2" eaLnBrk="1" hangingPunct="1"/>
            <a:r>
              <a:rPr lang="en-US" dirty="0"/>
              <a:t>  Ozone Depleting Substances (ODS)</a:t>
            </a:r>
          </a:p>
          <a:p>
            <a:pPr lvl="3" eaLnBrk="1" hangingPunct="1"/>
            <a:r>
              <a:rPr lang="en-US" dirty="0"/>
              <a:t>When developing TCTO procedures &amp; kits</a:t>
            </a:r>
          </a:p>
          <a:p>
            <a:pPr lvl="2" eaLnBrk="1" hangingPunct="1"/>
            <a:endParaRPr lang="en-US" dirty="0"/>
          </a:p>
        </p:txBody>
      </p:sp>
      <p:sp>
        <p:nvSpPr>
          <p:cNvPr id="125956" name="Slide Number Placeholder 5"/>
          <p:cNvSpPr>
            <a:spLocks noGrp="1"/>
          </p:cNvSpPr>
          <p:nvPr>
            <p:ph type="sldNum" sz="quarter" idx="10"/>
          </p:nvPr>
        </p:nvSpPr>
        <p:spPr>
          <a:xfrm>
            <a:off x="7239000" y="6519863"/>
            <a:ext cx="1905000" cy="338137"/>
          </a:xfrm>
          <a:noFill/>
        </p:spPr>
        <p:txBody>
          <a:bodyPr/>
          <a:lstStyle/>
          <a:p>
            <a:fld id="{E9FAEC31-DCF8-4A71-B7F1-5F2678B23B7E}" type="slidenum">
              <a:rPr lang="en-US" smtClean="0"/>
              <a:pPr/>
              <a:t>101</a:t>
            </a:fld>
            <a:endParaRPr lang="en-US"/>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r>
              <a:rPr lang="en-US"/>
              <a:t>TCTO Policy and Procedures</a:t>
            </a:r>
          </a:p>
        </p:txBody>
      </p:sp>
      <p:sp>
        <p:nvSpPr>
          <p:cNvPr id="126979" name="Rectangle 3"/>
          <p:cNvSpPr>
            <a:spLocks noGrp="1" noChangeArrowheads="1"/>
          </p:cNvSpPr>
          <p:nvPr>
            <p:ph idx="1"/>
          </p:nvPr>
        </p:nvSpPr>
        <p:spPr/>
        <p:txBody>
          <a:bodyPr/>
          <a:lstStyle/>
          <a:p>
            <a:pPr eaLnBrk="1" hangingPunct="1"/>
            <a:r>
              <a:rPr lang="en-US" dirty="0"/>
              <a:t>Kits </a:t>
            </a:r>
          </a:p>
          <a:p>
            <a:pPr eaLnBrk="1" hangingPunct="1"/>
            <a:r>
              <a:rPr lang="en-US" dirty="0"/>
              <a:t>HAZMAT/Shelf Life/Time Change </a:t>
            </a:r>
          </a:p>
          <a:p>
            <a:pPr eaLnBrk="1" hangingPunct="1"/>
            <a:endParaRPr lang="en-US" dirty="0"/>
          </a:p>
          <a:p>
            <a:pPr lvl="1" eaLnBrk="1" hangingPunct="1"/>
            <a:r>
              <a:rPr lang="en-US" dirty="0"/>
              <a:t>Kits containing shelf-life items </a:t>
            </a:r>
          </a:p>
          <a:p>
            <a:pPr lvl="2" eaLnBrk="1" hangingPunct="1"/>
            <a:r>
              <a:rPr lang="en-US" dirty="0"/>
              <a:t>  Assigned shelf-life code of shortest shelf life in the kit</a:t>
            </a:r>
          </a:p>
          <a:p>
            <a:pPr lvl="3" eaLnBrk="1" hangingPunct="1"/>
            <a:r>
              <a:rPr lang="en-US" dirty="0"/>
              <a:t>Type I: Item with definite non-extendable shelf life</a:t>
            </a:r>
          </a:p>
          <a:p>
            <a:pPr lvl="3" eaLnBrk="1" hangingPunct="1"/>
            <a:r>
              <a:rPr lang="en-US" dirty="0"/>
              <a:t>Type II: Item with shelf life that may be extended</a:t>
            </a:r>
          </a:p>
        </p:txBody>
      </p:sp>
      <p:sp>
        <p:nvSpPr>
          <p:cNvPr id="126980" name="Slide Number Placeholder 5"/>
          <p:cNvSpPr>
            <a:spLocks noGrp="1"/>
          </p:cNvSpPr>
          <p:nvPr>
            <p:ph type="sldNum" sz="quarter" idx="10"/>
          </p:nvPr>
        </p:nvSpPr>
        <p:spPr>
          <a:xfrm>
            <a:off x="7239000" y="6519863"/>
            <a:ext cx="1905000" cy="338137"/>
          </a:xfrm>
          <a:noFill/>
        </p:spPr>
        <p:txBody>
          <a:bodyPr/>
          <a:lstStyle/>
          <a:p>
            <a:fld id="{2607F3DB-A976-4181-A955-DCE0F00D425E}" type="slidenum">
              <a:rPr lang="en-US" smtClean="0"/>
              <a:pPr/>
              <a:t>102</a:t>
            </a:fld>
            <a:endParaRPr lang="en-US"/>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685800" y="76200"/>
            <a:ext cx="7772400" cy="1143000"/>
          </a:xfrm>
        </p:spPr>
        <p:txBody>
          <a:bodyPr/>
          <a:lstStyle/>
          <a:p>
            <a:pPr eaLnBrk="1" hangingPunct="1"/>
            <a:r>
              <a:rPr lang="en-US"/>
              <a:t> TCTO Policy and Procedures </a:t>
            </a:r>
          </a:p>
        </p:txBody>
      </p:sp>
      <p:sp>
        <p:nvSpPr>
          <p:cNvPr id="2052" name="Slide Number Placeholder 4"/>
          <p:cNvSpPr>
            <a:spLocks noGrp="1"/>
          </p:cNvSpPr>
          <p:nvPr>
            <p:ph type="sldNum" sz="quarter" idx="10"/>
          </p:nvPr>
        </p:nvSpPr>
        <p:spPr>
          <a:noFill/>
        </p:spPr>
        <p:txBody>
          <a:bodyPr/>
          <a:lstStyle/>
          <a:p>
            <a:fld id="{4B325E77-8730-4586-A928-85FE387C2E06}" type="slidenum">
              <a:rPr lang="en-US" smtClean="0"/>
              <a:pPr/>
              <a:t>103</a:t>
            </a:fld>
            <a:endParaRPr lang="en-US"/>
          </a:p>
        </p:txBody>
      </p:sp>
      <p:graphicFrame>
        <p:nvGraphicFramePr>
          <p:cNvPr id="2050" name="Object 3"/>
          <p:cNvGraphicFramePr>
            <a:graphicFrameLocks noChangeAspect="1"/>
          </p:cNvGraphicFramePr>
          <p:nvPr/>
        </p:nvGraphicFramePr>
        <p:xfrm>
          <a:off x="381000" y="1676400"/>
          <a:ext cx="8534400" cy="4357688"/>
        </p:xfrm>
        <a:graphic>
          <a:graphicData uri="http://schemas.openxmlformats.org/presentationml/2006/ole">
            <mc:AlternateContent xmlns:mc="http://schemas.openxmlformats.org/markup-compatibility/2006">
              <mc:Choice xmlns:v="urn:schemas-microsoft-com:vml" Requires="v">
                <p:oleObj name="Worksheet" r:id="rId3" imgW="7610490" imgH="3886322" progId="Excel.Sheet.8">
                  <p:embed/>
                </p:oleObj>
              </mc:Choice>
              <mc:Fallback>
                <p:oleObj name="Worksheet" r:id="rId3" imgW="7610490" imgH="3886322" progId="Excel.Sheet.8">
                  <p:embed/>
                  <p:pic>
                    <p:nvPicPr>
                      <p:cNvPr id="205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676400"/>
                        <a:ext cx="8534400" cy="435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r>
              <a:rPr lang="en-US"/>
              <a:t>TCTO Policy and Procedures</a:t>
            </a:r>
          </a:p>
        </p:txBody>
      </p:sp>
      <p:sp>
        <p:nvSpPr>
          <p:cNvPr id="128003" name="Rectangle 3"/>
          <p:cNvSpPr>
            <a:spLocks noGrp="1" noChangeArrowheads="1"/>
          </p:cNvSpPr>
          <p:nvPr>
            <p:ph idx="1"/>
          </p:nvPr>
        </p:nvSpPr>
        <p:spPr/>
        <p:txBody>
          <a:bodyPr/>
          <a:lstStyle/>
          <a:p>
            <a:pPr eaLnBrk="1" hangingPunct="1"/>
            <a:r>
              <a:rPr lang="en-US" dirty="0"/>
              <a:t>Kits </a:t>
            </a:r>
          </a:p>
          <a:p>
            <a:pPr eaLnBrk="1" hangingPunct="1"/>
            <a:r>
              <a:rPr lang="en-US" dirty="0"/>
              <a:t>HAZMAT/Shelf Life/Time Change </a:t>
            </a:r>
          </a:p>
          <a:p>
            <a:pPr eaLnBrk="1" hangingPunct="1"/>
            <a:endParaRPr lang="en-US" dirty="0"/>
          </a:p>
          <a:p>
            <a:pPr lvl="1" eaLnBrk="1" hangingPunct="1"/>
            <a:r>
              <a:rPr lang="en-US" dirty="0"/>
              <a:t>Exterior containers </a:t>
            </a:r>
          </a:p>
          <a:p>
            <a:pPr lvl="2" eaLnBrk="1" hangingPunct="1"/>
            <a:r>
              <a:rPr lang="en-US" dirty="0"/>
              <a:t>  Will reflect shelf-life markings</a:t>
            </a:r>
          </a:p>
          <a:p>
            <a:pPr lvl="2" eaLnBrk="1" hangingPunct="1"/>
            <a:r>
              <a:rPr lang="en-US" dirty="0"/>
              <a:t>  Identify on packing list:</a:t>
            </a:r>
          </a:p>
          <a:p>
            <a:pPr lvl="3" eaLnBrk="1" hangingPunct="1"/>
            <a:r>
              <a:rPr lang="en-US" dirty="0"/>
              <a:t>All Shelf-Life items requiring SL control </a:t>
            </a:r>
          </a:p>
          <a:p>
            <a:pPr lvl="3" eaLnBrk="1" hangingPunct="1"/>
            <a:r>
              <a:rPr lang="en-US" dirty="0"/>
              <a:t>Shelf-life code</a:t>
            </a:r>
          </a:p>
          <a:p>
            <a:pPr lvl="2" eaLnBrk="1" hangingPunct="1"/>
            <a:r>
              <a:rPr lang="en-US" dirty="0"/>
              <a:t>  One copy of the packing List will be on the exterior of  container</a:t>
            </a:r>
          </a:p>
          <a:p>
            <a:pPr lvl="2" eaLnBrk="1" hangingPunct="1"/>
            <a:r>
              <a:rPr lang="en-US" dirty="0"/>
              <a:t>  Place all SL items in one box, if possible</a:t>
            </a:r>
          </a:p>
          <a:p>
            <a:pPr lvl="2" eaLnBrk="1" hangingPunct="1"/>
            <a:endParaRPr lang="en-US" dirty="0"/>
          </a:p>
        </p:txBody>
      </p:sp>
      <p:sp>
        <p:nvSpPr>
          <p:cNvPr id="128004" name="Slide Number Placeholder 5"/>
          <p:cNvSpPr>
            <a:spLocks noGrp="1"/>
          </p:cNvSpPr>
          <p:nvPr>
            <p:ph type="sldNum" sz="quarter" idx="10"/>
          </p:nvPr>
        </p:nvSpPr>
        <p:spPr>
          <a:noFill/>
        </p:spPr>
        <p:txBody>
          <a:bodyPr/>
          <a:lstStyle/>
          <a:p>
            <a:fld id="{92400E15-023D-47F6-A2A5-5C7FC400BB66}" type="slidenum">
              <a:rPr lang="en-US" smtClean="0"/>
              <a:pPr/>
              <a:t>104</a:t>
            </a:fld>
            <a:endParaRPr lang="en-US"/>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r>
              <a:rPr lang="en-US"/>
              <a:t>TCTO Policy and Procedures</a:t>
            </a:r>
          </a:p>
        </p:txBody>
      </p:sp>
      <p:sp>
        <p:nvSpPr>
          <p:cNvPr id="129027" name="Rectangle 3"/>
          <p:cNvSpPr>
            <a:spLocks noGrp="1" noChangeArrowheads="1"/>
          </p:cNvSpPr>
          <p:nvPr>
            <p:ph idx="1"/>
          </p:nvPr>
        </p:nvSpPr>
        <p:spPr>
          <a:xfrm>
            <a:off x="506412" y="1340923"/>
            <a:ext cx="8131175" cy="4875212"/>
          </a:xfrm>
        </p:spPr>
        <p:txBody>
          <a:bodyPr/>
          <a:lstStyle/>
          <a:p>
            <a:pPr eaLnBrk="1" hangingPunct="1"/>
            <a:r>
              <a:rPr lang="en-US" dirty="0"/>
              <a:t>Kits </a:t>
            </a:r>
          </a:p>
          <a:p>
            <a:pPr eaLnBrk="1" hangingPunct="1"/>
            <a:r>
              <a:rPr lang="en-US" dirty="0"/>
              <a:t>HAZMAT/Shelf Life/Time Change </a:t>
            </a:r>
          </a:p>
          <a:p>
            <a:pPr eaLnBrk="1" hangingPunct="1"/>
            <a:r>
              <a:rPr lang="en-US" dirty="0"/>
              <a:t>TCTO kit manager with the TCTO kit assembly unit, will:</a:t>
            </a:r>
          </a:p>
          <a:p>
            <a:pPr lvl="1" eaLnBrk="1" hangingPunct="1"/>
            <a:r>
              <a:rPr lang="en-US" dirty="0"/>
              <a:t>Ensure inspections of kits with SL item</a:t>
            </a:r>
          </a:p>
          <a:p>
            <a:pPr lvl="1" eaLnBrk="1" hangingPunct="1"/>
            <a:endParaRPr lang="en-US" dirty="0"/>
          </a:p>
          <a:p>
            <a:pPr eaLnBrk="1" hangingPunct="1"/>
            <a:r>
              <a:rPr lang="en-US" dirty="0"/>
              <a:t>TCTO kit assembly unit will:</a:t>
            </a:r>
          </a:p>
          <a:p>
            <a:pPr lvl="1" eaLnBrk="1" hangingPunct="1"/>
            <a:r>
              <a:rPr lang="en-US" dirty="0"/>
              <a:t>Notify kit manager of expired SL items</a:t>
            </a:r>
          </a:p>
          <a:p>
            <a:pPr lvl="1" eaLnBrk="1" hangingPunct="1"/>
            <a:r>
              <a:rPr lang="en-US" dirty="0"/>
              <a:t>Regularly Check Time Change Items</a:t>
            </a:r>
          </a:p>
          <a:p>
            <a:pPr lvl="2" eaLnBrk="1" hangingPunct="1"/>
            <a:r>
              <a:rPr lang="en-US" dirty="0"/>
              <a:t>  Ensure the items are up-to-date</a:t>
            </a:r>
          </a:p>
        </p:txBody>
      </p:sp>
      <p:sp>
        <p:nvSpPr>
          <p:cNvPr id="129028" name="Slide Number Placeholder 5"/>
          <p:cNvSpPr>
            <a:spLocks noGrp="1"/>
          </p:cNvSpPr>
          <p:nvPr>
            <p:ph type="sldNum" sz="quarter" idx="10"/>
          </p:nvPr>
        </p:nvSpPr>
        <p:spPr>
          <a:xfrm>
            <a:off x="7239000" y="6519863"/>
            <a:ext cx="1905000" cy="338137"/>
          </a:xfrm>
          <a:noFill/>
        </p:spPr>
        <p:txBody>
          <a:bodyPr/>
          <a:lstStyle/>
          <a:p>
            <a:fld id="{3E9A6901-6625-4532-A49D-CC22F22A9FDE}" type="slidenum">
              <a:rPr lang="en-US" smtClean="0"/>
              <a:pPr/>
              <a:t>105</a:t>
            </a:fld>
            <a:endParaRPr lang="en-US"/>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eaLnBrk="1" hangingPunct="1"/>
            <a:r>
              <a:rPr lang="en-US"/>
              <a:t>TCTO Policy and Procedures</a:t>
            </a:r>
          </a:p>
        </p:txBody>
      </p:sp>
      <p:sp>
        <p:nvSpPr>
          <p:cNvPr id="130051" name="Rectangle 3"/>
          <p:cNvSpPr>
            <a:spLocks noGrp="1" noChangeArrowheads="1"/>
          </p:cNvSpPr>
          <p:nvPr>
            <p:ph idx="1"/>
          </p:nvPr>
        </p:nvSpPr>
        <p:spPr/>
        <p:txBody>
          <a:bodyPr/>
          <a:lstStyle/>
          <a:p>
            <a:pPr eaLnBrk="1" hangingPunct="1"/>
            <a:r>
              <a:rPr lang="en-US" dirty="0"/>
              <a:t>Kits </a:t>
            </a:r>
          </a:p>
          <a:p>
            <a:pPr eaLnBrk="1" hangingPunct="1"/>
            <a:r>
              <a:rPr lang="en-US" dirty="0"/>
              <a:t>HAZMAT/Shelf Life/Time Change </a:t>
            </a:r>
          </a:p>
          <a:p>
            <a:pPr eaLnBrk="1" hangingPunct="1"/>
            <a:r>
              <a:rPr lang="en-US" dirty="0"/>
              <a:t>TCTO manager – Kit assembly unit</a:t>
            </a:r>
          </a:p>
          <a:p>
            <a:pPr eaLnBrk="1" hangingPunct="1"/>
            <a:endParaRPr lang="en-US" dirty="0"/>
          </a:p>
          <a:p>
            <a:pPr eaLnBrk="1" hangingPunct="1"/>
            <a:r>
              <a:rPr lang="en-US" dirty="0"/>
              <a:t>TCTO Kit unit will: </a:t>
            </a:r>
          </a:p>
          <a:p>
            <a:pPr lvl="1" eaLnBrk="1" hangingPunct="1"/>
            <a:r>
              <a:rPr lang="en-US" dirty="0"/>
              <a:t>Ensure kits contain up-to-date SL items</a:t>
            </a:r>
          </a:p>
          <a:p>
            <a:pPr lvl="1" eaLnBrk="1" hangingPunct="1"/>
            <a:r>
              <a:rPr lang="en-US" dirty="0"/>
              <a:t>Establish procedures to review Kits by </a:t>
            </a:r>
          </a:p>
          <a:p>
            <a:pPr lvl="2" eaLnBrk="1" hangingPunct="1"/>
            <a:r>
              <a:rPr lang="en-US" dirty="0"/>
              <a:t>  Inspection or storage personnel </a:t>
            </a:r>
          </a:p>
          <a:p>
            <a:pPr lvl="1" eaLnBrk="1" hangingPunct="1"/>
            <a:r>
              <a:rPr lang="en-US" dirty="0"/>
              <a:t>Controls will ensure </a:t>
            </a:r>
          </a:p>
          <a:p>
            <a:pPr lvl="2" eaLnBrk="1" hangingPunct="1"/>
            <a:r>
              <a:rPr lang="en-US" dirty="0"/>
              <a:t>  Kits are up-to-date</a:t>
            </a:r>
          </a:p>
          <a:p>
            <a:pPr lvl="2" eaLnBrk="1" hangingPunct="1"/>
            <a:r>
              <a:rPr lang="en-US" dirty="0"/>
              <a:t>  Kits are not issued with outdated components</a:t>
            </a:r>
          </a:p>
          <a:p>
            <a:pPr lvl="1" eaLnBrk="1" hangingPunct="1"/>
            <a:endParaRPr lang="en-US" dirty="0"/>
          </a:p>
          <a:p>
            <a:pPr lvl="1" eaLnBrk="1" hangingPunct="1"/>
            <a:endParaRPr lang="en-US" dirty="0"/>
          </a:p>
        </p:txBody>
      </p:sp>
      <p:sp>
        <p:nvSpPr>
          <p:cNvPr id="130052" name="Slide Number Placeholder 5"/>
          <p:cNvSpPr>
            <a:spLocks noGrp="1"/>
          </p:cNvSpPr>
          <p:nvPr>
            <p:ph type="sldNum" sz="quarter" idx="10"/>
          </p:nvPr>
        </p:nvSpPr>
        <p:spPr>
          <a:xfrm>
            <a:off x="7239000" y="6519863"/>
            <a:ext cx="1905000" cy="338137"/>
          </a:xfrm>
          <a:noFill/>
        </p:spPr>
        <p:txBody>
          <a:bodyPr/>
          <a:lstStyle/>
          <a:p>
            <a:fld id="{D1291137-F2E4-40AD-8546-3A0626B6F67C}" type="slidenum">
              <a:rPr lang="en-US" smtClean="0"/>
              <a:pPr/>
              <a:t>106</a:t>
            </a:fld>
            <a:endParaRPr lang="en-US"/>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eaLnBrk="1" hangingPunct="1"/>
            <a:r>
              <a:rPr lang="en-US"/>
              <a:t>TCTO Policy and Procedures</a:t>
            </a:r>
          </a:p>
        </p:txBody>
      </p:sp>
      <p:sp>
        <p:nvSpPr>
          <p:cNvPr id="131075"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a:t>
            </a:r>
          </a:p>
          <a:p>
            <a:pPr lvl="1" eaLnBrk="1" hangingPunct="1"/>
            <a:r>
              <a:rPr lang="en-US" dirty="0"/>
              <a:t>Waivers may be approved on case-by-case basic, if the following is met:</a:t>
            </a:r>
          </a:p>
          <a:p>
            <a:pPr eaLnBrk="1" hangingPunct="1"/>
            <a:endParaRPr lang="en-US" dirty="0"/>
          </a:p>
          <a:p>
            <a:pPr eaLnBrk="1" hangingPunct="1"/>
            <a:r>
              <a:rPr lang="en-US" dirty="0"/>
              <a:t>Non-kitted material requirements</a:t>
            </a:r>
          </a:p>
          <a:p>
            <a:pPr lvl="1" eaLnBrk="1" hangingPunct="1"/>
            <a:r>
              <a:rPr lang="en-US" dirty="0"/>
              <a:t>Must be minimal</a:t>
            </a:r>
          </a:p>
          <a:p>
            <a:pPr lvl="1" eaLnBrk="1" hangingPunct="1"/>
            <a:r>
              <a:rPr lang="en-US" dirty="0"/>
              <a:t>Consisting of common items in stock</a:t>
            </a:r>
          </a:p>
          <a:p>
            <a:pPr lvl="1" eaLnBrk="1" hangingPunct="1"/>
            <a:r>
              <a:rPr lang="en-US" dirty="0"/>
              <a:t>Available at base level</a:t>
            </a:r>
          </a:p>
          <a:p>
            <a:pPr eaLnBrk="1" hangingPunct="1"/>
            <a:endParaRPr lang="en-US" dirty="0"/>
          </a:p>
          <a:p>
            <a:pPr lvl="1" eaLnBrk="1" hangingPunct="1">
              <a:buFontTx/>
              <a:buNone/>
            </a:pPr>
            <a:endParaRPr lang="en-US" dirty="0"/>
          </a:p>
        </p:txBody>
      </p:sp>
      <p:sp>
        <p:nvSpPr>
          <p:cNvPr id="131076" name="Slide Number Placeholder 5"/>
          <p:cNvSpPr>
            <a:spLocks noGrp="1"/>
          </p:cNvSpPr>
          <p:nvPr>
            <p:ph type="sldNum" sz="quarter" idx="10"/>
          </p:nvPr>
        </p:nvSpPr>
        <p:spPr>
          <a:xfrm>
            <a:off x="7239000" y="6519863"/>
            <a:ext cx="1905000" cy="338137"/>
          </a:xfrm>
          <a:noFill/>
        </p:spPr>
        <p:txBody>
          <a:bodyPr/>
          <a:lstStyle/>
          <a:p>
            <a:fld id="{57BE21AE-7F14-4A7E-A3AD-EE5A152C8983}" type="slidenum">
              <a:rPr lang="en-US" smtClean="0"/>
              <a:pPr/>
              <a:t>107</a:t>
            </a:fld>
            <a:endParaRPr lang="en-US"/>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pPr eaLnBrk="1" hangingPunct="1"/>
            <a:r>
              <a:rPr lang="en-US"/>
              <a:t>TCTO Policy and Procedures</a:t>
            </a:r>
          </a:p>
        </p:txBody>
      </p:sp>
      <p:sp>
        <p:nvSpPr>
          <p:cNvPr id="132099"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a:t>
            </a:r>
          </a:p>
          <a:p>
            <a:pPr eaLnBrk="1" hangingPunct="1"/>
            <a:r>
              <a:rPr lang="en-US" dirty="0"/>
              <a:t>Non-kitted items cont.</a:t>
            </a:r>
          </a:p>
          <a:p>
            <a:pPr eaLnBrk="1" hangingPunct="1"/>
            <a:endParaRPr lang="en-US" dirty="0"/>
          </a:p>
          <a:p>
            <a:pPr lvl="1" eaLnBrk="1" hangingPunct="1"/>
            <a:r>
              <a:rPr lang="en-US" dirty="0"/>
              <a:t>SM must get engineering authority certifying:</a:t>
            </a:r>
          </a:p>
          <a:p>
            <a:pPr lvl="2" eaLnBrk="1" hangingPunct="1"/>
            <a:r>
              <a:rPr lang="en-US" dirty="0"/>
              <a:t>  All required items do not affect safety</a:t>
            </a:r>
          </a:p>
          <a:p>
            <a:pPr lvl="2" eaLnBrk="1" hangingPunct="1"/>
            <a:r>
              <a:rPr lang="en-US" dirty="0"/>
              <a:t>  Or have critical properties essential to the modification</a:t>
            </a:r>
          </a:p>
          <a:p>
            <a:pPr lvl="1" eaLnBrk="1" hangingPunct="1"/>
            <a:endParaRPr lang="en-US" dirty="0"/>
          </a:p>
          <a:p>
            <a:pPr eaLnBrk="1" hangingPunct="1"/>
            <a:endParaRPr lang="en-US" dirty="0"/>
          </a:p>
          <a:p>
            <a:pPr eaLnBrk="1" hangingPunct="1">
              <a:buFont typeface="Wingdings" pitchFamily="2" charset="2"/>
              <a:buNone/>
            </a:pPr>
            <a:endParaRPr lang="en-US" dirty="0"/>
          </a:p>
          <a:p>
            <a:pPr eaLnBrk="1" hangingPunct="1"/>
            <a:endParaRPr lang="en-US" dirty="0"/>
          </a:p>
          <a:p>
            <a:pPr eaLnBrk="1" hangingPunct="1"/>
            <a:endParaRPr lang="en-US" dirty="0"/>
          </a:p>
          <a:p>
            <a:pPr eaLnBrk="1" hangingPunct="1"/>
            <a:endParaRPr lang="en-US" dirty="0"/>
          </a:p>
          <a:p>
            <a:pPr lvl="1" eaLnBrk="1" hangingPunct="1"/>
            <a:endParaRPr lang="en-US" dirty="0"/>
          </a:p>
        </p:txBody>
      </p:sp>
      <p:sp>
        <p:nvSpPr>
          <p:cNvPr id="132100" name="Slide Number Placeholder 5"/>
          <p:cNvSpPr>
            <a:spLocks noGrp="1"/>
          </p:cNvSpPr>
          <p:nvPr>
            <p:ph type="sldNum" sz="quarter" idx="10"/>
          </p:nvPr>
        </p:nvSpPr>
        <p:spPr>
          <a:xfrm>
            <a:off x="7239000" y="6519863"/>
            <a:ext cx="1905000" cy="338137"/>
          </a:xfrm>
          <a:noFill/>
        </p:spPr>
        <p:txBody>
          <a:bodyPr/>
          <a:lstStyle/>
          <a:p>
            <a:fld id="{2E466C0B-696A-479A-A539-5DC8EF73A72B}" type="slidenum">
              <a:rPr lang="en-US" smtClean="0"/>
              <a:pPr/>
              <a:t>108</a:t>
            </a:fld>
            <a:endParaRPr lang="en-US"/>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r>
              <a:rPr lang="en-US"/>
              <a:t>TCTO Policy and Procedures</a:t>
            </a:r>
          </a:p>
        </p:txBody>
      </p:sp>
      <p:sp>
        <p:nvSpPr>
          <p:cNvPr id="133123"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  cont.</a:t>
            </a:r>
          </a:p>
          <a:p>
            <a:pPr eaLnBrk="1" hangingPunct="1"/>
            <a:r>
              <a:rPr lang="en-US" dirty="0"/>
              <a:t>Non-kitted items cont.</a:t>
            </a:r>
          </a:p>
          <a:p>
            <a:pPr eaLnBrk="1" hangingPunct="1"/>
            <a:endParaRPr lang="en-US" dirty="0"/>
          </a:p>
          <a:p>
            <a:pPr lvl="1" eaLnBrk="1" hangingPunct="1"/>
            <a:r>
              <a:rPr lang="en-US" dirty="0"/>
              <a:t>Substitute items must not:</a:t>
            </a:r>
          </a:p>
          <a:p>
            <a:pPr lvl="2" eaLnBrk="1" hangingPunct="1"/>
            <a:r>
              <a:rPr lang="en-US" dirty="0"/>
              <a:t>  Affect safety  </a:t>
            </a:r>
          </a:p>
          <a:p>
            <a:pPr lvl="2" eaLnBrk="1" hangingPunct="1"/>
            <a:r>
              <a:rPr lang="en-US" dirty="0"/>
              <a:t>  Have critical properties essential for the Modification   </a:t>
            </a:r>
          </a:p>
          <a:p>
            <a:pPr lvl="2" eaLnBrk="1" hangingPunct="1"/>
            <a:r>
              <a:rPr lang="en-US" dirty="0"/>
              <a:t>  Induce corrosion when used </a:t>
            </a:r>
          </a:p>
          <a:p>
            <a:pPr lvl="1" eaLnBrk="1" hangingPunct="1"/>
            <a:endParaRPr lang="en-US" dirty="0"/>
          </a:p>
          <a:p>
            <a:pPr eaLnBrk="1" hangingPunct="1"/>
            <a:endParaRPr lang="en-US" dirty="0"/>
          </a:p>
          <a:p>
            <a:pPr eaLnBrk="1" hangingPunct="1"/>
            <a:endParaRPr lang="en-US" dirty="0"/>
          </a:p>
          <a:p>
            <a:pPr eaLnBrk="1" hangingPunct="1"/>
            <a:endParaRPr lang="en-US" dirty="0"/>
          </a:p>
          <a:p>
            <a:pPr lvl="1" eaLnBrk="1" hangingPunct="1"/>
            <a:endParaRPr lang="en-US" dirty="0"/>
          </a:p>
        </p:txBody>
      </p:sp>
      <p:sp>
        <p:nvSpPr>
          <p:cNvPr id="133124" name="Slide Number Placeholder 5"/>
          <p:cNvSpPr>
            <a:spLocks noGrp="1"/>
          </p:cNvSpPr>
          <p:nvPr>
            <p:ph type="sldNum" sz="quarter" idx="10"/>
          </p:nvPr>
        </p:nvSpPr>
        <p:spPr>
          <a:xfrm>
            <a:off x="7239000" y="6519863"/>
            <a:ext cx="1905000" cy="338137"/>
          </a:xfrm>
          <a:noFill/>
        </p:spPr>
        <p:txBody>
          <a:bodyPr/>
          <a:lstStyle/>
          <a:p>
            <a:fld id="{BD2F2C23-413E-41A2-89BC-BFC634AA6D27}" type="slidenum">
              <a:rPr lang="en-US" smtClean="0"/>
              <a:pPr/>
              <a:t>109</a:t>
            </a:fld>
            <a:endParaRPr lang="en-US"/>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eaLnBrk="1" hangingPunct="1"/>
            <a:r>
              <a:rPr lang="en-US"/>
              <a:t>TCTO Policy and Procedures</a:t>
            </a:r>
          </a:p>
        </p:txBody>
      </p:sp>
      <p:sp>
        <p:nvSpPr>
          <p:cNvPr id="134147"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  cont.</a:t>
            </a:r>
          </a:p>
          <a:p>
            <a:pPr eaLnBrk="1" hangingPunct="1"/>
            <a:r>
              <a:rPr lang="en-US" dirty="0"/>
              <a:t>Non-kitted items  </a:t>
            </a:r>
          </a:p>
          <a:p>
            <a:pPr eaLnBrk="1" hangingPunct="1"/>
            <a:endParaRPr lang="en-US" dirty="0"/>
          </a:p>
          <a:p>
            <a:pPr lvl="1" eaLnBrk="1" hangingPunct="1"/>
            <a:r>
              <a:rPr lang="en-US" dirty="0"/>
              <a:t>Substitute items cont.</a:t>
            </a:r>
          </a:p>
          <a:p>
            <a:pPr lvl="2" eaLnBrk="1" hangingPunct="1"/>
            <a:r>
              <a:rPr lang="en-US" dirty="0"/>
              <a:t>  Waivers are not required if only</a:t>
            </a:r>
          </a:p>
          <a:p>
            <a:pPr lvl="3" eaLnBrk="1" hangingPunct="1"/>
            <a:r>
              <a:rPr lang="en-US" dirty="0"/>
              <a:t>Petroleum/Oil/Lubricant (POL) are omitted</a:t>
            </a:r>
          </a:p>
          <a:p>
            <a:pPr eaLnBrk="1" hangingPunct="1"/>
            <a:endParaRPr lang="en-US" dirty="0"/>
          </a:p>
          <a:p>
            <a:pPr lvl="1" eaLnBrk="1" hangingPunct="1"/>
            <a:endParaRPr lang="en-US" dirty="0"/>
          </a:p>
        </p:txBody>
      </p:sp>
      <p:sp>
        <p:nvSpPr>
          <p:cNvPr id="134148" name="Slide Number Placeholder 5"/>
          <p:cNvSpPr>
            <a:spLocks noGrp="1"/>
          </p:cNvSpPr>
          <p:nvPr>
            <p:ph type="sldNum" sz="quarter" idx="10"/>
          </p:nvPr>
        </p:nvSpPr>
        <p:spPr>
          <a:xfrm>
            <a:off x="7239000" y="6519863"/>
            <a:ext cx="1905000" cy="338137"/>
          </a:xfrm>
          <a:noFill/>
        </p:spPr>
        <p:txBody>
          <a:bodyPr/>
          <a:lstStyle/>
          <a:p>
            <a:fld id="{03539F2E-7171-41B5-9A29-390D34920D89}" type="slidenum">
              <a:rPr lang="en-US" smtClean="0"/>
              <a:pPr/>
              <a:t>110</a:t>
            </a:fld>
            <a:endParaRPr lang="en-US"/>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pPr eaLnBrk="1" hangingPunct="1"/>
            <a:r>
              <a:rPr lang="en-US"/>
              <a:t>TCTO Policy and Procedures</a:t>
            </a:r>
          </a:p>
        </p:txBody>
      </p:sp>
      <p:sp>
        <p:nvSpPr>
          <p:cNvPr id="135171"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  </a:t>
            </a:r>
            <a:r>
              <a:rPr lang="en-US" dirty="0" err="1"/>
              <a:t>cont</a:t>
            </a:r>
            <a:endParaRPr lang="en-US" dirty="0"/>
          </a:p>
          <a:p>
            <a:pPr eaLnBrk="1" hangingPunct="1"/>
            <a:r>
              <a:rPr lang="en-US" dirty="0"/>
              <a:t>Field Level TCTO</a:t>
            </a:r>
          </a:p>
          <a:p>
            <a:pPr lvl="1" eaLnBrk="1" hangingPunct="1"/>
            <a:r>
              <a:rPr lang="en-US" dirty="0"/>
              <a:t>SM obtains Lead command approval</a:t>
            </a:r>
          </a:p>
          <a:p>
            <a:pPr lvl="2" eaLnBrk="1" hangingPunct="1"/>
            <a:r>
              <a:rPr lang="en-US" dirty="0"/>
              <a:t>  Approval Signature at three-letter level</a:t>
            </a:r>
          </a:p>
          <a:p>
            <a:pPr lvl="2" eaLnBrk="1" hangingPunct="1"/>
            <a:r>
              <a:rPr lang="en-US" dirty="0"/>
              <a:t>  Waiver must state </a:t>
            </a:r>
          </a:p>
          <a:p>
            <a:pPr lvl="3" eaLnBrk="1" hangingPunct="1"/>
            <a:r>
              <a:rPr lang="en-US" dirty="0"/>
              <a:t>It’s justified </a:t>
            </a:r>
          </a:p>
          <a:p>
            <a:pPr lvl="3" eaLnBrk="1" hangingPunct="1"/>
            <a:r>
              <a:rPr lang="en-US" dirty="0"/>
              <a:t>Economically feasible</a:t>
            </a:r>
          </a:p>
          <a:p>
            <a:pPr lvl="3" eaLnBrk="1" hangingPunct="1"/>
            <a:r>
              <a:rPr lang="en-US" dirty="0"/>
              <a:t>Items are in stock at the bases</a:t>
            </a:r>
          </a:p>
          <a:p>
            <a:pPr lvl="3" eaLnBrk="1" hangingPunct="1"/>
            <a:r>
              <a:rPr lang="en-US" dirty="0"/>
              <a:t>Using Command will provide material without reimbursement from the SM</a:t>
            </a:r>
          </a:p>
          <a:p>
            <a:pPr lvl="1" eaLnBrk="1" hangingPunct="1"/>
            <a:endParaRPr lang="en-US" dirty="0"/>
          </a:p>
          <a:p>
            <a:pPr lvl="1" eaLnBrk="1" hangingPunct="1"/>
            <a:endParaRPr lang="en-US" dirty="0"/>
          </a:p>
          <a:p>
            <a:pPr lvl="1" eaLnBrk="1" hangingPunct="1"/>
            <a:endParaRPr lang="en-US" dirty="0"/>
          </a:p>
          <a:p>
            <a:pPr eaLnBrk="1" hangingPunct="1"/>
            <a:endParaRPr lang="en-US" dirty="0"/>
          </a:p>
          <a:p>
            <a:pPr lvl="1" eaLnBrk="1" hangingPunct="1"/>
            <a:endParaRPr lang="en-US" dirty="0"/>
          </a:p>
        </p:txBody>
      </p:sp>
      <p:sp>
        <p:nvSpPr>
          <p:cNvPr id="135172" name="Slide Number Placeholder 5"/>
          <p:cNvSpPr>
            <a:spLocks noGrp="1"/>
          </p:cNvSpPr>
          <p:nvPr>
            <p:ph type="sldNum" sz="quarter" idx="10"/>
          </p:nvPr>
        </p:nvSpPr>
        <p:spPr>
          <a:xfrm>
            <a:off x="7239000" y="6519863"/>
            <a:ext cx="1905000" cy="338137"/>
          </a:xfrm>
          <a:noFill/>
        </p:spPr>
        <p:txBody>
          <a:bodyPr/>
          <a:lstStyle/>
          <a:p>
            <a:fld id="{70098249-503C-4658-AAA8-4E1FECB1124E}" type="slidenum">
              <a:rPr lang="en-US" smtClean="0"/>
              <a:pPr/>
              <a:t>111</a:t>
            </a:fld>
            <a:endParaRPr lang="en-US"/>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eaLnBrk="1" hangingPunct="1"/>
            <a:r>
              <a:rPr lang="en-US"/>
              <a:t>TCTO Policy and Procedures</a:t>
            </a:r>
          </a:p>
        </p:txBody>
      </p:sp>
      <p:sp>
        <p:nvSpPr>
          <p:cNvPr id="136195"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  </a:t>
            </a:r>
            <a:r>
              <a:rPr lang="en-US" dirty="0" err="1"/>
              <a:t>cont</a:t>
            </a:r>
            <a:endParaRPr lang="en-US" dirty="0"/>
          </a:p>
          <a:p>
            <a:pPr eaLnBrk="1" hangingPunct="1"/>
            <a:r>
              <a:rPr lang="en-US" dirty="0"/>
              <a:t>Depot Level TCTO</a:t>
            </a:r>
          </a:p>
          <a:p>
            <a:pPr eaLnBrk="1" hangingPunct="1">
              <a:buFont typeface="Wingdings" pitchFamily="2" charset="2"/>
              <a:buNone/>
            </a:pPr>
            <a:endParaRPr lang="en-US" dirty="0"/>
          </a:p>
          <a:p>
            <a:pPr lvl="1" eaLnBrk="1" hangingPunct="1"/>
            <a:r>
              <a:rPr lang="en-US" dirty="0"/>
              <a:t>SM must negotiate &amp; obtain agreement</a:t>
            </a:r>
          </a:p>
          <a:p>
            <a:pPr lvl="2" eaLnBrk="1" hangingPunct="1"/>
            <a:r>
              <a:rPr lang="en-US" dirty="0"/>
              <a:t>  From TRC Maintenance Division Chief</a:t>
            </a:r>
          </a:p>
          <a:p>
            <a:pPr lvl="3" eaLnBrk="1" hangingPunct="1"/>
            <a:r>
              <a:rPr lang="en-US" dirty="0"/>
              <a:t>That the wavier is economically feasible</a:t>
            </a:r>
          </a:p>
          <a:p>
            <a:pPr lvl="3" eaLnBrk="1" hangingPunct="1"/>
            <a:r>
              <a:rPr lang="en-US" dirty="0"/>
              <a:t>Materials are in stock or available</a:t>
            </a:r>
          </a:p>
          <a:p>
            <a:pPr lvl="1" eaLnBrk="1" hangingPunct="1"/>
            <a:r>
              <a:rPr lang="en-US" dirty="0"/>
              <a:t>SM approves the waiver</a:t>
            </a:r>
          </a:p>
          <a:p>
            <a:pPr lvl="1" eaLnBrk="1" hangingPunct="1"/>
            <a:endParaRPr lang="en-US" dirty="0"/>
          </a:p>
          <a:p>
            <a:pPr eaLnBrk="1" hangingPunct="1"/>
            <a:endParaRPr lang="en-US" dirty="0"/>
          </a:p>
          <a:p>
            <a:pPr lvl="1" eaLnBrk="1" hangingPunct="1"/>
            <a:endParaRPr lang="en-US" dirty="0"/>
          </a:p>
        </p:txBody>
      </p:sp>
      <p:sp>
        <p:nvSpPr>
          <p:cNvPr id="136196" name="Slide Number Placeholder 5"/>
          <p:cNvSpPr>
            <a:spLocks noGrp="1"/>
          </p:cNvSpPr>
          <p:nvPr>
            <p:ph type="sldNum" sz="quarter" idx="10"/>
          </p:nvPr>
        </p:nvSpPr>
        <p:spPr>
          <a:xfrm>
            <a:off x="7239000" y="6519863"/>
            <a:ext cx="1905000" cy="338137"/>
          </a:xfrm>
          <a:noFill/>
        </p:spPr>
        <p:txBody>
          <a:bodyPr/>
          <a:lstStyle/>
          <a:p>
            <a:fld id="{1C11948D-739F-4F0F-B0F1-BA983691708D}" type="slidenum">
              <a:rPr lang="en-US" smtClean="0"/>
              <a:pPr/>
              <a:t>112</a:t>
            </a:fld>
            <a:endParaRPr lang="en-US"/>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eaLnBrk="1" hangingPunct="1"/>
            <a:r>
              <a:rPr lang="en-US"/>
              <a:t>TCTO Policy and Procedures</a:t>
            </a:r>
          </a:p>
        </p:txBody>
      </p:sp>
      <p:sp>
        <p:nvSpPr>
          <p:cNvPr id="137219"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 </a:t>
            </a:r>
          </a:p>
          <a:p>
            <a:pPr eaLnBrk="1" hangingPunct="1"/>
            <a:r>
              <a:rPr lang="en-US" dirty="0"/>
              <a:t>When TCTO waivers are granted include:</a:t>
            </a:r>
          </a:p>
          <a:p>
            <a:pPr eaLnBrk="1" hangingPunct="1"/>
            <a:endParaRPr lang="en-US" dirty="0"/>
          </a:p>
          <a:p>
            <a:pPr lvl="1" eaLnBrk="1" hangingPunct="1"/>
            <a:r>
              <a:rPr lang="en-US" dirty="0"/>
              <a:t>Include office symbol</a:t>
            </a:r>
          </a:p>
          <a:p>
            <a:pPr lvl="1" eaLnBrk="1" hangingPunct="1"/>
            <a:r>
              <a:rPr lang="en-US" dirty="0"/>
              <a:t>Email address</a:t>
            </a:r>
          </a:p>
          <a:p>
            <a:pPr lvl="1" eaLnBrk="1" hangingPunct="1"/>
            <a:r>
              <a:rPr lang="en-US" dirty="0"/>
              <a:t>DSN telephone number</a:t>
            </a:r>
          </a:p>
          <a:p>
            <a:pPr lvl="1" eaLnBrk="1" hangingPunct="1"/>
            <a:r>
              <a:rPr lang="en-US" dirty="0"/>
              <a:t>Lead command or Depot maintenance </a:t>
            </a:r>
          </a:p>
          <a:p>
            <a:pPr lvl="2" eaLnBrk="1" hangingPunct="1"/>
            <a:r>
              <a:rPr lang="en-US" dirty="0"/>
              <a:t>Office POC Authorizing the waiver</a:t>
            </a:r>
          </a:p>
          <a:p>
            <a:pPr lvl="1" eaLnBrk="1" hangingPunct="1"/>
            <a:endParaRPr lang="en-US" dirty="0"/>
          </a:p>
        </p:txBody>
      </p:sp>
      <p:sp>
        <p:nvSpPr>
          <p:cNvPr id="137220" name="Slide Number Placeholder 5"/>
          <p:cNvSpPr>
            <a:spLocks noGrp="1"/>
          </p:cNvSpPr>
          <p:nvPr>
            <p:ph type="sldNum" sz="quarter" idx="10"/>
          </p:nvPr>
        </p:nvSpPr>
        <p:spPr>
          <a:xfrm>
            <a:off x="7239000" y="6519863"/>
            <a:ext cx="1905000" cy="338137"/>
          </a:xfrm>
          <a:noFill/>
        </p:spPr>
        <p:txBody>
          <a:bodyPr/>
          <a:lstStyle/>
          <a:p>
            <a:fld id="{747FCF06-56B9-4A1E-95FC-1C55C9C6BB15}" type="slidenum">
              <a:rPr lang="en-US" smtClean="0"/>
              <a:pPr/>
              <a:t>113</a:t>
            </a:fld>
            <a:endParaRPr lang="en-US"/>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eaLnBrk="1" hangingPunct="1"/>
            <a:r>
              <a:rPr lang="en-US"/>
              <a:t>TCTO Policy and Procedures</a:t>
            </a:r>
          </a:p>
        </p:txBody>
      </p:sp>
      <p:sp>
        <p:nvSpPr>
          <p:cNvPr id="138243"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  </a:t>
            </a:r>
          </a:p>
          <a:p>
            <a:pPr eaLnBrk="1" hangingPunct="1"/>
            <a:r>
              <a:rPr lang="en-US" dirty="0"/>
              <a:t>When Routine Depot level TCTO kit</a:t>
            </a:r>
          </a:p>
          <a:p>
            <a:pPr eaLnBrk="1" hangingPunct="1"/>
            <a:endParaRPr lang="en-US" dirty="0"/>
          </a:p>
          <a:p>
            <a:pPr lvl="1" eaLnBrk="1" hangingPunct="1"/>
            <a:r>
              <a:rPr lang="en-US" dirty="0"/>
              <a:t>Contains materials which are already in a depot repair kit</a:t>
            </a:r>
          </a:p>
          <a:p>
            <a:pPr lvl="1" eaLnBrk="1" hangingPunct="1"/>
            <a:r>
              <a:rPr lang="en-US" dirty="0"/>
              <a:t>The TCTO is accomplished only at the time of depot repair</a:t>
            </a:r>
          </a:p>
          <a:p>
            <a:pPr lvl="1" eaLnBrk="1" hangingPunct="1"/>
            <a:r>
              <a:rPr lang="en-US" dirty="0"/>
              <a:t>Complete kit concept is automatically waived</a:t>
            </a:r>
          </a:p>
          <a:p>
            <a:pPr lvl="1" eaLnBrk="1" hangingPunct="1"/>
            <a:r>
              <a:rPr lang="en-US" dirty="0"/>
              <a:t>No waiver documentation is required</a:t>
            </a:r>
          </a:p>
          <a:p>
            <a:pPr eaLnBrk="1" hangingPunct="1"/>
            <a:endParaRPr lang="en-US" dirty="0"/>
          </a:p>
          <a:p>
            <a:pPr eaLnBrk="1" hangingPunct="1"/>
            <a:endParaRPr lang="en-US" dirty="0"/>
          </a:p>
          <a:p>
            <a:pPr lvl="1" eaLnBrk="1" hangingPunct="1"/>
            <a:endParaRPr lang="en-US" dirty="0"/>
          </a:p>
        </p:txBody>
      </p:sp>
      <p:sp>
        <p:nvSpPr>
          <p:cNvPr id="138244" name="Slide Number Placeholder 5"/>
          <p:cNvSpPr>
            <a:spLocks noGrp="1"/>
          </p:cNvSpPr>
          <p:nvPr>
            <p:ph type="sldNum" sz="quarter" idx="10"/>
          </p:nvPr>
        </p:nvSpPr>
        <p:spPr>
          <a:xfrm>
            <a:off x="7239000" y="6519863"/>
            <a:ext cx="1905000" cy="338137"/>
          </a:xfrm>
          <a:noFill/>
        </p:spPr>
        <p:txBody>
          <a:bodyPr/>
          <a:lstStyle/>
          <a:p>
            <a:fld id="{7CB5837D-5178-400D-82B6-2195A7E8824F}" type="slidenum">
              <a:rPr lang="en-US" smtClean="0"/>
              <a:pPr/>
              <a:t>114</a:t>
            </a:fld>
            <a:endParaRPr lang="en-US"/>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eaLnBrk="1" hangingPunct="1"/>
            <a:r>
              <a:rPr lang="en-US"/>
              <a:t>TCTO Policy and Procedures</a:t>
            </a:r>
          </a:p>
        </p:txBody>
      </p:sp>
      <p:sp>
        <p:nvSpPr>
          <p:cNvPr id="139267" name="Rectangle 3"/>
          <p:cNvSpPr>
            <a:spLocks noGrp="1" noChangeArrowheads="1"/>
          </p:cNvSpPr>
          <p:nvPr>
            <p:ph idx="1"/>
          </p:nvPr>
        </p:nvSpPr>
        <p:spPr/>
        <p:txBody>
          <a:bodyPr/>
          <a:lstStyle/>
          <a:p>
            <a:pPr eaLnBrk="1" hangingPunct="1"/>
            <a:r>
              <a:rPr lang="en-US" dirty="0"/>
              <a:t>Kits </a:t>
            </a:r>
          </a:p>
          <a:p>
            <a:pPr eaLnBrk="1" hangingPunct="1"/>
            <a:r>
              <a:rPr lang="en-US" dirty="0"/>
              <a:t>Waivers to Complete Kit Concept</a:t>
            </a:r>
          </a:p>
          <a:p>
            <a:pPr eaLnBrk="1" hangingPunct="1"/>
            <a:r>
              <a:rPr lang="en-US" dirty="0"/>
              <a:t>TCTO for distribution of CPIN </a:t>
            </a:r>
          </a:p>
          <a:p>
            <a:pPr eaLnBrk="1" hangingPunct="1"/>
            <a:endParaRPr lang="en-US" dirty="0"/>
          </a:p>
          <a:p>
            <a:pPr lvl="1" eaLnBrk="1" hangingPunct="1"/>
            <a:r>
              <a:rPr lang="en-US" dirty="0"/>
              <a:t>Will be a non-kitted TCTO</a:t>
            </a:r>
          </a:p>
          <a:p>
            <a:pPr lvl="1" eaLnBrk="1" hangingPunct="1"/>
            <a:r>
              <a:rPr lang="en-US" dirty="0"/>
              <a:t>CPIN item will accompany initial distribution of TCTOs</a:t>
            </a:r>
          </a:p>
          <a:p>
            <a:pPr lvl="1" eaLnBrk="1" hangingPunct="1"/>
            <a:r>
              <a:rPr lang="en-US" dirty="0"/>
              <a:t>To authorized program users on the appropriate medium</a:t>
            </a:r>
          </a:p>
          <a:p>
            <a:pPr eaLnBrk="1" hangingPunct="1"/>
            <a:endParaRPr lang="en-US" dirty="0"/>
          </a:p>
          <a:p>
            <a:pPr lvl="1" eaLnBrk="1" hangingPunct="1"/>
            <a:endParaRPr lang="en-US" dirty="0"/>
          </a:p>
        </p:txBody>
      </p:sp>
      <p:sp>
        <p:nvSpPr>
          <p:cNvPr id="139268" name="Slide Number Placeholder 5"/>
          <p:cNvSpPr>
            <a:spLocks noGrp="1"/>
          </p:cNvSpPr>
          <p:nvPr>
            <p:ph type="sldNum" sz="quarter" idx="10"/>
          </p:nvPr>
        </p:nvSpPr>
        <p:spPr>
          <a:xfrm>
            <a:off x="7239000" y="6519863"/>
            <a:ext cx="1905000" cy="338137"/>
          </a:xfrm>
          <a:noFill/>
        </p:spPr>
        <p:txBody>
          <a:bodyPr/>
          <a:lstStyle/>
          <a:p>
            <a:fld id="{E9F7BD3F-052A-4645-AFC8-531C5B2D68EB}" type="slidenum">
              <a:rPr lang="en-US" smtClean="0"/>
              <a:pPr/>
              <a:t>115</a:t>
            </a:fld>
            <a:endParaRPr lang="en-US"/>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r>
              <a:rPr lang="en-US"/>
              <a:t>TCTO Policy and Procedures</a:t>
            </a:r>
          </a:p>
        </p:txBody>
      </p:sp>
      <p:sp>
        <p:nvSpPr>
          <p:cNvPr id="140291" name="Rectangle 3"/>
          <p:cNvSpPr>
            <a:spLocks noGrp="1" noChangeArrowheads="1"/>
          </p:cNvSpPr>
          <p:nvPr>
            <p:ph idx="1"/>
          </p:nvPr>
        </p:nvSpPr>
        <p:spPr/>
        <p:txBody>
          <a:bodyPr/>
          <a:lstStyle/>
          <a:p>
            <a:pPr eaLnBrk="1" hangingPunct="1"/>
            <a:r>
              <a:rPr lang="en-US" dirty="0"/>
              <a:t>Kits </a:t>
            </a:r>
          </a:p>
          <a:p>
            <a:pPr eaLnBrk="1" hangingPunct="1"/>
            <a:r>
              <a:rPr lang="en-US" dirty="0"/>
              <a:t>Assembly of TCTO Kits</a:t>
            </a:r>
          </a:p>
          <a:p>
            <a:pPr eaLnBrk="1" hangingPunct="1"/>
            <a:endParaRPr lang="en-US" dirty="0"/>
          </a:p>
          <a:p>
            <a:pPr eaLnBrk="1" hangingPunct="1"/>
            <a:r>
              <a:rPr lang="en-US" dirty="0"/>
              <a:t>The Depot Supply kitting function can be accomplished      by:</a:t>
            </a:r>
          </a:p>
          <a:p>
            <a:pPr lvl="1" eaLnBrk="1" hangingPunct="1"/>
            <a:r>
              <a:rPr lang="en-US" dirty="0"/>
              <a:t>Depot or base supply</a:t>
            </a:r>
          </a:p>
          <a:p>
            <a:pPr lvl="1" eaLnBrk="1" hangingPunct="1"/>
            <a:r>
              <a:rPr lang="en-US" dirty="0"/>
              <a:t>DLA</a:t>
            </a:r>
          </a:p>
          <a:p>
            <a:pPr lvl="1" eaLnBrk="1" hangingPunct="1"/>
            <a:r>
              <a:rPr lang="en-US" dirty="0"/>
              <a:t>Contractor</a:t>
            </a:r>
          </a:p>
          <a:p>
            <a:pPr eaLnBrk="1" hangingPunct="1"/>
            <a:r>
              <a:rPr lang="en-US" dirty="0"/>
              <a:t>AFMC Form 185   (Request for kit assembly)</a:t>
            </a:r>
          </a:p>
          <a:p>
            <a:pPr lvl="1" eaLnBrk="1" hangingPunct="1"/>
            <a:r>
              <a:rPr lang="en-US" dirty="0"/>
              <a:t>Used to identify components in the kit  </a:t>
            </a:r>
          </a:p>
        </p:txBody>
      </p:sp>
      <p:sp>
        <p:nvSpPr>
          <p:cNvPr id="140292" name="Slide Number Placeholder 5"/>
          <p:cNvSpPr>
            <a:spLocks noGrp="1"/>
          </p:cNvSpPr>
          <p:nvPr>
            <p:ph type="sldNum" sz="quarter" idx="10"/>
          </p:nvPr>
        </p:nvSpPr>
        <p:spPr>
          <a:xfrm>
            <a:off x="7239000" y="6519863"/>
            <a:ext cx="1905000" cy="338137"/>
          </a:xfrm>
          <a:noFill/>
        </p:spPr>
        <p:txBody>
          <a:bodyPr/>
          <a:lstStyle/>
          <a:p>
            <a:fld id="{C1394B79-A893-4A4C-B21C-8EA9E18D46DB}" type="slidenum">
              <a:rPr lang="en-US" smtClean="0"/>
              <a:pPr/>
              <a:t>116</a:t>
            </a:fld>
            <a:endParaRPr lang="en-US"/>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a:t>TCTO Policy and Procedures</a:t>
            </a:r>
          </a:p>
        </p:txBody>
      </p:sp>
      <p:sp>
        <p:nvSpPr>
          <p:cNvPr id="141315" name="Rectangle 3"/>
          <p:cNvSpPr>
            <a:spLocks noGrp="1" noChangeArrowheads="1"/>
          </p:cNvSpPr>
          <p:nvPr>
            <p:ph idx="1"/>
          </p:nvPr>
        </p:nvSpPr>
        <p:spPr/>
        <p:txBody>
          <a:bodyPr/>
          <a:lstStyle/>
          <a:p>
            <a:pPr eaLnBrk="1" hangingPunct="1"/>
            <a:r>
              <a:rPr lang="en-US" dirty="0"/>
              <a:t>Kits </a:t>
            </a:r>
          </a:p>
          <a:p>
            <a:pPr eaLnBrk="1" hangingPunct="1"/>
            <a:r>
              <a:rPr lang="en-US" dirty="0"/>
              <a:t>Assembly of TCTO Kits </a:t>
            </a:r>
          </a:p>
          <a:p>
            <a:pPr eaLnBrk="1" hangingPunct="1"/>
            <a:endParaRPr lang="en-US" dirty="0"/>
          </a:p>
          <a:p>
            <a:pPr eaLnBrk="1" hangingPunct="1"/>
            <a:r>
              <a:rPr lang="en-US" dirty="0"/>
              <a:t>The Resource Management Group Accomplishes the AF Form 406 </a:t>
            </a:r>
          </a:p>
          <a:p>
            <a:pPr eaLnBrk="1" hangingPunct="1">
              <a:buFont typeface="Wingdings" pitchFamily="2" charset="2"/>
              <a:buNone/>
            </a:pPr>
            <a:r>
              <a:rPr lang="en-US" dirty="0"/>
              <a:t>   (Miscellaneous Obligation/Reimbursement)</a:t>
            </a:r>
          </a:p>
          <a:p>
            <a:pPr lvl="1" eaLnBrk="1" hangingPunct="1"/>
            <a:endParaRPr lang="en-US" dirty="0"/>
          </a:p>
          <a:p>
            <a:pPr lvl="1" eaLnBrk="1" hangingPunct="1"/>
            <a:r>
              <a:rPr lang="en-US" dirty="0"/>
              <a:t>Identifies the accounting fund cite</a:t>
            </a:r>
          </a:p>
          <a:p>
            <a:pPr lvl="1" eaLnBrk="1" hangingPunct="1"/>
            <a:r>
              <a:rPr lang="en-US" dirty="0"/>
              <a:t>Attached to AFMC form 185 </a:t>
            </a:r>
          </a:p>
          <a:p>
            <a:pPr lvl="1" eaLnBrk="1" hangingPunct="1"/>
            <a:r>
              <a:rPr lang="en-US" dirty="0"/>
              <a:t>To fund the kit</a:t>
            </a:r>
          </a:p>
          <a:p>
            <a:pPr eaLnBrk="1" hangingPunct="1">
              <a:buFont typeface="Wingdings" pitchFamily="2" charset="2"/>
              <a:buNone/>
            </a:pPr>
            <a:endParaRPr lang="en-US" dirty="0"/>
          </a:p>
        </p:txBody>
      </p:sp>
      <p:sp>
        <p:nvSpPr>
          <p:cNvPr id="141316" name="Slide Number Placeholder 5"/>
          <p:cNvSpPr>
            <a:spLocks noGrp="1"/>
          </p:cNvSpPr>
          <p:nvPr>
            <p:ph type="sldNum" sz="quarter" idx="10"/>
          </p:nvPr>
        </p:nvSpPr>
        <p:spPr>
          <a:xfrm>
            <a:off x="7239000" y="6519863"/>
            <a:ext cx="1905000" cy="338137"/>
          </a:xfrm>
          <a:noFill/>
        </p:spPr>
        <p:txBody>
          <a:bodyPr/>
          <a:lstStyle/>
          <a:p>
            <a:fld id="{FA8F558A-041F-44B5-BEFF-E1FABA573E99}" type="slidenum">
              <a:rPr lang="en-US" smtClean="0"/>
              <a:pPr/>
              <a:t>117</a:t>
            </a:fld>
            <a:endParaRPr lang="en-US"/>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r>
              <a:rPr lang="en-US"/>
              <a:t>TCTO Policy and Procedures</a:t>
            </a:r>
          </a:p>
        </p:txBody>
      </p:sp>
      <p:sp>
        <p:nvSpPr>
          <p:cNvPr id="142339" name="Rectangle 3"/>
          <p:cNvSpPr>
            <a:spLocks noGrp="1" noChangeArrowheads="1"/>
          </p:cNvSpPr>
          <p:nvPr>
            <p:ph idx="1"/>
          </p:nvPr>
        </p:nvSpPr>
        <p:spPr/>
        <p:txBody>
          <a:bodyPr/>
          <a:lstStyle/>
          <a:p>
            <a:pPr eaLnBrk="1" hangingPunct="1"/>
            <a:r>
              <a:rPr lang="en-US" dirty="0"/>
              <a:t>Kits </a:t>
            </a:r>
          </a:p>
          <a:p>
            <a:pPr eaLnBrk="1" hangingPunct="1"/>
            <a:endParaRPr lang="en-US" dirty="0"/>
          </a:p>
          <a:p>
            <a:pPr eaLnBrk="1" hangingPunct="1"/>
            <a:r>
              <a:rPr lang="en-US" dirty="0"/>
              <a:t>Assembly of TCTO Kits</a:t>
            </a:r>
          </a:p>
          <a:p>
            <a:pPr eaLnBrk="1" hangingPunct="1"/>
            <a:endParaRPr lang="en-US" dirty="0"/>
          </a:p>
          <a:p>
            <a:pPr eaLnBrk="1" hangingPunct="1"/>
            <a:r>
              <a:rPr lang="en-US" dirty="0"/>
              <a:t>The kit agency will:</a:t>
            </a:r>
          </a:p>
          <a:p>
            <a:pPr lvl="1" eaLnBrk="1" hangingPunct="1"/>
            <a:r>
              <a:rPr lang="en-US" dirty="0"/>
              <a:t>Verify the quantity of kits required</a:t>
            </a:r>
          </a:p>
          <a:p>
            <a:pPr lvl="1" eaLnBrk="1" hangingPunct="1"/>
            <a:r>
              <a:rPr lang="en-US" dirty="0"/>
              <a:t>Screen kit listing for proper identification</a:t>
            </a:r>
          </a:p>
          <a:p>
            <a:pPr eaLnBrk="1" hangingPunct="1"/>
            <a:endParaRPr lang="en-US" dirty="0"/>
          </a:p>
          <a:p>
            <a:pPr eaLnBrk="1" hangingPunct="1"/>
            <a:endParaRPr lang="en-US" dirty="0"/>
          </a:p>
        </p:txBody>
      </p:sp>
      <p:sp>
        <p:nvSpPr>
          <p:cNvPr id="142340" name="Slide Number Placeholder 5"/>
          <p:cNvSpPr>
            <a:spLocks noGrp="1"/>
          </p:cNvSpPr>
          <p:nvPr>
            <p:ph type="sldNum" sz="quarter" idx="10"/>
          </p:nvPr>
        </p:nvSpPr>
        <p:spPr>
          <a:xfrm>
            <a:off x="7239000" y="6519863"/>
            <a:ext cx="1905000" cy="338137"/>
          </a:xfrm>
          <a:noFill/>
        </p:spPr>
        <p:txBody>
          <a:bodyPr/>
          <a:lstStyle/>
          <a:p>
            <a:fld id="{9A4DB58E-F536-42CD-A053-5D9C7DA4179A}" type="slidenum">
              <a:rPr lang="en-US" smtClean="0"/>
              <a:pPr/>
              <a:t>118</a:t>
            </a:fld>
            <a:endParaRPr lang="en-US"/>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en-US"/>
              <a:t>TCTO Policy and Procedures</a:t>
            </a:r>
          </a:p>
        </p:txBody>
      </p:sp>
      <p:sp>
        <p:nvSpPr>
          <p:cNvPr id="143363" name="Rectangle 3"/>
          <p:cNvSpPr>
            <a:spLocks noGrp="1" noChangeArrowheads="1"/>
          </p:cNvSpPr>
          <p:nvPr>
            <p:ph idx="1"/>
          </p:nvPr>
        </p:nvSpPr>
        <p:spPr/>
        <p:txBody>
          <a:bodyPr/>
          <a:lstStyle/>
          <a:p>
            <a:pPr eaLnBrk="1" hangingPunct="1"/>
            <a:r>
              <a:rPr lang="en-US" dirty="0"/>
              <a:t>Kits </a:t>
            </a:r>
          </a:p>
          <a:p>
            <a:pPr eaLnBrk="1" hangingPunct="1"/>
            <a:endParaRPr lang="en-US" dirty="0"/>
          </a:p>
          <a:p>
            <a:pPr eaLnBrk="1" hangingPunct="1"/>
            <a:r>
              <a:rPr lang="en-US" dirty="0"/>
              <a:t>Assembly of TCTO Kits</a:t>
            </a:r>
          </a:p>
          <a:p>
            <a:pPr eaLnBrk="1" hangingPunct="1"/>
            <a:endParaRPr lang="en-US" dirty="0"/>
          </a:p>
          <a:p>
            <a:pPr eaLnBrk="1" hangingPunct="1"/>
            <a:r>
              <a:rPr lang="en-US" dirty="0"/>
              <a:t>The kit agency will:</a:t>
            </a:r>
          </a:p>
          <a:p>
            <a:pPr eaLnBrk="1" hangingPunct="1"/>
            <a:endParaRPr lang="en-US" dirty="0"/>
          </a:p>
          <a:p>
            <a:pPr lvl="1" eaLnBrk="1" hangingPunct="1"/>
            <a:r>
              <a:rPr lang="en-US" dirty="0"/>
              <a:t>Prepare/forward authorization to the activity responsible for kit assembly with the following information</a:t>
            </a:r>
          </a:p>
          <a:p>
            <a:pPr eaLnBrk="1" hangingPunct="1"/>
            <a:endParaRPr lang="en-US" dirty="0"/>
          </a:p>
          <a:p>
            <a:pPr eaLnBrk="1" hangingPunct="1"/>
            <a:endParaRPr lang="en-US" dirty="0"/>
          </a:p>
          <a:p>
            <a:pPr eaLnBrk="1" hangingPunct="1">
              <a:buFont typeface="Wingdings" pitchFamily="2" charset="2"/>
              <a:buNone/>
            </a:pPr>
            <a:r>
              <a:rPr lang="en-US" dirty="0"/>
              <a:t>	</a:t>
            </a:r>
          </a:p>
        </p:txBody>
      </p:sp>
      <p:sp>
        <p:nvSpPr>
          <p:cNvPr id="143364" name="Slide Number Placeholder 5"/>
          <p:cNvSpPr>
            <a:spLocks noGrp="1"/>
          </p:cNvSpPr>
          <p:nvPr>
            <p:ph type="sldNum" sz="quarter" idx="10"/>
          </p:nvPr>
        </p:nvSpPr>
        <p:spPr>
          <a:xfrm>
            <a:off x="7239000" y="6519863"/>
            <a:ext cx="1905000" cy="338137"/>
          </a:xfrm>
          <a:noFill/>
        </p:spPr>
        <p:txBody>
          <a:bodyPr/>
          <a:lstStyle/>
          <a:p>
            <a:fld id="{C2919360-DD2A-4915-A7B6-B974104D7D10}" type="slidenum">
              <a:rPr lang="en-US" smtClean="0"/>
              <a:pPr/>
              <a:t>119</a:t>
            </a:fld>
            <a:endParaRPr lang="en-US"/>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eaLnBrk="1" hangingPunct="1"/>
            <a:r>
              <a:rPr lang="en-US"/>
              <a:t>TCTO Policy and Procedures</a:t>
            </a:r>
          </a:p>
        </p:txBody>
      </p:sp>
      <p:sp>
        <p:nvSpPr>
          <p:cNvPr id="144387" name="Rectangle 3"/>
          <p:cNvSpPr>
            <a:spLocks noGrp="1" noChangeArrowheads="1"/>
          </p:cNvSpPr>
          <p:nvPr>
            <p:ph idx="1"/>
          </p:nvPr>
        </p:nvSpPr>
        <p:spPr/>
        <p:txBody>
          <a:bodyPr/>
          <a:lstStyle/>
          <a:p>
            <a:pPr eaLnBrk="1" hangingPunct="1"/>
            <a:r>
              <a:rPr lang="en-US" dirty="0"/>
              <a:t>Kits </a:t>
            </a:r>
          </a:p>
          <a:p>
            <a:pPr eaLnBrk="1" hangingPunct="1"/>
            <a:endParaRPr lang="en-US" dirty="0"/>
          </a:p>
          <a:p>
            <a:pPr eaLnBrk="1" hangingPunct="1"/>
            <a:r>
              <a:rPr lang="en-US" dirty="0"/>
              <a:t>Assembly of TCTO Kits</a:t>
            </a:r>
          </a:p>
          <a:p>
            <a:pPr eaLnBrk="1" hangingPunct="1"/>
            <a:endParaRPr lang="en-US" dirty="0"/>
          </a:p>
          <a:p>
            <a:pPr lvl="1" eaLnBrk="1" hangingPunct="1"/>
            <a:r>
              <a:rPr lang="en-US" dirty="0"/>
              <a:t>Verify quantity of kits required</a:t>
            </a:r>
          </a:p>
          <a:p>
            <a:pPr lvl="1" eaLnBrk="1" hangingPunct="1"/>
            <a:r>
              <a:rPr lang="en-US" dirty="0"/>
              <a:t>Complete listing of kit components by</a:t>
            </a:r>
          </a:p>
          <a:p>
            <a:pPr lvl="2" eaLnBrk="1" hangingPunct="1"/>
            <a:r>
              <a:rPr lang="en-US" dirty="0"/>
              <a:t>  Quantity, NSN, Nomenclature</a:t>
            </a:r>
          </a:p>
          <a:p>
            <a:pPr lvl="2" eaLnBrk="1" hangingPunct="1"/>
            <a:r>
              <a:rPr lang="en-US" dirty="0"/>
              <a:t>  List appropriate shelf life code</a:t>
            </a:r>
          </a:p>
          <a:p>
            <a:pPr lvl="2" eaLnBrk="1" hangingPunct="1"/>
            <a:r>
              <a:rPr lang="en-US" dirty="0"/>
              <a:t>  Identify time change items &amp; code</a:t>
            </a:r>
          </a:p>
          <a:p>
            <a:pPr lvl="2" eaLnBrk="1" hangingPunct="1"/>
            <a:r>
              <a:rPr lang="en-US" dirty="0"/>
              <a:t>  Prepare enough copies for in/out side box</a:t>
            </a:r>
          </a:p>
          <a:p>
            <a:pPr lvl="2" eaLnBrk="1" hangingPunct="1"/>
            <a:endParaRPr lang="en-US" dirty="0"/>
          </a:p>
        </p:txBody>
      </p:sp>
      <p:sp>
        <p:nvSpPr>
          <p:cNvPr id="144388" name="Slide Number Placeholder 5"/>
          <p:cNvSpPr>
            <a:spLocks noGrp="1"/>
          </p:cNvSpPr>
          <p:nvPr>
            <p:ph type="sldNum" sz="quarter" idx="10"/>
          </p:nvPr>
        </p:nvSpPr>
        <p:spPr>
          <a:xfrm>
            <a:off x="7239000" y="6519863"/>
            <a:ext cx="1905000" cy="338137"/>
          </a:xfrm>
          <a:noFill/>
        </p:spPr>
        <p:txBody>
          <a:bodyPr/>
          <a:lstStyle/>
          <a:p>
            <a:fld id="{4F0E3DE3-1AC0-491D-8B31-F2569DA61338}" type="slidenum">
              <a:rPr lang="en-US" smtClean="0"/>
              <a:pPr/>
              <a:t>120</a:t>
            </a:fld>
            <a:endParaRPr lang="en-US"/>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r>
              <a:rPr lang="en-US"/>
              <a:t>TCTO Policy and Procedures</a:t>
            </a:r>
          </a:p>
        </p:txBody>
      </p:sp>
      <p:sp>
        <p:nvSpPr>
          <p:cNvPr id="145411" name="Rectangle 3"/>
          <p:cNvSpPr>
            <a:spLocks noGrp="1" noChangeArrowheads="1"/>
          </p:cNvSpPr>
          <p:nvPr>
            <p:ph idx="1"/>
          </p:nvPr>
        </p:nvSpPr>
        <p:spPr/>
        <p:txBody>
          <a:bodyPr/>
          <a:lstStyle/>
          <a:p>
            <a:pPr eaLnBrk="1" hangingPunct="1"/>
            <a:r>
              <a:rPr lang="en-US" dirty="0"/>
              <a:t>Kits </a:t>
            </a:r>
          </a:p>
          <a:p>
            <a:pPr eaLnBrk="1" hangingPunct="1"/>
            <a:r>
              <a:rPr lang="en-US" dirty="0"/>
              <a:t>Assembly of TCTO Kits</a:t>
            </a:r>
          </a:p>
          <a:p>
            <a:pPr eaLnBrk="1" hangingPunct="1">
              <a:buFont typeface="Wingdings" pitchFamily="2" charset="2"/>
              <a:buNone/>
            </a:pPr>
            <a:endParaRPr lang="en-US" dirty="0"/>
          </a:p>
          <a:p>
            <a:pPr lvl="1" eaLnBrk="1" hangingPunct="1"/>
            <a:r>
              <a:rPr lang="en-US" dirty="0"/>
              <a:t>Any data previously obtained relative to availability of required kit items</a:t>
            </a:r>
          </a:p>
          <a:p>
            <a:pPr eaLnBrk="1" hangingPunct="1"/>
            <a:endParaRPr lang="en-US" dirty="0"/>
          </a:p>
          <a:p>
            <a:pPr lvl="1" eaLnBrk="1" hangingPunct="1"/>
            <a:r>
              <a:rPr lang="en-US" dirty="0"/>
              <a:t>Applicable fund cite</a:t>
            </a:r>
          </a:p>
          <a:p>
            <a:pPr eaLnBrk="1" hangingPunct="1"/>
            <a:endParaRPr lang="en-US" dirty="0"/>
          </a:p>
          <a:p>
            <a:pPr eaLnBrk="1" hangingPunct="1"/>
            <a:r>
              <a:rPr lang="en-US" dirty="0"/>
              <a:t>TCTO kits assembled IAW TO 00-5-15</a:t>
            </a:r>
          </a:p>
          <a:p>
            <a:pPr lvl="2" eaLnBrk="1" hangingPunct="1"/>
            <a:endParaRPr lang="en-US" dirty="0"/>
          </a:p>
        </p:txBody>
      </p:sp>
      <p:sp>
        <p:nvSpPr>
          <p:cNvPr id="145412" name="Slide Number Placeholder 5"/>
          <p:cNvSpPr>
            <a:spLocks noGrp="1"/>
          </p:cNvSpPr>
          <p:nvPr>
            <p:ph type="sldNum" sz="quarter" idx="10"/>
          </p:nvPr>
        </p:nvSpPr>
        <p:spPr>
          <a:xfrm>
            <a:off x="7239000" y="6519863"/>
            <a:ext cx="1905000" cy="338137"/>
          </a:xfrm>
          <a:noFill/>
        </p:spPr>
        <p:txBody>
          <a:bodyPr/>
          <a:lstStyle/>
          <a:p>
            <a:fld id="{18B1C2D2-2580-4B18-9DC8-AFDC3D93F2EF}" type="slidenum">
              <a:rPr lang="en-US" smtClean="0"/>
              <a:pPr/>
              <a:t>121</a:t>
            </a:fld>
            <a:endParaRPr lang="en-US"/>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eaLnBrk="1" hangingPunct="1"/>
            <a:r>
              <a:rPr lang="en-US"/>
              <a:t>TCTO Policy and Procedures</a:t>
            </a:r>
          </a:p>
        </p:txBody>
      </p:sp>
      <p:sp>
        <p:nvSpPr>
          <p:cNvPr id="146435" name="Rectangle 3"/>
          <p:cNvSpPr>
            <a:spLocks noGrp="1" noChangeArrowheads="1"/>
          </p:cNvSpPr>
          <p:nvPr>
            <p:ph idx="1"/>
          </p:nvPr>
        </p:nvSpPr>
        <p:spPr/>
        <p:txBody>
          <a:bodyPr/>
          <a:lstStyle/>
          <a:p>
            <a:pPr eaLnBrk="1" hangingPunct="1"/>
            <a:r>
              <a:rPr lang="en-US" dirty="0"/>
              <a:t>Kits </a:t>
            </a:r>
          </a:p>
          <a:p>
            <a:pPr eaLnBrk="1" hangingPunct="1"/>
            <a:r>
              <a:rPr lang="en-US" dirty="0"/>
              <a:t>Assembly of TCTO Kits</a:t>
            </a:r>
          </a:p>
          <a:p>
            <a:pPr eaLnBrk="1" hangingPunct="1">
              <a:buFont typeface="Wingdings" pitchFamily="2" charset="2"/>
              <a:buNone/>
            </a:pPr>
            <a:endParaRPr lang="en-US" dirty="0"/>
          </a:p>
          <a:p>
            <a:pPr eaLnBrk="1" hangingPunct="1"/>
            <a:r>
              <a:rPr lang="en-US" dirty="0"/>
              <a:t>When kit is assembled it will be transferred to TCTO kit unit for management and distribution</a:t>
            </a:r>
          </a:p>
          <a:p>
            <a:pPr eaLnBrk="1" hangingPunct="1"/>
            <a:endParaRPr lang="en-US" dirty="0"/>
          </a:p>
          <a:p>
            <a:pPr eaLnBrk="1" hangingPunct="1"/>
            <a:r>
              <a:rPr lang="en-US" dirty="0"/>
              <a:t>Contractor Assembly, AFI 23-101 - Materiel Management Policy</a:t>
            </a:r>
          </a:p>
          <a:p>
            <a:pPr lvl="1" eaLnBrk="1" hangingPunct="1"/>
            <a:r>
              <a:rPr lang="en-US" dirty="0"/>
              <a:t>Kits will be distributed to scheduled destinations</a:t>
            </a:r>
          </a:p>
          <a:p>
            <a:pPr eaLnBrk="1" hangingPunct="1"/>
            <a:endParaRPr lang="en-US" dirty="0"/>
          </a:p>
          <a:p>
            <a:pPr lvl="2" eaLnBrk="1" hangingPunct="1"/>
            <a:endParaRPr lang="en-US" dirty="0"/>
          </a:p>
        </p:txBody>
      </p:sp>
      <p:sp>
        <p:nvSpPr>
          <p:cNvPr id="146436" name="Slide Number Placeholder 5"/>
          <p:cNvSpPr>
            <a:spLocks noGrp="1"/>
          </p:cNvSpPr>
          <p:nvPr>
            <p:ph type="sldNum" sz="quarter" idx="10"/>
          </p:nvPr>
        </p:nvSpPr>
        <p:spPr>
          <a:xfrm>
            <a:off x="7239000" y="6519863"/>
            <a:ext cx="1905000" cy="338137"/>
          </a:xfrm>
          <a:noFill/>
        </p:spPr>
        <p:txBody>
          <a:bodyPr/>
          <a:lstStyle/>
          <a:p>
            <a:fld id="{347ECBB6-0939-442F-BD2E-BBC1A34049FB}" type="slidenum">
              <a:rPr lang="en-US" smtClean="0"/>
              <a:pPr/>
              <a:t>122</a:t>
            </a:fld>
            <a:endParaRPr lang="en-US"/>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eaLnBrk="1" hangingPunct="1"/>
            <a:r>
              <a:rPr lang="en-US"/>
              <a:t>TCTO Policy and Procedures</a:t>
            </a:r>
          </a:p>
        </p:txBody>
      </p:sp>
      <p:sp>
        <p:nvSpPr>
          <p:cNvPr id="147459" name="Rectangle 3"/>
          <p:cNvSpPr>
            <a:spLocks noGrp="1" noChangeArrowheads="1"/>
          </p:cNvSpPr>
          <p:nvPr>
            <p:ph idx="1"/>
          </p:nvPr>
        </p:nvSpPr>
        <p:spPr/>
        <p:txBody>
          <a:bodyPr/>
          <a:lstStyle/>
          <a:p>
            <a:pPr eaLnBrk="1" hangingPunct="1"/>
            <a:r>
              <a:rPr lang="en-US" dirty="0"/>
              <a:t>Kits </a:t>
            </a:r>
          </a:p>
          <a:p>
            <a:pPr eaLnBrk="1" hangingPunct="1"/>
            <a:endParaRPr lang="en-US" dirty="0"/>
          </a:p>
          <a:p>
            <a:pPr eaLnBrk="1" hangingPunct="1"/>
            <a:r>
              <a:rPr lang="en-US" dirty="0"/>
              <a:t>Kit Numbering</a:t>
            </a:r>
          </a:p>
          <a:p>
            <a:pPr eaLnBrk="1" hangingPunct="1"/>
            <a:endParaRPr lang="en-US" dirty="0"/>
          </a:p>
          <a:p>
            <a:pPr lvl="1" eaLnBrk="1" hangingPunct="1"/>
            <a:r>
              <a:rPr lang="en-US" dirty="0"/>
              <a:t>AFI 23-101- Materiel Management Policy</a:t>
            </a:r>
          </a:p>
          <a:p>
            <a:pPr marL="0" indent="0" eaLnBrk="1" hangingPunct="1">
              <a:buNone/>
            </a:pPr>
            <a:endParaRPr lang="en-US" dirty="0"/>
          </a:p>
        </p:txBody>
      </p:sp>
      <p:sp>
        <p:nvSpPr>
          <p:cNvPr id="147460" name="Slide Number Placeholder 5"/>
          <p:cNvSpPr>
            <a:spLocks noGrp="1"/>
          </p:cNvSpPr>
          <p:nvPr>
            <p:ph type="sldNum" sz="quarter" idx="10"/>
          </p:nvPr>
        </p:nvSpPr>
        <p:spPr>
          <a:xfrm>
            <a:off x="7239000" y="6519863"/>
            <a:ext cx="1905000" cy="338137"/>
          </a:xfrm>
          <a:noFill/>
        </p:spPr>
        <p:txBody>
          <a:bodyPr/>
          <a:lstStyle/>
          <a:p>
            <a:fld id="{C5BA762F-2825-430D-8977-C3A73819F98E}" type="slidenum">
              <a:rPr lang="en-US" smtClean="0"/>
              <a:pPr/>
              <a:t>123</a:t>
            </a:fld>
            <a:endParaRPr lang="en-US"/>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pPr eaLnBrk="1" hangingPunct="1"/>
            <a:r>
              <a:rPr lang="en-US"/>
              <a:t>TCTO Policy and Procedures</a:t>
            </a:r>
          </a:p>
        </p:txBody>
      </p:sp>
      <p:sp>
        <p:nvSpPr>
          <p:cNvPr id="148483" name="Rectangle 3"/>
          <p:cNvSpPr>
            <a:spLocks noGrp="1" noChangeArrowheads="1"/>
          </p:cNvSpPr>
          <p:nvPr>
            <p:ph idx="1"/>
          </p:nvPr>
        </p:nvSpPr>
        <p:spPr/>
        <p:txBody>
          <a:bodyPr/>
          <a:lstStyle/>
          <a:p>
            <a:pPr eaLnBrk="1" hangingPunct="1"/>
            <a:r>
              <a:rPr lang="en-US"/>
              <a:t>CHAPTER 1 SUMMARY</a:t>
            </a:r>
          </a:p>
          <a:p>
            <a:pPr eaLnBrk="1" hangingPunct="1"/>
            <a:endParaRPr lang="en-US"/>
          </a:p>
          <a:p>
            <a:pPr eaLnBrk="1" hangingPunct="1"/>
            <a:r>
              <a:rPr lang="en-US"/>
              <a:t>Identify the policy and procedures involving TCTOs</a:t>
            </a:r>
          </a:p>
          <a:p>
            <a:pPr eaLnBrk="1" hangingPunct="1"/>
            <a:r>
              <a:rPr lang="en-US"/>
              <a:t>Define TCTO numbering procedures</a:t>
            </a:r>
          </a:p>
          <a:p>
            <a:pPr eaLnBrk="1" hangingPunct="1"/>
            <a:r>
              <a:rPr lang="en-US"/>
              <a:t>Identify policy and procedures involving kits</a:t>
            </a:r>
          </a:p>
          <a:p>
            <a:pPr eaLnBrk="1" hangingPunct="1"/>
            <a:endParaRPr lang="en-US"/>
          </a:p>
          <a:p>
            <a:pPr eaLnBrk="1" hangingPunct="1"/>
            <a:r>
              <a:rPr lang="en-US"/>
              <a:t>QUESTIONS?</a:t>
            </a:r>
          </a:p>
        </p:txBody>
      </p:sp>
      <p:sp>
        <p:nvSpPr>
          <p:cNvPr id="148484" name="Slide Number Placeholder 5"/>
          <p:cNvSpPr>
            <a:spLocks noGrp="1"/>
          </p:cNvSpPr>
          <p:nvPr>
            <p:ph type="sldNum" sz="quarter" idx="10"/>
          </p:nvPr>
        </p:nvSpPr>
        <p:spPr>
          <a:xfrm>
            <a:off x="7239000" y="6519863"/>
            <a:ext cx="1905000" cy="338137"/>
          </a:xfrm>
          <a:noFill/>
        </p:spPr>
        <p:txBody>
          <a:bodyPr/>
          <a:lstStyle/>
          <a:p>
            <a:fld id="{ED018D47-D08B-4171-8850-7F0F5B040981}" type="slidenum">
              <a:rPr lang="en-US" smtClean="0"/>
              <a:pPr/>
              <a:t>124</a:t>
            </a:fld>
            <a:endParaRPr lang="en-US"/>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eaLnBrk="1" hangingPunct="1"/>
            <a:r>
              <a:rPr lang="en-US"/>
              <a:t>Chapter 2</a:t>
            </a:r>
          </a:p>
        </p:txBody>
      </p:sp>
      <p:sp>
        <p:nvSpPr>
          <p:cNvPr id="149507" name="Rectangle 3"/>
          <p:cNvSpPr>
            <a:spLocks noGrp="1" noChangeArrowheads="1"/>
          </p:cNvSpPr>
          <p:nvPr>
            <p:ph idx="1"/>
          </p:nvPr>
        </p:nvSpPr>
        <p:spPr/>
        <p:txBody>
          <a:bodyPr/>
          <a:lstStyle/>
          <a:p>
            <a:pPr eaLnBrk="1" hangingPunct="1"/>
            <a:endParaRPr lang="en-US"/>
          </a:p>
          <a:p>
            <a:pPr eaLnBrk="1" hangingPunct="1"/>
            <a:endParaRPr lang="en-US"/>
          </a:p>
          <a:p>
            <a:pPr eaLnBrk="1" hangingPunct="1"/>
            <a:endParaRPr lang="en-US"/>
          </a:p>
          <a:p>
            <a:pPr algn="ctr" eaLnBrk="1" hangingPunct="1">
              <a:buFont typeface="Wingdings" pitchFamily="2" charset="2"/>
              <a:buNone/>
            </a:pPr>
            <a:r>
              <a:rPr lang="en-US" sz="4400"/>
              <a:t>TCTO Planning and Funding</a:t>
            </a:r>
          </a:p>
        </p:txBody>
      </p:sp>
      <p:sp>
        <p:nvSpPr>
          <p:cNvPr id="149508" name="Slide Number Placeholder 5"/>
          <p:cNvSpPr>
            <a:spLocks noGrp="1"/>
          </p:cNvSpPr>
          <p:nvPr>
            <p:ph type="sldNum" sz="quarter" idx="10"/>
          </p:nvPr>
        </p:nvSpPr>
        <p:spPr>
          <a:xfrm>
            <a:off x="7239000" y="6519863"/>
            <a:ext cx="1905000" cy="338137"/>
          </a:xfrm>
          <a:noFill/>
        </p:spPr>
        <p:txBody>
          <a:bodyPr/>
          <a:lstStyle/>
          <a:p>
            <a:fld id="{8CDEB4A2-B718-4409-B348-6EBFC67B4B3C}" type="slidenum">
              <a:rPr lang="en-US" smtClean="0"/>
              <a:pPr/>
              <a:t>125</a:t>
            </a:fld>
            <a:endParaRPr lang="en-US"/>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pPr eaLnBrk="1" hangingPunct="1"/>
            <a:r>
              <a:rPr lang="en-US"/>
              <a:t>TCTO Planning and Funding</a:t>
            </a:r>
          </a:p>
        </p:txBody>
      </p:sp>
      <p:sp>
        <p:nvSpPr>
          <p:cNvPr id="150531" name="Rectangle 3"/>
          <p:cNvSpPr>
            <a:spLocks noGrp="1" noChangeArrowheads="1"/>
          </p:cNvSpPr>
          <p:nvPr>
            <p:ph idx="1"/>
          </p:nvPr>
        </p:nvSpPr>
        <p:spPr/>
        <p:txBody>
          <a:bodyPr/>
          <a:lstStyle/>
          <a:p>
            <a:pPr eaLnBrk="1" hangingPunct="1"/>
            <a:r>
              <a:rPr lang="en-US"/>
              <a:t>CHAPTER 2 OBJECTIVES</a:t>
            </a:r>
          </a:p>
          <a:p>
            <a:pPr eaLnBrk="1" hangingPunct="1"/>
            <a:endParaRPr lang="en-US"/>
          </a:p>
          <a:p>
            <a:pPr eaLnBrk="1" hangingPunct="1"/>
            <a:r>
              <a:rPr lang="en-US"/>
              <a:t>Identify modification program funding types and procedures</a:t>
            </a:r>
          </a:p>
          <a:p>
            <a:pPr eaLnBrk="1" hangingPunct="1"/>
            <a:r>
              <a:rPr lang="en-US"/>
              <a:t>Define the Configuration Control Board (CCB)</a:t>
            </a:r>
          </a:p>
          <a:p>
            <a:pPr eaLnBrk="1" hangingPunct="1"/>
            <a:r>
              <a:rPr lang="en-US"/>
              <a:t>End of Chapter questions</a:t>
            </a:r>
          </a:p>
          <a:p>
            <a:pPr eaLnBrk="1" hangingPunct="1"/>
            <a:endParaRPr lang="en-US"/>
          </a:p>
        </p:txBody>
      </p:sp>
      <p:sp>
        <p:nvSpPr>
          <p:cNvPr id="150532" name="Slide Number Placeholder 5"/>
          <p:cNvSpPr>
            <a:spLocks noGrp="1"/>
          </p:cNvSpPr>
          <p:nvPr>
            <p:ph type="sldNum" sz="quarter" idx="10"/>
          </p:nvPr>
        </p:nvSpPr>
        <p:spPr>
          <a:xfrm>
            <a:off x="7239000" y="6519863"/>
            <a:ext cx="1905000" cy="338137"/>
          </a:xfrm>
          <a:noFill/>
        </p:spPr>
        <p:txBody>
          <a:bodyPr/>
          <a:lstStyle/>
          <a:p>
            <a:fld id="{84B34380-3E5B-4B4B-B209-6DE1065535A8}" type="slidenum">
              <a:rPr lang="en-US" smtClean="0"/>
              <a:pPr/>
              <a:t>126</a:t>
            </a:fld>
            <a:endParaRPr lang="en-US"/>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eaLnBrk="1" hangingPunct="1"/>
            <a:r>
              <a:rPr lang="en-US"/>
              <a:t>TCTO Planning and Funding</a:t>
            </a:r>
          </a:p>
        </p:txBody>
      </p:sp>
      <p:sp>
        <p:nvSpPr>
          <p:cNvPr id="151555" name="Rectangle 3"/>
          <p:cNvSpPr>
            <a:spLocks noGrp="1" noChangeArrowheads="1"/>
          </p:cNvSpPr>
          <p:nvPr>
            <p:ph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Objective: Identify modification program funding types and procedures</a:t>
            </a:r>
          </a:p>
        </p:txBody>
      </p:sp>
      <p:sp>
        <p:nvSpPr>
          <p:cNvPr id="151556" name="Slide Number Placeholder 5"/>
          <p:cNvSpPr>
            <a:spLocks noGrp="1"/>
          </p:cNvSpPr>
          <p:nvPr>
            <p:ph type="sldNum" sz="quarter" idx="10"/>
          </p:nvPr>
        </p:nvSpPr>
        <p:spPr>
          <a:xfrm>
            <a:off x="7239000" y="6519863"/>
            <a:ext cx="1905000" cy="338137"/>
          </a:xfrm>
          <a:noFill/>
        </p:spPr>
        <p:txBody>
          <a:bodyPr/>
          <a:lstStyle/>
          <a:p>
            <a:fld id="{3E27339A-5798-4F40-9FDB-55AF2F4E60F6}" type="slidenum">
              <a:rPr lang="en-US" smtClean="0"/>
              <a:pPr/>
              <a:t>127</a:t>
            </a:fld>
            <a:endParaRPr lang="en-US"/>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pPr eaLnBrk="1" hangingPunct="1"/>
            <a:r>
              <a:rPr lang="en-US"/>
              <a:t>TCTO Planning and Funding</a:t>
            </a:r>
          </a:p>
        </p:txBody>
      </p:sp>
      <p:sp>
        <p:nvSpPr>
          <p:cNvPr id="152579" name="Rectangle 3"/>
          <p:cNvSpPr>
            <a:spLocks noGrp="1" noChangeArrowheads="1"/>
          </p:cNvSpPr>
          <p:nvPr>
            <p:ph idx="1"/>
          </p:nvPr>
        </p:nvSpPr>
        <p:spPr/>
        <p:txBody>
          <a:bodyPr/>
          <a:lstStyle/>
          <a:p>
            <a:pPr eaLnBrk="1" hangingPunct="1"/>
            <a:r>
              <a:rPr lang="en-US"/>
              <a:t>Modification Program Funding</a:t>
            </a:r>
          </a:p>
          <a:p>
            <a:pPr eaLnBrk="1" hangingPunct="1"/>
            <a:endParaRPr lang="en-US"/>
          </a:p>
          <a:p>
            <a:pPr lvl="1" eaLnBrk="1" hangingPunct="1"/>
            <a:r>
              <a:rPr lang="en-US"/>
              <a:t>AFI 65-601 Budget Guidance &amp; Procedures</a:t>
            </a:r>
          </a:p>
          <a:p>
            <a:pPr lvl="1" eaLnBrk="1" hangingPunct="1"/>
            <a:endParaRPr lang="en-US"/>
          </a:p>
          <a:p>
            <a:pPr lvl="1" eaLnBrk="1" hangingPunct="1"/>
            <a:r>
              <a:rPr lang="en-US"/>
              <a:t>Funding approved for modifications is based upon the Program Objective Memorandum (POM)</a:t>
            </a:r>
          </a:p>
          <a:p>
            <a:pPr lvl="1" eaLnBrk="1" hangingPunct="1"/>
            <a:endParaRPr lang="en-US"/>
          </a:p>
          <a:p>
            <a:pPr lvl="1" eaLnBrk="1" hangingPunct="1"/>
            <a:r>
              <a:rPr lang="en-US"/>
              <a:t>The POM provides initial funding requirements for the budget year programmed</a:t>
            </a:r>
          </a:p>
          <a:p>
            <a:pPr eaLnBrk="1" hangingPunct="1"/>
            <a:endParaRPr lang="en-US"/>
          </a:p>
          <a:p>
            <a:pPr eaLnBrk="1" hangingPunct="1">
              <a:buFont typeface="Wingdings" pitchFamily="2" charset="2"/>
              <a:buNone/>
            </a:pPr>
            <a:r>
              <a:rPr lang="en-US"/>
              <a:t>     </a:t>
            </a:r>
          </a:p>
        </p:txBody>
      </p:sp>
      <p:sp>
        <p:nvSpPr>
          <p:cNvPr id="152580" name="Slide Number Placeholder 5"/>
          <p:cNvSpPr>
            <a:spLocks noGrp="1"/>
          </p:cNvSpPr>
          <p:nvPr>
            <p:ph type="sldNum" sz="quarter" idx="10"/>
          </p:nvPr>
        </p:nvSpPr>
        <p:spPr>
          <a:xfrm>
            <a:off x="7239000" y="6519863"/>
            <a:ext cx="1905000" cy="338137"/>
          </a:xfrm>
          <a:noFill/>
        </p:spPr>
        <p:txBody>
          <a:bodyPr/>
          <a:lstStyle/>
          <a:p>
            <a:fld id="{6AFF2217-DF85-4A09-9289-C3832756B2CD}" type="slidenum">
              <a:rPr lang="en-US" smtClean="0"/>
              <a:pPr/>
              <a:t>128</a:t>
            </a:fld>
            <a:endParaRPr lang="en-US"/>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eaLnBrk="1" hangingPunct="1"/>
            <a:r>
              <a:rPr lang="en-US"/>
              <a:t>TCTO Planning and Funding</a:t>
            </a:r>
          </a:p>
        </p:txBody>
      </p:sp>
      <p:sp>
        <p:nvSpPr>
          <p:cNvPr id="153603" name="Rectangle 3"/>
          <p:cNvSpPr>
            <a:spLocks noGrp="1" noChangeArrowheads="1"/>
          </p:cNvSpPr>
          <p:nvPr>
            <p:ph idx="1"/>
          </p:nvPr>
        </p:nvSpPr>
        <p:spPr/>
        <p:txBody>
          <a:bodyPr/>
          <a:lstStyle/>
          <a:p>
            <a:pPr eaLnBrk="1" hangingPunct="1"/>
            <a:r>
              <a:rPr lang="en-US"/>
              <a:t>Modification Program Funding</a:t>
            </a:r>
          </a:p>
          <a:p>
            <a:pPr eaLnBrk="1" hangingPunct="1"/>
            <a:endParaRPr lang="en-US"/>
          </a:p>
          <a:p>
            <a:pPr eaLnBrk="1" hangingPunct="1"/>
            <a:r>
              <a:rPr lang="en-US"/>
              <a:t>Once  a permanent modification program has been approved (CCB) and funded </a:t>
            </a:r>
          </a:p>
          <a:p>
            <a:pPr eaLnBrk="1" hangingPunct="1"/>
            <a:endParaRPr lang="en-US"/>
          </a:p>
          <a:p>
            <a:pPr lvl="1" eaLnBrk="1" hangingPunct="1"/>
            <a:r>
              <a:rPr lang="en-US"/>
              <a:t>The AF funding document (P3A) is sent to the SM Modification Manager</a:t>
            </a:r>
          </a:p>
          <a:p>
            <a:pPr lvl="1" eaLnBrk="1" hangingPunct="1"/>
            <a:endParaRPr lang="en-US"/>
          </a:p>
          <a:p>
            <a:pPr lvl="1" eaLnBrk="1" hangingPunct="1"/>
            <a:r>
              <a:rPr lang="en-US"/>
              <a:t>P3A documentation reflects all modification funds</a:t>
            </a:r>
          </a:p>
          <a:p>
            <a:pPr eaLnBrk="1" hangingPunct="1"/>
            <a:endParaRPr lang="en-US"/>
          </a:p>
        </p:txBody>
      </p:sp>
      <p:sp>
        <p:nvSpPr>
          <p:cNvPr id="153604" name="Slide Number Placeholder 5"/>
          <p:cNvSpPr>
            <a:spLocks noGrp="1"/>
          </p:cNvSpPr>
          <p:nvPr>
            <p:ph type="sldNum" sz="quarter" idx="10"/>
          </p:nvPr>
        </p:nvSpPr>
        <p:spPr>
          <a:xfrm>
            <a:off x="7239000" y="6519863"/>
            <a:ext cx="1905000" cy="338137"/>
          </a:xfrm>
          <a:noFill/>
        </p:spPr>
        <p:txBody>
          <a:bodyPr/>
          <a:lstStyle/>
          <a:p>
            <a:fld id="{FBAD7BF7-93BE-44BB-B369-426E8D1E35E7}" type="slidenum">
              <a:rPr lang="en-US" smtClean="0"/>
              <a:pPr/>
              <a:t>129</a:t>
            </a:fld>
            <a:endParaRPr lang="en-US"/>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eaLnBrk="1" hangingPunct="1"/>
            <a:r>
              <a:rPr lang="en-US"/>
              <a:t>TCTO Planning and Funding</a:t>
            </a:r>
          </a:p>
        </p:txBody>
      </p:sp>
      <p:sp>
        <p:nvSpPr>
          <p:cNvPr id="154627" name="Rectangle 3"/>
          <p:cNvSpPr>
            <a:spLocks noGrp="1" noChangeArrowheads="1"/>
          </p:cNvSpPr>
          <p:nvPr>
            <p:ph idx="1"/>
          </p:nvPr>
        </p:nvSpPr>
        <p:spPr/>
        <p:txBody>
          <a:bodyPr/>
          <a:lstStyle/>
          <a:p>
            <a:pPr eaLnBrk="1" hangingPunct="1"/>
            <a:r>
              <a:rPr lang="en-US"/>
              <a:t>Modification Program Funding</a:t>
            </a:r>
          </a:p>
          <a:p>
            <a:pPr eaLnBrk="1" hangingPunct="1"/>
            <a:endParaRPr lang="en-US"/>
          </a:p>
          <a:p>
            <a:pPr lvl="1" eaLnBrk="1" hangingPunct="1"/>
            <a:r>
              <a:rPr lang="en-US"/>
              <a:t>The P3A reflects:</a:t>
            </a:r>
          </a:p>
          <a:p>
            <a:pPr eaLnBrk="1" hangingPunct="1">
              <a:buFont typeface="Wingdings" pitchFamily="2" charset="2"/>
              <a:buNone/>
            </a:pPr>
            <a:r>
              <a:rPr lang="en-US"/>
              <a:t>  	Appropriations       Budget Programs (BP)</a:t>
            </a:r>
          </a:p>
          <a:p>
            <a:pPr eaLnBrk="1" hangingPunct="1">
              <a:buFont typeface="Wingdings" pitchFamily="2" charset="2"/>
              <a:buNone/>
            </a:pPr>
            <a:r>
              <a:rPr lang="en-US"/>
              <a:t>        3010                      BP10    &amp;    BP11</a:t>
            </a:r>
          </a:p>
          <a:p>
            <a:pPr eaLnBrk="1" hangingPunct="1">
              <a:buFont typeface="Wingdings" pitchFamily="2" charset="2"/>
              <a:buNone/>
            </a:pPr>
            <a:r>
              <a:rPr lang="en-US"/>
              <a:t>        3020                      BP21</a:t>
            </a:r>
          </a:p>
          <a:p>
            <a:pPr eaLnBrk="1" hangingPunct="1">
              <a:buFont typeface="Wingdings" pitchFamily="2" charset="2"/>
              <a:buNone/>
            </a:pPr>
            <a:r>
              <a:rPr lang="en-US"/>
              <a:t>        3080                      BP82, 836, 838, 84</a:t>
            </a:r>
          </a:p>
          <a:p>
            <a:pPr eaLnBrk="1" hangingPunct="1">
              <a:buFont typeface="Wingdings" pitchFamily="2" charset="2"/>
              <a:buNone/>
            </a:pPr>
            <a:r>
              <a:rPr lang="en-US"/>
              <a:t>        </a:t>
            </a:r>
          </a:p>
          <a:p>
            <a:pPr lvl="1" eaLnBrk="1" hangingPunct="1"/>
            <a:r>
              <a:rPr lang="en-US"/>
              <a:t>For fiscal years by cost, quantities &amp; schedule significant events</a:t>
            </a:r>
          </a:p>
          <a:p>
            <a:pPr eaLnBrk="1" hangingPunct="1"/>
            <a:endParaRPr lang="en-US"/>
          </a:p>
        </p:txBody>
      </p:sp>
      <p:sp>
        <p:nvSpPr>
          <p:cNvPr id="154628" name="Slide Number Placeholder 5"/>
          <p:cNvSpPr>
            <a:spLocks noGrp="1"/>
          </p:cNvSpPr>
          <p:nvPr>
            <p:ph type="sldNum" sz="quarter" idx="10"/>
          </p:nvPr>
        </p:nvSpPr>
        <p:spPr>
          <a:xfrm>
            <a:off x="7239000" y="6519863"/>
            <a:ext cx="1905000" cy="338137"/>
          </a:xfrm>
          <a:noFill/>
        </p:spPr>
        <p:txBody>
          <a:bodyPr/>
          <a:lstStyle/>
          <a:p>
            <a:fld id="{F7A18210-942F-40D2-917E-E120AF45F489}" type="slidenum">
              <a:rPr lang="en-US" smtClean="0"/>
              <a:pPr/>
              <a:t>130</a:t>
            </a:fld>
            <a:endParaRPr lang="en-US"/>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r>
              <a:rPr lang="en-US"/>
              <a:t>TCTO Planning and Funding</a:t>
            </a:r>
          </a:p>
        </p:txBody>
      </p:sp>
      <p:sp>
        <p:nvSpPr>
          <p:cNvPr id="155651" name="Rectangle 3"/>
          <p:cNvSpPr>
            <a:spLocks noGrp="1" noChangeArrowheads="1"/>
          </p:cNvSpPr>
          <p:nvPr>
            <p:ph idx="1"/>
          </p:nvPr>
        </p:nvSpPr>
        <p:spPr/>
        <p:txBody>
          <a:bodyPr/>
          <a:lstStyle/>
          <a:p>
            <a:pPr eaLnBrk="1" hangingPunct="1"/>
            <a:r>
              <a:rPr lang="en-US"/>
              <a:t>Modification Program Funding</a:t>
            </a:r>
          </a:p>
          <a:p>
            <a:pPr eaLnBrk="1" hangingPunct="1"/>
            <a:endParaRPr lang="en-US"/>
          </a:p>
          <a:p>
            <a:pPr eaLnBrk="1" hangingPunct="1"/>
            <a:r>
              <a:rPr lang="en-US"/>
              <a:t>P3A events for information only, include:</a:t>
            </a:r>
          </a:p>
          <a:p>
            <a:pPr eaLnBrk="1" hangingPunct="1"/>
            <a:endParaRPr lang="en-US"/>
          </a:p>
          <a:p>
            <a:pPr lvl="1" eaLnBrk="1" hangingPunct="1"/>
            <a:r>
              <a:rPr lang="en-US"/>
              <a:t>Procurement of Modification Kits</a:t>
            </a:r>
          </a:p>
          <a:p>
            <a:pPr lvl="1" eaLnBrk="1" hangingPunct="1"/>
            <a:r>
              <a:rPr lang="en-US"/>
              <a:t>Modification Installation</a:t>
            </a:r>
          </a:p>
          <a:p>
            <a:pPr lvl="1" eaLnBrk="1" hangingPunct="1"/>
            <a:r>
              <a:rPr lang="en-US"/>
              <a:t>Research, Development, Test &amp; Evaluation</a:t>
            </a:r>
          </a:p>
          <a:p>
            <a:pPr lvl="1" eaLnBrk="1" hangingPunct="1"/>
            <a:endParaRPr lang="en-US"/>
          </a:p>
          <a:p>
            <a:pPr eaLnBrk="1" hangingPunct="1"/>
            <a:r>
              <a:rPr lang="en-US"/>
              <a:t>Mod Manager annotate any changes and forward the P3A to the user</a:t>
            </a:r>
          </a:p>
          <a:p>
            <a:pPr lvl="1" eaLnBrk="1" hangingPunct="1"/>
            <a:endParaRPr lang="en-US"/>
          </a:p>
          <a:p>
            <a:pPr lvl="1" eaLnBrk="1" hangingPunct="1"/>
            <a:endParaRPr lang="en-US"/>
          </a:p>
        </p:txBody>
      </p:sp>
      <p:sp>
        <p:nvSpPr>
          <p:cNvPr id="155652" name="Slide Number Placeholder 5"/>
          <p:cNvSpPr>
            <a:spLocks noGrp="1"/>
          </p:cNvSpPr>
          <p:nvPr>
            <p:ph type="sldNum" sz="quarter" idx="10"/>
          </p:nvPr>
        </p:nvSpPr>
        <p:spPr>
          <a:xfrm>
            <a:off x="7239000" y="6519863"/>
            <a:ext cx="1905000" cy="338137"/>
          </a:xfrm>
          <a:noFill/>
        </p:spPr>
        <p:txBody>
          <a:bodyPr/>
          <a:lstStyle/>
          <a:p>
            <a:fld id="{71879275-D058-4EBC-B178-D0AE0DE324F5}" type="slidenum">
              <a:rPr lang="en-US" smtClean="0"/>
              <a:pPr/>
              <a:t>131</a:t>
            </a:fld>
            <a:endParaRPr lang="en-US"/>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r>
              <a:rPr lang="en-US"/>
              <a:t>TCTO Planning and Funding</a:t>
            </a:r>
          </a:p>
        </p:txBody>
      </p:sp>
      <p:sp>
        <p:nvSpPr>
          <p:cNvPr id="156675"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Phased Procurement</a:t>
            </a:r>
          </a:p>
          <a:p>
            <a:pPr eaLnBrk="1" hangingPunct="1"/>
            <a:r>
              <a:rPr lang="en-US" dirty="0"/>
              <a:t>Full Funding Concept</a:t>
            </a:r>
          </a:p>
          <a:p>
            <a:pPr eaLnBrk="1" hangingPunct="1"/>
            <a:r>
              <a:rPr lang="en-US" dirty="0"/>
              <a:t>Funding Types:</a:t>
            </a:r>
          </a:p>
          <a:p>
            <a:pPr marL="0" indent="0" eaLnBrk="1" hangingPunct="1">
              <a:buNone/>
            </a:pPr>
            <a:endParaRPr lang="en-US" dirty="0"/>
          </a:p>
          <a:p>
            <a:pPr lvl="1" eaLnBrk="1" hangingPunct="1"/>
            <a:r>
              <a:rPr lang="en-US" dirty="0"/>
              <a:t>General Information</a:t>
            </a:r>
          </a:p>
          <a:p>
            <a:pPr lvl="1" eaLnBrk="1" hangingPunct="1"/>
            <a:r>
              <a:rPr lang="en-US" dirty="0"/>
              <a:t>Modification Appropriations</a:t>
            </a:r>
          </a:p>
          <a:p>
            <a:pPr lvl="2" eaLnBrk="1" hangingPunct="1"/>
            <a:r>
              <a:rPr lang="en-US" dirty="0"/>
              <a:t>O&amp;M</a:t>
            </a:r>
          </a:p>
          <a:p>
            <a:pPr lvl="2" eaLnBrk="1" hangingPunct="1"/>
            <a:r>
              <a:rPr lang="en-US" dirty="0"/>
              <a:t>Central Procurement Funds</a:t>
            </a:r>
          </a:p>
          <a:p>
            <a:pPr lvl="2" eaLnBrk="1" hangingPunct="1"/>
            <a:r>
              <a:rPr lang="en-US" dirty="0"/>
              <a:t>Defense Working Capital</a:t>
            </a:r>
          </a:p>
        </p:txBody>
      </p:sp>
      <p:sp>
        <p:nvSpPr>
          <p:cNvPr id="156676" name="Slide Number Placeholder 5"/>
          <p:cNvSpPr>
            <a:spLocks noGrp="1"/>
          </p:cNvSpPr>
          <p:nvPr>
            <p:ph type="sldNum" sz="quarter" idx="10"/>
          </p:nvPr>
        </p:nvSpPr>
        <p:spPr>
          <a:xfrm>
            <a:off x="7239000" y="6519863"/>
            <a:ext cx="1905000" cy="338137"/>
          </a:xfrm>
          <a:noFill/>
        </p:spPr>
        <p:txBody>
          <a:bodyPr/>
          <a:lstStyle/>
          <a:p>
            <a:fld id="{772D200B-B422-4D62-A5C1-B34787021C10}" type="slidenum">
              <a:rPr lang="en-US" smtClean="0"/>
              <a:pPr/>
              <a:t>132</a:t>
            </a:fld>
            <a:endParaRPr lang="en-US"/>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eaLnBrk="1" hangingPunct="1"/>
            <a:r>
              <a:rPr lang="en-US"/>
              <a:t>TCTO Planning and Funding</a:t>
            </a:r>
          </a:p>
        </p:txBody>
      </p:sp>
      <p:sp>
        <p:nvSpPr>
          <p:cNvPr id="157699" name="Rectangle 3"/>
          <p:cNvSpPr>
            <a:spLocks noGrp="1" noChangeArrowheads="1"/>
          </p:cNvSpPr>
          <p:nvPr>
            <p:ph idx="1"/>
          </p:nvPr>
        </p:nvSpPr>
        <p:spPr/>
        <p:txBody>
          <a:bodyPr/>
          <a:lstStyle/>
          <a:p>
            <a:pPr eaLnBrk="1" hangingPunct="1"/>
            <a:r>
              <a:rPr lang="en-US" dirty="0"/>
              <a:t>Modification Program Funding </a:t>
            </a:r>
          </a:p>
          <a:p>
            <a:pPr eaLnBrk="1" hangingPunct="1"/>
            <a:endParaRPr lang="en-US" dirty="0"/>
          </a:p>
          <a:p>
            <a:pPr eaLnBrk="1" hangingPunct="1"/>
            <a:r>
              <a:rPr lang="en-US" dirty="0"/>
              <a:t>Additional funding considerations:</a:t>
            </a:r>
          </a:p>
          <a:p>
            <a:pPr marL="0" indent="0" eaLnBrk="1" hangingPunct="1">
              <a:buNone/>
            </a:pPr>
            <a:endParaRPr lang="en-US" dirty="0"/>
          </a:p>
          <a:p>
            <a:pPr lvl="1" eaLnBrk="1" hangingPunct="1"/>
            <a:r>
              <a:rPr lang="en-US" dirty="0"/>
              <a:t>Grouping/Blocking</a:t>
            </a:r>
          </a:p>
          <a:p>
            <a:pPr lvl="1" eaLnBrk="1" hangingPunct="1"/>
            <a:r>
              <a:rPr lang="en-US" dirty="0"/>
              <a:t>Security Assistance Program</a:t>
            </a:r>
          </a:p>
          <a:p>
            <a:pPr lvl="1" eaLnBrk="1" hangingPunct="1"/>
            <a:r>
              <a:rPr lang="en-US" dirty="0"/>
              <a:t>Ten ILS Elements</a:t>
            </a:r>
          </a:p>
          <a:p>
            <a:pPr lvl="1" eaLnBrk="1" hangingPunct="1"/>
            <a:r>
              <a:rPr lang="en-US" dirty="0"/>
              <a:t>Tooling/Support Equipment</a:t>
            </a:r>
          </a:p>
          <a:p>
            <a:pPr lvl="1" eaLnBrk="1" hangingPunct="1"/>
            <a:r>
              <a:rPr lang="en-US" dirty="0"/>
              <a:t>Spares</a:t>
            </a:r>
          </a:p>
        </p:txBody>
      </p:sp>
      <p:sp>
        <p:nvSpPr>
          <p:cNvPr id="157700" name="Slide Number Placeholder 5"/>
          <p:cNvSpPr>
            <a:spLocks noGrp="1"/>
          </p:cNvSpPr>
          <p:nvPr>
            <p:ph type="sldNum" sz="quarter" idx="10"/>
          </p:nvPr>
        </p:nvSpPr>
        <p:spPr>
          <a:xfrm>
            <a:off x="7239000" y="6519863"/>
            <a:ext cx="1905000" cy="338137"/>
          </a:xfrm>
          <a:noFill/>
        </p:spPr>
        <p:txBody>
          <a:bodyPr/>
          <a:lstStyle/>
          <a:p>
            <a:fld id="{487F226E-3607-4556-92C9-51D3FA60DB01}" type="slidenum">
              <a:rPr lang="en-US" smtClean="0"/>
              <a:pPr/>
              <a:t>133</a:t>
            </a:fld>
            <a:endParaRPr lang="en-US"/>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eaLnBrk="1" hangingPunct="1"/>
            <a:r>
              <a:rPr lang="en-US"/>
              <a:t>TCTO Planning and Funding</a:t>
            </a:r>
          </a:p>
        </p:txBody>
      </p:sp>
      <p:sp>
        <p:nvSpPr>
          <p:cNvPr id="158723"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Phased Procurement</a:t>
            </a:r>
          </a:p>
          <a:p>
            <a:pPr eaLnBrk="1" hangingPunct="1"/>
            <a:endParaRPr lang="en-US" dirty="0"/>
          </a:p>
          <a:p>
            <a:pPr lvl="1" eaLnBrk="1" hangingPunct="1"/>
            <a:r>
              <a:rPr lang="en-US" dirty="0"/>
              <a:t>Time phased basis for kit delivery</a:t>
            </a:r>
          </a:p>
          <a:p>
            <a:pPr lvl="2" eaLnBrk="1" hangingPunct="1"/>
            <a:r>
              <a:rPr lang="en-US" dirty="0"/>
              <a:t>  Starting with contract  award date</a:t>
            </a:r>
          </a:p>
          <a:p>
            <a:pPr lvl="3" eaLnBrk="1" hangingPunct="1"/>
            <a:r>
              <a:rPr lang="en-US" dirty="0"/>
              <a:t>Add lead time to determine when the kits can be delivered</a:t>
            </a:r>
          </a:p>
          <a:p>
            <a:pPr lvl="2" eaLnBrk="1" hangingPunct="1"/>
            <a:endParaRPr lang="en-US" dirty="0"/>
          </a:p>
          <a:p>
            <a:pPr lvl="1" eaLnBrk="1" hangingPunct="1"/>
            <a:r>
              <a:rPr lang="en-US" dirty="0"/>
              <a:t>Base kit procurement and delivery on installation schedule</a:t>
            </a:r>
          </a:p>
          <a:p>
            <a:pPr eaLnBrk="1" hangingPunct="1"/>
            <a:endParaRPr lang="en-US" dirty="0"/>
          </a:p>
          <a:p>
            <a:pPr eaLnBrk="1" hangingPunct="1"/>
            <a:endParaRPr lang="en-US" dirty="0"/>
          </a:p>
          <a:p>
            <a:pPr eaLnBrk="1" hangingPunct="1">
              <a:buFont typeface="Wingdings" pitchFamily="2" charset="2"/>
              <a:buNone/>
            </a:pPr>
            <a:r>
              <a:rPr lang="en-US" dirty="0"/>
              <a:t>	</a:t>
            </a:r>
          </a:p>
        </p:txBody>
      </p:sp>
      <p:sp>
        <p:nvSpPr>
          <p:cNvPr id="158724" name="Slide Number Placeholder 5"/>
          <p:cNvSpPr>
            <a:spLocks noGrp="1"/>
          </p:cNvSpPr>
          <p:nvPr>
            <p:ph type="sldNum" sz="quarter" idx="10"/>
          </p:nvPr>
        </p:nvSpPr>
        <p:spPr>
          <a:xfrm>
            <a:off x="7239000" y="6519863"/>
            <a:ext cx="1905000" cy="338137"/>
          </a:xfrm>
          <a:noFill/>
        </p:spPr>
        <p:txBody>
          <a:bodyPr/>
          <a:lstStyle/>
          <a:p>
            <a:fld id="{3E75D97F-3C3A-4D98-9E24-928CFAF5FBDE}" type="slidenum">
              <a:rPr lang="en-US" smtClean="0"/>
              <a:pPr/>
              <a:t>134</a:t>
            </a:fld>
            <a:endParaRPr lang="en-US"/>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eaLnBrk="1" hangingPunct="1"/>
            <a:r>
              <a:rPr lang="en-US"/>
              <a:t>TCTO Planning and Funding</a:t>
            </a:r>
          </a:p>
        </p:txBody>
      </p:sp>
      <p:sp>
        <p:nvSpPr>
          <p:cNvPr id="159747" name="Rectangle 3"/>
          <p:cNvSpPr>
            <a:spLocks noGrp="1" noChangeArrowheads="1"/>
          </p:cNvSpPr>
          <p:nvPr>
            <p:ph idx="1"/>
          </p:nvPr>
        </p:nvSpPr>
        <p:spPr/>
        <p:txBody>
          <a:bodyPr/>
          <a:lstStyle/>
          <a:p>
            <a:pPr eaLnBrk="1" hangingPunct="1"/>
            <a:r>
              <a:rPr lang="en-US"/>
              <a:t>Modification Program Funding</a:t>
            </a:r>
          </a:p>
          <a:p>
            <a:pPr eaLnBrk="1" hangingPunct="1"/>
            <a:endParaRPr lang="en-US"/>
          </a:p>
          <a:p>
            <a:pPr eaLnBrk="1" hangingPunct="1"/>
            <a:r>
              <a:rPr lang="en-US"/>
              <a:t>Full Funding Concept</a:t>
            </a:r>
          </a:p>
          <a:p>
            <a:pPr eaLnBrk="1" hangingPunct="1"/>
            <a:endParaRPr lang="en-US"/>
          </a:p>
          <a:p>
            <a:pPr lvl="1" eaLnBrk="1" hangingPunct="1"/>
            <a:r>
              <a:rPr lang="en-US"/>
              <a:t>Complete kit concept must be programmed &amp; fully funded for each Fiscal Year (FY)</a:t>
            </a:r>
          </a:p>
          <a:p>
            <a:pPr lvl="1" eaLnBrk="1" hangingPunct="1"/>
            <a:endParaRPr lang="en-US"/>
          </a:p>
          <a:p>
            <a:pPr lvl="1" eaLnBrk="1" hangingPunct="1"/>
            <a:r>
              <a:rPr lang="en-US"/>
              <a:t>Future appropriations cannot be used for items not shipped in a kit</a:t>
            </a:r>
          </a:p>
        </p:txBody>
      </p:sp>
      <p:sp>
        <p:nvSpPr>
          <p:cNvPr id="159748" name="Slide Number Placeholder 5"/>
          <p:cNvSpPr>
            <a:spLocks noGrp="1"/>
          </p:cNvSpPr>
          <p:nvPr>
            <p:ph type="sldNum" sz="quarter" idx="10"/>
          </p:nvPr>
        </p:nvSpPr>
        <p:spPr>
          <a:xfrm>
            <a:off x="7239000" y="6519863"/>
            <a:ext cx="1905000" cy="338137"/>
          </a:xfrm>
          <a:noFill/>
        </p:spPr>
        <p:txBody>
          <a:bodyPr/>
          <a:lstStyle/>
          <a:p>
            <a:fld id="{DE01E2A2-7980-40B1-B258-219DC3A9E557}" type="slidenum">
              <a:rPr lang="en-US" smtClean="0"/>
              <a:pPr/>
              <a:t>135</a:t>
            </a:fld>
            <a:endParaRPr lang="en-US"/>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eaLnBrk="1" hangingPunct="1"/>
            <a:r>
              <a:rPr lang="en-US"/>
              <a:t>TCTO Planning and Funding</a:t>
            </a:r>
          </a:p>
        </p:txBody>
      </p:sp>
      <p:sp>
        <p:nvSpPr>
          <p:cNvPr id="160771"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Full Funding Concept</a:t>
            </a:r>
          </a:p>
          <a:p>
            <a:pPr eaLnBrk="1" hangingPunct="1"/>
            <a:endParaRPr lang="en-US" dirty="0"/>
          </a:p>
          <a:p>
            <a:pPr lvl="1" eaLnBrk="1" hangingPunct="1"/>
            <a:r>
              <a:rPr lang="en-US" dirty="0"/>
              <a:t>Complete support must be programmed</a:t>
            </a:r>
          </a:p>
          <a:p>
            <a:pPr lvl="2" eaLnBrk="1" hangingPunct="1"/>
            <a:r>
              <a:rPr lang="en-US" dirty="0"/>
              <a:t>  Kit quantities</a:t>
            </a:r>
          </a:p>
          <a:p>
            <a:pPr lvl="2" eaLnBrk="1" hangingPunct="1"/>
            <a:r>
              <a:rPr lang="en-US" dirty="0"/>
              <a:t>  The ILS elements must be programmed </a:t>
            </a:r>
          </a:p>
          <a:p>
            <a:pPr lvl="1" eaLnBrk="1" hangingPunct="1"/>
            <a:endParaRPr lang="en-US" dirty="0"/>
          </a:p>
          <a:p>
            <a:pPr lvl="1" eaLnBrk="1" hangingPunct="1"/>
            <a:r>
              <a:rPr lang="en-US" dirty="0"/>
              <a:t>Lead time away from installations</a:t>
            </a:r>
          </a:p>
          <a:p>
            <a:pPr eaLnBrk="1" hangingPunct="1"/>
            <a:endParaRPr lang="en-US" dirty="0"/>
          </a:p>
          <a:p>
            <a:pPr eaLnBrk="1" hangingPunct="1"/>
            <a:endParaRPr lang="en-US" dirty="0"/>
          </a:p>
        </p:txBody>
      </p:sp>
      <p:sp>
        <p:nvSpPr>
          <p:cNvPr id="160772" name="Slide Number Placeholder 5"/>
          <p:cNvSpPr>
            <a:spLocks noGrp="1"/>
          </p:cNvSpPr>
          <p:nvPr>
            <p:ph type="sldNum" sz="quarter" idx="10"/>
          </p:nvPr>
        </p:nvSpPr>
        <p:spPr>
          <a:xfrm>
            <a:off x="7239000" y="6519863"/>
            <a:ext cx="1905000" cy="338137"/>
          </a:xfrm>
          <a:noFill/>
        </p:spPr>
        <p:txBody>
          <a:bodyPr/>
          <a:lstStyle/>
          <a:p>
            <a:fld id="{A2D48B1E-F251-41E3-AED2-35067B3C5531}" type="slidenum">
              <a:rPr lang="en-US" smtClean="0"/>
              <a:pPr/>
              <a:t>136</a:t>
            </a:fld>
            <a:endParaRPr lang="en-US"/>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pPr eaLnBrk="1" hangingPunct="1"/>
            <a:r>
              <a:rPr lang="en-US"/>
              <a:t>TCTO Planning and Funding</a:t>
            </a:r>
          </a:p>
        </p:txBody>
      </p:sp>
      <p:sp>
        <p:nvSpPr>
          <p:cNvPr id="161795"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Funding Types:</a:t>
            </a:r>
          </a:p>
          <a:p>
            <a:pPr lvl="1" eaLnBrk="1" hangingPunct="1"/>
            <a:r>
              <a:rPr lang="en-US" dirty="0"/>
              <a:t>General Information</a:t>
            </a:r>
          </a:p>
          <a:p>
            <a:pPr eaLnBrk="1" hangingPunct="1">
              <a:buFont typeface="Wingdings" pitchFamily="2" charset="2"/>
              <a:buNone/>
            </a:pPr>
            <a:r>
              <a:rPr lang="en-US" dirty="0"/>
              <a:t>    </a:t>
            </a:r>
          </a:p>
          <a:p>
            <a:pPr lvl="2" eaLnBrk="1" hangingPunct="1"/>
            <a:r>
              <a:rPr lang="en-US" dirty="0"/>
              <a:t>  Classify all cost/items as expense or investment</a:t>
            </a:r>
          </a:p>
          <a:p>
            <a:pPr eaLnBrk="1" hangingPunct="1"/>
            <a:endParaRPr lang="en-US" dirty="0"/>
          </a:p>
          <a:p>
            <a:pPr lvl="2" eaLnBrk="1" hangingPunct="1"/>
            <a:r>
              <a:rPr lang="en-US" dirty="0"/>
              <a:t>  Expense: daily operation and maintenance of weapon system(s)</a:t>
            </a:r>
          </a:p>
          <a:p>
            <a:pPr eaLnBrk="1" hangingPunct="1"/>
            <a:endParaRPr lang="en-US" dirty="0"/>
          </a:p>
        </p:txBody>
      </p:sp>
      <p:sp>
        <p:nvSpPr>
          <p:cNvPr id="161796" name="Slide Number Placeholder 5"/>
          <p:cNvSpPr>
            <a:spLocks noGrp="1"/>
          </p:cNvSpPr>
          <p:nvPr>
            <p:ph type="sldNum" sz="quarter" idx="10"/>
          </p:nvPr>
        </p:nvSpPr>
        <p:spPr>
          <a:xfrm>
            <a:off x="7239000" y="6519863"/>
            <a:ext cx="1905000" cy="338137"/>
          </a:xfrm>
          <a:noFill/>
        </p:spPr>
        <p:txBody>
          <a:bodyPr/>
          <a:lstStyle/>
          <a:p>
            <a:fld id="{00A12FD9-B0EF-44FE-A7DA-3E89697BD542}" type="slidenum">
              <a:rPr lang="en-US" smtClean="0"/>
              <a:pPr/>
              <a:t>137</a:t>
            </a:fld>
            <a:endParaRPr lang="en-US"/>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eaLnBrk="1" hangingPunct="1"/>
            <a:r>
              <a:rPr lang="en-US"/>
              <a:t>TCTO Planning and Funding</a:t>
            </a:r>
          </a:p>
        </p:txBody>
      </p:sp>
      <p:sp>
        <p:nvSpPr>
          <p:cNvPr id="162819"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Funding Types:</a:t>
            </a:r>
          </a:p>
          <a:p>
            <a:pPr lvl="1" eaLnBrk="1" hangingPunct="1"/>
            <a:r>
              <a:rPr lang="en-US" dirty="0"/>
              <a:t>General Information</a:t>
            </a:r>
          </a:p>
          <a:p>
            <a:pPr eaLnBrk="1" hangingPunct="1">
              <a:buFont typeface="Wingdings" pitchFamily="2" charset="2"/>
              <a:buNone/>
            </a:pPr>
            <a:r>
              <a:rPr lang="en-US" dirty="0"/>
              <a:t>   </a:t>
            </a:r>
          </a:p>
          <a:p>
            <a:pPr lvl="2" eaLnBrk="1" hangingPunct="1"/>
            <a:r>
              <a:rPr lang="en-US" dirty="0"/>
              <a:t>  Investment results in the acquisition of or addition to the end</a:t>
            </a:r>
          </a:p>
          <a:p>
            <a:pPr marL="852488" lvl="2" indent="0" eaLnBrk="1" hangingPunct="1">
              <a:buNone/>
            </a:pPr>
            <a:r>
              <a:rPr lang="en-US" dirty="0"/>
              <a:t>    items that are:</a:t>
            </a:r>
          </a:p>
          <a:p>
            <a:pPr eaLnBrk="1" hangingPunct="1"/>
            <a:endParaRPr lang="en-US" dirty="0"/>
          </a:p>
          <a:p>
            <a:pPr lvl="3" eaLnBrk="1" hangingPunct="1"/>
            <a:r>
              <a:rPr lang="en-US" dirty="0"/>
              <a:t>Long-life, capital-type items such as </a:t>
            </a:r>
          </a:p>
          <a:p>
            <a:pPr lvl="4" eaLnBrk="1" hangingPunct="1"/>
            <a:r>
              <a:rPr lang="en-US" dirty="0"/>
              <a:t>Equipment, buildings, weapon systems</a:t>
            </a:r>
          </a:p>
          <a:p>
            <a:pPr lvl="4" eaLnBrk="1" hangingPunct="1"/>
            <a:r>
              <a:rPr lang="en-US" dirty="0"/>
              <a:t>Support Equipment, and repairable spares</a:t>
            </a:r>
          </a:p>
          <a:p>
            <a:pPr eaLnBrk="1" hangingPunct="1">
              <a:buFont typeface="Wingdings" pitchFamily="2" charset="2"/>
              <a:buNone/>
            </a:pPr>
            <a:r>
              <a:rPr lang="en-US" dirty="0"/>
              <a:t>   </a:t>
            </a:r>
          </a:p>
          <a:p>
            <a:pPr eaLnBrk="1" hangingPunct="1"/>
            <a:endParaRPr lang="en-US" dirty="0"/>
          </a:p>
        </p:txBody>
      </p:sp>
      <p:sp>
        <p:nvSpPr>
          <p:cNvPr id="162820" name="Slide Number Placeholder 5"/>
          <p:cNvSpPr>
            <a:spLocks noGrp="1"/>
          </p:cNvSpPr>
          <p:nvPr>
            <p:ph type="sldNum" sz="quarter" idx="10"/>
          </p:nvPr>
        </p:nvSpPr>
        <p:spPr>
          <a:xfrm>
            <a:off x="7239000" y="6519863"/>
            <a:ext cx="1905000" cy="338137"/>
          </a:xfrm>
          <a:noFill/>
        </p:spPr>
        <p:txBody>
          <a:bodyPr/>
          <a:lstStyle/>
          <a:p>
            <a:fld id="{D0365427-6225-4D68-BAC8-4F0C1580E0C8}" type="slidenum">
              <a:rPr lang="en-US" smtClean="0"/>
              <a:pPr/>
              <a:t>138</a:t>
            </a:fld>
            <a:endParaRPr lang="en-US"/>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r>
              <a:rPr lang="en-US"/>
              <a:t>TCTO Planning and Funding</a:t>
            </a:r>
          </a:p>
        </p:txBody>
      </p:sp>
      <p:sp>
        <p:nvSpPr>
          <p:cNvPr id="163843"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Funding Types:</a:t>
            </a:r>
          </a:p>
          <a:p>
            <a:pPr marL="0" indent="0" eaLnBrk="1" hangingPunct="1">
              <a:buNone/>
            </a:pPr>
            <a:endParaRPr lang="en-US" dirty="0"/>
          </a:p>
          <a:p>
            <a:pPr lvl="1" eaLnBrk="1" hangingPunct="1"/>
            <a:r>
              <a:rPr lang="en-US" dirty="0"/>
              <a:t>General Information</a:t>
            </a:r>
          </a:p>
          <a:p>
            <a:pPr eaLnBrk="1" hangingPunct="1">
              <a:buFont typeface="Wingdings" pitchFamily="2" charset="2"/>
              <a:buNone/>
            </a:pPr>
            <a:r>
              <a:rPr lang="en-US" dirty="0"/>
              <a:t>   </a:t>
            </a:r>
          </a:p>
          <a:p>
            <a:pPr lvl="2" eaLnBrk="1" hangingPunct="1"/>
            <a:r>
              <a:rPr lang="en-US" dirty="0"/>
              <a:t>  Budget &amp; Fund modification </a:t>
            </a:r>
          </a:p>
          <a:p>
            <a:pPr eaLnBrk="1" hangingPunct="1"/>
            <a:endParaRPr lang="en-US" dirty="0"/>
          </a:p>
          <a:p>
            <a:pPr lvl="3" eaLnBrk="1" hangingPunct="1"/>
            <a:r>
              <a:rPr lang="en-US" dirty="0"/>
              <a:t>With proper appropriation </a:t>
            </a:r>
          </a:p>
          <a:p>
            <a:pPr lvl="3" eaLnBrk="1" hangingPunct="1"/>
            <a:r>
              <a:rPr lang="en-US" dirty="0"/>
              <a:t>And budget programs </a:t>
            </a:r>
          </a:p>
        </p:txBody>
      </p:sp>
      <p:sp>
        <p:nvSpPr>
          <p:cNvPr id="163844" name="Slide Number Placeholder 5"/>
          <p:cNvSpPr>
            <a:spLocks noGrp="1"/>
          </p:cNvSpPr>
          <p:nvPr>
            <p:ph type="sldNum" sz="quarter" idx="10"/>
          </p:nvPr>
        </p:nvSpPr>
        <p:spPr>
          <a:xfrm>
            <a:off x="7239000" y="6519863"/>
            <a:ext cx="1905000" cy="338137"/>
          </a:xfrm>
          <a:noFill/>
        </p:spPr>
        <p:txBody>
          <a:bodyPr/>
          <a:lstStyle/>
          <a:p>
            <a:fld id="{815B3F77-184C-4D60-8714-C515097A9526}" type="slidenum">
              <a:rPr lang="en-US" smtClean="0"/>
              <a:pPr/>
              <a:t>139</a:t>
            </a:fld>
            <a:endParaRPr lang="en-US"/>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r>
              <a:rPr lang="en-US"/>
              <a:t>TCTO Planning and Funding</a:t>
            </a:r>
          </a:p>
        </p:txBody>
      </p:sp>
      <p:sp>
        <p:nvSpPr>
          <p:cNvPr id="164867"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Funding Types:</a:t>
            </a:r>
          </a:p>
          <a:p>
            <a:pPr marL="0" indent="0" eaLnBrk="1" hangingPunct="1">
              <a:buNone/>
            </a:pPr>
            <a:endParaRPr lang="en-US" dirty="0"/>
          </a:p>
          <a:p>
            <a:pPr lvl="1" eaLnBrk="1" hangingPunct="1"/>
            <a:r>
              <a:rPr lang="en-US" dirty="0"/>
              <a:t>General Information</a:t>
            </a:r>
          </a:p>
          <a:p>
            <a:pPr lvl="2" eaLnBrk="1" hangingPunct="1"/>
            <a:r>
              <a:rPr lang="en-US" dirty="0"/>
              <a:t>  Budget &amp; Fund modification </a:t>
            </a:r>
          </a:p>
          <a:p>
            <a:pPr eaLnBrk="1" hangingPunct="1"/>
            <a:endParaRPr lang="en-US" dirty="0"/>
          </a:p>
          <a:p>
            <a:pPr lvl="3" eaLnBrk="1" hangingPunct="1"/>
            <a:r>
              <a:rPr lang="en-US" dirty="0"/>
              <a:t>Program Management Administration (PMA) costs for Modification Programs</a:t>
            </a:r>
          </a:p>
          <a:p>
            <a:pPr lvl="4" eaLnBrk="1" hangingPunct="1"/>
            <a:r>
              <a:rPr lang="en-US" dirty="0"/>
              <a:t>Funded from Central Procurement </a:t>
            </a:r>
          </a:p>
          <a:p>
            <a:pPr lvl="4" eaLnBrk="1" hangingPunct="1"/>
            <a:r>
              <a:rPr lang="en-US" dirty="0"/>
              <a:t>57*3010. 3020, 3080</a:t>
            </a:r>
          </a:p>
          <a:p>
            <a:pPr eaLnBrk="1" hangingPunct="1"/>
            <a:endParaRPr lang="en-US" dirty="0"/>
          </a:p>
          <a:p>
            <a:pPr eaLnBrk="1" hangingPunct="1"/>
            <a:endParaRPr lang="en-US" dirty="0"/>
          </a:p>
        </p:txBody>
      </p:sp>
      <p:sp>
        <p:nvSpPr>
          <p:cNvPr id="164868" name="Slide Number Placeholder 5"/>
          <p:cNvSpPr>
            <a:spLocks noGrp="1"/>
          </p:cNvSpPr>
          <p:nvPr>
            <p:ph type="sldNum" sz="quarter" idx="10"/>
          </p:nvPr>
        </p:nvSpPr>
        <p:spPr>
          <a:xfrm>
            <a:off x="7239000" y="6519863"/>
            <a:ext cx="1905000" cy="338137"/>
          </a:xfrm>
          <a:noFill/>
        </p:spPr>
        <p:txBody>
          <a:bodyPr/>
          <a:lstStyle/>
          <a:p>
            <a:fld id="{3F80CBB5-690E-4EF0-8F9E-E4DE1A9887E3}" type="slidenum">
              <a:rPr lang="en-US" smtClean="0"/>
              <a:pPr/>
              <a:t>140</a:t>
            </a:fld>
            <a:endParaRPr lang="en-US"/>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eaLnBrk="1" hangingPunct="1"/>
            <a:r>
              <a:rPr lang="en-US"/>
              <a:t>TCTO Planning and Funding</a:t>
            </a:r>
          </a:p>
        </p:txBody>
      </p:sp>
      <p:sp>
        <p:nvSpPr>
          <p:cNvPr id="165891"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Funding Types:</a:t>
            </a:r>
          </a:p>
          <a:p>
            <a:pPr marL="0" indent="0" eaLnBrk="1" hangingPunct="1">
              <a:buNone/>
            </a:pPr>
            <a:endParaRPr lang="en-US" dirty="0"/>
          </a:p>
          <a:p>
            <a:pPr lvl="1" eaLnBrk="1" hangingPunct="1"/>
            <a:r>
              <a:rPr lang="en-US" dirty="0"/>
              <a:t>General Information</a:t>
            </a:r>
          </a:p>
          <a:p>
            <a:pPr marL="447675" lvl="1" indent="0" eaLnBrk="1" hangingPunct="1">
              <a:buNone/>
            </a:pPr>
            <a:endParaRPr lang="en-US" dirty="0"/>
          </a:p>
          <a:p>
            <a:pPr lvl="2" eaLnBrk="1" hangingPunct="1"/>
            <a:r>
              <a:rPr lang="en-US" dirty="0"/>
              <a:t>  Budget &amp; Fund modification </a:t>
            </a:r>
          </a:p>
          <a:p>
            <a:pPr marL="852488" lvl="2" indent="0" eaLnBrk="1" hangingPunct="1">
              <a:buNone/>
            </a:pPr>
            <a:endParaRPr lang="en-US" dirty="0"/>
          </a:p>
          <a:p>
            <a:pPr lvl="3" eaLnBrk="1" hangingPunct="1"/>
            <a:r>
              <a:rPr lang="en-US" dirty="0"/>
              <a:t>PMA for common organizational costs will be funded with O&amp;M funds </a:t>
            </a:r>
          </a:p>
          <a:p>
            <a:pPr lvl="3" eaLnBrk="1" hangingPunct="1"/>
            <a:r>
              <a:rPr lang="en-US" dirty="0"/>
              <a:t>57*3400 </a:t>
            </a:r>
          </a:p>
        </p:txBody>
      </p:sp>
      <p:sp>
        <p:nvSpPr>
          <p:cNvPr id="165892" name="Slide Number Placeholder 5"/>
          <p:cNvSpPr>
            <a:spLocks noGrp="1"/>
          </p:cNvSpPr>
          <p:nvPr>
            <p:ph type="sldNum" sz="quarter" idx="10"/>
          </p:nvPr>
        </p:nvSpPr>
        <p:spPr>
          <a:xfrm>
            <a:off x="7239000" y="6519863"/>
            <a:ext cx="1905000" cy="338137"/>
          </a:xfrm>
          <a:noFill/>
        </p:spPr>
        <p:txBody>
          <a:bodyPr/>
          <a:lstStyle/>
          <a:p>
            <a:fld id="{3ECE5057-9541-419E-BF97-9F68AFA0A372}" type="slidenum">
              <a:rPr lang="en-US" smtClean="0"/>
              <a:pPr/>
              <a:t>141</a:t>
            </a:fld>
            <a:endParaRPr lang="en-US"/>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pPr eaLnBrk="1" hangingPunct="1"/>
            <a:r>
              <a:rPr lang="en-US"/>
              <a:t>TCTO Planning and Funding</a:t>
            </a:r>
          </a:p>
        </p:txBody>
      </p:sp>
      <p:sp>
        <p:nvSpPr>
          <p:cNvPr id="166915"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Funding Types:</a:t>
            </a:r>
          </a:p>
          <a:p>
            <a:pPr marL="0" indent="0" eaLnBrk="1" hangingPunct="1">
              <a:buNone/>
            </a:pPr>
            <a:endParaRPr lang="en-US" dirty="0"/>
          </a:p>
          <a:p>
            <a:pPr lvl="1" eaLnBrk="1" hangingPunct="1"/>
            <a:r>
              <a:rPr lang="en-US" dirty="0"/>
              <a:t>Modification Appropriations</a:t>
            </a:r>
          </a:p>
          <a:p>
            <a:pPr marL="447675" lvl="1" indent="0" eaLnBrk="1" hangingPunct="1">
              <a:buNone/>
            </a:pPr>
            <a:endParaRPr lang="en-US" dirty="0"/>
          </a:p>
          <a:p>
            <a:pPr lvl="2" eaLnBrk="1" hangingPunct="1"/>
            <a:r>
              <a:rPr lang="en-US" dirty="0"/>
              <a:t>  Organizations and Maintenance</a:t>
            </a:r>
          </a:p>
          <a:p>
            <a:pPr eaLnBrk="1" hangingPunct="1"/>
            <a:endParaRPr lang="en-US" dirty="0"/>
          </a:p>
          <a:p>
            <a:pPr lvl="3" eaLnBrk="1" hangingPunct="1"/>
            <a:r>
              <a:rPr lang="en-US" dirty="0"/>
              <a:t>Single year</a:t>
            </a:r>
          </a:p>
          <a:p>
            <a:pPr lvl="3" eaLnBrk="1" hangingPunct="1"/>
            <a:r>
              <a:rPr lang="en-US" dirty="0"/>
              <a:t>Expense type funds</a:t>
            </a:r>
          </a:p>
          <a:p>
            <a:pPr lvl="3" eaLnBrk="1" hangingPunct="1"/>
            <a:r>
              <a:rPr lang="en-US" dirty="0"/>
              <a:t>Pays for day-to-day operations   </a:t>
            </a:r>
          </a:p>
          <a:p>
            <a:pPr eaLnBrk="1" hangingPunct="1"/>
            <a:endParaRPr lang="en-US" dirty="0"/>
          </a:p>
        </p:txBody>
      </p:sp>
      <p:sp>
        <p:nvSpPr>
          <p:cNvPr id="166916" name="Slide Number Placeholder 5"/>
          <p:cNvSpPr>
            <a:spLocks noGrp="1"/>
          </p:cNvSpPr>
          <p:nvPr>
            <p:ph type="sldNum" sz="quarter" idx="10"/>
          </p:nvPr>
        </p:nvSpPr>
        <p:spPr>
          <a:xfrm>
            <a:off x="7239000" y="6519863"/>
            <a:ext cx="1905000" cy="338137"/>
          </a:xfrm>
          <a:noFill/>
        </p:spPr>
        <p:txBody>
          <a:bodyPr/>
          <a:lstStyle/>
          <a:p>
            <a:fld id="{B3ACFE8F-ED09-4398-875F-D0AD169ED1AB}" type="slidenum">
              <a:rPr lang="en-US" smtClean="0"/>
              <a:pPr/>
              <a:t>142</a:t>
            </a:fld>
            <a:endParaRPr lang="en-US"/>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pPr eaLnBrk="1" hangingPunct="1"/>
            <a:r>
              <a:rPr lang="en-US"/>
              <a:t>TCTO Planning and Funding</a:t>
            </a:r>
          </a:p>
        </p:txBody>
      </p:sp>
      <p:sp>
        <p:nvSpPr>
          <p:cNvPr id="167939"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Funding Types:</a:t>
            </a:r>
          </a:p>
          <a:p>
            <a:pPr marL="0" indent="0" eaLnBrk="1" hangingPunct="1">
              <a:buNone/>
            </a:pPr>
            <a:endParaRPr lang="en-US" dirty="0"/>
          </a:p>
          <a:p>
            <a:pPr lvl="1" eaLnBrk="1" hangingPunct="1"/>
            <a:r>
              <a:rPr lang="en-US" dirty="0"/>
              <a:t>Modification Appropriations</a:t>
            </a:r>
          </a:p>
          <a:p>
            <a:pPr marL="447675" lvl="1" indent="0" eaLnBrk="1" hangingPunct="1">
              <a:buNone/>
            </a:pPr>
            <a:endParaRPr lang="en-US" dirty="0"/>
          </a:p>
          <a:p>
            <a:pPr lvl="2" eaLnBrk="1" hangingPunct="1"/>
            <a:r>
              <a:rPr lang="en-US" dirty="0"/>
              <a:t>  Organizations and Maintenance </a:t>
            </a:r>
          </a:p>
          <a:p>
            <a:pPr eaLnBrk="1" hangingPunct="1">
              <a:buFont typeface="Wingdings" pitchFamily="2" charset="2"/>
              <a:buNone/>
            </a:pPr>
            <a:endParaRPr lang="en-US" dirty="0"/>
          </a:p>
          <a:p>
            <a:pPr lvl="3" eaLnBrk="1" hangingPunct="1"/>
            <a:r>
              <a:rPr lang="en-US" dirty="0"/>
              <a:t>Examples of O&amp;M funds with their standardized Elements of Expense Investment Code (EEIC)</a:t>
            </a:r>
          </a:p>
        </p:txBody>
      </p:sp>
      <p:sp>
        <p:nvSpPr>
          <p:cNvPr id="167940" name="Slide Number Placeholder 5"/>
          <p:cNvSpPr>
            <a:spLocks noGrp="1"/>
          </p:cNvSpPr>
          <p:nvPr>
            <p:ph type="sldNum" sz="quarter" idx="10"/>
          </p:nvPr>
        </p:nvSpPr>
        <p:spPr>
          <a:xfrm>
            <a:off x="7239000" y="6519863"/>
            <a:ext cx="1905000" cy="338137"/>
          </a:xfrm>
          <a:noFill/>
        </p:spPr>
        <p:txBody>
          <a:bodyPr/>
          <a:lstStyle/>
          <a:p>
            <a:fld id="{C42C7E48-5989-472E-8D66-B3F934F29808}" type="slidenum">
              <a:rPr lang="en-US" smtClean="0"/>
              <a:pPr/>
              <a:t>143</a:t>
            </a:fld>
            <a:endParaRPr lang="en-US"/>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r>
              <a:rPr lang="en-US"/>
              <a:t>TCTO Planning and Funding</a:t>
            </a:r>
          </a:p>
        </p:txBody>
      </p:sp>
      <p:sp>
        <p:nvSpPr>
          <p:cNvPr id="168963"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Modification Appropriations</a:t>
            </a:r>
          </a:p>
          <a:p>
            <a:pPr marL="0" indent="0" eaLnBrk="1" hangingPunct="1">
              <a:buNone/>
            </a:pPr>
            <a:endParaRPr lang="en-US" dirty="0"/>
          </a:p>
          <a:p>
            <a:pPr lvl="1" eaLnBrk="1" hangingPunct="1"/>
            <a:r>
              <a:rPr lang="en-US" dirty="0"/>
              <a:t>Central Procurement Funds</a:t>
            </a:r>
          </a:p>
          <a:p>
            <a:pPr lvl="2" eaLnBrk="1" hangingPunct="1"/>
            <a:r>
              <a:rPr lang="en-US" dirty="0"/>
              <a:t>  Multi-year funds</a:t>
            </a:r>
          </a:p>
          <a:p>
            <a:pPr lvl="2" eaLnBrk="1" hangingPunct="1"/>
            <a:r>
              <a:rPr lang="en-US" dirty="0"/>
              <a:t>  Investment funds</a:t>
            </a:r>
          </a:p>
          <a:p>
            <a:pPr lvl="2" eaLnBrk="1" hangingPunct="1"/>
            <a:r>
              <a:rPr lang="en-US" dirty="0"/>
              <a:t>  Used to buy</a:t>
            </a:r>
          </a:p>
          <a:p>
            <a:pPr lvl="3" eaLnBrk="1" hangingPunct="1"/>
            <a:r>
              <a:rPr lang="en-US" dirty="0"/>
              <a:t>Weapons systems</a:t>
            </a:r>
          </a:p>
          <a:p>
            <a:pPr lvl="3" eaLnBrk="1" hangingPunct="1"/>
            <a:r>
              <a:rPr lang="en-US" dirty="0"/>
              <a:t>Modifications</a:t>
            </a:r>
          </a:p>
          <a:p>
            <a:pPr lvl="3" eaLnBrk="1" hangingPunct="1"/>
            <a:r>
              <a:rPr lang="en-US" dirty="0"/>
              <a:t>Initial &amp; some replenishment spares</a:t>
            </a:r>
          </a:p>
          <a:p>
            <a:pPr eaLnBrk="1" hangingPunct="1"/>
            <a:endParaRPr lang="en-US" dirty="0"/>
          </a:p>
        </p:txBody>
      </p:sp>
      <p:sp>
        <p:nvSpPr>
          <p:cNvPr id="168964" name="Slide Number Placeholder 5"/>
          <p:cNvSpPr>
            <a:spLocks noGrp="1"/>
          </p:cNvSpPr>
          <p:nvPr>
            <p:ph type="sldNum" sz="quarter" idx="10"/>
          </p:nvPr>
        </p:nvSpPr>
        <p:spPr>
          <a:xfrm>
            <a:off x="7239000" y="6519863"/>
            <a:ext cx="1905000" cy="338137"/>
          </a:xfrm>
          <a:noFill/>
        </p:spPr>
        <p:txBody>
          <a:bodyPr/>
          <a:lstStyle/>
          <a:p>
            <a:fld id="{B9E09172-56A7-4536-B24E-8485D3D3C9C9}" type="slidenum">
              <a:rPr lang="en-US" smtClean="0"/>
              <a:pPr/>
              <a:t>144</a:t>
            </a:fld>
            <a:endParaRPr lang="en-US"/>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pPr eaLnBrk="1" hangingPunct="1"/>
            <a:r>
              <a:rPr lang="en-US"/>
              <a:t>TCTO Planning and Funding</a:t>
            </a:r>
          </a:p>
        </p:txBody>
      </p:sp>
      <p:sp>
        <p:nvSpPr>
          <p:cNvPr id="169987"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Modification Appropriations</a:t>
            </a:r>
          </a:p>
          <a:p>
            <a:pPr marL="0" indent="0" eaLnBrk="1" hangingPunct="1">
              <a:buNone/>
            </a:pPr>
            <a:endParaRPr lang="en-US" dirty="0"/>
          </a:p>
          <a:p>
            <a:pPr lvl="1" eaLnBrk="1" hangingPunct="1"/>
            <a:r>
              <a:rPr lang="en-US" dirty="0"/>
              <a:t>Central Procurement Funds</a:t>
            </a:r>
          </a:p>
          <a:p>
            <a:pPr eaLnBrk="1" hangingPunct="1"/>
            <a:endParaRPr lang="en-US" dirty="0"/>
          </a:p>
          <a:p>
            <a:pPr lvl="2" eaLnBrk="1" hangingPunct="1"/>
            <a:r>
              <a:rPr lang="en-US" dirty="0"/>
              <a:t>  Five appropriations</a:t>
            </a:r>
          </a:p>
          <a:p>
            <a:pPr lvl="2" eaLnBrk="1" hangingPunct="1"/>
            <a:r>
              <a:rPr lang="en-US" dirty="0"/>
              <a:t>  3010  Aircraft Weapons systems</a:t>
            </a:r>
          </a:p>
          <a:p>
            <a:pPr lvl="2" eaLnBrk="1" hangingPunct="1"/>
            <a:r>
              <a:rPr lang="en-US" dirty="0"/>
              <a:t>  Budge Programs (BP10) Acquisitions</a:t>
            </a:r>
          </a:p>
          <a:p>
            <a:pPr lvl="3" eaLnBrk="1" hangingPunct="1"/>
            <a:r>
              <a:rPr lang="en-US" dirty="0"/>
              <a:t>Procuring a complete Aircraft</a:t>
            </a:r>
          </a:p>
          <a:p>
            <a:pPr eaLnBrk="1" hangingPunct="1"/>
            <a:endParaRPr lang="en-US" dirty="0"/>
          </a:p>
        </p:txBody>
      </p:sp>
      <p:sp>
        <p:nvSpPr>
          <p:cNvPr id="169988" name="Slide Number Placeholder 5"/>
          <p:cNvSpPr>
            <a:spLocks noGrp="1"/>
          </p:cNvSpPr>
          <p:nvPr>
            <p:ph type="sldNum" sz="quarter" idx="10"/>
          </p:nvPr>
        </p:nvSpPr>
        <p:spPr>
          <a:xfrm>
            <a:off x="7239000" y="6519863"/>
            <a:ext cx="1905000" cy="338137"/>
          </a:xfrm>
          <a:noFill/>
        </p:spPr>
        <p:txBody>
          <a:bodyPr/>
          <a:lstStyle/>
          <a:p>
            <a:fld id="{1AFF21B7-34B8-4D59-96FD-4478FAC3EC14}" type="slidenum">
              <a:rPr lang="en-US" smtClean="0"/>
              <a:pPr/>
              <a:t>145</a:t>
            </a:fld>
            <a:endParaRPr lang="en-US"/>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r>
              <a:rPr lang="en-US"/>
              <a:t>TCTO Planning and Funding</a:t>
            </a:r>
          </a:p>
        </p:txBody>
      </p:sp>
      <p:sp>
        <p:nvSpPr>
          <p:cNvPr id="171011"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Modification Appropriations</a:t>
            </a:r>
          </a:p>
          <a:p>
            <a:pPr marL="0" indent="0" eaLnBrk="1" hangingPunct="1">
              <a:buNone/>
            </a:pPr>
            <a:endParaRPr lang="en-US" dirty="0"/>
          </a:p>
          <a:p>
            <a:pPr lvl="1" eaLnBrk="1" hangingPunct="1"/>
            <a:r>
              <a:rPr lang="en-US" dirty="0"/>
              <a:t>Central Procurement Funds</a:t>
            </a:r>
          </a:p>
          <a:p>
            <a:pPr eaLnBrk="1" hangingPunct="1"/>
            <a:endParaRPr lang="en-US" dirty="0"/>
          </a:p>
          <a:p>
            <a:pPr lvl="2" eaLnBrk="1" hangingPunct="1"/>
            <a:r>
              <a:rPr lang="en-US" dirty="0"/>
              <a:t>  BP 11 Aircraft Modifications </a:t>
            </a:r>
          </a:p>
          <a:p>
            <a:pPr lvl="3" eaLnBrk="1" hangingPunct="1"/>
            <a:r>
              <a:rPr lang="en-US" dirty="0"/>
              <a:t>Group A &amp; B kits</a:t>
            </a:r>
          </a:p>
          <a:p>
            <a:pPr lvl="3" eaLnBrk="1" hangingPunct="1"/>
            <a:r>
              <a:rPr lang="en-US" dirty="0"/>
              <a:t>Trial Installation (prototype)</a:t>
            </a:r>
          </a:p>
          <a:p>
            <a:pPr lvl="3" eaLnBrk="1" hangingPunct="1"/>
            <a:r>
              <a:rPr lang="en-US" dirty="0"/>
              <a:t>Verification (Kit Proof)</a:t>
            </a:r>
          </a:p>
          <a:p>
            <a:pPr lvl="3" eaLnBrk="1" hangingPunct="1"/>
            <a:r>
              <a:rPr lang="en-US" dirty="0"/>
              <a:t>ILS elements</a:t>
            </a:r>
          </a:p>
          <a:p>
            <a:pPr eaLnBrk="1" hangingPunct="1"/>
            <a:endParaRPr lang="en-US" dirty="0"/>
          </a:p>
        </p:txBody>
      </p:sp>
      <p:sp>
        <p:nvSpPr>
          <p:cNvPr id="171012" name="Slide Number Placeholder 5"/>
          <p:cNvSpPr>
            <a:spLocks noGrp="1"/>
          </p:cNvSpPr>
          <p:nvPr>
            <p:ph type="sldNum" sz="quarter" idx="10"/>
          </p:nvPr>
        </p:nvSpPr>
        <p:spPr>
          <a:xfrm>
            <a:off x="7239000" y="6519863"/>
            <a:ext cx="1905000" cy="338137"/>
          </a:xfrm>
          <a:noFill/>
        </p:spPr>
        <p:txBody>
          <a:bodyPr/>
          <a:lstStyle/>
          <a:p>
            <a:fld id="{B11237E2-89A1-49D4-8ADB-77DCD0F0104D}" type="slidenum">
              <a:rPr lang="en-US" smtClean="0"/>
              <a:pPr/>
              <a:t>146</a:t>
            </a:fld>
            <a:endParaRPr lang="en-US"/>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r>
              <a:rPr lang="en-US"/>
              <a:t>TCTO Planning and Funding</a:t>
            </a:r>
          </a:p>
        </p:txBody>
      </p:sp>
      <p:sp>
        <p:nvSpPr>
          <p:cNvPr id="172035"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Modification Appropriations</a:t>
            </a:r>
          </a:p>
          <a:p>
            <a:pPr marL="0" indent="0" eaLnBrk="1" hangingPunct="1">
              <a:buNone/>
            </a:pPr>
            <a:endParaRPr lang="en-US" dirty="0"/>
          </a:p>
          <a:p>
            <a:pPr lvl="1" eaLnBrk="1" hangingPunct="1"/>
            <a:r>
              <a:rPr lang="en-US" dirty="0"/>
              <a:t>Central Procurement Funds</a:t>
            </a:r>
          </a:p>
          <a:p>
            <a:pPr eaLnBrk="1" hangingPunct="1"/>
            <a:endParaRPr lang="en-US" dirty="0"/>
          </a:p>
          <a:p>
            <a:pPr lvl="2" eaLnBrk="1" hangingPunct="1"/>
            <a:r>
              <a:rPr lang="en-US" dirty="0"/>
              <a:t>  3011  Procurement of Ammunition</a:t>
            </a:r>
          </a:p>
          <a:p>
            <a:pPr lvl="2" eaLnBrk="1" hangingPunct="1"/>
            <a:r>
              <a:rPr lang="en-US" dirty="0"/>
              <a:t>  3020  Weapons/Missile Procurement</a:t>
            </a:r>
          </a:p>
          <a:p>
            <a:pPr lvl="2" eaLnBrk="1" hangingPunct="1"/>
            <a:r>
              <a:rPr lang="en-US" dirty="0"/>
              <a:t>  3080  Other Procurement</a:t>
            </a:r>
          </a:p>
          <a:p>
            <a:pPr lvl="2" eaLnBrk="1" hangingPunct="1"/>
            <a:r>
              <a:rPr lang="en-US" dirty="0"/>
              <a:t>  3600  Research, Development, Test &amp; Evaluation (RDT&amp;E)</a:t>
            </a:r>
          </a:p>
          <a:p>
            <a:pPr eaLnBrk="1" hangingPunct="1"/>
            <a:endParaRPr lang="en-US" dirty="0"/>
          </a:p>
        </p:txBody>
      </p:sp>
      <p:sp>
        <p:nvSpPr>
          <p:cNvPr id="172036" name="Slide Number Placeholder 5"/>
          <p:cNvSpPr>
            <a:spLocks noGrp="1"/>
          </p:cNvSpPr>
          <p:nvPr>
            <p:ph type="sldNum" sz="quarter" idx="10"/>
          </p:nvPr>
        </p:nvSpPr>
        <p:spPr>
          <a:xfrm>
            <a:off x="7239000" y="6519863"/>
            <a:ext cx="1905000" cy="338137"/>
          </a:xfrm>
          <a:noFill/>
        </p:spPr>
        <p:txBody>
          <a:bodyPr/>
          <a:lstStyle/>
          <a:p>
            <a:fld id="{C04250AB-9D33-4EA6-875F-46E5746C0117}" type="slidenum">
              <a:rPr lang="en-US" smtClean="0"/>
              <a:pPr/>
              <a:t>147</a:t>
            </a:fld>
            <a:endParaRPr lang="en-US"/>
          </a:p>
        </p:txBody>
      </p:sp>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eaLnBrk="1" hangingPunct="1"/>
            <a:r>
              <a:rPr lang="en-US"/>
              <a:t>TCTO Planning and Funding</a:t>
            </a:r>
          </a:p>
        </p:txBody>
      </p:sp>
      <p:sp>
        <p:nvSpPr>
          <p:cNvPr id="173059" name="Rectangle 3"/>
          <p:cNvSpPr>
            <a:spLocks noGrp="1" noChangeArrowheads="1"/>
          </p:cNvSpPr>
          <p:nvPr>
            <p:ph idx="1"/>
          </p:nvPr>
        </p:nvSpPr>
        <p:spPr/>
        <p:txBody>
          <a:bodyPr/>
          <a:lstStyle/>
          <a:p>
            <a:pPr eaLnBrk="1" hangingPunct="1"/>
            <a:r>
              <a:rPr lang="en-US" dirty="0"/>
              <a:t>Modification Program Funding</a:t>
            </a:r>
          </a:p>
          <a:p>
            <a:pPr eaLnBrk="1" hangingPunct="1"/>
            <a:endParaRPr lang="en-US" dirty="0"/>
          </a:p>
          <a:p>
            <a:pPr eaLnBrk="1" hangingPunct="1"/>
            <a:r>
              <a:rPr lang="en-US" dirty="0"/>
              <a:t>Modification Appropriations</a:t>
            </a:r>
          </a:p>
          <a:p>
            <a:pPr marL="0" indent="0" eaLnBrk="1" hangingPunct="1">
              <a:buNone/>
            </a:pPr>
            <a:endParaRPr lang="en-US" dirty="0"/>
          </a:p>
          <a:p>
            <a:pPr lvl="1" eaLnBrk="1" hangingPunct="1"/>
            <a:r>
              <a:rPr lang="en-US" dirty="0"/>
              <a:t>Defense Working Capital</a:t>
            </a:r>
          </a:p>
          <a:p>
            <a:pPr eaLnBrk="1" hangingPunct="1"/>
            <a:endParaRPr lang="en-US" dirty="0"/>
          </a:p>
          <a:p>
            <a:pPr lvl="2" eaLnBrk="1" hangingPunct="1"/>
            <a:r>
              <a:rPr lang="en-US" dirty="0"/>
              <a:t>No-year working capital fund or Revolving account used to fund:</a:t>
            </a:r>
          </a:p>
          <a:p>
            <a:pPr lvl="3" eaLnBrk="1" hangingPunct="1"/>
            <a:r>
              <a:rPr lang="en-US" dirty="0"/>
              <a:t>Air Force Stock Fund (SMAG)</a:t>
            </a:r>
          </a:p>
          <a:p>
            <a:pPr lvl="3" eaLnBrk="1" hangingPunct="1"/>
            <a:r>
              <a:rPr lang="en-US" dirty="0"/>
              <a:t>ALC use the funds to finance operations on a business-like basis</a:t>
            </a:r>
          </a:p>
          <a:p>
            <a:pPr eaLnBrk="1" hangingPunct="1"/>
            <a:endParaRPr lang="en-US" dirty="0"/>
          </a:p>
          <a:p>
            <a:pPr eaLnBrk="1" hangingPunct="1"/>
            <a:endParaRPr lang="en-US" dirty="0"/>
          </a:p>
        </p:txBody>
      </p:sp>
      <p:sp>
        <p:nvSpPr>
          <p:cNvPr id="173060" name="Slide Number Placeholder 5"/>
          <p:cNvSpPr>
            <a:spLocks noGrp="1"/>
          </p:cNvSpPr>
          <p:nvPr>
            <p:ph type="sldNum" sz="quarter" idx="10"/>
          </p:nvPr>
        </p:nvSpPr>
        <p:spPr>
          <a:xfrm>
            <a:off x="7239000" y="6519863"/>
            <a:ext cx="1905000" cy="338137"/>
          </a:xfrm>
          <a:noFill/>
        </p:spPr>
        <p:txBody>
          <a:bodyPr/>
          <a:lstStyle/>
          <a:p>
            <a:fld id="{9B72947F-6063-4BCA-9B68-E1029F8E2FC5}" type="slidenum">
              <a:rPr lang="en-US" smtClean="0"/>
              <a:pPr/>
              <a:t>148</a:t>
            </a:fld>
            <a:endParaRPr lang="en-US"/>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itle 1"/>
          <p:cNvSpPr>
            <a:spLocks noGrp="1"/>
          </p:cNvSpPr>
          <p:nvPr>
            <p:ph type="title"/>
          </p:nvPr>
        </p:nvSpPr>
        <p:spPr/>
        <p:txBody>
          <a:bodyPr/>
          <a:lstStyle/>
          <a:p>
            <a:r>
              <a:rPr lang="en-US"/>
              <a:t>TCTO Planning and Funding</a:t>
            </a:r>
          </a:p>
        </p:txBody>
      </p:sp>
      <p:sp>
        <p:nvSpPr>
          <p:cNvPr id="174083" name="Content Placeholder 2"/>
          <p:cNvSpPr>
            <a:spLocks noGrp="1"/>
          </p:cNvSpPr>
          <p:nvPr>
            <p:ph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Objective:  Define the Configuration Control Board (CCB)</a:t>
            </a:r>
          </a:p>
          <a:p>
            <a:pPr>
              <a:buFont typeface="Wingdings" pitchFamily="2" charset="2"/>
              <a:buNone/>
            </a:pPr>
            <a:endParaRPr lang="en-US" dirty="0"/>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r>
              <a:rPr lang="en-US"/>
              <a:t>TCTO Planning and Funding</a:t>
            </a:r>
          </a:p>
        </p:txBody>
      </p:sp>
      <p:sp>
        <p:nvSpPr>
          <p:cNvPr id="175107" name="Rectangle 3"/>
          <p:cNvSpPr>
            <a:spLocks noGrp="1" noChangeArrowheads="1"/>
          </p:cNvSpPr>
          <p:nvPr>
            <p:ph idx="1"/>
          </p:nvPr>
        </p:nvSpPr>
        <p:spPr/>
        <p:txBody>
          <a:bodyPr/>
          <a:lstStyle/>
          <a:p>
            <a:pPr eaLnBrk="1" hangingPunct="1"/>
            <a:r>
              <a:rPr lang="en-US" dirty="0"/>
              <a:t>Configuration Control Board (CCB)</a:t>
            </a:r>
          </a:p>
          <a:p>
            <a:pPr eaLnBrk="1" hangingPunct="1"/>
            <a:endParaRPr lang="en-US" dirty="0"/>
          </a:p>
          <a:p>
            <a:pPr lvl="1" eaLnBrk="1" hangingPunct="1"/>
            <a:r>
              <a:rPr lang="en-US" dirty="0"/>
              <a:t>A board composed of representatives from program or project functional areas such as:</a:t>
            </a:r>
          </a:p>
          <a:p>
            <a:pPr lvl="2" eaLnBrk="1" hangingPunct="1"/>
            <a:r>
              <a:rPr lang="en-US" dirty="0"/>
              <a:t>  Engineering, configuration management, procurement,</a:t>
            </a:r>
          </a:p>
          <a:p>
            <a:pPr marL="852488" lvl="2" indent="0" eaLnBrk="1" hangingPunct="1">
              <a:buNone/>
            </a:pPr>
            <a:r>
              <a:rPr lang="en-US" dirty="0"/>
              <a:t>    production, test, logistic support, training activities and using and</a:t>
            </a:r>
          </a:p>
          <a:p>
            <a:pPr marL="852488" lvl="2" indent="0" eaLnBrk="1" hangingPunct="1">
              <a:buNone/>
            </a:pPr>
            <a:r>
              <a:rPr lang="en-US" dirty="0"/>
              <a:t>    supporting organizations 					</a:t>
            </a:r>
          </a:p>
          <a:p>
            <a:pPr lvl="1" eaLnBrk="1" hangingPunct="1"/>
            <a:r>
              <a:rPr lang="en-US" dirty="0"/>
              <a:t>The board approves or disapproves engineering change proposals (ECPs), approves conversion of ECPs to TCTOs if applicable, and issues implementation instructions		</a:t>
            </a:r>
          </a:p>
          <a:p>
            <a:pPr marL="447675" lvl="1" indent="0" eaLnBrk="1" hangingPunct="1">
              <a:buNone/>
            </a:pPr>
            <a:endParaRPr lang="en-US" dirty="0"/>
          </a:p>
          <a:p>
            <a:pPr eaLnBrk="1" hangingPunct="1">
              <a:buFont typeface="Wingdings" pitchFamily="2" charset="2"/>
              <a:buNone/>
            </a:pPr>
            <a:endParaRPr lang="en-US" dirty="0"/>
          </a:p>
        </p:txBody>
      </p:sp>
      <p:sp>
        <p:nvSpPr>
          <p:cNvPr id="175108" name="Slide Number Placeholder 5"/>
          <p:cNvSpPr>
            <a:spLocks noGrp="1"/>
          </p:cNvSpPr>
          <p:nvPr>
            <p:ph type="sldNum" sz="quarter" idx="10"/>
          </p:nvPr>
        </p:nvSpPr>
        <p:spPr>
          <a:xfrm>
            <a:off x="7239000" y="6519863"/>
            <a:ext cx="1905000" cy="338137"/>
          </a:xfrm>
          <a:noFill/>
        </p:spPr>
        <p:txBody>
          <a:bodyPr/>
          <a:lstStyle/>
          <a:p>
            <a:fld id="{9C7E9ED1-D913-45C6-92BE-7E7C4470F2F4}" type="slidenum">
              <a:rPr lang="en-US" smtClean="0"/>
              <a:pPr/>
              <a:t>150</a:t>
            </a:fld>
            <a:endParaRPr lang="en-US"/>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5"/>
          <p:cNvSpPr>
            <a:spLocks noGrp="1" noChangeArrowheads="1"/>
          </p:cNvSpPr>
          <p:nvPr>
            <p:ph type="title"/>
          </p:nvPr>
        </p:nvSpPr>
        <p:spPr/>
        <p:txBody>
          <a:bodyPr/>
          <a:lstStyle/>
          <a:p>
            <a:pPr eaLnBrk="1" hangingPunct="1"/>
            <a:r>
              <a:rPr lang="en-US"/>
              <a:t>TCTO Planning and Funding</a:t>
            </a:r>
          </a:p>
        </p:txBody>
      </p:sp>
      <p:sp>
        <p:nvSpPr>
          <p:cNvPr id="176131" name="Rectangle 3"/>
          <p:cNvSpPr>
            <a:spLocks noGrp="1" noChangeArrowheads="1"/>
          </p:cNvSpPr>
          <p:nvPr>
            <p:ph idx="1"/>
          </p:nvPr>
        </p:nvSpPr>
        <p:spPr/>
        <p:txBody>
          <a:bodyPr/>
          <a:lstStyle/>
          <a:p>
            <a:pPr eaLnBrk="1" hangingPunct="1"/>
            <a:r>
              <a:rPr lang="en-US"/>
              <a:t>CHAPTER 2 SUMMARY</a:t>
            </a:r>
          </a:p>
          <a:p>
            <a:pPr eaLnBrk="1" hangingPunct="1"/>
            <a:endParaRPr lang="en-US"/>
          </a:p>
          <a:p>
            <a:pPr eaLnBrk="1" hangingPunct="1"/>
            <a:r>
              <a:rPr lang="en-US"/>
              <a:t>Identify modification program funding types and procedures</a:t>
            </a:r>
          </a:p>
          <a:p>
            <a:pPr eaLnBrk="1" hangingPunct="1"/>
            <a:r>
              <a:rPr lang="en-US"/>
              <a:t>Define the Configuration Control Board (CCB)</a:t>
            </a:r>
          </a:p>
          <a:p>
            <a:pPr eaLnBrk="1" hangingPunct="1"/>
            <a:endParaRPr lang="en-US"/>
          </a:p>
          <a:p>
            <a:pPr eaLnBrk="1" hangingPunct="1"/>
            <a:endParaRPr lang="en-US"/>
          </a:p>
          <a:p>
            <a:pPr eaLnBrk="1" hangingPunct="1"/>
            <a:r>
              <a:rPr lang="en-US"/>
              <a:t>QUESTIONS?</a:t>
            </a:r>
          </a:p>
        </p:txBody>
      </p:sp>
      <p:sp>
        <p:nvSpPr>
          <p:cNvPr id="176132" name="Slide Number Placeholder 5"/>
          <p:cNvSpPr>
            <a:spLocks noGrp="1"/>
          </p:cNvSpPr>
          <p:nvPr>
            <p:ph type="sldNum" sz="quarter" idx="10"/>
          </p:nvPr>
        </p:nvSpPr>
        <p:spPr>
          <a:xfrm>
            <a:off x="7239000" y="6519863"/>
            <a:ext cx="1905000" cy="338137"/>
          </a:xfrm>
          <a:noFill/>
        </p:spPr>
        <p:txBody>
          <a:bodyPr/>
          <a:lstStyle/>
          <a:p>
            <a:fld id="{766A5FB2-E60D-4F97-8CFD-2A29C764F4C6}" type="slidenum">
              <a:rPr lang="en-US" smtClean="0"/>
              <a:pPr/>
              <a:t>151</a:t>
            </a:fld>
            <a:endParaRPr lang="en-US"/>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en-US"/>
              <a:t>Chapter 3</a:t>
            </a:r>
          </a:p>
        </p:txBody>
      </p:sp>
      <p:sp>
        <p:nvSpPr>
          <p:cNvPr id="177155" name="Rectangle 3"/>
          <p:cNvSpPr>
            <a:spLocks noGrp="1" noChangeArrowheads="1"/>
          </p:cNvSpPr>
          <p:nvPr>
            <p:ph idx="1"/>
          </p:nvPr>
        </p:nvSpPr>
        <p:spPr>
          <a:xfrm>
            <a:off x="838200" y="1524000"/>
            <a:ext cx="7772400" cy="4114800"/>
          </a:xfrm>
        </p:spPr>
        <p:txBody>
          <a:bodyPr/>
          <a:lstStyle/>
          <a:p>
            <a:pPr eaLnBrk="1" hangingPunct="1">
              <a:buFontTx/>
              <a:buNone/>
            </a:pPr>
            <a:endParaRPr lang="en-US" b="1"/>
          </a:p>
          <a:p>
            <a:pPr eaLnBrk="1" hangingPunct="1">
              <a:buFontTx/>
              <a:buNone/>
            </a:pPr>
            <a:endParaRPr lang="en-US" b="1"/>
          </a:p>
          <a:p>
            <a:pPr algn="ctr" eaLnBrk="1" hangingPunct="1">
              <a:buFontTx/>
              <a:buNone/>
            </a:pPr>
            <a:r>
              <a:rPr lang="en-US" sz="4400" b="1"/>
              <a:t>TCTO Types, Verification,</a:t>
            </a:r>
          </a:p>
          <a:p>
            <a:pPr algn="ctr" eaLnBrk="1" hangingPunct="1">
              <a:buFontTx/>
              <a:buNone/>
            </a:pPr>
            <a:r>
              <a:rPr lang="en-US" sz="4400" b="1"/>
              <a:t>Completion, and Rescission</a:t>
            </a:r>
          </a:p>
        </p:txBody>
      </p:sp>
      <p:sp>
        <p:nvSpPr>
          <p:cNvPr id="177156" name="Slide Number Placeholder 5"/>
          <p:cNvSpPr>
            <a:spLocks noGrp="1"/>
          </p:cNvSpPr>
          <p:nvPr>
            <p:ph type="sldNum" sz="quarter" idx="10"/>
          </p:nvPr>
        </p:nvSpPr>
        <p:spPr>
          <a:noFill/>
        </p:spPr>
        <p:txBody>
          <a:bodyPr/>
          <a:lstStyle/>
          <a:p>
            <a:fld id="{EA834A47-974D-48E4-9920-AB6DC23AAC26}" type="slidenum">
              <a:rPr lang="en-US" smtClean="0"/>
              <a:pPr/>
              <a:t>152</a:t>
            </a:fld>
            <a:endParaRPr lang="en-US"/>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en-US"/>
              <a:t>TCTO Types, Verification, Completion, and Rescission</a:t>
            </a:r>
          </a:p>
        </p:txBody>
      </p:sp>
      <p:sp>
        <p:nvSpPr>
          <p:cNvPr id="178179" name="Rectangle 3"/>
          <p:cNvSpPr>
            <a:spLocks noGrp="1" noChangeArrowheads="1"/>
          </p:cNvSpPr>
          <p:nvPr>
            <p:ph idx="1"/>
          </p:nvPr>
        </p:nvSpPr>
        <p:spPr/>
        <p:txBody>
          <a:bodyPr/>
          <a:lstStyle/>
          <a:p>
            <a:r>
              <a:rPr lang="en-US"/>
              <a:t>CHAPTER 3 OBJECTIVES</a:t>
            </a:r>
          </a:p>
          <a:p>
            <a:endParaRPr lang="en-US"/>
          </a:p>
          <a:p>
            <a:r>
              <a:rPr lang="en-US"/>
              <a:t>Identify the policy and procedures for temporary modifications</a:t>
            </a:r>
          </a:p>
          <a:p>
            <a:r>
              <a:rPr lang="en-US"/>
              <a:t>Define the category, type, and levels of permanent modifications</a:t>
            </a:r>
          </a:p>
          <a:p>
            <a:r>
              <a:rPr lang="en-US"/>
              <a:t>Determine the TCTO designated level of accomplishment </a:t>
            </a:r>
          </a:p>
          <a:p>
            <a:r>
              <a:rPr lang="en-US"/>
              <a:t>Identify TCTO validity requirements</a:t>
            </a:r>
          </a:p>
          <a:p>
            <a:endParaRPr lang="en-US"/>
          </a:p>
        </p:txBody>
      </p:sp>
      <p:sp>
        <p:nvSpPr>
          <p:cNvPr id="178180" name="Slide Number Placeholder 5"/>
          <p:cNvSpPr>
            <a:spLocks noGrp="1"/>
          </p:cNvSpPr>
          <p:nvPr>
            <p:ph type="sldNum" sz="quarter" idx="10"/>
          </p:nvPr>
        </p:nvSpPr>
        <p:spPr>
          <a:xfrm>
            <a:off x="7239000" y="6519863"/>
            <a:ext cx="1905000" cy="338137"/>
          </a:xfrm>
          <a:noFill/>
        </p:spPr>
        <p:txBody>
          <a:bodyPr/>
          <a:lstStyle/>
          <a:p>
            <a:fld id="{0E01CEA0-3F8A-4AA0-9D4A-79B7CD57A1FB}" type="slidenum">
              <a:rPr lang="en-US" smtClean="0"/>
              <a:pPr/>
              <a:t>153</a:t>
            </a:fld>
            <a:endParaRPr lang="en-US"/>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r>
              <a:rPr lang="en-US"/>
              <a:t>TCTO Types, Verification, Completion, and Rescission</a:t>
            </a:r>
          </a:p>
        </p:txBody>
      </p:sp>
      <p:sp>
        <p:nvSpPr>
          <p:cNvPr id="179203" name="Rectangle 3"/>
          <p:cNvSpPr>
            <a:spLocks noGrp="1" noChangeArrowheads="1"/>
          </p:cNvSpPr>
          <p:nvPr>
            <p:ph idx="1"/>
          </p:nvPr>
        </p:nvSpPr>
        <p:spPr/>
        <p:txBody>
          <a:bodyPr/>
          <a:lstStyle/>
          <a:p>
            <a:r>
              <a:rPr lang="en-US" dirty="0"/>
              <a:t>CHAPTER 3 OBJECTIVES </a:t>
            </a:r>
          </a:p>
          <a:p>
            <a:endParaRPr lang="en-US" dirty="0"/>
          </a:p>
          <a:p>
            <a:r>
              <a:rPr lang="en-US" dirty="0"/>
              <a:t>Define the forms that comprise the TCTO package and their purpose</a:t>
            </a:r>
          </a:p>
          <a:p>
            <a:r>
              <a:rPr lang="en-US" dirty="0"/>
              <a:t>Identify the procedures for completing a TCTO</a:t>
            </a:r>
          </a:p>
          <a:p>
            <a:r>
              <a:rPr lang="en-US" dirty="0"/>
              <a:t>Identify the procedures for rescinding a TCTO</a:t>
            </a:r>
          </a:p>
          <a:p>
            <a:r>
              <a:rPr lang="en-US" dirty="0"/>
              <a:t>Identify the procedures for replacing a TCTO</a:t>
            </a:r>
          </a:p>
          <a:p>
            <a:r>
              <a:rPr lang="en-US" dirty="0"/>
              <a:t>End of Chapter questions</a:t>
            </a:r>
          </a:p>
        </p:txBody>
      </p:sp>
      <p:sp>
        <p:nvSpPr>
          <p:cNvPr id="179204" name="Slide Number Placeholder 5"/>
          <p:cNvSpPr>
            <a:spLocks noGrp="1"/>
          </p:cNvSpPr>
          <p:nvPr>
            <p:ph type="sldNum" sz="quarter" idx="10"/>
          </p:nvPr>
        </p:nvSpPr>
        <p:spPr>
          <a:xfrm>
            <a:off x="7239000" y="6519863"/>
            <a:ext cx="1905000" cy="338137"/>
          </a:xfrm>
          <a:noFill/>
        </p:spPr>
        <p:txBody>
          <a:bodyPr/>
          <a:lstStyle/>
          <a:p>
            <a:fld id="{BEB8FCDD-45C8-4F71-B28C-3708AE734349}" type="slidenum">
              <a:rPr lang="en-US" smtClean="0"/>
              <a:pPr/>
              <a:t>154</a:t>
            </a:fld>
            <a:endParaRPr lang="en-US"/>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a:t>TCTO Types, Verification, Completion, and Rescission</a:t>
            </a:r>
          </a:p>
        </p:txBody>
      </p:sp>
      <p:sp>
        <p:nvSpPr>
          <p:cNvPr id="180227" name="Rectangle 4"/>
          <p:cNvSpPr>
            <a:spLocks noGrp="1" noChangeArrowheads="1"/>
          </p:cNvSpPr>
          <p:nvPr>
            <p:ph idx="1"/>
          </p:nvPr>
        </p:nvSpPr>
        <p:spPr/>
        <p:txBody>
          <a:bodyPr/>
          <a:lstStyle/>
          <a:p>
            <a:endParaRPr lang="en-US" dirty="0"/>
          </a:p>
          <a:p>
            <a:endParaRPr lang="en-US" dirty="0"/>
          </a:p>
          <a:p>
            <a:endParaRPr lang="en-US" dirty="0"/>
          </a:p>
          <a:p>
            <a:endParaRPr lang="en-US" dirty="0"/>
          </a:p>
          <a:p>
            <a:r>
              <a:rPr lang="en-US" dirty="0"/>
              <a:t>Objective: Identify the policy and procedures for temporary modifications</a:t>
            </a:r>
          </a:p>
          <a:p>
            <a:endParaRPr lang="en-US" dirty="0"/>
          </a:p>
        </p:txBody>
      </p:sp>
      <p:sp>
        <p:nvSpPr>
          <p:cNvPr id="180228" name="Slide Number Placeholder 5"/>
          <p:cNvSpPr>
            <a:spLocks noGrp="1"/>
          </p:cNvSpPr>
          <p:nvPr>
            <p:ph type="sldNum" sz="quarter" idx="10"/>
          </p:nvPr>
        </p:nvSpPr>
        <p:spPr>
          <a:xfrm>
            <a:off x="7239000" y="6519863"/>
            <a:ext cx="1905000" cy="338137"/>
          </a:xfrm>
          <a:noFill/>
        </p:spPr>
        <p:txBody>
          <a:bodyPr/>
          <a:lstStyle/>
          <a:p>
            <a:fld id="{590B8637-3DBC-4DE0-B57C-C943C6861553}" type="slidenum">
              <a:rPr lang="en-US" smtClean="0"/>
              <a:pPr/>
              <a:t>155</a:t>
            </a:fld>
            <a:endParaRPr lang="en-US"/>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pPr eaLnBrk="1" hangingPunct="1"/>
            <a:r>
              <a:rPr lang="en-US"/>
              <a:t>TCTO Types, Verification, Completion, and Rescission</a:t>
            </a:r>
          </a:p>
        </p:txBody>
      </p:sp>
      <p:sp>
        <p:nvSpPr>
          <p:cNvPr id="181251" name="Rectangle 3"/>
          <p:cNvSpPr>
            <a:spLocks noGrp="1" noChangeArrowheads="1"/>
          </p:cNvSpPr>
          <p:nvPr>
            <p:ph idx="1"/>
          </p:nvPr>
        </p:nvSpPr>
        <p:spPr/>
        <p:txBody>
          <a:bodyPr/>
          <a:lstStyle/>
          <a:p>
            <a:pPr eaLnBrk="1" hangingPunct="1"/>
            <a:r>
              <a:rPr lang="en-US" dirty="0"/>
              <a:t>Temporary Modifications</a:t>
            </a:r>
          </a:p>
          <a:p>
            <a:pPr eaLnBrk="1" hangingPunct="1"/>
            <a:endParaRPr lang="en-US" dirty="0"/>
          </a:p>
          <a:p>
            <a:pPr lvl="1" eaLnBrk="1" hangingPunct="1"/>
            <a:r>
              <a:rPr lang="en-US" dirty="0"/>
              <a:t>Temporary-1 (T1)</a:t>
            </a:r>
          </a:p>
          <a:p>
            <a:pPr lvl="2" eaLnBrk="1" hangingPunct="1"/>
            <a:r>
              <a:rPr lang="en-US" dirty="0"/>
              <a:t>  Normally used to change configuration for a special mission</a:t>
            </a:r>
          </a:p>
          <a:p>
            <a:pPr lvl="2" eaLnBrk="1" hangingPunct="1"/>
            <a:r>
              <a:rPr lang="en-US" dirty="0"/>
              <a:t>  Not maintained for more than one year without a waiver from SM</a:t>
            </a:r>
          </a:p>
          <a:p>
            <a:pPr lvl="2" eaLnBrk="1" hangingPunct="1"/>
            <a:r>
              <a:rPr lang="en-US" dirty="0"/>
              <a:t>  Must be able of being returned to its original configuration within</a:t>
            </a:r>
          </a:p>
          <a:p>
            <a:pPr marL="852488" lvl="2" indent="0" eaLnBrk="1" hangingPunct="1">
              <a:buNone/>
            </a:pPr>
            <a:r>
              <a:rPr lang="en-US" dirty="0"/>
              <a:t>    48 hours</a:t>
            </a:r>
          </a:p>
          <a:p>
            <a:pPr lvl="2" eaLnBrk="1" hangingPunct="1"/>
            <a:r>
              <a:rPr lang="en-US" dirty="0"/>
              <a:t>  Are not funded in any part from central procurement</a:t>
            </a:r>
          </a:p>
          <a:p>
            <a:pPr marL="852488" lvl="2" indent="0" eaLnBrk="1" hangingPunct="1">
              <a:buNone/>
            </a:pPr>
            <a:r>
              <a:rPr lang="en-US" dirty="0"/>
              <a:t>    appropriations</a:t>
            </a:r>
          </a:p>
          <a:p>
            <a:pPr lvl="3" eaLnBrk="1" hangingPunct="1"/>
            <a:endParaRPr lang="en-US" dirty="0"/>
          </a:p>
          <a:p>
            <a:pPr lvl="1" eaLnBrk="1" hangingPunct="1"/>
            <a:endParaRPr lang="en-US" dirty="0"/>
          </a:p>
        </p:txBody>
      </p:sp>
      <p:sp>
        <p:nvSpPr>
          <p:cNvPr id="181252" name="Slide Number Placeholder 5"/>
          <p:cNvSpPr>
            <a:spLocks noGrp="1"/>
          </p:cNvSpPr>
          <p:nvPr>
            <p:ph type="sldNum" sz="quarter" idx="10"/>
          </p:nvPr>
        </p:nvSpPr>
        <p:spPr>
          <a:xfrm>
            <a:off x="7239000" y="6519863"/>
            <a:ext cx="1905000" cy="338137"/>
          </a:xfrm>
          <a:noFill/>
        </p:spPr>
        <p:txBody>
          <a:bodyPr/>
          <a:lstStyle/>
          <a:p>
            <a:fld id="{4243554E-66EE-4BD1-B630-BED67D7B09ED}" type="slidenum">
              <a:rPr lang="en-US" smtClean="0"/>
              <a:pPr/>
              <a:t>156</a:t>
            </a:fld>
            <a:endParaRPr lang="en-US"/>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pPr eaLnBrk="1" hangingPunct="1"/>
            <a:r>
              <a:rPr lang="en-US"/>
              <a:t>TCTO Types, Verification, Completion, and Rescission</a:t>
            </a:r>
          </a:p>
        </p:txBody>
      </p:sp>
      <p:sp>
        <p:nvSpPr>
          <p:cNvPr id="182275" name="Rectangle 3"/>
          <p:cNvSpPr>
            <a:spLocks noGrp="1" noChangeArrowheads="1"/>
          </p:cNvSpPr>
          <p:nvPr>
            <p:ph idx="1"/>
          </p:nvPr>
        </p:nvSpPr>
        <p:spPr/>
        <p:txBody>
          <a:bodyPr/>
          <a:lstStyle/>
          <a:p>
            <a:pPr eaLnBrk="1" hangingPunct="1"/>
            <a:r>
              <a:rPr lang="en-US" dirty="0"/>
              <a:t>Temporary Modifications </a:t>
            </a:r>
          </a:p>
          <a:p>
            <a:pPr marL="0" indent="0" eaLnBrk="1" hangingPunct="1">
              <a:buNone/>
            </a:pPr>
            <a:endParaRPr lang="en-US" dirty="0"/>
          </a:p>
          <a:p>
            <a:pPr lvl="1" eaLnBrk="1" hangingPunct="1"/>
            <a:r>
              <a:rPr lang="en-US" dirty="0"/>
              <a:t>Temporary-2 (T2)</a:t>
            </a:r>
          </a:p>
          <a:p>
            <a:pPr marL="447675" lvl="1" indent="0" eaLnBrk="1" hangingPunct="1">
              <a:buNone/>
            </a:pPr>
            <a:endParaRPr lang="en-US" dirty="0"/>
          </a:p>
          <a:p>
            <a:pPr lvl="2" eaLnBrk="1" hangingPunct="1"/>
            <a:r>
              <a:rPr lang="en-US" dirty="0"/>
              <a:t>  Required to support RDT&amp;E</a:t>
            </a:r>
          </a:p>
          <a:p>
            <a:pPr lvl="2" eaLnBrk="1" hangingPunct="1"/>
            <a:r>
              <a:rPr lang="en-US" dirty="0"/>
              <a:t>  Will not be maintained longer than the test program requires</a:t>
            </a:r>
          </a:p>
          <a:p>
            <a:pPr lvl="2" eaLnBrk="1" hangingPunct="1"/>
            <a:r>
              <a:rPr lang="en-US" dirty="0"/>
              <a:t>  Normally done to evaluate a proposed permanent modification</a:t>
            </a:r>
          </a:p>
          <a:p>
            <a:pPr lvl="2" eaLnBrk="1" hangingPunct="1"/>
            <a:r>
              <a:rPr lang="en-US" dirty="0"/>
              <a:t>  Used to evaluate an approved acquisition program</a:t>
            </a:r>
          </a:p>
          <a:p>
            <a:pPr lvl="2" eaLnBrk="1" hangingPunct="1">
              <a:buFont typeface="Times New Roman" pitchFamily="18" charset="0"/>
              <a:buNone/>
            </a:pPr>
            <a:endParaRPr lang="en-US" dirty="0"/>
          </a:p>
          <a:p>
            <a:pPr lvl="3" eaLnBrk="1" hangingPunct="1"/>
            <a:endParaRPr lang="en-US" dirty="0"/>
          </a:p>
          <a:p>
            <a:pPr lvl="3" eaLnBrk="1" hangingPunct="1"/>
            <a:endParaRPr lang="en-US" dirty="0"/>
          </a:p>
          <a:p>
            <a:pPr lvl="1" eaLnBrk="1" hangingPunct="1"/>
            <a:endParaRPr lang="en-US" dirty="0"/>
          </a:p>
          <a:p>
            <a:pPr lvl="1" eaLnBrk="1" hangingPunct="1"/>
            <a:endParaRPr lang="en-US" dirty="0"/>
          </a:p>
          <a:p>
            <a:pPr eaLnBrk="1" hangingPunct="1"/>
            <a:endParaRPr lang="en-US" dirty="0"/>
          </a:p>
        </p:txBody>
      </p:sp>
      <p:sp>
        <p:nvSpPr>
          <p:cNvPr id="182276" name="Slide Number Placeholder 5"/>
          <p:cNvSpPr>
            <a:spLocks noGrp="1"/>
          </p:cNvSpPr>
          <p:nvPr>
            <p:ph type="sldNum" sz="quarter" idx="10"/>
          </p:nvPr>
        </p:nvSpPr>
        <p:spPr>
          <a:xfrm>
            <a:off x="7239000" y="6519863"/>
            <a:ext cx="1905000" cy="338137"/>
          </a:xfrm>
          <a:noFill/>
        </p:spPr>
        <p:txBody>
          <a:bodyPr/>
          <a:lstStyle/>
          <a:p>
            <a:fld id="{AB2E2D73-3808-44BC-867F-6A0F28996BAA}" type="slidenum">
              <a:rPr lang="en-US" smtClean="0"/>
              <a:pPr/>
              <a:t>157</a:t>
            </a:fld>
            <a:endParaRPr lang="en-US"/>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en-US"/>
              <a:t>TCTO Types, Verification, Completion, and Rescission</a:t>
            </a:r>
          </a:p>
        </p:txBody>
      </p:sp>
      <p:sp>
        <p:nvSpPr>
          <p:cNvPr id="183299" name="Rectangle 3"/>
          <p:cNvSpPr>
            <a:spLocks noGrp="1" noChangeArrowheads="1"/>
          </p:cNvSpPr>
          <p:nvPr>
            <p:ph idx="1"/>
          </p:nvPr>
        </p:nvSpPr>
        <p:spPr/>
        <p:txBody>
          <a:bodyPr/>
          <a:lstStyle/>
          <a:p>
            <a:endParaRPr lang="en-US" dirty="0"/>
          </a:p>
          <a:p>
            <a:pPr marL="0" indent="0">
              <a:buNone/>
            </a:pPr>
            <a:endParaRPr lang="en-US" dirty="0"/>
          </a:p>
          <a:p>
            <a:endParaRPr lang="en-US" dirty="0"/>
          </a:p>
          <a:p>
            <a:endParaRPr lang="en-US" dirty="0"/>
          </a:p>
          <a:p>
            <a:r>
              <a:rPr lang="en-US" dirty="0"/>
              <a:t>Objective: Define the category, type, and levels of permanent modifications</a:t>
            </a:r>
          </a:p>
          <a:p>
            <a:endParaRPr lang="en-US" dirty="0"/>
          </a:p>
        </p:txBody>
      </p:sp>
      <p:sp>
        <p:nvSpPr>
          <p:cNvPr id="183300" name="Slide Number Placeholder 5"/>
          <p:cNvSpPr>
            <a:spLocks noGrp="1"/>
          </p:cNvSpPr>
          <p:nvPr>
            <p:ph type="sldNum" sz="quarter" idx="10"/>
          </p:nvPr>
        </p:nvSpPr>
        <p:spPr>
          <a:xfrm>
            <a:off x="7239000" y="6519863"/>
            <a:ext cx="1905000" cy="338137"/>
          </a:xfrm>
          <a:noFill/>
        </p:spPr>
        <p:txBody>
          <a:bodyPr/>
          <a:lstStyle/>
          <a:p>
            <a:fld id="{FD569909-7985-4710-9B31-6B8C0ABF5316}" type="slidenum">
              <a:rPr lang="en-US" smtClean="0"/>
              <a:pPr/>
              <a:t>158</a:t>
            </a:fld>
            <a:endParaRPr lang="en-US"/>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There are three categories of TCTOs: </a:t>
            </a:r>
          </a:p>
          <a:p>
            <a:pPr marL="685800" lvl="1" indent="-334963">
              <a:spcAft>
                <a:spcPct val="20000"/>
              </a:spcAft>
              <a:defRPr/>
            </a:pPr>
            <a:r>
              <a:rPr lang="en-US" dirty="0"/>
              <a:t>Immediate action</a:t>
            </a:r>
          </a:p>
          <a:p>
            <a:pPr marL="685800" lvl="1" indent="-334963">
              <a:spcAft>
                <a:spcPct val="20000"/>
              </a:spcAft>
              <a:defRPr/>
            </a:pPr>
            <a:r>
              <a:rPr lang="en-US" dirty="0"/>
              <a:t>Urgent action</a:t>
            </a:r>
          </a:p>
          <a:p>
            <a:pPr marL="685800" lvl="1" indent="-334963">
              <a:spcAft>
                <a:spcPct val="20000"/>
              </a:spcAft>
              <a:defRPr/>
            </a:pPr>
            <a:r>
              <a:rPr lang="en-US" dirty="0"/>
              <a:t>Routine action</a:t>
            </a:r>
          </a:p>
          <a:p>
            <a:pPr marL="228600" indent="-228600">
              <a:spcAft>
                <a:spcPct val="20000"/>
              </a:spcAft>
              <a:defRPr/>
            </a:pPr>
            <a:r>
              <a:rPr lang="en-US" sz="2800" dirty="0"/>
              <a:t>The urgency of the instructions determines how quickly TCTO compliance is to be completed</a:t>
            </a:r>
          </a:p>
          <a:p>
            <a:pPr marL="228600" indent="-228600">
              <a:spcAft>
                <a:spcPct val="20000"/>
              </a:spcAft>
              <a:defRPr/>
            </a:pPr>
            <a:r>
              <a:rPr lang="en-US" sz="2800" dirty="0"/>
              <a:t>Divided into types and levels</a:t>
            </a:r>
          </a:p>
          <a:p>
            <a:pPr lvl="1" eaLnBrk="1" hangingPunct="1">
              <a:buFontTx/>
              <a:buNone/>
              <a:defRPr/>
            </a:pPr>
            <a:endParaRPr lang="en-US" dirty="0"/>
          </a:p>
        </p:txBody>
      </p:sp>
      <p:sp>
        <p:nvSpPr>
          <p:cNvPr id="184324" name="Slide Number Placeholder 5"/>
          <p:cNvSpPr>
            <a:spLocks noGrp="1"/>
          </p:cNvSpPr>
          <p:nvPr>
            <p:ph type="sldNum" sz="quarter" idx="10"/>
          </p:nvPr>
        </p:nvSpPr>
        <p:spPr>
          <a:xfrm>
            <a:off x="7239000" y="6519863"/>
            <a:ext cx="1905000" cy="338137"/>
          </a:xfrm>
          <a:noFill/>
        </p:spPr>
        <p:txBody>
          <a:bodyPr/>
          <a:lstStyle/>
          <a:p>
            <a:fld id="{7E17BC32-DD2F-47AE-A616-55E6C6AAC967}" type="slidenum">
              <a:rPr lang="en-US" smtClean="0"/>
              <a:pPr/>
              <a:t>159</a:t>
            </a:fld>
            <a:endParaRPr lang="en-US"/>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TCTO Compliance Periods</a:t>
            </a:r>
          </a:p>
          <a:p>
            <a:pPr marL="687388" lvl="1" indent="-236538">
              <a:spcAft>
                <a:spcPct val="20000"/>
              </a:spcAft>
              <a:defRPr/>
            </a:pPr>
            <a:r>
              <a:rPr lang="en-US" sz="2600" dirty="0"/>
              <a:t>Compliance period is the time allowed to accomplish the TCTO</a:t>
            </a:r>
          </a:p>
          <a:p>
            <a:pPr marL="687388" lvl="1" indent="-236538">
              <a:spcAft>
                <a:spcPct val="20000"/>
              </a:spcAft>
              <a:defRPr/>
            </a:pPr>
            <a:r>
              <a:rPr lang="en-US" sz="2600" dirty="0"/>
              <a:t>It is determined by the Program Manager’s (PM) Technical Content Manager (TCM) or Production Management Specialist (PMS)</a:t>
            </a:r>
          </a:p>
          <a:p>
            <a:pPr marL="687388" lvl="1" indent="-236538">
              <a:spcAft>
                <a:spcPct val="20000"/>
              </a:spcAft>
              <a:defRPr/>
            </a:pPr>
            <a:r>
              <a:rPr lang="en-US" sz="2600" dirty="0"/>
              <a:t>Time periods are based on the TCTO objectives and guidelines in TO 00-5-15, Table 2-1</a:t>
            </a:r>
          </a:p>
          <a:p>
            <a:pPr lvl="1" eaLnBrk="1" hangingPunct="1">
              <a:buFontTx/>
              <a:buNone/>
              <a:defRPr/>
            </a:pPr>
            <a:endParaRPr lang="en-US" dirty="0"/>
          </a:p>
        </p:txBody>
      </p:sp>
      <p:sp>
        <p:nvSpPr>
          <p:cNvPr id="185348" name="Slide Number Placeholder 5"/>
          <p:cNvSpPr>
            <a:spLocks noGrp="1"/>
          </p:cNvSpPr>
          <p:nvPr>
            <p:ph type="sldNum" sz="quarter" idx="10"/>
          </p:nvPr>
        </p:nvSpPr>
        <p:spPr>
          <a:xfrm>
            <a:off x="7239000" y="6519863"/>
            <a:ext cx="1905000" cy="338137"/>
          </a:xfrm>
          <a:noFill/>
        </p:spPr>
        <p:txBody>
          <a:bodyPr/>
          <a:lstStyle/>
          <a:p>
            <a:fld id="{6E76E127-85AD-4B6C-AFF6-E5EAAA515CE7}" type="slidenum">
              <a:rPr lang="en-US" smtClean="0"/>
              <a:pPr/>
              <a:t>160</a:t>
            </a:fld>
            <a:endParaRPr lang="en-US"/>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a:xfrm>
            <a:off x="609600" y="1219200"/>
            <a:ext cx="8131175" cy="4875212"/>
          </a:xfrm>
        </p:spPr>
        <p:txBody>
          <a:bodyPr/>
          <a:lstStyle/>
          <a:p>
            <a:pPr eaLnBrk="1" hangingPunct="1">
              <a:defRPr/>
            </a:pPr>
            <a:r>
              <a:rPr lang="en-US" dirty="0"/>
              <a:t>Permanent Modifications</a:t>
            </a:r>
          </a:p>
          <a:p>
            <a:pPr marL="228600" indent="-228600">
              <a:spcAft>
                <a:spcPct val="20000"/>
              </a:spcAft>
              <a:defRPr/>
            </a:pPr>
            <a:r>
              <a:rPr lang="en-US" sz="2800" dirty="0"/>
              <a:t>TCTO Compliance Periods</a:t>
            </a:r>
          </a:p>
          <a:p>
            <a:pPr marL="236538" indent="-236538">
              <a:spcAft>
                <a:spcPct val="20000"/>
              </a:spcAft>
              <a:defRPr/>
            </a:pPr>
            <a:r>
              <a:rPr lang="en-US" sz="2800" dirty="0"/>
              <a:t>Safety Inspection TCTO</a:t>
            </a:r>
          </a:p>
          <a:p>
            <a:pPr marL="796925" lvl="1" indent="-339725">
              <a:spcAft>
                <a:spcPct val="20000"/>
              </a:spcAft>
              <a:defRPr/>
            </a:pPr>
            <a:r>
              <a:rPr lang="en-US" dirty="0"/>
              <a:t>Upon receipt of the TCTO</a:t>
            </a:r>
          </a:p>
          <a:p>
            <a:pPr marL="796925" lvl="1" indent="-339725">
              <a:spcAft>
                <a:spcPct val="20000"/>
              </a:spcAft>
              <a:defRPr/>
            </a:pPr>
            <a:r>
              <a:rPr lang="en-US" dirty="0"/>
              <a:t>Must be completed within the stated time frame or the affected system/equipment will be removed from service</a:t>
            </a:r>
          </a:p>
          <a:p>
            <a:pPr marL="236538" indent="-236538">
              <a:spcAft>
                <a:spcPct val="20000"/>
              </a:spcAft>
              <a:defRPr/>
            </a:pPr>
            <a:r>
              <a:rPr lang="en-US" sz="2800" dirty="0"/>
              <a:t>Modification TCTO</a:t>
            </a:r>
          </a:p>
          <a:p>
            <a:pPr marL="796925" lvl="1" indent="-339725">
              <a:spcAft>
                <a:spcPct val="20000"/>
              </a:spcAft>
              <a:defRPr/>
            </a:pPr>
            <a:r>
              <a:rPr lang="en-US" dirty="0"/>
              <a:t>Start dates are based on receipt of the TCTO and all associated special tools, kits, and supporting technical data</a:t>
            </a:r>
          </a:p>
          <a:p>
            <a:pPr marL="236538" indent="-236538">
              <a:spcAft>
                <a:spcPct val="20000"/>
              </a:spcAft>
              <a:defRPr/>
            </a:pPr>
            <a:endParaRPr lang="en-US" sz="2800" dirty="0"/>
          </a:p>
          <a:p>
            <a:pPr lvl="1" eaLnBrk="1" hangingPunct="1">
              <a:buFontTx/>
              <a:buNone/>
              <a:defRPr/>
            </a:pPr>
            <a:endParaRPr lang="en-US" dirty="0"/>
          </a:p>
        </p:txBody>
      </p:sp>
      <p:sp>
        <p:nvSpPr>
          <p:cNvPr id="186372" name="Slide Number Placeholder 5"/>
          <p:cNvSpPr>
            <a:spLocks noGrp="1"/>
          </p:cNvSpPr>
          <p:nvPr>
            <p:ph type="sldNum" sz="quarter" idx="10"/>
          </p:nvPr>
        </p:nvSpPr>
        <p:spPr>
          <a:xfrm>
            <a:off x="7239000" y="6519863"/>
            <a:ext cx="1905000" cy="338137"/>
          </a:xfrm>
          <a:noFill/>
        </p:spPr>
        <p:txBody>
          <a:bodyPr/>
          <a:lstStyle/>
          <a:p>
            <a:fld id="{7D52DDFE-AB39-46A2-B6A8-49EA532F93F9}" type="slidenum">
              <a:rPr lang="en-US" smtClean="0"/>
              <a:pPr/>
              <a:t>161</a:t>
            </a:fld>
            <a:endParaRPr lang="en-US"/>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Immediate Action TCTO</a:t>
            </a:r>
          </a:p>
          <a:p>
            <a:pPr marL="228600" indent="-228600">
              <a:spcAft>
                <a:spcPct val="20000"/>
              </a:spcAft>
              <a:buFont typeface="Wingdings" pitchFamily="2" charset="2"/>
              <a:buNone/>
              <a:defRPr/>
            </a:pPr>
            <a:endParaRPr lang="en-US" sz="2800" dirty="0"/>
          </a:p>
          <a:p>
            <a:pPr marL="687388" lvl="1" indent="-236538">
              <a:spcAft>
                <a:spcPct val="20000"/>
              </a:spcAft>
              <a:defRPr/>
            </a:pPr>
            <a:r>
              <a:rPr lang="en-US" sz="2600" dirty="0"/>
              <a:t> A safety conditions that if uncorrected could result</a:t>
            </a:r>
          </a:p>
          <a:p>
            <a:pPr marL="450850" lvl="1" indent="0">
              <a:spcAft>
                <a:spcPct val="20000"/>
              </a:spcAft>
              <a:buNone/>
              <a:defRPr/>
            </a:pPr>
            <a:r>
              <a:rPr lang="en-US" sz="2600" dirty="0"/>
              <a:t>    in: </a:t>
            </a:r>
          </a:p>
          <a:p>
            <a:pPr marL="1104901" lvl="2" indent="-350838">
              <a:spcAft>
                <a:spcPct val="20000"/>
              </a:spcAft>
              <a:defRPr/>
            </a:pPr>
            <a:r>
              <a:rPr lang="en-US" dirty="0"/>
              <a:t>Fatality or serious injury to personnel 	</a:t>
            </a:r>
          </a:p>
          <a:p>
            <a:pPr marL="1104901" lvl="2" indent="-350838">
              <a:spcAft>
                <a:spcPct val="20000"/>
              </a:spcAft>
              <a:defRPr/>
            </a:pPr>
            <a:r>
              <a:rPr lang="en-US" dirty="0"/>
              <a:t>Extensive damage to or destruction of valuable property</a:t>
            </a:r>
            <a:endParaRPr lang="en-US" sz="2400" dirty="0"/>
          </a:p>
          <a:p>
            <a:pPr lvl="1" eaLnBrk="1" hangingPunct="1">
              <a:buFontTx/>
              <a:buNone/>
              <a:defRPr/>
            </a:pPr>
            <a:endParaRPr lang="en-US" dirty="0"/>
          </a:p>
        </p:txBody>
      </p:sp>
      <p:sp>
        <p:nvSpPr>
          <p:cNvPr id="187396" name="Slide Number Placeholder 5"/>
          <p:cNvSpPr>
            <a:spLocks noGrp="1"/>
          </p:cNvSpPr>
          <p:nvPr>
            <p:ph type="sldNum" sz="quarter" idx="10"/>
          </p:nvPr>
        </p:nvSpPr>
        <p:spPr>
          <a:xfrm>
            <a:off x="7239000" y="6519863"/>
            <a:ext cx="1905000" cy="338137"/>
          </a:xfrm>
          <a:noFill/>
        </p:spPr>
        <p:txBody>
          <a:bodyPr/>
          <a:lstStyle/>
          <a:p>
            <a:fld id="{4CC97317-9D1F-4900-8C91-3FE6BEDC9644}" type="slidenum">
              <a:rPr lang="en-US" smtClean="0"/>
              <a:pPr/>
              <a:t>162</a:t>
            </a:fld>
            <a:endParaRPr lang="en-US"/>
          </a:p>
        </p:txBody>
      </p:sp>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Immediate Action TCTO</a:t>
            </a:r>
          </a:p>
          <a:p>
            <a:pPr marL="228600" indent="-228600">
              <a:spcAft>
                <a:spcPct val="20000"/>
              </a:spcAft>
              <a:defRPr/>
            </a:pPr>
            <a:endParaRPr lang="en-US" sz="2800" dirty="0"/>
          </a:p>
          <a:p>
            <a:pPr marL="687388" lvl="1" indent="-236538">
              <a:spcAft>
                <a:spcPct val="20000"/>
              </a:spcAft>
              <a:defRPr/>
            </a:pPr>
            <a:r>
              <a:rPr lang="en-US" sz="2600" dirty="0"/>
              <a:t>Comply immediately</a:t>
            </a:r>
          </a:p>
          <a:p>
            <a:pPr marL="808038" lvl="1" indent="-350838">
              <a:spcAft>
                <a:spcPct val="20000"/>
              </a:spcAft>
              <a:defRPr/>
            </a:pPr>
            <a:r>
              <a:rPr lang="en-US" dirty="0"/>
              <a:t>Remove aircraft from service</a:t>
            </a:r>
          </a:p>
          <a:p>
            <a:pPr marL="808038" lvl="1" indent="-350838">
              <a:spcAft>
                <a:spcPct val="20000"/>
              </a:spcAft>
              <a:defRPr/>
            </a:pPr>
            <a:r>
              <a:rPr lang="en-US" dirty="0"/>
              <a:t>Prevent launch of missiles</a:t>
            </a:r>
          </a:p>
          <a:p>
            <a:pPr marL="808038" lvl="1" indent="-350838">
              <a:spcAft>
                <a:spcPct val="20000"/>
              </a:spcAft>
              <a:defRPr/>
            </a:pPr>
            <a:r>
              <a:rPr lang="en-US" dirty="0"/>
              <a:t>Discontinue operation of ground communication-electronic systems</a:t>
            </a:r>
          </a:p>
          <a:p>
            <a:pPr marL="808038" lvl="1" indent="-350838">
              <a:spcAft>
                <a:spcPct val="20000"/>
              </a:spcAft>
              <a:defRPr/>
            </a:pPr>
            <a:r>
              <a:rPr lang="en-US" dirty="0"/>
              <a:t>Discontinue use of support equipment, personal equipment, or munitions</a:t>
            </a:r>
          </a:p>
        </p:txBody>
      </p:sp>
      <p:sp>
        <p:nvSpPr>
          <p:cNvPr id="188420" name="Slide Number Placeholder 5"/>
          <p:cNvSpPr>
            <a:spLocks noGrp="1"/>
          </p:cNvSpPr>
          <p:nvPr>
            <p:ph type="sldNum" sz="quarter" idx="10"/>
          </p:nvPr>
        </p:nvSpPr>
        <p:spPr>
          <a:xfrm>
            <a:off x="7239000" y="6519863"/>
            <a:ext cx="1905000" cy="338137"/>
          </a:xfrm>
          <a:noFill/>
        </p:spPr>
        <p:txBody>
          <a:bodyPr/>
          <a:lstStyle/>
          <a:p>
            <a:fld id="{8DCCB251-4D59-4B35-B940-C28A17A9D885}" type="slidenum">
              <a:rPr lang="en-US" smtClean="0"/>
              <a:pPr/>
              <a:t>163</a:t>
            </a:fld>
            <a:endParaRPr lang="en-US"/>
          </a:p>
        </p:txBody>
      </p:sp>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Immediate Action TCTO</a:t>
            </a:r>
          </a:p>
          <a:p>
            <a:pPr marL="228600" indent="-228600">
              <a:spcAft>
                <a:spcPct val="20000"/>
              </a:spcAft>
              <a:defRPr/>
            </a:pPr>
            <a:endParaRPr lang="en-US" sz="2800" dirty="0"/>
          </a:p>
          <a:p>
            <a:pPr marL="687388" lvl="1" indent="-236538">
              <a:spcAft>
                <a:spcPct val="30000"/>
              </a:spcAft>
              <a:defRPr/>
            </a:pPr>
            <a:r>
              <a:rPr lang="en-US" sz="2600" dirty="0"/>
              <a:t>Distribution to all affected personnel within four hours after receipt </a:t>
            </a:r>
          </a:p>
          <a:p>
            <a:pPr marL="687388" lvl="1" indent="-236538">
              <a:spcAft>
                <a:spcPct val="30000"/>
              </a:spcAft>
              <a:defRPr/>
            </a:pPr>
            <a:r>
              <a:rPr lang="en-US" sz="2600" dirty="0"/>
              <a:t>Immediate Action TCTOs have the words </a:t>
            </a:r>
            <a:r>
              <a:rPr lang="en-US" sz="2600" b="1" dirty="0">
                <a:solidFill>
                  <a:srgbClr val="FF0000"/>
                </a:solidFill>
              </a:rPr>
              <a:t>Immediate Action</a:t>
            </a:r>
            <a:r>
              <a:rPr lang="en-US" sz="2600" dirty="0"/>
              <a:t> in </a:t>
            </a:r>
            <a:r>
              <a:rPr lang="en-US" sz="2600" dirty="0">
                <a:solidFill>
                  <a:srgbClr val="FF0000"/>
                </a:solidFill>
              </a:rPr>
              <a:t>red</a:t>
            </a:r>
            <a:r>
              <a:rPr lang="en-US" sz="2600" dirty="0"/>
              <a:t> at the top center of the first page and a series of </a:t>
            </a:r>
            <a:r>
              <a:rPr lang="en-US" sz="2600" dirty="0">
                <a:solidFill>
                  <a:srgbClr val="FF0000"/>
                </a:solidFill>
              </a:rPr>
              <a:t>red</a:t>
            </a:r>
            <a:r>
              <a:rPr lang="en-US" sz="2600" dirty="0"/>
              <a:t> </a:t>
            </a:r>
            <a:r>
              <a:rPr lang="en-US" sz="2600" dirty="0">
                <a:solidFill>
                  <a:srgbClr val="FF0000"/>
                </a:solidFill>
              </a:rPr>
              <a:t>X</a:t>
            </a:r>
            <a:r>
              <a:rPr lang="en-US" sz="2600" dirty="0"/>
              <a:t>s (</a:t>
            </a:r>
            <a:r>
              <a:rPr lang="en-US" sz="2600" dirty="0">
                <a:solidFill>
                  <a:srgbClr val="FF0000"/>
                </a:solidFill>
              </a:rPr>
              <a:t>XXXX</a:t>
            </a:r>
            <a:r>
              <a:rPr lang="en-US" sz="2600" dirty="0"/>
              <a:t>) are printed around the border of the first page (attachment 6)</a:t>
            </a:r>
          </a:p>
        </p:txBody>
      </p:sp>
      <p:sp>
        <p:nvSpPr>
          <p:cNvPr id="189444" name="Slide Number Placeholder 5"/>
          <p:cNvSpPr>
            <a:spLocks noGrp="1"/>
          </p:cNvSpPr>
          <p:nvPr>
            <p:ph type="sldNum" sz="quarter" idx="10"/>
          </p:nvPr>
        </p:nvSpPr>
        <p:spPr>
          <a:xfrm>
            <a:off x="7239000" y="6519863"/>
            <a:ext cx="1905000" cy="338137"/>
          </a:xfrm>
          <a:noFill/>
        </p:spPr>
        <p:txBody>
          <a:bodyPr/>
          <a:lstStyle/>
          <a:p>
            <a:fld id="{6E5835A7-F2C2-494C-97EF-6955A115D8BA}" type="slidenum">
              <a:rPr lang="en-US" smtClean="0"/>
              <a:pPr/>
              <a:t>164</a:t>
            </a:fld>
            <a:endParaRPr lang="en-US"/>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Urgent Action TCTO</a:t>
            </a:r>
          </a:p>
          <a:p>
            <a:pPr marL="228600" indent="-228600">
              <a:spcAft>
                <a:spcPct val="20000"/>
              </a:spcAft>
              <a:defRPr/>
            </a:pPr>
            <a:endParaRPr lang="en-US" sz="2800" dirty="0"/>
          </a:p>
          <a:p>
            <a:pPr marL="687388" lvl="1" indent="-236538">
              <a:spcAft>
                <a:spcPct val="20000"/>
              </a:spcAft>
              <a:defRPr/>
            </a:pPr>
            <a:r>
              <a:rPr lang="en-US" sz="2600" dirty="0"/>
              <a:t>Issued under the governing factors of combat necessity or potentially hazardous conditions that could result in injury to personnel, damage to property, or unacceptable reductions in combat efficiency</a:t>
            </a:r>
          </a:p>
          <a:p>
            <a:pPr marL="687388" lvl="1" indent="-236538">
              <a:spcAft>
                <a:spcPct val="20000"/>
              </a:spcAft>
              <a:defRPr/>
            </a:pPr>
            <a:r>
              <a:rPr lang="en-US" sz="2600" dirty="0"/>
              <a:t>Require compliance within specified time limits</a:t>
            </a:r>
          </a:p>
          <a:p>
            <a:pPr lvl="1">
              <a:spcAft>
                <a:spcPct val="20000"/>
              </a:spcAft>
              <a:defRPr/>
            </a:pPr>
            <a:r>
              <a:rPr lang="en-US" dirty="0"/>
              <a:t>Between 1 and 10 days</a:t>
            </a:r>
            <a:endParaRPr lang="en-US" sz="2800" dirty="0"/>
          </a:p>
        </p:txBody>
      </p:sp>
      <p:sp>
        <p:nvSpPr>
          <p:cNvPr id="190468" name="Slide Number Placeholder 5"/>
          <p:cNvSpPr>
            <a:spLocks noGrp="1"/>
          </p:cNvSpPr>
          <p:nvPr>
            <p:ph type="sldNum" sz="quarter" idx="10"/>
          </p:nvPr>
        </p:nvSpPr>
        <p:spPr>
          <a:xfrm>
            <a:off x="7239000" y="6519863"/>
            <a:ext cx="1905000" cy="338137"/>
          </a:xfrm>
          <a:noFill/>
        </p:spPr>
        <p:txBody>
          <a:bodyPr/>
          <a:lstStyle/>
          <a:p>
            <a:fld id="{CCF93846-9AE5-4EC5-8F5D-0C0AA54729F5}" type="slidenum">
              <a:rPr lang="en-US" smtClean="0"/>
              <a:pPr/>
              <a:t>165</a:t>
            </a:fld>
            <a:endParaRPr lang="en-US"/>
          </a:p>
        </p:txBody>
      </p:sp>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Urgent Action TCTO</a:t>
            </a:r>
          </a:p>
          <a:p>
            <a:pPr marL="0" indent="0">
              <a:spcAft>
                <a:spcPct val="20000"/>
              </a:spcAft>
              <a:buNone/>
              <a:defRPr/>
            </a:pPr>
            <a:endParaRPr lang="en-US" sz="2800" dirty="0"/>
          </a:p>
          <a:p>
            <a:pPr marL="687388" lvl="1" indent="-236538">
              <a:spcAft>
                <a:spcPct val="20000"/>
              </a:spcAft>
              <a:defRPr/>
            </a:pPr>
            <a:r>
              <a:rPr lang="en-US" sz="2600" dirty="0"/>
              <a:t>If not complied with:</a:t>
            </a:r>
          </a:p>
          <a:p>
            <a:pPr marL="808038" lvl="1" indent="-350838">
              <a:spcAft>
                <a:spcPct val="20000"/>
              </a:spcAft>
              <a:defRPr/>
            </a:pPr>
            <a:r>
              <a:rPr lang="en-US" dirty="0"/>
              <a:t>Remove aircraft from service</a:t>
            </a:r>
          </a:p>
          <a:p>
            <a:pPr marL="808038" lvl="1" indent="-350838">
              <a:spcAft>
                <a:spcPct val="20000"/>
              </a:spcAft>
              <a:defRPr/>
            </a:pPr>
            <a:r>
              <a:rPr lang="en-US" dirty="0"/>
              <a:t>Discontinue use of air-launched missiles</a:t>
            </a:r>
          </a:p>
          <a:p>
            <a:pPr marL="808038" lvl="1" indent="-350838">
              <a:spcAft>
                <a:spcPct val="20000"/>
              </a:spcAft>
              <a:defRPr/>
            </a:pPr>
            <a:r>
              <a:rPr lang="en-US" dirty="0"/>
              <a:t>Prevent launch of missiles</a:t>
            </a:r>
          </a:p>
        </p:txBody>
      </p:sp>
      <p:sp>
        <p:nvSpPr>
          <p:cNvPr id="191492" name="Slide Number Placeholder 5"/>
          <p:cNvSpPr>
            <a:spLocks noGrp="1"/>
          </p:cNvSpPr>
          <p:nvPr>
            <p:ph type="sldNum" sz="quarter" idx="10"/>
          </p:nvPr>
        </p:nvSpPr>
        <p:spPr>
          <a:xfrm>
            <a:off x="7239000" y="6519863"/>
            <a:ext cx="1905000" cy="338137"/>
          </a:xfrm>
          <a:noFill/>
        </p:spPr>
        <p:txBody>
          <a:bodyPr/>
          <a:lstStyle/>
          <a:p>
            <a:fld id="{2A1E88FD-EAA7-4A51-A0B9-DDD76737BC58}" type="slidenum">
              <a:rPr lang="en-US" smtClean="0"/>
              <a:pPr/>
              <a:t>166</a:t>
            </a:fld>
            <a:endParaRPr lang="en-US"/>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Urgent Action TCTO</a:t>
            </a:r>
          </a:p>
          <a:p>
            <a:pPr marL="679450" lvl="1">
              <a:spcAft>
                <a:spcPct val="20000"/>
              </a:spcAft>
              <a:defRPr/>
            </a:pPr>
            <a:r>
              <a:rPr lang="en-US" sz="2600" dirty="0"/>
              <a:t>If not complied with:</a:t>
            </a:r>
          </a:p>
          <a:p>
            <a:pPr marL="808038" lvl="1" indent="-350838">
              <a:spcAft>
                <a:spcPct val="20000"/>
              </a:spcAft>
              <a:defRPr/>
            </a:pPr>
            <a:r>
              <a:rPr lang="en-US" dirty="0"/>
              <a:t>Discontinue operation of Communications-Electronics (C-E) equipment </a:t>
            </a:r>
          </a:p>
          <a:p>
            <a:pPr marL="808038" lvl="1" indent="-350838">
              <a:spcAft>
                <a:spcPct val="20000"/>
              </a:spcAft>
              <a:defRPr/>
            </a:pPr>
            <a:r>
              <a:rPr lang="en-US" dirty="0"/>
              <a:t>Discontinue use of support equipment, personal equipment, materials, or munitions</a:t>
            </a:r>
          </a:p>
          <a:p>
            <a:pPr marL="687388" lvl="1" indent="-236538">
              <a:spcAft>
                <a:spcPct val="20000"/>
              </a:spcAft>
              <a:defRPr/>
            </a:pPr>
            <a:r>
              <a:rPr lang="en-US" sz="2600" dirty="0">
                <a:solidFill>
                  <a:srgbClr val="FF0000"/>
                </a:solidFill>
              </a:rPr>
              <a:t>“URGENT ACTION” </a:t>
            </a:r>
            <a:r>
              <a:rPr lang="en-US" sz="2600" dirty="0"/>
              <a:t>printed on top of page with </a:t>
            </a:r>
            <a:br>
              <a:rPr lang="en-US" sz="2600" dirty="0"/>
            </a:br>
            <a:r>
              <a:rPr lang="en-US" sz="2600" dirty="0">
                <a:solidFill>
                  <a:srgbClr val="FF0000"/>
                </a:solidFill>
              </a:rPr>
              <a:t>red diagonals and Xs</a:t>
            </a:r>
            <a:r>
              <a:rPr lang="en-US" sz="2600" dirty="0"/>
              <a:t> around the page border</a:t>
            </a:r>
            <a:endParaRPr lang="en-US" sz="2600" dirty="0">
              <a:solidFill>
                <a:srgbClr val="FF0000"/>
              </a:solidFill>
            </a:endParaRPr>
          </a:p>
          <a:p>
            <a:pPr marL="808038" lvl="1" indent="-350838">
              <a:spcAft>
                <a:spcPct val="20000"/>
              </a:spcAft>
              <a:defRPr/>
            </a:pPr>
            <a:r>
              <a:rPr lang="en-US" dirty="0">
                <a:solidFill>
                  <a:srgbClr val="FF0000"/>
                </a:solidFill>
              </a:rPr>
              <a:t>/X/X/X/X/X/X/X </a:t>
            </a:r>
            <a:r>
              <a:rPr lang="en-US" dirty="0"/>
              <a:t>(attachment 8)</a:t>
            </a:r>
            <a:endParaRPr lang="en-US" dirty="0">
              <a:solidFill>
                <a:srgbClr val="FF0000"/>
              </a:solidFill>
            </a:endParaRPr>
          </a:p>
        </p:txBody>
      </p:sp>
      <p:sp>
        <p:nvSpPr>
          <p:cNvPr id="192516" name="Slide Number Placeholder 5"/>
          <p:cNvSpPr>
            <a:spLocks noGrp="1"/>
          </p:cNvSpPr>
          <p:nvPr>
            <p:ph type="sldNum" sz="quarter" idx="10"/>
          </p:nvPr>
        </p:nvSpPr>
        <p:spPr>
          <a:xfrm>
            <a:off x="7239000" y="6519863"/>
            <a:ext cx="1905000" cy="338137"/>
          </a:xfrm>
          <a:noFill/>
        </p:spPr>
        <p:txBody>
          <a:bodyPr/>
          <a:lstStyle/>
          <a:p>
            <a:fld id="{4E4A84A0-D6BD-40D8-A45F-9F89AD973B11}" type="slidenum">
              <a:rPr lang="en-US" smtClean="0"/>
              <a:pPr/>
              <a:t>167</a:t>
            </a:fld>
            <a:endParaRPr lang="en-US"/>
          </a:p>
        </p:txBody>
      </p:sp>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Routine Action TCTO</a:t>
            </a:r>
          </a:p>
          <a:p>
            <a:pPr marL="687388" lvl="1" indent="-236538">
              <a:spcAft>
                <a:spcPct val="20000"/>
              </a:spcAft>
              <a:defRPr/>
            </a:pPr>
            <a:r>
              <a:rPr lang="en-US" sz="2600" dirty="0"/>
              <a:t>Issued for any condition not covered under immediate or urgent action TCTOs</a:t>
            </a:r>
          </a:p>
          <a:p>
            <a:pPr marL="687388" lvl="1" indent="-236538">
              <a:spcAft>
                <a:spcPct val="20000"/>
              </a:spcAft>
              <a:defRPr/>
            </a:pPr>
            <a:r>
              <a:rPr lang="en-US" sz="2600" dirty="0"/>
              <a:t>Equipment or procedural deficiencies of material, mechanical, operational, or tactical nature that could:</a:t>
            </a:r>
          </a:p>
          <a:p>
            <a:pPr marL="1104901" lvl="2" indent="-350838">
              <a:spcAft>
                <a:spcPct val="20000"/>
              </a:spcAft>
              <a:defRPr/>
            </a:pPr>
            <a:r>
              <a:rPr lang="en-US" dirty="0"/>
              <a:t>Create a hazard through prolonged use</a:t>
            </a:r>
          </a:p>
          <a:p>
            <a:pPr marL="1104901" lvl="2" indent="-350838">
              <a:spcAft>
                <a:spcPct val="20000"/>
              </a:spcAft>
              <a:defRPr/>
            </a:pPr>
            <a:r>
              <a:rPr lang="en-US" dirty="0"/>
              <a:t>Have a negative effect on operational efficiency</a:t>
            </a:r>
          </a:p>
          <a:p>
            <a:pPr marL="1104901" lvl="2" indent="-350838">
              <a:spcAft>
                <a:spcPct val="20000"/>
              </a:spcAft>
              <a:defRPr/>
            </a:pPr>
            <a:r>
              <a:rPr lang="en-US" dirty="0"/>
              <a:t>Reduce tactical or support utility</a:t>
            </a:r>
          </a:p>
          <a:p>
            <a:pPr marL="1104901" lvl="2" indent="-350838">
              <a:spcAft>
                <a:spcPct val="20000"/>
              </a:spcAft>
              <a:defRPr/>
            </a:pPr>
            <a:r>
              <a:rPr lang="en-US" dirty="0"/>
              <a:t>Reduce operational life of systems or commodities</a:t>
            </a:r>
          </a:p>
        </p:txBody>
      </p:sp>
      <p:sp>
        <p:nvSpPr>
          <p:cNvPr id="193540" name="Slide Number Placeholder 5"/>
          <p:cNvSpPr>
            <a:spLocks noGrp="1"/>
          </p:cNvSpPr>
          <p:nvPr>
            <p:ph type="sldNum" sz="quarter" idx="10"/>
          </p:nvPr>
        </p:nvSpPr>
        <p:spPr>
          <a:xfrm>
            <a:off x="7239000" y="6519863"/>
            <a:ext cx="1905000" cy="338137"/>
          </a:xfrm>
          <a:noFill/>
        </p:spPr>
        <p:txBody>
          <a:bodyPr/>
          <a:lstStyle/>
          <a:p>
            <a:fld id="{ACA69978-3744-4A5C-8CD8-5F912D12EC93}" type="slidenum">
              <a:rPr lang="en-US" smtClean="0"/>
              <a:pPr/>
              <a:t>168</a:t>
            </a:fld>
            <a:endParaRPr lang="en-US"/>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Routine Action TCTO</a:t>
            </a:r>
          </a:p>
          <a:p>
            <a:pPr marL="687388" lvl="1" indent="-236538">
              <a:spcAft>
                <a:spcPct val="20000"/>
              </a:spcAft>
              <a:defRPr/>
            </a:pPr>
            <a:r>
              <a:rPr lang="en-US" sz="2600" dirty="0"/>
              <a:t>Provide enhancements to equipment or system capabilities</a:t>
            </a:r>
          </a:p>
          <a:p>
            <a:pPr marL="808038" lvl="1" indent="-350838">
              <a:spcAft>
                <a:spcPct val="20000"/>
              </a:spcAft>
              <a:defRPr/>
            </a:pPr>
            <a:r>
              <a:rPr lang="en-US" dirty="0"/>
              <a:t>Reduce operational life of systems or commodities (attachment 9)</a:t>
            </a:r>
          </a:p>
        </p:txBody>
      </p:sp>
      <p:sp>
        <p:nvSpPr>
          <p:cNvPr id="194564" name="Slide Number Placeholder 5"/>
          <p:cNvSpPr>
            <a:spLocks noGrp="1"/>
          </p:cNvSpPr>
          <p:nvPr>
            <p:ph type="sldNum" sz="quarter" idx="10"/>
          </p:nvPr>
        </p:nvSpPr>
        <p:spPr>
          <a:xfrm>
            <a:off x="7239000" y="6519863"/>
            <a:ext cx="1905000" cy="338137"/>
          </a:xfrm>
          <a:noFill/>
        </p:spPr>
        <p:txBody>
          <a:bodyPr/>
          <a:lstStyle/>
          <a:p>
            <a:fld id="{22568EF2-4829-4948-8EE7-CDA19E666B9D}" type="slidenum">
              <a:rPr lang="en-US" smtClean="0"/>
              <a:pPr/>
              <a:t>169</a:t>
            </a:fld>
            <a:endParaRPr lang="en-US"/>
          </a:p>
        </p:txBody>
      </p:sp>
    </p:spTree>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a:t>
            </a:r>
          </a:p>
          <a:p>
            <a:pPr marL="228600" indent="-228600">
              <a:spcAft>
                <a:spcPct val="20000"/>
              </a:spcAft>
              <a:defRPr/>
            </a:pPr>
            <a:endParaRPr lang="en-US" sz="2800" dirty="0"/>
          </a:p>
          <a:p>
            <a:pPr marL="687388" lvl="1" indent="-236538">
              <a:spcAft>
                <a:spcPct val="20000"/>
              </a:spcAft>
              <a:buFont typeface="Arial" pitchFamily="34" charset="0"/>
              <a:buChar char="•"/>
              <a:defRPr/>
            </a:pPr>
            <a:r>
              <a:rPr lang="en-US" dirty="0"/>
              <a:t>Inspection TCTO</a:t>
            </a:r>
          </a:p>
          <a:p>
            <a:pPr marL="687388" lvl="1" indent="-236538">
              <a:spcAft>
                <a:spcPct val="20000"/>
              </a:spcAft>
              <a:buFont typeface="Arial" pitchFamily="34" charset="0"/>
              <a:buChar char="•"/>
              <a:defRPr/>
            </a:pPr>
            <a:r>
              <a:rPr lang="en-US" dirty="0"/>
              <a:t>Record TCTO</a:t>
            </a:r>
          </a:p>
          <a:p>
            <a:pPr marL="687388" lvl="1" indent="-236538">
              <a:spcAft>
                <a:spcPct val="20000"/>
              </a:spcAft>
              <a:buFont typeface="Arial" pitchFamily="34" charset="0"/>
              <a:buChar char="•"/>
              <a:defRPr/>
            </a:pPr>
            <a:r>
              <a:rPr lang="en-US" dirty="0"/>
              <a:t>Companion TCTO</a:t>
            </a:r>
          </a:p>
          <a:p>
            <a:pPr marL="687388" lvl="1" indent="-236538">
              <a:spcAft>
                <a:spcPct val="20000"/>
              </a:spcAft>
              <a:buFont typeface="Arial" pitchFamily="34" charset="0"/>
              <a:buChar char="•"/>
              <a:defRPr/>
            </a:pPr>
            <a:r>
              <a:rPr lang="en-US" dirty="0"/>
              <a:t>TCTO Supplement</a:t>
            </a:r>
          </a:p>
          <a:p>
            <a:pPr marL="687388" lvl="1" indent="-236538">
              <a:spcAft>
                <a:spcPct val="20000"/>
              </a:spcAft>
              <a:buFont typeface="Arial" pitchFamily="34" charset="0"/>
              <a:buChar char="•"/>
              <a:defRPr/>
            </a:pPr>
            <a:r>
              <a:rPr lang="en-US" dirty="0"/>
              <a:t>Interim TCTO (ITCTO)</a:t>
            </a:r>
          </a:p>
        </p:txBody>
      </p:sp>
      <p:sp>
        <p:nvSpPr>
          <p:cNvPr id="195588" name="Slide Number Placeholder 5"/>
          <p:cNvSpPr>
            <a:spLocks noGrp="1"/>
          </p:cNvSpPr>
          <p:nvPr>
            <p:ph type="sldNum" sz="quarter" idx="10"/>
          </p:nvPr>
        </p:nvSpPr>
        <p:spPr>
          <a:xfrm>
            <a:off x="7239000" y="6519863"/>
            <a:ext cx="1905000" cy="338137"/>
          </a:xfrm>
          <a:noFill/>
        </p:spPr>
        <p:txBody>
          <a:bodyPr/>
          <a:lstStyle/>
          <a:p>
            <a:fld id="{37B1C3E8-7094-47FB-9CE3-59D460DAA7A8}" type="slidenum">
              <a:rPr lang="en-US" smtClean="0"/>
              <a:pPr/>
              <a:t>170</a:t>
            </a:fld>
            <a:endParaRPr lang="en-US"/>
          </a:p>
        </p:txBody>
      </p:sp>
    </p:spTree>
  </p:cSld>
  <p:clrMapOvr>
    <a:masterClrMapping/>
  </p:clrMapOv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(Inspection TCTO)</a:t>
            </a:r>
          </a:p>
          <a:p>
            <a:pPr marL="0" indent="0">
              <a:spcAft>
                <a:spcPct val="20000"/>
              </a:spcAft>
              <a:buNone/>
              <a:defRPr/>
            </a:pPr>
            <a:endParaRPr lang="en-US" sz="2800" dirty="0"/>
          </a:p>
          <a:p>
            <a:pPr marL="687388" lvl="1" indent="-236538">
              <a:spcAft>
                <a:spcPct val="20000"/>
              </a:spcAft>
              <a:defRPr/>
            </a:pPr>
            <a:r>
              <a:rPr lang="en-US" sz="2600" dirty="0"/>
              <a:t>Are non-configuration change TCTOs</a:t>
            </a:r>
          </a:p>
          <a:p>
            <a:pPr marL="808038" lvl="1" indent="-350838">
              <a:spcAft>
                <a:spcPct val="20000"/>
              </a:spcAft>
              <a:defRPr/>
            </a:pPr>
            <a:r>
              <a:rPr lang="en-US" dirty="0"/>
              <a:t>Direct a one-time inspection to determine equipment condition or configuration</a:t>
            </a:r>
          </a:p>
          <a:p>
            <a:pPr marL="808038" lvl="1" indent="-350838">
              <a:spcAft>
                <a:spcPct val="20000"/>
              </a:spcAft>
              <a:defRPr/>
            </a:pPr>
            <a:r>
              <a:rPr lang="en-US" dirty="0"/>
              <a:t>Approved by the appropriate ES division</a:t>
            </a:r>
          </a:p>
          <a:p>
            <a:pPr marL="808038" lvl="1" indent="-350838">
              <a:spcAft>
                <a:spcPct val="20000"/>
              </a:spcAft>
              <a:defRPr/>
            </a:pPr>
            <a:r>
              <a:rPr lang="en-US" dirty="0"/>
              <a:t>Require inspection only</a:t>
            </a:r>
          </a:p>
          <a:p>
            <a:pPr marL="687388" lvl="1" indent="-236538">
              <a:spcAft>
                <a:spcPct val="20000"/>
              </a:spcAft>
              <a:buFont typeface="Arial" pitchFamily="34" charset="0"/>
              <a:buChar char="•"/>
              <a:defRPr/>
            </a:pPr>
            <a:endParaRPr lang="en-US" dirty="0"/>
          </a:p>
        </p:txBody>
      </p:sp>
      <p:sp>
        <p:nvSpPr>
          <p:cNvPr id="196612" name="Slide Number Placeholder 5"/>
          <p:cNvSpPr>
            <a:spLocks noGrp="1"/>
          </p:cNvSpPr>
          <p:nvPr>
            <p:ph type="sldNum" sz="quarter" idx="10"/>
          </p:nvPr>
        </p:nvSpPr>
        <p:spPr>
          <a:xfrm>
            <a:off x="7239000" y="6519863"/>
            <a:ext cx="1905000" cy="338137"/>
          </a:xfrm>
          <a:noFill/>
        </p:spPr>
        <p:txBody>
          <a:bodyPr/>
          <a:lstStyle/>
          <a:p>
            <a:fld id="{6348E348-3482-4C76-B5EA-13F6C9E10DE6}" type="slidenum">
              <a:rPr lang="en-US" smtClean="0"/>
              <a:pPr/>
              <a:t>171</a:t>
            </a:fld>
            <a:endParaRPr lang="en-US"/>
          </a:p>
        </p:txBody>
      </p:sp>
    </p:spTree>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(Inspection TCTO)</a:t>
            </a:r>
          </a:p>
          <a:p>
            <a:pPr marL="228600" indent="-228600">
              <a:spcAft>
                <a:spcPct val="20000"/>
              </a:spcAft>
              <a:defRPr/>
            </a:pPr>
            <a:endParaRPr lang="en-US" sz="2800" dirty="0"/>
          </a:p>
          <a:p>
            <a:pPr marL="808038" lvl="1" indent="-350838">
              <a:spcAft>
                <a:spcPct val="20000"/>
              </a:spcAft>
              <a:defRPr/>
            </a:pPr>
            <a:r>
              <a:rPr lang="en-US" dirty="0"/>
              <a:t>Inspection and replacement of hardware with like serviceable items</a:t>
            </a:r>
          </a:p>
          <a:p>
            <a:pPr marL="808038" lvl="1" indent="-350838">
              <a:spcAft>
                <a:spcPct val="20000"/>
              </a:spcAft>
              <a:defRPr/>
            </a:pPr>
            <a:r>
              <a:rPr lang="en-US" dirty="0"/>
              <a:t>Inspection with repair in accordance with repair manuals</a:t>
            </a:r>
          </a:p>
          <a:p>
            <a:pPr marL="808038" lvl="1" indent="-350838">
              <a:spcAft>
                <a:spcPct val="20000"/>
              </a:spcAft>
              <a:defRPr/>
            </a:pPr>
            <a:r>
              <a:rPr lang="en-US" dirty="0"/>
              <a:t>Requirements which do not change Form, Fit or Function</a:t>
            </a:r>
            <a:endParaRPr lang="en-US" b="1" u="sng" dirty="0"/>
          </a:p>
          <a:p>
            <a:pPr marL="687388" lvl="1" indent="-236538">
              <a:spcAft>
                <a:spcPct val="20000"/>
              </a:spcAft>
              <a:buFont typeface="Arial" pitchFamily="34" charset="0"/>
              <a:buChar char="•"/>
              <a:defRPr/>
            </a:pPr>
            <a:endParaRPr lang="en-US" dirty="0"/>
          </a:p>
        </p:txBody>
      </p:sp>
      <p:sp>
        <p:nvSpPr>
          <p:cNvPr id="197636" name="Slide Number Placeholder 5"/>
          <p:cNvSpPr>
            <a:spLocks noGrp="1"/>
          </p:cNvSpPr>
          <p:nvPr>
            <p:ph type="sldNum" sz="quarter" idx="10"/>
          </p:nvPr>
        </p:nvSpPr>
        <p:spPr>
          <a:xfrm>
            <a:off x="7239000" y="6519863"/>
            <a:ext cx="1905000" cy="338137"/>
          </a:xfrm>
          <a:noFill/>
        </p:spPr>
        <p:txBody>
          <a:bodyPr/>
          <a:lstStyle/>
          <a:p>
            <a:fld id="{EC686F84-DA9E-44BE-AC2B-B5DE66A5DD49}" type="slidenum">
              <a:rPr lang="en-US" smtClean="0"/>
              <a:pPr/>
              <a:t>172</a:t>
            </a:fld>
            <a:endParaRPr lang="en-US"/>
          </a:p>
        </p:txBody>
      </p:sp>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(Inspection TCTO)</a:t>
            </a:r>
          </a:p>
          <a:p>
            <a:pPr marL="228600" indent="-228600">
              <a:spcAft>
                <a:spcPct val="20000"/>
              </a:spcAft>
              <a:defRPr/>
            </a:pPr>
            <a:endParaRPr lang="en-US" sz="2800" dirty="0"/>
          </a:p>
          <a:p>
            <a:pPr marL="685800" lvl="1" indent="-234950">
              <a:spcAft>
                <a:spcPct val="20000"/>
              </a:spcAft>
              <a:defRPr/>
            </a:pPr>
            <a:r>
              <a:rPr lang="en-US" sz="2200" b="1" dirty="0"/>
              <a:t>FORM</a:t>
            </a:r>
            <a:r>
              <a:rPr lang="en-US" sz="2200" dirty="0"/>
              <a:t> is the shape, size, dimensions, mass, weight, and other unique characteristics of an item</a:t>
            </a:r>
          </a:p>
          <a:p>
            <a:pPr marL="685800" lvl="1" indent="-234950">
              <a:spcAft>
                <a:spcPct val="20000"/>
              </a:spcAft>
              <a:defRPr/>
            </a:pPr>
            <a:r>
              <a:rPr lang="en-US" sz="2200" b="1" dirty="0"/>
              <a:t>FIT</a:t>
            </a:r>
            <a:r>
              <a:rPr lang="en-US" sz="2200" dirty="0"/>
              <a:t> is the ability of an item to physically interface or interconnect with or become an integral part of another item</a:t>
            </a:r>
          </a:p>
          <a:p>
            <a:pPr marL="685800" lvl="1" indent="-234950">
              <a:spcAft>
                <a:spcPct val="20000"/>
              </a:spcAft>
              <a:defRPr/>
            </a:pPr>
            <a:r>
              <a:rPr lang="en-US" sz="2200" b="1" dirty="0"/>
              <a:t>FUNCTION </a:t>
            </a:r>
            <a:r>
              <a:rPr lang="en-US" sz="2200" dirty="0"/>
              <a:t>is the action or actions that an item is designed to perform</a:t>
            </a:r>
          </a:p>
        </p:txBody>
      </p:sp>
      <p:sp>
        <p:nvSpPr>
          <p:cNvPr id="198660" name="Slide Number Placeholder 5"/>
          <p:cNvSpPr>
            <a:spLocks noGrp="1"/>
          </p:cNvSpPr>
          <p:nvPr>
            <p:ph type="sldNum" sz="quarter" idx="10"/>
          </p:nvPr>
        </p:nvSpPr>
        <p:spPr>
          <a:xfrm>
            <a:off x="7239000" y="6519863"/>
            <a:ext cx="1905000" cy="338137"/>
          </a:xfrm>
          <a:noFill/>
        </p:spPr>
        <p:txBody>
          <a:bodyPr/>
          <a:lstStyle/>
          <a:p>
            <a:fld id="{070557F5-E488-465C-82A9-B5BEC30C7189}" type="slidenum">
              <a:rPr lang="en-US" smtClean="0"/>
              <a:pPr/>
              <a:t>173</a:t>
            </a:fld>
            <a:endParaRPr lang="en-US"/>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(Record TCTO)</a:t>
            </a:r>
          </a:p>
          <a:p>
            <a:pPr marL="228600" indent="-228600">
              <a:spcAft>
                <a:spcPct val="20000"/>
              </a:spcAft>
              <a:defRPr/>
            </a:pPr>
            <a:endParaRPr lang="en-US" sz="2800" dirty="0"/>
          </a:p>
          <a:p>
            <a:pPr marL="687388" lvl="1" indent="-236538">
              <a:spcAft>
                <a:spcPct val="20000"/>
              </a:spcAft>
              <a:defRPr/>
            </a:pPr>
            <a:r>
              <a:rPr kumimoji="1" lang="en-US" sz="2600" dirty="0"/>
              <a:t>Record TCTOs do not contain step-by-step instructions</a:t>
            </a:r>
          </a:p>
          <a:p>
            <a:pPr marL="687388" lvl="1" indent="-236538">
              <a:spcAft>
                <a:spcPct val="20000"/>
              </a:spcAft>
              <a:defRPr/>
            </a:pPr>
            <a:r>
              <a:rPr kumimoji="1" lang="en-US" sz="2600" dirty="0"/>
              <a:t>They tabulate the equipment affected, index necessary installation drawings and instructions, and list required parts which are provided by kits</a:t>
            </a:r>
            <a:endParaRPr lang="en-US" dirty="0"/>
          </a:p>
        </p:txBody>
      </p:sp>
      <p:sp>
        <p:nvSpPr>
          <p:cNvPr id="199684" name="Slide Number Placeholder 5"/>
          <p:cNvSpPr>
            <a:spLocks noGrp="1"/>
          </p:cNvSpPr>
          <p:nvPr>
            <p:ph type="sldNum" sz="quarter" idx="10"/>
          </p:nvPr>
        </p:nvSpPr>
        <p:spPr>
          <a:xfrm>
            <a:off x="7239000" y="6519863"/>
            <a:ext cx="1905000" cy="338137"/>
          </a:xfrm>
          <a:noFill/>
        </p:spPr>
        <p:txBody>
          <a:bodyPr/>
          <a:lstStyle/>
          <a:p>
            <a:fld id="{FBAF233F-1E03-4216-B56F-6C72DCD5CD0D}" type="slidenum">
              <a:rPr lang="en-US" smtClean="0"/>
              <a:pPr/>
              <a:t>174</a:t>
            </a:fld>
            <a:endParaRPr lang="en-US"/>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(Record TCTO)</a:t>
            </a:r>
          </a:p>
          <a:p>
            <a:pPr marL="228600" indent="-228600">
              <a:spcAft>
                <a:spcPct val="20000"/>
              </a:spcAft>
              <a:defRPr/>
            </a:pPr>
            <a:endParaRPr lang="en-US" sz="2800" dirty="0"/>
          </a:p>
          <a:p>
            <a:pPr marL="687388" lvl="1" indent="-236538">
              <a:spcAft>
                <a:spcPct val="20000"/>
              </a:spcAft>
              <a:defRPr/>
            </a:pPr>
            <a:r>
              <a:rPr kumimoji="1" lang="en-US" sz="2600" dirty="0"/>
              <a:t>Record TCTOs identify two types of retrofit changes:</a:t>
            </a:r>
          </a:p>
          <a:p>
            <a:pPr marL="1104901" lvl="2" indent="-350838">
              <a:spcAft>
                <a:spcPct val="20000"/>
              </a:spcAft>
              <a:defRPr/>
            </a:pPr>
            <a:r>
              <a:rPr kumimoji="1" lang="en-US" dirty="0"/>
              <a:t>Complex changes that must be accomplished by contractors, modification centers, or specific Air Force activities</a:t>
            </a:r>
          </a:p>
          <a:p>
            <a:pPr marL="1104901" lvl="2" indent="-350838">
              <a:spcAft>
                <a:spcPct val="20000"/>
              </a:spcAft>
              <a:defRPr/>
            </a:pPr>
            <a:r>
              <a:rPr kumimoji="1" lang="en-US" dirty="0"/>
              <a:t>Prototype TCTO installations which are to remain installed on the system or commodity</a:t>
            </a:r>
          </a:p>
          <a:p>
            <a:pPr marL="687388" lvl="1" indent="-236538">
              <a:spcAft>
                <a:spcPct val="20000"/>
              </a:spcAft>
              <a:buFont typeface="Arial" pitchFamily="34" charset="0"/>
              <a:buChar char="•"/>
              <a:defRPr/>
            </a:pPr>
            <a:endParaRPr lang="en-US" dirty="0"/>
          </a:p>
        </p:txBody>
      </p:sp>
      <p:sp>
        <p:nvSpPr>
          <p:cNvPr id="200708" name="Slide Number Placeholder 5"/>
          <p:cNvSpPr>
            <a:spLocks noGrp="1"/>
          </p:cNvSpPr>
          <p:nvPr>
            <p:ph type="sldNum" sz="quarter" idx="10"/>
          </p:nvPr>
        </p:nvSpPr>
        <p:spPr>
          <a:xfrm>
            <a:off x="7239000" y="6519863"/>
            <a:ext cx="1905000" cy="338137"/>
          </a:xfrm>
          <a:noFill/>
        </p:spPr>
        <p:txBody>
          <a:bodyPr/>
          <a:lstStyle/>
          <a:p>
            <a:fld id="{5C8D0430-FE1A-4F5F-BE55-06455CDD55D7}" type="slidenum">
              <a:rPr lang="en-US" smtClean="0"/>
              <a:pPr/>
              <a:t>175</a:t>
            </a:fld>
            <a:endParaRPr lang="en-US"/>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(Companion TCTO)</a:t>
            </a:r>
          </a:p>
          <a:p>
            <a:pPr marL="228600" indent="-228600">
              <a:spcAft>
                <a:spcPct val="20000"/>
              </a:spcAft>
              <a:defRPr/>
            </a:pPr>
            <a:endParaRPr lang="en-US" sz="2800" dirty="0"/>
          </a:p>
          <a:p>
            <a:pPr marL="687388" lvl="1" indent="-236538">
              <a:spcAft>
                <a:spcPct val="20000"/>
              </a:spcAft>
              <a:defRPr/>
            </a:pPr>
            <a:r>
              <a:rPr kumimoji="1" lang="en-US" sz="2600" dirty="0"/>
              <a:t>Optional if can wait until next scheduled or unscheduled maintenance</a:t>
            </a:r>
          </a:p>
          <a:p>
            <a:pPr marL="687388" lvl="1" indent="-236538">
              <a:spcAft>
                <a:spcPct val="20000"/>
              </a:spcAft>
              <a:defRPr/>
            </a:pPr>
            <a:r>
              <a:rPr kumimoji="1" lang="en-US" sz="2600" dirty="0"/>
              <a:t>Companion TCTOs are commodity driven:</a:t>
            </a:r>
          </a:p>
          <a:p>
            <a:pPr marL="1104901" lvl="2" indent="-350838">
              <a:spcAft>
                <a:spcPct val="20000"/>
              </a:spcAft>
              <a:defRPr/>
            </a:pPr>
            <a:r>
              <a:rPr kumimoji="1" lang="en-US" dirty="0"/>
              <a:t>Prepared for all impacted systems and platforms</a:t>
            </a:r>
          </a:p>
          <a:p>
            <a:pPr marL="1104901" lvl="2" indent="-350838">
              <a:spcAft>
                <a:spcPct val="20000"/>
              </a:spcAft>
              <a:defRPr/>
            </a:pPr>
            <a:r>
              <a:rPr kumimoji="1" lang="en-US" dirty="0"/>
              <a:t>Removes commodity from end item</a:t>
            </a:r>
          </a:p>
          <a:p>
            <a:pPr marL="687388" lvl="1" indent="-236538">
              <a:spcAft>
                <a:spcPct val="20000"/>
              </a:spcAft>
              <a:defRPr/>
            </a:pPr>
            <a:r>
              <a:rPr kumimoji="1" lang="en-US" sz="2600" dirty="0"/>
              <a:t>Exception for engines tracked in CEMS</a:t>
            </a:r>
          </a:p>
          <a:p>
            <a:pPr marL="687388" lvl="1" indent="-236538">
              <a:spcAft>
                <a:spcPct val="20000"/>
              </a:spcAft>
              <a:buFont typeface="Arial" pitchFamily="34" charset="0"/>
              <a:buChar char="•"/>
              <a:defRPr/>
            </a:pPr>
            <a:endParaRPr lang="en-US" dirty="0"/>
          </a:p>
        </p:txBody>
      </p:sp>
      <p:sp>
        <p:nvSpPr>
          <p:cNvPr id="201732" name="Slide Number Placeholder 5"/>
          <p:cNvSpPr>
            <a:spLocks noGrp="1"/>
          </p:cNvSpPr>
          <p:nvPr>
            <p:ph type="sldNum" sz="quarter" idx="10"/>
          </p:nvPr>
        </p:nvSpPr>
        <p:spPr>
          <a:xfrm>
            <a:off x="7239000" y="6519863"/>
            <a:ext cx="1905000" cy="338137"/>
          </a:xfrm>
          <a:noFill/>
        </p:spPr>
        <p:txBody>
          <a:bodyPr/>
          <a:lstStyle/>
          <a:p>
            <a:fld id="{068CE487-9A98-4299-8C34-3CD3C5399A8E}" type="slidenum">
              <a:rPr lang="en-US" smtClean="0"/>
              <a:pPr/>
              <a:t>176</a:t>
            </a:fld>
            <a:endParaRPr lang="en-US"/>
          </a:p>
        </p:txBody>
      </p:sp>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(Supplements)</a:t>
            </a:r>
          </a:p>
          <a:p>
            <a:pPr marL="228600" indent="-228600">
              <a:spcAft>
                <a:spcPct val="20000"/>
              </a:spcAft>
              <a:defRPr/>
            </a:pPr>
            <a:endParaRPr lang="en-US" sz="2800" dirty="0"/>
          </a:p>
          <a:p>
            <a:pPr marL="687388" lvl="1" indent="-236538">
              <a:spcAft>
                <a:spcPct val="20000"/>
              </a:spcAft>
              <a:defRPr/>
            </a:pPr>
            <a:r>
              <a:rPr lang="en-US" sz="2600" dirty="0"/>
              <a:t>Change or amend the basic TCTO</a:t>
            </a:r>
          </a:p>
          <a:p>
            <a:pPr marL="687388" lvl="1" indent="-236538">
              <a:spcAft>
                <a:spcPct val="20000"/>
              </a:spcAft>
              <a:defRPr/>
            </a:pPr>
            <a:r>
              <a:rPr lang="en-US" sz="2600" dirty="0"/>
              <a:t>Heading “Supplement to Basic Technical Order”</a:t>
            </a:r>
          </a:p>
          <a:p>
            <a:pPr marL="687388" lvl="1" indent="-236538">
              <a:spcAft>
                <a:spcPct val="20000"/>
              </a:spcAft>
              <a:defRPr/>
            </a:pPr>
            <a:r>
              <a:rPr lang="en-US" sz="2600" dirty="0"/>
              <a:t>Assume same urgency as the basic TCTO</a:t>
            </a:r>
          </a:p>
          <a:p>
            <a:pPr marL="687388" lvl="1" indent="-236538">
              <a:spcAft>
                <a:spcPct val="20000"/>
              </a:spcAft>
              <a:defRPr/>
            </a:pPr>
            <a:r>
              <a:rPr lang="en-US" sz="2600" dirty="0"/>
              <a:t>Not issued to correct compliance period, rescission date or man-hours</a:t>
            </a:r>
          </a:p>
          <a:p>
            <a:pPr marL="687388" lvl="1" indent="-236538">
              <a:spcAft>
                <a:spcPct val="20000"/>
              </a:spcAft>
              <a:buFont typeface="Arial" pitchFamily="34" charset="0"/>
              <a:buChar char="•"/>
              <a:defRPr/>
            </a:pPr>
            <a:endParaRPr lang="en-US" dirty="0"/>
          </a:p>
        </p:txBody>
      </p:sp>
      <p:sp>
        <p:nvSpPr>
          <p:cNvPr id="202756" name="Slide Number Placeholder 5"/>
          <p:cNvSpPr>
            <a:spLocks noGrp="1"/>
          </p:cNvSpPr>
          <p:nvPr>
            <p:ph type="sldNum" sz="quarter" idx="10"/>
          </p:nvPr>
        </p:nvSpPr>
        <p:spPr>
          <a:xfrm>
            <a:off x="7239000" y="6519863"/>
            <a:ext cx="1905000" cy="338137"/>
          </a:xfrm>
          <a:noFill/>
        </p:spPr>
        <p:txBody>
          <a:bodyPr/>
          <a:lstStyle/>
          <a:p>
            <a:fld id="{5D1CA295-8CCA-431B-87F4-13CC468262F5}" type="slidenum">
              <a:rPr lang="en-US" smtClean="0"/>
              <a:pPr/>
              <a:t>177</a:t>
            </a:fld>
            <a:endParaRPr lang="en-US"/>
          </a:p>
        </p:txBody>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(Interim TCTO)</a:t>
            </a:r>
          </a:p>
          <a:p>
            <a:pPr marL="228600" indent="-228600">
              <a:spcAft>
                <a:spcPct val="20000"/>
              </a:spcAft>
              <a:defRPr/>
            </a:pPr>
            <a:endParaRPr lang="en-US" sz="2800" dirty="0"/>
          </a:p>
          <a:p>
            <a:pPr marL="687388" lvl="1" indent="-236538">
              <a:spcAft>
                <a:spcPct val="20000"/>
              </a:spcAft>
              <a:defRPr/>
            </a:pPr>
            <a:r>
              <a:rPr lang="en-US" sz="2600" dirty="0"/>
              <a:t>When circumstances preclude timely publication of emergency instructions as formal TCTOs, ITCTOs are issued by electronic means</a:t>
            </a:r>
          </a:p>
          <a:p>
            <a:pPr marL="687388" lvl="1" indent="-236538">
              <a:spcAft>
                <a:spcPct val="20000"/>
              </a:spcAft>
              <a:defRPr/>
            </a:pPr>
            <a:r>
              <a:rPr lang="en-US" sz="2600" dirty="0"/>
              <a:t>Immediate Action, Urgent Action, and Routine Safety Inspection TCTOs with less than 35 day compliance periods are normally issued as an ITCTO</a:t>
            </a:r>
          </a:p>
          <a:p>
            <a:pPr marL="687388" lvl="1" indent="-236538">
              <a:spcAft>
                <a:spcPct val="20000"/>
              </a:spcAft>
              <a:buFont typeface="Arial" pitchFamily="34" charset="0"/>
              <a:buChar char="•"/>
              <a:defRPr/>
            </a:pPr>
            <a:endParaRPr lang="en-US" dirty="0"/>
          </a:p>
        </p:txBody>
      </p:sp>
      <p:sp>
        <p:nvSpPr>
          <p:cNvPr id="203780" name="Slide Number Placeholder 5"/>
          <p:cNvSpPr>
            <a:spLocks noGrp="1"/>
          </p:cNvSpPr>
          <p:nvPr>
            <p:ph type="sldNum" sz="quarter" idx="10"/>
          </p:nvPr>
        </p:nvSpPr>
        <p:spPr>
          <a:xfrm>
            <a:off x="7239000" y="6519863"/>
            <a:ext cx="1905000" cy="338137"/>
          </a:xfrm>
          <a:noFill/>
        </p:spPr>
        <p:txBody>
          <a:bodyPr/>
          <a:lstStyle/>
          <a:p>
            <a:fld id="{A6A483EC-28B1-49CF-9B72-785841809948}" type="slidenum">
              <a:rPr lang="en-US" smtClean="0"/>
              <a:pPr/>
              <a:t>178</a:t>
            </a:fld>
            <a:endParaRPr lang="en-US"/>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p:txBody>
          <a:bodyPr/>
          <a:lstStyle/>
          <a:p>
            <a:pPr eaLnBrk="1" hangingPunct="1">
              <a:defRPr/>
            </a:pPr>
            <a:r>
              <a:rPr lang="en-US" dirty="0"/>
              <a:t>Permanent Modifications</a:t>
            </a:r>
          </a:p>
          <a:p>
            <a:pPr marL="228600" indent="-228600">
              <a:spcAft>
                <a:spcPct val="20000"/>
              </a:spcAft>
              <a:defRPr/>
            </a:pPr>
            <a:r>
              <a:rPr lang="en-US" sz="2800" dirty="0"/>
              <a:t>Types of TCTOs (Interim TCTO)</a:t>
            </a:r>
          </a:p>
          <a:p>
            <a:pPr marL="687388" lvl="1" indent="-236538">
              <a:spcAft>
                <a:spcPct val="20000"/>
              </a:spcAft>
              <a:defRPr/>
            </a:pPr>
            <a:r>
              <a:rPr lang="en-US" sz="2600" dirty="0"/>
              <a:t>Notify AFMC/CC of </a:t>
            </a:r>
            <a:r>
              <a:rPr lang="en-US" sz="2600" b="1" u="sng" dirty="0"/>
              <a:t>ALL</a:t>
            </a:r>
            <a:r>
              <a:rPr lang="en-US" sz="2600" dirty="0"/>
              <a:t> Immediate and Urgent ITCTOs</a:t>
            </a:r>
          </a:p>
          <a:p>
            <a:pPr marL="1104901" lvl="2" indent="-350838">
              <a:spcAft>
                <a:spcPct val="20000"/>
              </a:spcAft>
              <a:defRPr/>
            </a:pPr>
            <a:r>
              <a:rPr lang="en-US" dirty="0"/>
              <a:t>Enables AFMC/CC to engage support commanders as necessary</a:t>
            </a:r>
          </a:p>
          <a:p>
            <a:pPr marL="1104901" lvl="2" indent="-350838">
              <a:spcAft>
                <a:spcPct val="20000"/>
              </a:spcAft>
              <a:defRPr/>
            </a:pPr>
            <a:r>
              <a:rPr lang="en-US" dirty="0"/>
              <a:t>Both Immediate and Urgent involve significant events</a:t>
            </a:r>
          </a:p>
          <a:p>
            <a:pPr marL="687388" lvl="1" indent="-236538">
              <a:spcAft>
                <a:spcPct val="20000"/>
              </a:spcAft>
              <a:defRPr/>
            </a:pPr>
            <a:r>
              <a:rPr lang="en-US" sz="2600" dirty="0"/>
              <a:t>Operational Reports (OPREP) Note added to ITCTO Checklists</a:t>
            </a:r>
          </a:p>
          <a:p>
            <a:pPr marL="808038" lvl="1" indent="-350838">
              <a:spcAft>
                <a:spcPct val="20000"/>
              </a:spcAft>
              <a:defRPr/>
            </a:pPr>
            <a:r>
              <a:rPr lang="en-US" dirty="0"/>
              <a:t>Reminds PM of OPREP reporting requirements IAW </a:t>
            </a:r>
            <a:br>
              <a:rPr lang="en-US" dirty="0"/>
            </a:br>
            <a:r>
              <a:rPr lang="en-US" dirty="0"/>
              <a:t>AFI 10-206, </a:t>
            </a:r>
            <a:r>
              <a:rPr lang="en-US" i="1" dirty="0"/>
              <a:t>Operational Reporting</a:t>
            </a:r>
            <a:endParaRPr lang="en-US" dirty="0"/>
          </a:p>
          <a:p>
            <a:pPr marL="687388" lvl="1" indent="-236538">
              <a:spcAft>
                <a:spcPct val="20000"/>
              </a:spcAft>
              <a:buFont typeface="Arial" pitchFamily="34" charset="0"/>
              <a:buChar char="•"/>
              <a:defRPr/>
            </a:pPr>
            <a:endParaRPr lang="en-US" dirty="0"/>
          </a:p>
        </p:txBody>
      </p:sp>
      <p:sp>
        <p:nvSpPr>
          <p:cNvPr id="204804" name="Slide Number Placeholder 5"/>
          <p:cNvSpPr>
            <a:spLocks noGrp="1"/>
          </p:cNvSpPr>
          <p:nvPr>
            <p:ph type="sldNum" sz="quarter" idx="10"/>
          </p:nvPr>
        </p:nvSpPr>
        <p:spPr>
          <a:xfrm>
            <a:off x="7239000" y="6519863"/>
            <a:ext cx="1905000" cy="338137"/>
          </a:xfrm>
          <a:noFill/>
        </p:spPr>
        <p:txBody>
          <a:bodyPr/>
          <a:lstStyle/>
          <a:p>
            <a:fld id="{13E2AA88-4401-4DDF-976C-094CF8C33755}" type="slidenum">
              <a:rPr lang="en-US" smtClean="0"/>
              <a:pPr/>
              <a:t>179</a:t>
            </a:fld>
            <a:endParaRPr lang="en-US"/>
          </a:p>
        </p:txBody>
      </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a:xfrm>
            <a:off x="304800" y="1087438"/>
            <a:ext cx="8686800" cy="4953000"/>
          </a:xfrm>
        </p:spPr>
        <p:txBody>
          <a:bodyPr/>
          <a:lstStyle/>
          <a:p>
            <a:pPr eaLnBrk="1" hangingPunct="1">
              <a:defRPr/>
            </a:pPr>
            <a:r>
              <a:rPr lang="en-US" dirty="0"/>
              <a:t>Permanent Modifications</a:t>
            </a:r>
          </a:p>
          <a:p>
            <a:pPr marL="228600" indent="-228600">
              <a:spcAft>
                <a:spcPct val="20000"/>
              </a:spcAft>
              <a:defRPr/>
            </a:pPr>
            <a:r>
              <a:rPr lang="en-US" sz="2800" dirty="0"/>
              <a:t>Types of TCTOs (Interim TCTO)</a:t>
            </a:r>
          </a:p>
          <a:p>
            <a:pPr marL="236538" indent="-236538">
              <a:spcAft>
                <a:spcPct val="20000"/>
              </a:spcAft>
              <a:defRPr/>
            </a:pPr>
            <a:r>
              <a:rPr lang="en-US" dirty="0"/>
              <a:t>When an Immediate/Urgent Action ITCTO will be issued</a:t>
            </a:r>
          </a:p>
          <a:p>
            <a:pPr marL="808038" lvl="1" indent="-350838">
              <a:spcAft>
                <a:spcPct val="20000"/>
              </a:spcAft>
              <a:defRPr/>
            </a:pPr>
            <a:r>
              <a:rPr lang="en-US" dirty="0"/>
              <a:t>The responsible Program Manager will notify:</a:t>
            </a:r>
          </a:p>
          <a:p>
            <a:pPr marL="1150938" lvl="2">
              <a:spcAft>
                <a:spcPct val="20000"/>
              </a:spcAft>
              <a:defRPr/>
            </a:pPr>
            <a:r>
              <a:rPr lang="en-US" sz="2200" dirty="0"/>
              <a:t>  Senior AFMC and USAF leaders </a:t>
            </a:r>
          </a:p>
          <a:p>
            <a:pPr marL="1150938" lvl="2">
              <a:spcAft>
                <a:spcPct val="20000"/>
              </a:spcAft>
              <a:defRPr/>
            </a:pPr>
            <a:r>
              <a:rPr lang="en-US" sz="2200" dirty="0"/>
              <a:t>  The Program Executive Officer (PEO)</a:t>
            </a:r>
          </a:p>
          <a:p>
            <a:pPr marL="1150938" lvl="2">
              <a:spcAft>
                <a:spcPct val="20000"/>
              </a:spcAft>
              <a:defRPr/>
            </a:pPr>
            <a:r>
              <a:rPr lang="en-US" sz="2200" dirty="0"/>
              <a:t>  The responsible Center Commander</a:t>
            </a:r>
          </a:p>
          <a:p>
            <a:pPr marL="1150938" lvl="2">
              <a:spcAft>
                <a:spcPct val="20000"/>
              </a:spcAft>
              <a:defRPr/>
            </a:pPr>
            <a:r>
              <a:rPr lang="en-US" sz="2200" dirty="0"/>
              <a:t>  Any affected MAJCOM/CC/A4/A3 offices</a:t>
            </a:r>
          </a:p>
          <a:p>
            <a:pPr marL="1150938" lvl="2">
              <a:spcAft>
                <a:spcPct val="20000"/>
              </a:spcAft>
              <a:defRPr/>
            </a:pPr>
            <a:r>
              <a:rPr lang="en-US" sz="2200" dirty="0"/>
              <a:t>  Local Safety and Public Affairs offices</a:t>
            </a:r>
          </a:p>
          <a:p>
            <a:pPr marL="1150938" lvl="2">
              <a:spcAft>
                <a:spcPct val="20000"/>
              </a:spcAft>
              <a:defRPr/>
            </a:pPr>
            <a:r>
              <a:rPr lang="en-US" sz="2200" dirty="0"/>
              <a:t>  The HQ AFMC Command Center</a:t>
            </a:r>
            <a:endParaRPr lang="en-US" dirty="0"/>
          </a:p>
        </p:txBody>
      </p:sp>
      <p:sp>
        <p:nvSpPr>
          <p:cNvPr id="205828" name="Slide Number Placeholder 5"/>
          <p:cNvSpPr>
            <a:spLocks noGrp="1"/>
          </p:cNvSpPr>
          <p:nvPr>
            <p:ph type="sldNum" sz="quarter" idx="10"/>
          </p:nvPr>
        </p:nvSpPr>
        <p:spPr>
          <a:xfrm>
            <a:off x="7239000" y="6519863"/>
            <a:ext cx="1905000" cy="338137"/>
          </a:xfrm>
          <a:noFill/>
        </p:spPr>
        <p:txBody>
          <a:bodyPr/>
          <a:lstStyle/>
          <a:p>
            <a:fld id="{21894289-1064-423B-BCE2-677C2B07A67C}" type="slidenum">
              <a:rPr lang="en-US" smtClean="0"/>
              <a:pPr/>
              <a:t>180</a:t>
            </a:fld>
            <a:endParaRPr lang="en-US"/>
          </a:p>
        </p:txBody>
      </p:sp>
    </p:spTree>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4"/>
          <p:cNvSpPr>
            <a:spLocks noGrp="1" noChangeArrowheads="1"/>
          </p:cNvSpPr>
          <p:nvPr>
            <p:ph type="title"/>
          </p:nvPr>
        </p:nvSpPr>
        <p:spPr/>
        <p:txBody>
          <a:bodyPr/>
          <a:lstStyle/>
          <a:p>
            <a:pPr eaLnBrk="1" hangingPunct="1"/>
            <a:r>
              <a:rPr lang="en-US"/>
              <a:t>TCTO Types, Verification, Completion, and Rescission</a:t>
            </a:r>
          </a:p>
        </p:txBody>
      </p:sp>
      <p:sp>
        <p:nvSpPr>
          <p:cNvPr id="184323" name="Rectangle 3"/>
          <p:cNvSpPr>
            <a:spLocks noGrp="1" noChangeArrowheads="1"/>
          </p:cNvSpPr>
          <p:nvPr>
            <p:ph idx="1"/>
          </p:nvPr>
        </p:nvSpPr>
        <p:spPr>
          <a:xfrm>
            <a:off x="506412" y="1219200"/>
            <a:ext cx="8131175" cy="4875212"/>
          </a:xfrm>
        </p:spPr>
        <p:txBody>
          <a:bodyPr/>
          <a:lstStyle/>
          <a:p>
            <a:pPr eaLnBrk="1" hangingPunct="1">
              <a:defRPr/>
            </a:pPr>
            <a:r>
              <a:rPr lang="en-US" dirty="0"/>
              <a:t>Permanent Modifications</a:t>
            </a:r>
          </a:p>
          <a:p>
            <a:pPr marL="228600" indent="-228600">
              <a:spcAft>
                <a:spcPct val="20000"/>
              </a:spcAft>
              <a:defRPr/>
            </a:pPr>
            <a:r>
              <a:rPr lang="en-US" sz="2800" dirty="0"/>
              <a:t>Types of TCTOs (Interim TCTO)</a:t>
            </a:r>
          </a:p>
          <a:p>
            <a:pPr marL="687388" lvl="1" indent="-236538">
              <a:spcAft>
                <a:spcPct val="20000"/>
              </a:spcAft>
              <a:defRPr/>
            </a:pPr>
            <a:r>
              <a:rPr lang="en-US" sz="2600" dirty="0"/>
              <a:t>When an Immediate/Urgent Action ITCTO will affect systems/items still under development or in production</a:t>
            </a:r>
          </a:p>
          <a:p>
            <a:pPr marL="1104901" lvl="2" indent="-350838">
              <a:spcAft>
                <a:spcPct val="20000"/>
              </a:spcAft>
              <a:defRPr/>
            </a:pPr>
            <a:r>
              <a:rPr lang="en-US" sz="2200" dirty="0"/>
              <a:t>The responsible PM will notify the Defense Contract Management Agency</a:t>
            </a:r>
          </a:p>
          <a:p>
            <a:pPr marL="687388" lvl="1" indent="-236538">
              <a:spcAft>
                <a:spcPct val="20000"/>
              </a:spcAft>
              <a:defRPr/>
            </a:pPr>
            <a:r>
              <a:rPr lang="en-US" sz="2600" dirty="0"/>
              <a:t>When the ITCTO affects NATO or other foreign governments (</a:t>
            </a:r>
            <a:r>
              <a:rPr lang="en-US" sz="2600" u="sng" dirty="0"/>
              <a:t>before transmission</a:t>
            </a:r>
            <a:r>
              <a:rPr lang="en-US" sz="2600" dirty="0"/>
              <a:t>)</a:t>
            </a:r>
          </a:p>
          <a:p>
            <a:pPr marL="1104901" lvl="2" indent="-350838">
              <a:spcAft>
                <a:spcPct val="20000"/>
              </a:spcAft>
              <a:defRPr/>
            </a:pPr>
            <a:r>
              <a:rPr lang="en-US" dirty="0"/>
              <a:t>The responsible PM will notify</a:t>
            </a:r>
          </a:p>
          <a:p>
            <a:pPr marL="1150938" lvl="2">
              <a:spcAft>
                <a:spcPct val="20000"/>
              </a:spcAft>
              <a:defRPr/>
            </a:pPr>
            <a:r>
              <a:rPr lang="en-US" sz="2200" dirty="0"/>
              <a:t>The Foreign Disclosure Office (FDO</a:t>
            </a:r>
            <a:endParaRPr lang="en-US" dirty="0"/>
          </a:p>
        </p:txBody>
      </p:sp>
      <p:sp>
        <p:nvSpPr>
          <p:cNvPr id="206852" name="Slide Number Placeholder 5"/>
          <p:cNvSpPr>
            <a:spLocks noGrp="1"/>
          </p:cNvSpPr>
          <p:nvPr>
            <p:ph type="sldNum" sz="quarter" idx="10"/>
          </p:nvPr>
        </p:nvSpPr>
        <p:spPr>
          <a:xfrm>
            <a:off x="7239000" y="6519863"/>
            <a:ext cx="1905000" cy="338137"/>
          </a:xfrm>
          <a:noFill/>
        </p:spPr>
        <p:txBody>
          <a:bodyPr/>
          <a:lstStyle/>
          <a:p>
            <a:fld id="{D66A3CA1-9DF8-4E2A-A1F7-0E3BC1795BDA}" type="slidenum">
              <a:rPr lang="en-US" smtClean="0"/>
              <a:pPr/>
              <a:t>181</a:t>
            </a:fld>
            <a:endParaRPr lang="en-US"/>
          </a:p>
        </p:txBody>
      </p:sp>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r>
              <a:rPr lang="en-US"/>
              <a:t>TCTO Types, Verification, Completion, and Rescission</a:t>
            </a:r>
          </a:p>
        </p:txBody>
      </p:sp>
      <p:sp>
        <p:nvSpPr>
          <p:cNvPr id="207875" name="Rectangle 3"/>
          <p:cNvSpPr>
            <a:spLocks noGrp="1" noChangeArrowheads="1"/>
          </p:cNvSpPr>
          <p:nvPr>
            <p:ph idx="1"/>
          </p:nvPr>
        </p:nvSpPr>
        <p:spPr/>
        <p:txBody>
          <a:bodyPr/>
          <a:lstStyle/>
          <a:p>
            <a:endParaRPr lang="en-US" dirty="0"/>
          </a:p>
          <a:p>
            <a:endParaRPr lang="en-US" dirty="0"/>
          </a:p>
          <a:p>
            <a:endParaRPr lang="en-US" dirty="0"/>
          </a:p>
          <a:p>
            <a:endParaRPr lang="en-US" dirty="0"/>
          </a:p>
          <a:p>
            <a:r>
              <a:rPr lang="en-US" dirty="0"/>
              <a:t>Objective:  Determine the TCTO designated level of accomplishment</a:t>
            </a:r>
          </a:p>
        </p:txBody>
      </p:sp>
      <p:sp>
        <p:nvSpPr>
          <p:cNvPr id="207876" name="Slide Number Placeholder 5"/>
          <p:cNvSpPr>
            <a:spLocks noGrp="1"/>
          </p:cNvSpPr>
          <p:nvPr>
            <p:ph type="sldNum" sz="quarter" idx="10"/>
          </p:nvPr>
        </p:nvSpPr>
        <p:spPr>
          <a:xfrm>
            <a:off x="7239000" y="6519863"/>
            <a:ext cx="1905000" cy="338137"/>
          </a:xfrm>
          <a:noFill/>
        </p:spPr>
        <p:txBody>
          <a:bodyPr/>
          <a:lstStyle/>
          <a:p>
            <a:fld id="{266025BB-2FE8-4561-9A45-A77E06231084}" type="slidenum">
              <a:rPr lang="en-US" smtClean="0"/>
              <a:pPr/>
              <a:t>182</a:t>
            </a:fld>
            <a:endParaRPr lang="en-US"/>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08899" name="Rectangle 3"/>
          <p:cNvSpPr>
            <a:spLocks noGrp="1" noChangeArrowheads="1"/>
          </p:cNvSpPr>
          <p:nvPr>
            <p:ph idx="1"/>
          </p:nvPr>
        </p:nvSpPr>
        <p:spPr/>
        <p:txBody>
          <a:bodyPr/>
          <a:lstStyle/>
          <a:p>
            <a:pPr eaLnBrk="1" hangingPunct="1"/>
            <a:r>
              <a:rPr lang="en-US"/>
              <a:t>Designated Level of Accomplishment</a:t>
            </a:r>
          </a:p>
          <a:p>
            <a:pPr eaLnBrk="1" hangingPunct="1"/>
            <a:endParaRPr lang="en-US"/>
          </a:p>
          <a:p>
            <a:pPr lvl="1" eaLnBrk="1" hangingPunct="1"/>
            <a:r>
              <a:rPr lang="en-US"/>
              <a:t>Issue basis</a:t>
            </a:r>
          </a:p>
          <a:p>
            <a:pPr lvl="1" eaLnBrk="1" hangingPunct="1"/>
            <a:r>
              <a:rPr lang="en-US"/>
              <a:t>Organizational/Intermediate level</a:t>
            </a:r>
          </a:p>
          <a:p>
            <a:pPr lvl="1" eaLnBrk="1" hangingPunct="1"/>
            <a:r>
              <a:rPr lang="en-US"/>
              <a:t>Depot level</a:t>
            </a:r>
          </a:p>
          <a:p>
            <a:pPr lvl="1" eaLnBrk="1" hangingPunct="1"/>
            <a:r>
              <a:rPr lang="en-US"/>
              <a:t>Criteria:</a:t>
            </a:r>
          </a:p>
          <a:p>
            <a:pPr lvl="2" eaLnBrk="1" hangingPunct="1"/>
            <a:r>
              <a:rPr lang="en-US"/>
              <a:t>Organizational/Intermediate level</a:t>
            </a:r>
          </a:p>
          <a:p>
            <a:pPr lvl="2" eaLnBrk="1" hangingPunct="1"/>
            <a:r>
              <a:rPr lang="en-US"/>
              <a:t>Depot level</a:t>
            </a:r>
          </a:p>
          <a:p>
            <a:pPr lvl="1" eaLnBrk="1" hangingPunct="1"/>
            <a:r>
              <a:rPr lang="en-US"/>
              <a:t>SM CCB responsibility</a:t>
            </a:r>
          </a:p>
        </p:txBody>
      </p:sp>
      <p:sp>
        <p:nvSpPr>
          <p:cNvPr id="208900" name="Slide Number Placeholder 5"/>
          <p:cNvSpPr>
            <a:spLocks noGrp="1"/>
          </p:cNvSpPr>
          <p:nvPr>
            <p:ph type="sldNum" sz="quarter" idx="10"/>
          </p:nvPr>
        </p:nvSpPr>
        <p:spPr>
          <a:xfrm>
            <a:off x="7239000" y="6519863"/>
            <a:ext cx="1905000" cy="338137"/>
          </a:xfrm>
          <a:noFill/>
        </p:spPr>
        <p:txBody>
          <a:bodyPr/>
          <a:lstStyle/>
          <a:p>
            <a:fld id="{ED7A9BF9-4BBD-4017-863F-5B382318E2F0}" type="slidenum">
              <a:rPr lang="en-US" smtClean="0"/>
              <a:pPr/>
              <a:t>183</a:t>
            </a:fld>
            <a:endParaRPr lang="en-US"/>
          </a:p>
        </p:txBody>
      </p:sp>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r>
              <a:rPr lang="en-US"/>
              <a:t>TCTO Types, Verification, Completion, and Rescission</a:t>
            </a:r>
          </a:p>
        </p:txBody>
      </p:sp>
      <p:sp>
        <p:nvSpPr>
          <p:cNvPr id="209923" name="Rectangle 3"/>
          <p:cNvSpPr>
            <a:spLocks noGrp="1" noChangeArrowheads="1"/>
          </p:cNvSpPr>
          <p:nvPr>
            <p:ph idx="1"/>
          </p:nvPr>
        </p:nvSpPr>
        <p:spPr/>
        <p:txBody>
          <a:bodyPr/>
          <a:lstStyle/>
          <a:p>
            <a:endParaRPr lang="en-US" dirty="0"/>
          </a:p>
          <a:p>
            <a:endParaRPr lang="en-US" dirty="0"/>
          </a:p>
          <a:p>
            <a:endParaRPr lang="en-US" dirty="0"/>
          </a:p>
          <a:p>
            <a:pPr>
              <a:buFont typeface="Wingdings" pitchFamily="2" charset="2"/>
              <a:buNone/>
            </a:pPr>
            <a:endParaRPr lang="en-US" dirty="0"/>
          </a:p>
          <a:p>
            <a:r>
              <a:rPr lang="en-US" dirty="0"/>
              <a:t>Objective: Identify TCTO validity requirements</a:t>
            </a:r>
          </a:p>
        </p:txBody>
      </p:sp>
      <p:sp>
        <p:nvSpPr>
          <p:cNvPr id="209924" name="Slide Number Placeholder 5"/>
          <p:cNvSpPr>
            <a:spLocks noGrp="1"/>
          </p:cNvSpPr>
          <p:nvPr>
            <p:ph type="sldNum" sz="quarter" idx="10"/>
          </p:nvPr>
        </p:nvSpPr>
        <p:spPr>
          <a:xfrm>
            <a:off x="7239000" y="6519863"/>
            <a:ext cx="1905000" cy="338137"/>
          </a:xfrm>
          <a:noFill/>
        </p:spPr>
        <p:txBody>
          <a:bodyPr/>
          <a:lstStyle/>
          <a:p>
            <a:fld id="{A067CED2-7DE2-4059-918C-3C90EC5383B8}" type="slidenum">
              <a:rPr lang="en-US" smtClean="0"/>
              <a:pPr/>
              <a:t>184</a:t>
            </a:fld>
            <a:endParaRPr lang="en-US"/>
          </a:p>
        </p:txBody>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10947" name="Rectangle 3"/>
          <p:cNvSpPr>
            <a:spLocks noGrp="1" noChangeArrowheads="1"/>
          </p:cNvSpPr>
          <p:nvPr>
            <p:ph idx="1"/>
          </p:nvPr>
        </p:nvSpPr>
        <p:spPr/>
        <p:txBody>
          <a:bodyPr/>
          <a:lstStyle/>
          <a:p>
            <a:pPr eaLnBrk="1" hangingPunct="1"/>
            <a:r>
              <a:rPr lang="en-US"/>
              <a:t>TCTO Validity</a:t>
            </a:r>
          </a:p>
          <a:p>
            <a:pPr eaLnBrk="1" hangingPunct="1"/>
            <a:endParaRPr lang="en-US"/>
          </a:p>
          <a:p>
            <a:pPr lvl="1" eaLnBrk="1" hangingPunct="1"/>
            <a:r>
              <a:rPr lang="en-US"/>
              <a:t>Trial Installation</a:t>
            </a:r>
          </a:p>
          <a:p>
            <a:pPr lvl="1" eaLnBrk="1" hangingPunct="1"/>
            <a:r>
              <a:rPr lang="en-US"/>
              <a:t>TCTO Verification</a:t>
            </a:r>
          </a:p>
          <a:p>
            <a:pPr lvl="1" eaLnBrk="1" hangingPunct="1"/>
            <a:r>
              <a:rPr lang="en-US"/>
              <a:t>Waivers</a:t>
            </a:r>
          </a:p>
        </p:txBody>
      </p:sp>
      <p:sp>
        <p:nvSpPr>
          <p:cNvPr id="210948" name="Slide Number Placeholder 5"/>
          <p:cNvSpPr>
            <a:spLocks noGrp="1"/>
          </p:cNvSpPr>
          <p:nvPr>
            <p:ph type="sldNum" sz="quarter" idx="10"/>
          </p:nvPr>
        </p:nvSpPr>
        <p:spPr>
          <a:xfrm>
            <a:off x="7239000" y="6519863"/>
            <a:ext cx="1905000" cy="338137"/>
          </a:xfrm>
          <a:noFill/>
        </p:spPr>
        <p:txBody>
          <a:bodyPr/>
          <a:lstStyle/>
          <a:p>
            <a:fld id="{494D0DFD-BFCC-4D6E-99E4-211ECE4B9C3E}" type="slidenum">
              <a:rPr lang="en-US" smtClean="0"/>
              <a:pPr/>
              <a:t>185</a:t>
            </a:fld>
            <a:endParaRPr lang="en-US"/>
          </a:p>
        </p:txBody>
      </p:sp>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11971" name="Rectangle 3"/>
          <p:cNvSpPr>
            <a:spLocks noGrp="1" noChangeArrowheads="1"/>
          </p:cNvSpPr>
          <p:nvPr>
            <p:ph idx="1"/>
          </p:nvPr>
        </p:nvSpPr>
        <p:spPr/>
        <p:txBody>
          <a:bodyPr/>
          <a:lstStyle/>
          <a:p>
            <a:pPr eaLnBrk="1" hangingPunct="1"/>
            <a:r>
              <a:rPr lang="en-US"/>
              <a:t>TCTO Validity</a:t>
            </a:r>
          </a:p>
          <a:p>
            <a:pPr eaLnBrk="1" hangingPunct="1"/>
            <a:r>
              <a:rPr lang="en-US"/>
              <a:t>Trial Installation (Prototype Testing)</a:t>
            </a:r>
          </a:p>
          <a:p>
            <a:pPr eaLnBrk="1" hangingPunct="1"/>
            <a:endParaRPr lang="en-US"/>
          </a:p>
          <a:p>
            <a:pPr lvl="1" eaLnBrk="1" hangingPunct="1"/>
            <a:r>
              <a:rPr lang="en-US"/>
              <a:t>Responsibility of the Contractor</a:t>
            </a:r>
          </a:p>
          <a:p>
            <a:pPr lvl="1" eaLnBrk="1" hangingPunct="1"/>
            <a:r>
              <a:rPr lang="en-US"/>
              <a:t>Determines/demonstrates</a:t>
            </a:r>
          </a:p>
          <a:p>
            <a:pPr lvl="2" eaLnBrk="1" hangingPunct="1"/>
            <a:r>
              <a:rPr lang="en-US"/>
              <a:t>By actual performance</a:t>
            </a:r>
          </a:p>
          <a:p>
            <a:pPr lvl="2" eaLnBrk="1" hangingPunct="1"/>
            <a:r>
              <a:rPr lang="en-US"/>
              <a:t>If the systems functions according to specification</a:t>
            </a:r>
          </a:p>
        </p:txBody>
      </p:sp>
      <p:sp>
        <p:nvSpPr>
          <p:cNvPr id="211972" name="Slide Number Placeholder 5"/>
          <p:cNvSpPr>
            <a:spLocks noGrp="1"/>
          </p:cNvSpPr>
          <p:nvPr>
            <p:ph type="sldNum" sz="quarter" idx="10"/>
          </p:nvPr>
        </p:nvSpPr>
        <p:spPr>
          <a:xfrm>
            <a:off x="7239000" y="6519863"/>
            <a:ext cx="1905000" cy="338137"/>
          </a:xfrm>
          <a:noFill/>
        </p:spPr>
        <p:txBody>
          <a:bodyPr/>
          <a:lstStyle/>
          <a:p>
            <a:fld id="{8D0E72F0-CC44-4F60-873E-276A8D314505}" type="slidenum">
              <a:rPr lang="en-US" smtClean="0"/>
              <a:pPr/>
              <a:t>186</a:t>
            </a:fld>
            <a:endParaRPr lang="en-US"/>
          </a:p>
        </p:txBody>
      </p:sp>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pPr eaLnBrk="1" hangingPunct="1"/>
            <a:r>
              <a:rPr lang="en-US"/>
              <a:t>TCTO Types, Verification, Completion, and Rescission</a:t>
            </a:r>
          </a:p>
        </p:txBody>
      </p:sp>
      <p:sp>
        <p:nvSpPr>
          <p:cNvPr id="191491" name="Rectangle 3"/>
          <p:cNvSpPr>
            <a:spLocks noGrp="1" noChangeArrowheads="1"/>
          </p:cNvSpPr>
          <p:nvPr>
            <p:ph idx="1"/>
          </p:nvPr>
        </p:nvSpPr>
        <p:spPr>
          <a:xfrm>
            <a:off x="506412" y="1295400"/>
            <a:ext cx="8131175" cy="4875212"/>
          </a:xfrm>
        </p:spPr>
        <p:txBody>
          <a:bodyPr/>
          <a:lstStyle/>
          <a:p>
            <a:pPr eaLnBrk="1" hangingPunct="1">
              <a:defRPr/>
            </a:pPr>
            <a:r>
              <a:rPr lang="en-US" dirty="0"/>
              <a:t>TCTO Validity</a:t>
            </a:r>
          </a:p>
          <a:p>
            <a:pPr eaLnBrk="1" hangingPunct="1">
              <a:defRPr/>
            </a:pPr>
            <a:r>
              <a:rPr lang="en-US" dirty="0"/>
              <a:t>TCTO Verification (Kit Proof)</a:t>
            </a:r>
          </a:p>
          <a:p>
            <a:pPr eaLnBrk="1" hangingPunct="1">
              <a:buFont typeface="Wingdings" pitchFamily="2" charset="2"/>
              <a:buNone/>
              <a:defRPr/>
            </a:pPr>
            <a:endParaRPr lang="en-US" dirty="0"/>
          </a:p>
          <a:p>
            <a:pPr lvl="1" eaLnBrk="1" hangingPunct="1">
              <a:defRPr/>
            </a:pPr>
            <a:r>
              <a:rPr lang="en-US" dirty="0"/>
              <a:t>Responsibility of the Government</a:t>
            </a:r>
          </a:p>
          <a:p>
            <a:pPr lvl="2" eaLnBrk="1" hangingPunct="1">
              <a:defRPr/>
            </a:pPr>
            <a:r>
              <a:rPr lang="en-US" dirty="0"/>
              <a:t>  The purpose of the verification is to ensure:</a:t>
            </a:r>
          </a:p>
          <a:p>
            <a:pPr lvl="3" eaLnBrk="1" hangingPunct="1">
              <a:defRPr/>
            </a:pPr>
            <a:r>
              <a:rPr lang="en-US" dirty="0"/>
              <a:t>  Technical guidance is complete</a:t>
            </a:r>
          </a:p>
          <a:p>
            <a:pPr lvl="3" eaLnBrk="1" hangingPunct="1">
              <a:defRPr/>
            </a:pPr>
            <a:r>
              <a:rPr lang="en-US" dirty="0"/>
              <a:t>  Any associated kits must be adequate, and parts fit properly</a:t>
            </a:r>
          </a:p>
          <a:p>
            <a:pPr marL="687388" lvl="1" indent="-236538">
              <a:spcAft>
                <a:spcPct val="20000"/>
              </a:spcAft>
              <a:buFont typeface="Arial" pitchFamily="34" charset="0"/>
              <a:buChar char="•"/>
              <a:defRPr/>
            </a:pPr>
            <a:r>
              <a:rPr lang="en-US" dirty="0"/>
              <a:t>Documented on the AFTO Form 82, </a:t>
            </a:r>
            <a:br>
              <a:rPr lang="en-US" dirty="0"/>
            </a:br>
            <a:r>
              <a:rPr lang="en-US" i="1" dirty="0"/>
              <a:t>TCTO Verification Certificate</a:t>
            </a:r>
            <a:endParaRPr lang="en-US" dirty="0"/>
          </a:p>
          <a:p>
            <a:pPr marL="808038" lvl="1" indent="-350838">
              <a:spcAft>
                <a:spcPct val="20000"/>
              </a:spcAft>
              <a:defRPr/>
            </a:pPr>
            <a:r>
              <a:rPr lang="en-US" dirty="0"/>
              <a:t>Instructions for completing AFTO Form 82 are in </a:t>
            </a:r>
            <a:br>
              <a:rPr lang="en-US" dirty="0"/>
            </a:br>
            <a:r>
              <a:rPr lang="en-US" dirty="0"/>
              <a:t>TO 00-5-15</a:t>
            </a:r>
          </a:p>
          <a:p>
            <a:pPr lvl="3" eaLnBrk="1" hangingPunct="1">
              <a:defRPr/>
            </a:pPr>
            <a:endParaRPr lang="en-US" dirty="0"/>
          </a:p>
        </p:txBody>
      </p:sp>
      <p:sp>
        <p:nvSpPr>
          <p:cNvPr id="212996" name="Slide Number Placeholder 5"/>
          <p:cNvSpPr>
            <a:spLocks noGrp="1"/>
          </p:cNvSpPr>
          <p:nvPr>
            <p:ph type="sldNum" sz="quarter" idx="10"/>
          </p:nvPr>
        </p:nvSpPr>
        <p:spPr>
          <a:xfrm>
            <a:off x="7239000" y="6519863"/>
            <a:ext cx="1905000" cy="338137"/>
          </a:xfrm>
          <a:noFill/>
        </p:spPr>
        <p:txBody>
          <a:bodyPr/>
          <a:lstStyle/>
          <a:p>
            <a:fld id="{AFE5C9AA-A4B9-4FA1-857F-F9DF91E4D64E}" type="slidenum">
              <a:rPr lang="en-US" smtClean="0"/>
              <a:pPr/>
              <a:t>187</a:t>
            </a:fld>
            <a:endParaRPr lang="en-US"/>
          </a:p>
        </p:txBody>
      </p:sp>
    </p:spTree>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14019" name="Rectangle 3"/>
          <p:cNvSpPr>
            <a:spLocks noGrp="1" noChangeArrowheads="1"/>
          </p:cNvSpPr>
          <p:nvPr>
            <p:ph idx="1"/>
          </p:nvPr>
        </p:nvSpPr>
        <p:spPr/>
        <p:txBody>
          <a:bodyPr/>
          <a:lstStyle/>
          <a:p>
            <a:pPr eaLnBrk="1" hangingPunct="1"/>
            <a:r>
              <a:rPr lang="en-US" dirty="0"/>
              <a:t>TCTO Validity</a:t>
            </a:r>
          </a:p>
          <a:p>
            <a:pPr eaLnBrk="1" hangingPunct="1"/>
            <a:r>
              <a:rPr lang="en-US" dirty="0"/>
              <a:t>TCTO Verification (Kit Proof)</a:t>
            </a:r>
          </a:p>
          <a:p>
            <a:pPr lvl="1" eaLnBrk="1" hangingPunct="1"/>
            <a:endParaRPr lang="en-US" dirty="0"/>
          </a:p>
          <a:p>
            <a:pPr lvl="3" eaLnBrk="1" hangingPunct="1"/>
            <a:r>
              <a:rPr lang="en-US" dirty="0"/>
              <a:t>Skill levels are properly identified</a:t>
            </a:r>
          </a:p>
          <a:p>
            <a:pPr lvl="3" eaLnBrk="1" hangingPunct="1"/>
            <a:r>
              <a:rPr lang="en-US" dirty="0"/>
              <a:t>Designated SE  performs satisfactorily</a:t>
            </a:r>
          </a:p>
          <a:p>
            <a:pPr lvl="3" eaLnBrk="1" hangingPunct="1"/>
            <a:r>
              <a:rPr lang="en-US" dirty="0"/>
              <a:t>Tooling requirements are provided</a:t>
            </a:r>
          </a:p>
          <a:p>
            <a:pPr lvl="3" eaLnBrk="1" hangingPunct="1"/>
            <a:r>
              <a:rPr lang="en-US" dirty="0"/>
              <a:t>Proper modification marking instructions are included</a:t>
            </a:r>
          </a:p>
          <a:p>
            <a:pPr lvl="3" eaLnBrk="1" hangingPunct="1"/>
            <a:r>
              <a:rPr lang="en-US" dirty="0"/>
              <a:t>Modification can be installed with the intended environment </a:t>
            </a:r>
          </a:p>
          <a:p>
            <a:pPr lvl="3" eaLnBrk="1" hangingPunct="1"/>
            <a:r>
              <a:rPr lang="en-US" dirty="0"/>
              <a:t>Associated TO updates are verified</a:t>
            </a:r>
          </a:p>
          <a:p>
            <a:pPr lvl="1" eaLnBrk="1" hangingPunct="1"/>
            <a:endParaRPr lang="en-US" dirty="0"/>
          </a:p>
        </p:txBody>
      </p:sp>
      <p:sp>
        <p:nvSpPr>
          <p:cNvPr id="214020" name="Slide Number Placeholder 5"/>
          <p:cNvSpPr>
            <a:spLocks noGrp="1"/>
          </p:cNvSpPr>
          <p:nvPr>
            <p:ph type="sldNum" sz="quarter" idx="10"/>
          </p:nvPr>
        </p:nvSpPr>
        <p:spPr>
          <a:xfrm>
            <a:off x="7239000" y="6519863"/>
            <a:ext cx="1905000" cy="338137"/>
          </a:xfrm>
          <a:noFill/>
        </p:spPr>
        <p:txBody>
          <a:bodyPr/>
          <a:lstStyle/>
          <a:p>
            <a:fld id="{F8E09E58-D72E-4ACE-8609-16B42CF46ED3}" type="slidenum">
              <a:rPr lang="en-US" smtClean="0"/>
              <a:pPr/>
              <a:t>188</a:t>
            </a:fld>
            <a:endParaRPr lang="en-US"/>
          </a:p>
        </p:txBody>
      </p:sp>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15043" name="Rectangle 3"/>
          <p:cNvSpPr>
            <a:spLocks noGrp="1" noChangeArrowheads="1"/>
          </p:cNvSpPr>
          <p:nvPr>
            <p:ph idx="1"/>
          </p:nvPr>
        </p:nvSpPr>
        <p:spPr/>
        <p:txBody>
          <a:bodyPr/>
          <a:lstStyle/>
          <a:p>
            <a:pPr eaLnBrk="1" hangingPunct="1"/>
            <a:r>
              <a:rPr lang="en-US" dirty="0"/>
              <a:t>TCTO Validity</a:t>
            </a:r>
          </a:p>
          <a:p>
            <a:pPr eaLnBrk="1" hangingPunct="1"/>
            <a:r>
              <a:rPr lang="en-US" dirty="0"/>
              <a:t>TCTO Verification (Kit Proof)</a:t>
            </a:r>
          </a:p>
          <a:p>
            <a:pPr eaLnBrk="1" hangingPunct="1"/>
            <a:endParaRPr lang="en-US" dirty="0"/>
          </a:p>
          <a:p>
            <a:pPr lvl="1" eaLnBrk="1" hangingPunct="1"/>
            <a:r>
              <a:rPr lang="en-US" dirty="0"/>
              <a:t> TCTO Verification is not:</a:t>
            </a:r>
          </a:p>
          <a:p>
            <a:pPr lvl="2" eaLnBrk="1" hangingPunct="1"/>
            <a:r>
              <a:rPr lang="en-US" dirty="0"/>
              <a:t>  Inspection of the individual performance</a:t>
            </a:r>
          </a:p>
          <a:p>
            <a:pPr lvl="2" eaLnBrk="1" hangingPunct="1"/>
            <a:r>
              <a:rPr lang="en-US" dirty="0"/>
              <a:t>  Inspection of the organization performing the task</a:t>
            </a:r>
          </a:p>
          <a:p>
            <a:pPr marL="852488" lvl="2" indent="0" eaLnBrk="1" hangingPunct="1">
              <a:buNone/>
            </a:pPr>
            <a:endParaRPr lang="en-US" dirty="0"/>
          </a:p>
          <a:p>
            <a:pPr lvl="1" eaLnBrk="1" hangingPunct="1"/>
            <a:r>
              <a:rPr lang="en-US" dirty="0"/>
              <a:t>Verifies all modification by performance</a:t>
            </a:r>
          </a:p>
          <a:p>
            <a:pPr lvl="2" eaLnBrk="1" hangingPunct="1"/>
            <a:r>
              <a:rPr lang="en-US" dirty="0"/>
              <a:t>  Exceptions To verification/kit proof</a:t>
            </a:r>
          </a:p>
          <a:p>
            <a:pPr lvl="4" eaLnBrk="1" hangingPunct="1"/>
            <a:r>
              <a:rPr lang="en-US" dirty="0"/>
              <a:t>Immediate and Urgent action TCTOs</a:t>
            </a:r>
          </a:p>
          <a:p>
            <a:pPr lvl="4" eaLnBrk="1" hangingPunct="1"/>
            <a:r>
              <a:rPr lang="en-US" dirty="0"/>
              <a:t>Approved Waiver</a:t>
            </a:r>
          </a:p>
        </p:txBody>
      </p:sp>
      <p:sp>
        <p:nvSpPr>
          <p:cNvPr id="215044" name="Slide Number Placeholder 5"/>
          <p:cNvSpPr>
            <a:spLocks noGrp="1"/>
          </p:cNvSpPr>
          <p:nvPr>
            <p:ph type="sldNum" sz="quarter" idx="10"/>
          </p:nvPr>
        </p:nvSpPr>
        <p:spPr>
          <a:xfrm>
            <a:off x="7239000" y="6519863"/>
            <a:ext cx="1905000" cy="338137"/>
          </a:xfrm>
          <a:noFill/>
        </p:spPr>
        <p:txBody>
          <a:bodyPr/>
          <a:lstStyle/>
          <a:p>
            <a:fld id="{5001854F-6425-4598-B308-0BE3B72B57EB}" type="slidenum">
              <a:rPr lang="en-US" smtClean="0"/>
              <a:pPr/>
              <a:t>189</a:t>
            </a:fld>
            <a:endParaRPr lang="en-US"/>
          </a:p>
        </p:txBody>
      </p:sp>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16067" name="Rectangle 3"/>
          <p:cNvSpPr>
            <a:spLocks noGrp="1" noChangeArrowheads="1"/>
          </p:cNvSpPr>
          <p:nvPr>
            <p:ph idx="1"/>
          </p:nvPr>
        </p:nvSpPr>
        <p:spPr/>
        <p:txBody>
          <a:bodyPr/>
          <a:lstStyle/>
          <a:p>
            <a:pPr eaLnBrk="1" hangingPunct="1"/>
            <a:r>
              <a:rPr lang="en-US" dirty="0"/>
              <a:t>TCTO Validity</a:t>
            </a:r>
          </a:p>
          <a:p>
            <a:pPr eaLnBrk="1" hangingPunct="1"/>
            <a:r>
              <a:rPr lang="en-US" dirty="0"/>
              <a:t>TCTO Verification (Kit Proof)</a:t>
            </a:r>
          </a:p>
          <a:p>
            <a:pPr eaLnBrk="1" hangingPunct="1"/>
            <a:endParaRPr lang="en-US" dirty="0"/>
          </a:p>
          <a:p>
            <a:pPr lvl="1" eaLnBrk="1" hangingPunct="1"/>
            <a:r>
              <a:rPr lang="en-US" dirty="0"/>
              <a:t>Inspection and Modification TCTOs not verified by performance</a:t>
            </a:r>
          </a:p>
          <a:p>
            <a:pPr lvl="2" eaLnBrk="1" hangingPunct="1"/>
            <a:r>
              <a:rPr lang="en-US" dirty="0"/>
              <a:t>  Will receive a Desk-top Analysis</a:t>
            </a:r>
          </a:p>
          <a:p>
            <a:pPr lvl="1" eaLnBrk="1" hangingPunct="1"/>
            <a:endParaRPr lang="en-US" dirty="0"/>
          </a:p>
          <a:p>
            <a:pPr eaLnBrk="1" hangingPunct="1">
              <a:buFont typeface="Wingdings" pitchFamily="2" charset="2"/>
              <a:buNone/>
            </a:pPr>
            <a:endParaRPr lang="en-US" dirty="0"/>
          </a:p>
        </p:txBody>
      </p:sp>
      <p:sp>
        <p:nvSpPr>
          <p:cNvPr id="216068" name="Slide Number Placeholder 5"/>
          <p:cNvSpPr>
            <a:spLocks noGrp="1"/>
          </p:cNvSpPr>
          <p:nvPr>
            <p:ph type="sldNum" sz="quarter" idx="10"/>
          </p:nvPr>
        </p:nvSpPr>
        <p:spPr>
          <a:xfrm>
            <a:off x="7239000" y="6519863"/>
            <a:ext cx="1905000" cy="338137"/>
          </a:xfrm>
          <a:noFill/>
        </p:spPr>
        <p:txBody>
          <a:bodyPr/>
          <a:lstStyle/>
          <a:p>
            <a:fld id="{8CBEE83A-3B30-48E8-9AE3-AF165463E9FF}" type="slidenum">
              <a:rPr lang="en-US" smtClean="0"/>
              <a:pPr/>
              <a:t>190</a:t>
            </a:fld>
            <a:endParaRPr lang="en-US"/>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17091" name="Rectangle 3"/>
          <p:cNvSpPr>
            <a:spLocks noGrp="1" noChangeArrowheads="1"/>
          </p:cNvSpPr>
          <p:nvPr>
            <p:ph idx="1"/>
          </p:nvPr>
        </p:nvSpPr>
        <p:spPr/>
        <p:txBody>
          <a:bodyPr/>
          <a:lstStyle/>
          <a:p>
            <a:pPr eaLnBrk="1" hangingPunct="1"/>
            <a:r>
              <a:rPr lang="en-US" dirty="0"/>
              <a:t>TCTO Validity</a:t>
            </a:r>
          </a:p>
          <a:p>
            <a:pPr eaLnBrk="1" hangingPunct="1"/>
            <a:r>
              <a:rPr lang="en-US" dirty="0"/>
              <a:t>TCTO Verification (Kit Proof)</a:t>
            </a:r>
          </a:p>
          <a:p>
            <a:pPr eaLnBrk="1" hangingPunct="1"/>
            <a:endParaRPr lang="en-US" dirty="0"/>
          </a:p>
          <a:p>
            <a:pPr lvl="1" eaLnBrk="1" hangingPunct="1"/>
            <a:r>
              <a:rPr lang="en-US" dirty="0"/>
              <a:t>ALL TCTOs will be verified on each Mission Design Series (MDS) to which they apply the only exceptions are: </a:t>
            </a:r>
          </a:p>
          <a:p>
            <a:pPr marL="447675" lvl="1" indent="0" eaLnBrk="1" hangingPunct="1">
              <a:buNone/>
            </a:pPr>
            <a:endParaRPr lang="en-US" dirty="0"/>
          </a:p>
          <a:p>
            <a:pPr lvl="2" eaLnBrk="1" hangingPunct="1"/>
            <a:r>
              <a:rPr lang="en-US" dirty="0"/>
              <a:t>  Federal Aviation Administration  (FAA)</a:t>
            </a:r>
          </a:p>
          <a:p>
            <a:pPr lvl="2" eaLnBrk="1" hangingPunct="1"/>
            <a:r>
              <a:rPr lang="en-US" dirty="0"/>
              <a:t>  Reinstatement of a rescinded TCTO when the kit production</a:t>
            </a:r>
          </a:p>
          <a:p>
            <a:pPr marL="852488" lvl="2" indent="0" eaLnBrk="1" hangingPunct="1">
              <a:buNone/>
            </a:pPr>
            <a:r>
              <a:rPr lang="en-US" dirty="0"/>
              <a:t>    source is unchanged</a:t>
            </a:r>
          </a:p>
        </p:txBody>
      </p:sp>
      <p:sp>
        <p:nvSpPr>
          <p:cNvPr id="217092" name="Slide Number Placeholder 5"/>
          <p:cNvSpPr>
            <a:spLocks noGrp="1"/>
          </p:cNvSpPr>
          <p:nvPr>
            <p:ph type="sldNum" sz="quarter" idx="10"/>
          </p:nvPr>
        </p:nvSpPr>
        <p:spPr>
          <a:xfrm>
            <a:off x="7239000" y="6519863"/>
            <a:ext cx="1905000" cy="338137"/>
          </a:xfrm>
          <a:noFill/>
        </p:spPr>
        <p:txBody>
          <a:bodyPr/>
          <a:lstStyle/>
          <a:p>
            <a:fld id="{B2437CBE-6B46-4A55-A185-1FFCE9929DD9}" type="slidenum">
              <a:rPr lang="en-US" smtClean="0"/>
              <a:pPr/>
              <a:t>191</a:t>
            </a:fld>
            <a:endParaRPr lang="en-US"/>
          </a:p>
        </p:txBody>
      </p:sp>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18115" name="Rectangle 3"/>
          <p:cNvSpPr>
            <a:spLocks noGrp="1" noChangeArrowheads="1"/>
          </p:cNvSpPr>
          <p:nvPr>
            <p:ph idx="1"/>
          </p:nvPr>
        </p:nvSpPr>
        <p:spPr>
          <a:xfrm>
            <a:off x="609600" y="1219200"/>
            <a:ext cx="8131175" cy="4875212"/>
          </a:xfrm>
        </p:spPr>
        <p:txBody>
          <a:bodyPr/>
          <a:lstStyle/>
          <a:p>
            <a:pPr eaLnBrk="1" hangingPunct="1"/>
            <a:r>
              <a:rPr lang="en-US" dirty="0"/>
              <a:t>TCTO Validity</a:t>
            </a:r>
          </a:p>
          <a:p>
            <a:pPr eaLnBrk="1" hangingPunct="1"/>
            <a:r>
              <a:rPr lang="en-US" dirty="0"/>
              <a:t>ALL TCTOs will be verified on each MDS to which they apply the only exceptions are cont.     </a:t>
            </a:r>
          </a:p>
          <a:p>
            <a:pPr lvl="1" eaLnBrk="1" hangingPunct="1"/>
            <a:r>
              <a:rPr lang="en-US" dirty="0"/>
              <a:t>CLS- maintained systems </a:t>
            </a:r>
          </a:p>
          <a:p>
            <a:pPr lvl="2" eaLnBrk="1" hangingPunct="1"/>
            <a:r>
              <a:rPr lang="en-US" dirty="0"/>
              <a:t>  TCTO is performed by the contractor</a:t>
            </a:r>
          </a:p>
          <a:p>
            <a:pPr marL="852488" lvl="2" indent="0" eaLnBrk="1" hangingPunct="1">
              <a:buNone/>
            </a:pPr>
            <a:endParaRPr lang="en-US" dirty="0"/>
          </a:p>
          <a:p>
            <a:pPr lvl="1" eaLnBrk="1" hangingPunct="1"/>
            <a:r>
              <a:rPr lang="en-US" dirty="0"/>
              <a:t>Approved Service Bulletins (TCTO)</a:t>
            </a:r>
          </a:p>
          <a:p>
            <a:pPr lvl="2" eaLnBrk="1" hangingPunct="1"/>
            <a:r>
              <a:rPr lang="en-US" dirty="0"/>
              <a:t>  Which have previously been accomplished on </a:t>
            </a:r>
          </a:p>
          <a:p>
            <a:pPr lvl="2" eaLnBrk="1" hangingPunct="1">
              <a:buFont typeface="Times New Roman" pitchFamily="18" charset="0"/>
              <a:buNone/>
            </a:pPr>
            <a:r>
              <a:rPr lang="en-US" dirty="0">
                <a:solidFill>
                  <a:srgbClr val="FF0000"/>
                </a:solidFill>
              </a:rPr>
              <a:t>    </a:t>
            </a:r>
            <a:r>
              <a:rPr lang="en-US" dirty="0"/>
              <a:t>commercial systems and the AF maintains identical configuration</a:t>
            </a:r>
          </a:p>
        </p:txBody>
      </p:sp>
      <p:sp>
        <p:nvSpPr>
          <p:cNvPr id="218116" name="Slide Number Placeholder 5"/>
          <p:cNvSpPr>
            <a:spLocks noGrp="1"/>
          </p:cNvSpPr>
          <p:nvPr>
            <p:ph type="sldNum" sz="quarter" idx="10"/>
          </p:nvPr>
        </p:nvSpPr>
        <p:spPr>
          <a:xfrm>
            <a:off x="7239000" y="6519863"/>
            <a:ext cx="1905000" cy="338137"/>
          </a:xfrm>
          <a:noFill/>
        </p:spPr>
        <p:txBody>
          <a:bodyPr/>
          <a:lstStyle/>
          <a:p>
            <a:fld id="{28459DA0-1D3C-4CD1-AC70-F777F0FCDAD6}" type="slidenum">
              <a:rPr lang="en-US" smtClean="0"/>
              <a:pPr/>
              <a:t>192</a:t>
            </a:fld>
            <a:endParaRPr lang="en-US"/>
          </a:p>
        </p:txBody>
      </p:sp>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19139" name="Rectangle 3"/>
          <p:cNvSpPr>
            <a:spLocks noGrp="1" noChangeArrowheads="1"/>
          </p:cNvSpPr>
          <p:nvPr>
            <p:ph idx="1"/>
          </p:nvPr>
        </p:nvSpPr>
        <p:spPr/>
        <p:txBody>
          <a:bodyPr/>
          <a:lstStyle/>
          <a:p>
            <a:pPr eaLnBrk="1" hangingPunct="1"/>
            <a:r>
              <a:rPr lang="en-US" dirty="0"/>
              <a:t>Waivers</a:t>
            </a:r>
          </a:p>
          <a:p>
            <a:pPr marL="0" indent="0" eaLnBrk="1" hangingPunct="1">
              <a:buNone/>
            </a:pPr>
            <a:endParaRPr lang="en-US" dirty="0"/>
          </a:p>
          <a:p>
            <a:pPr lvl="1" eaLnBrk="1" hangingPunct="1"/>
            <a:r>
              <a:rPr lang="en-US" dirty="0"/>
              <a:t>SM may approve a waiver to TCTO by performance with the concurrence of the Lead Command</a:t>
            </a:r>
          </a:p>
          <a:p>
            <a:pPr marL="447675" lvl="1" indent="0" eaLnBrk="1" hangingPunct="1">
              <a:buNone/>
            </a:pPr>
            <a:endParaRPr lang="en-US" dirty="0"/>
          </a:p>
          <a:p>
            <a:pPr lvl="1" eaLnBrk="1" hangingPunct="1"/>
            <a:r>
              <a:rPr lang="en-US" dirty="0"/>
              <a:t>When urgency dictates, coordination may be via telecon, followed by written correspondence. </a:t>
            </a:r>
          </a:p>
          <a:p>
            <a:pPr marL="447675" lvl="1" indent="0" eaLnBrk="1" hangingPunct="1">
              <a:buNone/>
            </a:pPr>
            <a:endParaRPr lang="en-US" dirty="0"/>
          </a:p>
          <a:p>
            <a:pPr lvl="1" eaLnBrk="1" hangingPunct="1"/>
            <a:r>
              <a:rPr lang="en-US" dirty="0"/>
              <a:t>Desktop analysis must be performed </a:t>
            </a:r>
          </a:p>
          <a:p>
            <a:pPr lvl="1" eaLnBrk="1" hangingPunct="1"/>
            <a:endParaRPr lang="en-US" dirty="0"/>
          </a:p>
          <a:p>
            <a:pPr eaLnBrk="1" hangingPunct="1"/>
            <a:endParaRPr lang="en-US" dirty="0"/>
          </a:p>
          <a:p>
            <a:pPr eaLnBrk="1" hangingPunct="1"/>
            <a:endParaRPr lang="en-US" dirty="0"/>
          </a:p>
        </p:txBody>
      </p:sp>
      <p:sp>
        <p:nvSpPr>
          <p:cNvPr id="219140" name="Slide Number Placeholder 5"/>
          <p:cNvSpPr>
            <a:spLocks noGrp="1"/>
          </p:cNvSpPr>
          <p:nvPr>
            <p:ph type="sldNum" sz="quarter" idx="10"/>
          </p:nvPr>
        </p:nvSpPr>
        <p:spPr>
          <a:xfrm>
            <a:off x="7239000" y="6519863"/>
            <a:ext cx="1905000" cy="338137"/>
          </a:xfrm>
          <a:noFill/>
        </p:spPr>
        <p:txBody>
          <a:bodyPr/>
          <a:lstStyle/>
          <a:p>
            <a:fld id="{53B8E107-733F-4E78-8FC5-F991FC438A51}" type="slidenum">
              <a:rPr lang="en-US" smtClean="0"/>
              <a:pPr/>
              <a:t>193</a:t>
            </a:fld>
            <a:endParaRPr lang="en-US"/>
          </a:p>
        </p:txBody>
      </p:sp>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r>
              <a:rPr lang="en-US"/>
              <a:t>TCTO Types, Verification, Completion, and Rescission</a:t>
            </a:r>
          </a:p>
        </p:txBody>
      </p:sp>
      <p:sp>
        <p:nvSpPr>
          <p:cNvPr id="220163" name="Rectangle 3"/>
          <p:cNvSpPr>
            <a:spLocks noGrp="1" noChangeArrowheads="1"/>
          </p:cNvSpPr>
          <p:nvPr>
            <p:ph idx="1"/>
          </p:nvPr>
        </p:nvSpPr>
        <p:spPr/>
        <p:txBody>
          <a:bodyPr/>
          <a:lstStyle/>
          <a:p>
            <a:endParaRPr lang="en-US" dirty="0"/>
          </a:p>
          <a:p>
            <a:endParaRPr lang="en-US" dirty="0"/>
          </a:p>
          <a:p>
            <a:endParaRPr lang="en-US" dirty="0"/>
          </a:p>
          <a:p>
            <a:endParaRPr lang="en-US" dirty="0"/>
          </a:p>
          <a:p>
            <a:r>
              <a:rPr lang="en-US" dirty="0"/>
              <a:t>Objective:  Define the forms that comprise the TCTO package and their purpose</a:t>
            </a:r>
          </a:p>
        </p:txBody>
      </p:sp>
      <p:sp>
        <p:nvSpPr>
          <p:cNvPr id="220164" name="Slide Number Placeholder 5"/>
          <p:cNvSpPr>
            <a:spLocks noGrp="1"/>
          </p:cNvSpPr>
          <p:nvPr>
            <p:ph type="sldNum" sz="quarter" idx="10"/>
          </p:nvPr>
        </p:nvSpPr>
        <p:spPr>
          <a:xfrm>
            <a:off x="7239000" y="6519863"/>
            <a:ext cx="1905000" cy="338137"/>
          </a:xfrm>
          <a:noFill/>
        </p:spPr>
        <p:txBody>
          <a:bodyPr/>
          <a:lstStyle/>
          <a:p>
            <a:fld id="{134C1F22-CAAD-4B49-B5B9-D51C784DCDE5}" type="slidenum">
              <a:rPr lang="en-US" smtClean="0"/>
              <a:pPr/>
              <a:t>194</a:t>
            </a:fld>
            <a:endParaRPr lang="en-US"/>
          </a:p>
        </p:txBody>
      </p:sp>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1187" name="Rectangle 3"/>
          <p:cNvSpPr>
            <a:spLocks noGrp="1" noChangeArrowheads="1"/>
          </p:cNvSpPr>
          <p:nvPr>
            <p:ph idx="1"/>
          </p:nvPr>
        </p:nvSpPr>
        <p:spPr>
          <a:xfrm>
            <a:off x="304800" y="1447800"/>
            <a:ext cx="8686800" cy="4953000"/>
          </a:xfrm>
        </p:spPr>
        <p:txBody>
          <a:bodyPr/>
          <a:lstStyle/>
          <a:p>
            <a:pPr eaLnBrk="1" hangingPunct="1"/>
            <a:r>
              <a:rPr lang="en-US" dirty="0"/>
              <a:t>TCTO Package Contents</a:t>
            </a:r>
          </a:p>
          <a:p>
            <a:pPr eaLnBrk="1" hangingPunct="1"/>
            <a:r>
              <a:rPr lang="en-US" dirty="0"/>
              <a:t>AFTO Form 873 </a:t>
            </a:r>
            <a:r>
              <a:rPr lang="en-US" dirty="0">
                <a:effectLst/>
                <a:latin typeface="Arial" panose="020B0604020202020204" pitchFamily="34" charset="0"/>
                <a:ea typeface="Times New Roman" panose="02020603050405020304" pitchFamily="18" charset="0"/>
                <a:cs typeface="Arial" panose="020B0604020202020204" pitchFamily="34" charset="0"/>
              </a:rPr>
              <a:t>Time Compliance Technical Order Requirements</a:t>
            </a:r>
            <a:endParaRPr lang="en-US" dirty="0">
              <a:latin typeface="Arial" panose="020B0604020202020204" pitchFamily="34" charset="0"/>
              <a:cs typeface="Arial" panose="020B0604020202020204" pitchFamily="34" charset="0"/>
            </a:endParaRPr>
          </a:p>
          <a:p>
            <a:pPr eaLnBrk="1" hangingPunct="1"/>
            <a:r>
              <a:rPr lang="en-US" dirty="0"/>
              <a:t>AFTO</a:t>
            </a:r>
            <a:r>
              <a:rPr lang="en-US" dirty="0">
                <a:solidFill>
                  <a:srgbClr val="FF0000"/>
                </a:solidFill>
              </a:rPr>
              <a:t> </a:t>
            </a:r>
            <a:r>
              <a:rPr lang="en-US" dirty="0"/>
              <a:t>Form 874 </a:t>
            </a:r>
            <a:r>
              <a:rPr lang="en-US" dirty="0">
                <a:effectLst/>
                <a:latin typeface="+mj-lt"/>
                <a:ea typeface="Times New Roman" panose="02020603050405020304" pitchFamily="18" charset="0"/>
              </a:rPr>
              <a:t>Time Compliance Technical Order Supply Data Requirements</a:t>
            </a:r>
            <a:endParaRPr lang="en-US" dirty="0">
              <a:latin typeface="+mj-lt"/>
            </a:endParaRPr>
          </a:p>
          <a:p>
            <a:pPr eaLnBrk="1" hangingPunct="1"/>
            <a:r>
              <a:rPr lang="en-US" dirty="0"/>
              <a:t>AFTO</a:t>
            </a:r>
            <a:r>
              <a:rPr lang="en-US" dirty="0">
                <a:solidFill>
                  <a:srgbClr val="FF0000"/>
                </a:solidFill>
              </a:rPr>
              <a:t> </a:t>
            </a:r>
            <a:r>
              <a:rPr lang="en-US" dirty="0"/>
              <a:t>Form 875 </a:t>
            </a:r>
            <a:r>
              <a:rPr lang="en-US" dirty="0">
                <a:effectLst/>
                <a:latin typeface="+mj-lt"/>
                <a:ea typeface="Times New Roman" panose="02020603050405020304" pitchFamily="18" charset="0"/>
              </a:rPr>
              <a:t>Time Compliance Technical Order Programming Document</a:t>
            </a:r>
            <a:endParaRPr lang="en-US" dirty="0">
              <a:latin typeface="+mj-lt"/>
            </a:endParaRPr>
          </a:p>
          <a:p>
            <a:pPr eaLnBrk="1" hangingPunct="1"/>
            <a:r>
              <a:rPr lang="en-US" dirty="0"/>
              <a:t>AFTO Form 82 </a:t>
            </a:r>
            <a:r>
              <a:rPr lang="en-US" dirty="0">
                <a:effectLst/>
                <a:latin typeface="+mj-lt"/>
                <a:ea typeface="Times New Roman" panose="02020603050405020304" pitchFamily="18" charset="0"/>
              </a:rPr>
              <a:t>TCTO Verification Certificate</a:t>
            </a:r>
            <a:endParaRPr lang="en-US" dirty="0">
              <a:latin typeface="+mj-lt"/>
            </a:endParaRPr>
          </a:p>
        </p:txBody>
      </p:sp>
      <p:sp>
        <p:nvSpPr>
          <p:cNvPr id="221188" name="Slide Number Placeholder 5"/>
          <p:cNvSpPr>
            <a:spLocks noGrp="1"/>
          </p:cNvSpPr>
          <p:nvPr>
            <p:ph type="sldNum" sz="quarter" idx="10"/>
          </p:nvPr>
        </p:nvSpPr>
        <p:spPr>
          <a:xfrm>
            <a:off x="7239000" y="6519863"/>
            <a:ext cx="1905000" cy="338137"/>
          </a:xfrm>
          <a:noFill/>
        </p:spPr>
        <p:txBody>
          <a:bodyPr/>
          <a:lstStyle/>
          <a:p>
            <a:fld id="{9AE9A76F-92EA-43A2-A723-6B4BA4870412}" type="slidenum">
              <a:rPr lang="en-US" smtClean="0"/>
              <a:pPr/>
              <a:t>195</a:t>
            </a:fld>
            <a:endParaRPr lang="en-US"/>
          </a:p>
        </p:txBody>
      </p:sp>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2211"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a:t>
            </a:r>
            <a:r>
              <a:rPr lang="en-US" dirty="0">
                <a:solidFill>
                  <a:srgbClr val="FF0000"/>
                </a:solidFill>
              </a:rPr>
              <a:t> </a:t>
            </a:r>
            <a:r>
              <a:rPr lang="en-US" dirty="0"/>
              <a:t>Form 873</a:t>
            </a:r>
          </a:p>
          <a:p>
            <a:pPr eaLnBrk="1" hangingPunct="1"/>
            <a:endParaRPr lang="en-US" dirty="0"/>
          </a:p>
          <a:p>
            <a:pPr lvl="1" eaLnBrk="1" hangingPunct="1"/>
            <a:r>
              <a:rPr lang="en-US" dirty="0"/>
              <a:t>Documents the Plan for accomplishment of the TCTO</a:t>
            </a:r>
          </a:p>
          <a:p>
            <a:pPr eaLnBrk="1" hangingPunct="1"/>
            <a:endParaRPr lang="en-US" dirty="0"/>
          </a:p>
          <a:p>
            <a:pPr lvl="1" eaLnBrk="1" hangingPunct="1"/>
            <a:r>
              <a:rPr lang="en-US" dirty="0"/>
              <a:t>TCM will initiate AFTO</a:t>
            </a:r>
            <a:r>
              <a:rPr lang="en-US" dirty="0">
                <a:solidFill>
                  <a:srgbClr val="FF0000"/>
                </a:solidFill>
              </a:rPr>
              <a:t> </a:t>
            </a:r>
            <a:r>
              <a:rPr lang="en-US" dirty="0"/>
              <a:t>Form 873</a:t>
            </a:r>
          </a:p>
          <a:p>
            <a:pPr marL="447675" lvl="1" indent="0" eaLnBrk="1" hangingPunct="1">
              <a:buNone/>
            </a:pPr>
            <a:endParaRPr lang="en-US" dirty="0"/>
          </a:p>
          <a:p>
            <a:pPr lvl="2" eaLnBrk="1" hangingPunct="1"/>
            <a:r>
              <a:rPr lang="en-US" dirty="0"/>
              <a:t>  Provide to T.O. Manager </a:t>
            </a:r>
          </a:p>
          <a:p>
            <a:pPr lvl="3" eaLnBrk="1" hangingPunct="1"/>
            <a:r>
              <a:rPr lang="en-US" dirty="0"/>
              <a:t>  Provide TCTO Number </a:t>
            </a:r>
          </a:p>
          <a:p>
            <a:pPr lvl="3" eaLnBrk="1" hangingPunct="1"/>
            <a:r>
              <a:rPr lang="en-US" dirty="0"/>
              <a:t>  Provide Data Code Number</a:t>
            </a:r>
          </a:p>
          <a:p>
            <a:pPr lvl="1" eaLnBrk="1" hangingPunct="1"/>
            <a:endParaRPr lang="en-US" dirty="0"/>
          </a:p>
          <a:p>
            <a:pPr eaLnBrk="1" hangingPunct="1">
              <a:buFont typeface="Wingdings" pitchFamily="2" charset="2"/>
              <a:buNone/>
            </a:pPr>
            <a:r>
              <a:rPr lang="en-US" dirty="0"/>
              <a:t>	</a:t>
            </a:r>
          </a:p>
        </p:txBody>
      </p:sp>
      <p:sp>
        <p:nvSpPr>
          <p:cNvPr id="222212" name="Slide Number Placeholder 5"/>
          <p:cNvSpPr>
            <a:spLocks noGrp="1"/>
          </p:cNvSpPr>
          <p:nvPr>
            <p:ph type="sldNum" sz="quarter" idx="10"/>
          </p:nvPr>
        </p:nvSpPr>
        <p:spPr>
          <a:xfrm>
            <a:off x="7239000" y="6519863"/>
            <a:ext cx="1905000" cy="338137"/>
          </a:xfrm>
          <a:noFill/>
        </p:spPr>
        <p:txBody>
          <a:bodyPr/>
          <a:lstStyle/>
          <a:p>
            <a:fld id="{B325BE78-5974-48F3-B229-81678E3DA265}" type="slidenum">
              <a:rPr lang="en-US" smtClean="0"/>
              <a:pPr/>
              <a:t>196</a:t>
            </a:fld>
            <a:endParaRPr lang="en-US"/>
          </a:p>
        </p:txBody>
      </p:sp>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3235"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873</a:t>
            </a:r>
          </a:p>
          <a:p>
            <a:pPr eaLnBrk="1" hangingPunct="1"/>
            <a:endParaRPr lang="en-US" dirty="0"/>
          </a:p>
          <a:p>
            <a:pPr lvl="1" eaLnBrk="1" hangingPunct="1"/>
            <a:r>
              <a:rPr lang="en-US" dirty="0"/>
              <a:t>When a Supplement or Change to a TCTO is developed a new 873 is completed</a:t>
            </a:r>
          </a:p>
          <a:p>
            <a:pPr eaLnBrk="1" hangingPunct="1"/>
            <a:endParaRPr lang="en-US" dirty="0"/>
          </a:p>
          <a:p>
            <a:pPr lvl="1" eaLnBrk="1" hangingPunct="1"/>
            <a:r>
              <a:rPr lang="en-US" dirty="0"/>
              <a:t>Only need to complete those blocks that change from the original form	</a:t>
            </a:r>
          </a:p>
        </p:txBody>
      </p:sp>
      <p:sp>
        <p:nvSpPr>
          <p:cNvPr id="223236" name="Slide Number Placeholder 5"/>
          <p:cNvSpPr>
            <a:spLocks noGrp="1"/>
          </p:cNvSpPr>
          <p:nvPr>
            <p:ph type="sldNum" sz="quarter" idx="10"/>
          </p:nvPr>
        </p:nvSpPr>
        <p:spPr>
          <a:xfrm>
            <a:off x="7239000" y="6519863"/>
            <a:ext cx="1905000" cy="338137"/>
          </a:xfrm>
          <a:noFill/>
        </p:spPr>
        <p:txBody>
          <a:bodyPr/>
          <a:lstStyle/>
          <a:p>
            <a:fld id="{6B705567-C791-4904-929A-D8997FE14772}" type="slidenum">
              <a:rPr lang="en-US" smtClean="0"/>
              <a:pPr/>
              <a:t>197</a:t>
            </a:fld>
            <a:endParaRPr lang="en-US"/>
          </a:p>
        </p:txBody>
      </p:sp>
    </p:spTree>
  </p:cSld>
  <p:clrMapOvr>
    <a:masterClrMapping/>
  </p:clrMapOvr>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4259"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874</a:t>
            </a:r>
          </a:p>
          <a:p>
            <a:pPr eaLnBrk="1" hangingPunct="1"/>
            <a:endParaRPr lang="en-US" dirty="0"/>
          </a:p>
          <a:p>
            <a:pPr lvl="1" eaLnBrk="1" hangingPunct="1"/>
            <a:r>
              <a:rPr lang="en-US" dirty="0"/>
              <a:t>Used to provide supply related data</a:t>
            </a:r>
          </a:p>
          <a:p>
            <a:pPr eaLnBrk="1" hangingPunct="1"/>
            <a:endParaRPr lang="en-US" dirty="0"/>
          </a:p>
          <a:p>
            <a:pPr lvl="1" eaLnBrk="1" hangingPunct="1"/>
            <a:r>
              <a:rPr lang="en-US" dirty="0"/>
              <a:t>When the following is required:  </a:t>
            </a:r>
          </a:p>
          <a:p>
            <a:pPr marL="447675" lvl="1" indent="0" eaLnBrk="1" hangingPunct="1">
              <a:buNone/>
            </a:pPr>
            <a:endParaRPr lang="en-US" dirty="0"/>
          </a:p>
          <a:p>
            <a:pPr lvl="2" eaLnBrk="1" hangingPunct="1"/>
            <a:r>
              <a:rPr lang="en-US" dirty="0"/>
              <a:t>  Kits</a:t>
            </a:r>
          </a:p>
          <a:p>
            <a:pPr lvl="2" eaLnBrk="1" hangingPunct="1"/>
            <a:r>
              <a:rPr lang="en-US" dirty="0"/>
              <a:t>  Special tools/test equipment</a:t>
            </a:r>
          </a:p>
          <a:p>
            <a:pPr lvl="2" eaLnBrk="1" hangingPunct="1"/>
            <a:r>
              <a:rPr lang="en-US" dirty="0"/>
              <a:t>  Spares impacted</a:t>
            </a:r>
          </a:p>
          <a:p>
            <a:pPr lvl="2" eaLnBrk="1" hangingPunct="1"/>
            <a:r>
              <a:rPr lang="en-US" dirty="0"/>
              <a:t>  Parts are added or removed</a:t>
            </a:r>
          </a:p>
          <a:p>
            <a:pPr eaLnBrk="1" hangingPunct="1">
              <a:buFont typeface="Wingdings" pitchFamily="2" charset="2"/>
              <a:buNone/>
            </a:pPr>
            <a:r>
              <a:rPr lang="en-US" dirty="0"/>
              <a:t>	</a:t>
            </a:r>
          </a:p>
        </p:txBody>
      </p:sp>
      <p:sp>
        <p:nvSpPr>
          <p:cNvPr id="224260" name="Slide Number Placeholder 5"/>
          <p:cNvSpPr>
            <a:spLocks noGrp="1"/>
          </p:cNvSpPr>
          <p:nvPr>
            <p:ph type="sldNum" sz="quarter" idx="10"/>
          </p:nvPr>
        </p:nvSpPr>
        <p:spPr>
          <a:xfrm>
            <a:off x="7239000" y="6519863"/>
            <a:ext cx="1905000" cy="338137"/>
          </a:xfrm>
          <a:noFill/>
        </p:spPr>
        <p:txBody>
          <a:bodyPr/>
          <a:lstStyle/>
          <a:p>
            <a:fld id="{98AEE30F-EF7B-4C85-AEA4-C8C68EF396D3}" type="slidenum">
              <a:rPr lang="en-US" smtClean="0"/>
              <a:pPr/>
              <a:t>198</a:t>
            </a:fld>
            <a:endParaRPr lang="en-US"/>
          </a:p>
        </p:txBody>
      </p:sp>
    </p:spTree>
  </p:cSld>
  <p:clrMapOvr>
    <a:masterClrMapping/>
  </p:clrMapOvr>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5283"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874</a:t>
            </a:r>
          </a:p>
          <a:p>
            <a:pPr eaLnBrk="1" hangingPunct="1"/>
            <a:endParaRPr lang="en-US" dirty="0"/>
          </a:p>
          <a:p>
            <a:pPr lvl="1" eaLnBrk="1" hangingPunct="1"/>
            <a:r>
              <a:rPr lang="en-US" dirty="0"/>
              <a:t>PMS must complete approval and process the form within 30 days of receipt from the contractor or preparing activity</a:t>
            </a:r>
          </a:p>
          <a:p>
            <a:pPr lvl="1" eaLnBrk="1" hangingPunct="1">
              <a:buFontTx/>
              <a:buNone/>
            </a:pPr>
            <a:r>
              <a:rPr lang="en-US" dirty="0"/>
              <a:t>	</a:t>
            </a:r>
          </a:p>
        </p:txBody>
      </p:sp>
      <p:sp>
        <p:nvSpPr>
          <p:cNvPr id="225284" name="Slide Number Placeholder 5"/>
          <p:cNvSpPr>
            <a:spLocks noGrp="1"/>
          </p:cNvSpPr>
          <p:nvPr>
            <p:ph type="sldNum" sz="quarter" idx="10"/>
          </p:nvPr>
        </p:nvSpPr>
        <p:spPr>
          <a:xfrm>
            <a:off x="7239000" y="6519863"/>
            <a:ext cx="1905000" cy="338137"/>
          </a:xfrm>
          <a:noFill/>
        </p:spPr>
        <p:txBody>
          <a:bodyPr/>
          <a:lstStyle/>
          <a:p>
            <a:fld id="{A71AB60C-C0BC-4797-98EE-F51B3B2E60E6}" type="slidenum">
              <a:rPr lang="en-US" smtClean="0"/>
              <a:pPr/>
              <a:t>199</a:t>
            </a:fld>
            <a:endParaRPr lang="en-US"/>
          </a:p>
        </p:txBody>
      </p:sp>
    </p:spTree>
  </p:cSld>
  <p:clrMapOvr>
    <a:masterClrMapping/>
  </p:clrMapOv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6307"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874</a:t>
            </a:r>
          </a:p>
          <a:p>
            <a:pPr eaLnBrk="1" hangingPunct="1"/>
            <a:endParaRPr lang="en-US" dirty="0"/>
          </a:p>
          <a:p>
            <a:pPr lvl="1" eaLnBrk="1" hangingPunct="1"/>
            <a:r>
              <a:rPr lang="en-US" dirty="0"/>
              <a:t>Immediate &amp; Urgent TCTOs MAY be processed &amp; released prior to completion &amp; approval of the form </a:t>
            </a:r>
          </a:p>
          <a:p>
            <a:pPr eaLnBrk="1" hangingPunct="1"/>
            <a:endParaRPr lang="en-US" dirty="0"/>
          </a:p>
          <a:p>
            <a:pPr lvl="1" eaLnBrk="1" hangingPunct="1"/>
            <a:r>
              <a:rPr lang="en-US" dirty="0"/>
              <a:t>ES must obtain coordination of the draft before TCTO release</a:t>
            </a:r>
          </a:p>
        </p:txBody>
      </p:sp>
      <p:sp>
        <p:nvSpPr>
          <p:cNvPr id="226308" name="Slide Number Placeholder 5"/>
          <p:cNvSpPr>
            <a:spLocks noGrp="1"/>
          </p:cNvSpPr>
          <p:nvPr>
            <p:ph type="sldNum" sz="quarter" idx="10"/>
          </p:nvPr>
        </p:nvSpPr>
        <p:spPr>
          <a:xfrm>
            <a:off x="7239000" y="6519863"/>
            <a:ext cx="1905000" cy="338137"/>
          </a:xfrm>
          <a:noFill/>
        </p:spPr>
        <p:txBody>
          <a:bodyPr/>
          <a:lstStyle/>
          <a:p>
            <a:fld id="{CAFED8D6-BB65-4E58-A6E7-163171748AAD}" type="slidenum">
              <a:rPr lang="en-US" smtClean="0"/>
              <a:pPr/>
              <a:t>200</a:t>
            </a:fld>
            <a:endParaRPr lang="en-US"/>
          </a:p>
        </p:txBody>
      </p:sp>
    </p:spTree>
  </p:cSld>
  <p:clrMapOvr>
    <a:masterClrMapping/>
  </p:clrMapOvr>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7331"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874</a:t>
            </a:r>
          </a:p>
          <a:p>
            <a:pPr eaLnBrk="1" hangingPunct="1"/>
            <a:endParaRPr lang="en-US" dirty="0"/>
          </a:p>
          <a:p>
            <a:pPr lvl="1" eaLnBrk="1" hangingPunct="1"/>
            <a:r>
              <a:rPr lang="en-US" dirty="0"/>
              <a:t>IMS must coordinate on the form if supply action is required</a:t>
            </a:r>
          </a:p>
          <a:p>
            <a:pPr eaLnBrk="1" hangingPunct="1"/>
            <a:endParaRPr lang="en-US" dirty="0"/>
          </a:p>
          <a:p>
            <a:pPr lvl="1" eaLnBrk="1" hangingPunct="1"/>
            <a:r>
              <a:rPr lang="en-US" dirty="0"/>
              <a:t>Original copy retained by production management activity as part of the history file</a:t>
            </a:r>
          </a:p>
          <a:p>
            <a:pPr eaLnBrk="1" hangingPunct="1"/>
            <a:endParaRPr lang="en-US" dirty="0"/>
          </a:p>
          <a:p>
            <a:pPr eaLnBrk="1" hangingPunct="1">
              <a:buFont typeface="Wingdings" pitchFamily="2" charset="2"/>
              <a:buNone/>
            </a:pPr>
            <a:r>
              <a:rPr lang="en-US" dirty="0"/>
              <a:t>	</a:t>
            </a:r>
          </a:p>
        </p:txBody>
      </p:sp>
      <p:sp>
        <p:nvSpPr>
          <p:cNvPr id="227332" name="Slide Number Placeholder 5"/>
          <p:cNvSpPr>
            <a:spLocks noGrp="1"/>
          </p:cNvSpPr>
          <p:nvPr>
            <p:ph type="sldNum" sz="quarter" idx="10"/>
          </p:nvPr>
        </p:nvSpPr>
        <p:spPr>
          <a:xfrm>
            <a:off x="7239000" y="6519863"/>
            <a:ext cx="1905000" cy="338137"/>
          </a:xfrm>
          <a:noFill/>
        </p:spPr>
        <p:txBody>
          <a:bodyPr/>
          <a:lstStyle/>
          <a:p>
            <a:fld id="{6BFE8D93-A95F-4D26-8A04-7947FCA75F4C}" type="slidenum">
              <a:rPr lang="en-US" smtClean="0"/>
              <a:pPr/>
              <a:t>201</a:t>
            </a:fld>
            <a:endParaRPr lang="en-US"/>
          </a:p>
        </p:txBody>
      </p:sp>
    </p:spTree>
  </p:cSld>
  <p:clrMapOvr>
    <a:masterClrMapping/>
  </p:clrMapOvr>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8355"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874</a:t>
            </a:r>
          </a:p>
          <a:p>
            <a:pPr eaLnBrk="1" hangingPunct="1"/>
            <a:endParaRPr lang="en-US" dirty="0"/>
          </a:p>
          <a:p>
            <a:pPr lvl="1" eaLnBrk="1" hangingPunct="1"/>
            <a:r>
              <a:rPr lang="en-US" dirty="0"/>
              <a:t>After completion of the TCTO the history file will be maintained for the life of the system or commodity</a:t>
            </a:r>
          </a:p>
          <a:p>
            <a:pPr eaLnBrk="1" hangingPunct="1"/>
            <a:endParaRPr lang="en-US" dirty="0"/>
          </a:p>
          <a:p>
            <a:pPr lvl="1" eaLnBrk="1" hangingPunct="1"/>
            <a:r>
              <a:rPr lang="en-US" dirty="0"/>
              <a:t>ES will complete AFTO form 874</a:t>
            </a:r>
          </a:p>
          <a:p>
            <a:pPr eaLnBrk="1" hangingPunct="1"/>
            <a:endParaRPr lang="en-US" dirty="0"/>
          </a:p>
          <a:p>
            <a:pPr lvl="2" eaLnBrk="1" hangingPunct="1"/>
            <a:r>
              <a:rPr lang="en-US" dirty="0"/>
              <a:t>  Reference 00-5-15</a:t>
            </a:r>
          </a:p>
          <a:p>
            <a:pPr eaLnBrk="1" hangingPunct="1"/>
            <a:endParaRPr lang="en-US" dirty="0"/>
          </a:p>
        </p:txBody>
      </p:sp>
      <p:sp>
        <p:nvSpPr>
          <p:cNvPr id="228356" name="Slide Number Placeholder 5"/>
          <p:cNvSpPr>
            <a:spLocks noGrp="1"/>
          </p:cNvSpPr>
          <p:nvPr>
            <p:ph type="sldNum" sz="quarter" idx="10"/>
          </p:nvPr>
        </p:nvSpPr>
        <p:spPr>
          <a:xfrm>
            <a:off x="7239000" y="6519863"/>
            <a:ext cx="1905000" cy="338137"/>
          </a:xfrm>
          <a:noFill/>
        </p:spPr>
        <p:txBody>
          <a:bodyPr/>
          <a:lstStyle/>
          <a:p>
            <a:fld id="{66C8A476-36F0-477D-B660-0F030FD0FAAE}" type="slidenum">
              <a:rPr lang="en-US" smtClean="0"/>
              <a:pPr/>
              <a:t>202</a:t>
            </a:fld>
            <a:endParaRPr lang="en-US"/>
          </a:p>
        </p:txBody>
      </p:sp>
    </p:spTree>
  </p:cSld>
  <p:clrMapOvr>
    <a:masterClrMapping/>
  </p:clrMapOvr>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29379"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874</a:t>
            </a:r>
          </a:p>
          <a:p>
            <a:pPr eaLnBrk="1" hangingPunct="1"/>
            <a:endParaRPr lang="en-US" dirty="0"/>
          </a:p>
          <a:p>
            <a:pPr lvl="1" eaLnBrk="1" hangingPunct="1"/>
            <a:r>
              <a:rPr lang="en-US" dirty="0"/>
              <a:t>After completion of the 874, the ES will prepare the body of the TCTO</a:t>
            </a:r>
          </a:p>
          <a:p>
            <a:pPr eaLnBrk="1" hangingPunct="1"/>
            <a:endParaRPr lang="en-US" dirty="0"/>
          </a:p>
          <a:p>
            <a:pPr lvl="2" eaLnBrk="1" hangingPunct="1"/>
            <a:r>
              <a:rPr lang="en-US" dirty="0"/>
              <a:t>  Reference MIL-DTL-38804F</a:t>
            </a:r>
          </a:p>
          <a:p>
            <a:pPr lvl="1" eaLnBrk="1" hangingPunct="1"/>
            <a:endParaRPr lang="en-US" dirty="0"/>
          </a:p>
        </p:txBody>
      </p:sp>
      <p:sp>
        <p:nvSpPr>
          <p:cNvPr id="229380" name="Slide Number Placeholder 5"/>
          <p:cNvSpPr>
            <a:spLocks noGrp="1"/>
          </p:cNvSpPr>
          <p:nvPr>
            <p:ph type="sldNum" sz="quarter" idx="10"/>
          </p:nvPr>
        </p:nvSpPr>
        <p:spPr>
          <a:xfrm>
            <a:off x="7239000" y="6519863"/>
            <a:ext cx="1905000" cy="338137"/>
          </a:xfrm>
          <a:noFill/>
        </p:spPr>
        <p:txBody>
          <a:bodyPr/>
          <a:lstStyle/>
          <a:p>
            <a:fld id="{851EED74-96FF-4F0E-A0FF-A3C9380CCBCC}" type="slidenum">
              <a:rPr lang="en-US" smtClean="0"/>
              <a:pPr/>
              <a:t>203</a:t>
            </a:fld>
            <a:endParaRPr lang="en-US"/>
          </a:p>
        </p:txBody>
      </p:sp>
    </p:spTree>
  </p:cSld>
  <p:clrMapOvr>
    <a:masterClrMapping/>
  </p:clrMapOv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0403"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874</a:t>
            </a:r>
          </a:p>
          <a:p>
            <a:pPr eaLnBrk="1" hangingPunct="1"/>
            <a:endParaRPr lang="en-US" dirty="0"/>
          </a:p>
          <a:p>
            <a:pPr lvl="1" eaLnBrk="1" hangingPunct="1"/>
            <a:r>
              <a:rPr lang="en-US" dirty="0"/>
              <a:t>Once the contract is signed</a:t>
            </a:r>
          </a:p>
          <a:p>
            <a:pPr marL="0" indent="0" eaLnBrk="1" hangingPunct="1">
              <a:buNone/>
            </a:pPr>
            <a:endParaRPr lang="en-US" dirty="0"/>
          </a:p>
          <a:p>
            <a:pPr lvl="2" eaLnBrk="1" hangingPunct="1"/>
            <a:r>
              <a:rPr lang="en-US" dirty="0"/>
              <a:t>  Contractor completes their portion of the AFTO Form 874</a:t>
            </a:r>
          </a:p>
          <a:p>
            <a:pPr lvl="2" eaLnBrk="1" hangingPunct="1"/>
            <a:r>
              <a:rPr lang="en-US" dirty="0"/>
              <a:t>  Based on the AFTO Form 873</a:t>
            </a:r>
          </a:p>
          <a:p>
            <a:pPr lvl="2" eaLnBrk="1" hangingPunct="1"/>
            <a:r>
              <a:rPr lang="en-US" dirty="0"/>
              <a:t>  Forwards the form to  the Production Management Activity for coordination</a:t>
            </a:r>
          </a:p>
          <a:p>
            <a:pPr lvl="1" eaLnBrk="1" hangingPunct="1"/>
            <a:endParaRPr lang="en-US" dirty="0"/>
          </a:p>
        </p:txBody>
      </p:sp>
      <p:sp>
        <p:nvSpPr>
          <p:cNvPr id="230404" name="Slide Number Placeholder 5"/>
          <p:cNvSpPr>
            <a:spLocks noGrp="1"/>
          </p:cNvSpPr>
          <p:nvPr>
            <p:ph type="sldNum" sz="quarter" idx="10"/>
          </p:nvPr>
        </p:nvSpPr>
        <p:spPr>
          <a:xfrm>
            <a:off x="7239000" y="6519863"/>
            <a:ext cx="1905000" cy="338137"/>
          </a:xfrm>
          <a:noFill/>
        </p:spPr>
        <p:txBody>
          <a:bodyPr/>
          <a:lstStyle/>
          <a:p>
            <a:fld id="{17D544AD-CB67-429C-851D-0BBF1FE3FD8D}" type="slidenum">
              <a:rPr lang="en-US" smtClean="0"/>
              <a:pPr/>
              <a:t>204</a:t>
            </a:fld>
            <a:endParaRPr lang="en-US"/>
          </a:p>
        </p:txBody>
      </p:sp>
    </p:spTree>
  </p:cSld>
  <p:clrMapOvr>
    <a:masterClrMapping/>
  </p:clrMapOvr>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1427"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lvl="1" eaLnBrk="1" hangingPunct="1"/>
            <a:r>
              <a:rPr lang="en-US" dirty="0"/>
              <a:t>Complete AFTO Form 875 prior to</a:t>
            </a:r>
          </a:p>
          <a:p>
            <a:pPr lvl="2" eaLnBrk="1" hangingPunct="1"/>
            <a:r>
              <a:rPr lang="en-US" dirty="0"/>
              <a:t>  Release of TCTO</a:t>
            </a:r>
          </a:p>
          <a:p>
            <a:pPr lvl="2" eaLnBrk="1" hangingPunct="1"/>
            <a:r>
              <a:rPr lang="en-US" dirty="0"/>
              <a:t>  Kits</a:t>
            </a:r>
          </a:p>
          <a:p>
            <a:pPr lvl="2" eaLnBrk="1" hangingPunct="1"/>
            <a:r>
              <a:rPr lang="en-US" dirty="0"/>
              <a:t>  Related TO updates</a:t>
            </a:r>
          </a:p>
          <a:p>
            <a:pPr lvl="1" eaLnBrk="1" hangingPunct="1"/>
            <a:endParaRPr lang="en-US" dirty="0"/>
          </a:p>
          <a:p>
            <a:pPr lvl="1" eaLnBrk="1" hangingPunct="1"/>
            <a:r>
              <a:rPr lang="en-US" dirty="0"/>
              <a:t>A programming document </a:t>
            </a:r>
          </a:p>
          <a:p>
            <a:pPr lvl="2" eaLnBrk="1" hangingPunct="1"/>
            <a:r>
              <a:rPr lang="en-US" dirty="0"/>
              <a:t>  To ensure concurrent availability of all support for a TCTO </a:t>
            </a:r>
          </a:p>
          <a:p>
            <a:pPr eaLnBrk="1" hangingPunct="1"/>
            <a:endParaRPr lang="en-US" dirty="0"/>
          </a:p>
          <a:p>
            <a:pPr eaLnBrk="1" hangingPunct="1"/>
            <a:endParaRPr lang="en-US" dirty="0"/>
          </a:p>
          <a:p>
            <a:pPr lvl="1" eaLnBrk="1" hangingPunct="1"/>
            <a:endParaRPr lang="en-US" dirty="0"/>
          </a:p>
        </p:txBody>
      </p:sp>
      <p:sp>
        <p:nvSpPr>
          <p:cNvPr id="231428" name="Slide Number Placeholder 5"/>
          <p:cNvSpPr>
            <a:spLocks noGrp="1"/>
          </p:cNvSpPr>
          <p:nvPr>
            <p:ph type="sldNum" sz="quarter" idx="10"/>
          </p:nvPr>
        </p:nvSpPr>
        <p:spPr>
          <a:xfrm>
            <a:off x="7239000" y="6519863"/>
            <a:ext cx="1905000" cy="338137"/>
          </a:xfrm>
          <a:noFill/>
        </p:spPr>
        <p:txBody>
          <a:bodyPr/>
          <a:lstStyle/>
          <a:p>
            <a:fld id="{998116D5-FF9B-45DE-9D26-C77AF8E7835C}" type="slidenum">
              <a:rPr lang="en-US" smtClean="0"/>
              <a:pPr/>
              <a:t>205</a:t>
            </a:fld>
            <a:endParaRPr lang="en-US"/>
          </a:p>
        </p:txBody>
      </p:sp>
    </p:spTree>
  </p:cSld>
  <p:clrMapOvr>
    <a:masterClrMapping/>
  </p:clrMapOvr>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2451"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lvl="1" eaLnBrk="1" hangingPunct="1"/>
            <a:r>
              <a:rPr lang="en-US" dirty="0"/>
              <a:t>Used to </a:t>
            </a:r>
          </a:p>
          <a:p>
            <a:pPr lvl="2" eaLnBrk="1" hangingPunct="1"/>
            <a:r>
              <a:rPr lang="en-US" dirty="0"/>
              <a:t>  Identify &amp; coordinate the relevant logistics actions </a:t>
            </a:r>
          </a:p>
          <a:p>
            <a:pPr lvl="2" eaLnBrk="1" hangingPunct="1"/>
            <a:r>
              <a:rPr lang="en-US" dirty="0"/>
              <a:t>  To ensure the maximum effectiveness of TCTO completion</a:t>
            </a:r>
          </a:p>
          <a:p>
            <a:pPr eaLnBrk="1" hangingPunct="1"/>
            <a:endParaRPr lang="en-US" dirty="0"/>
          </a:p>
          <a:p>
            <a:pPr eaLnBrk="1" hangingPunct="1"/>
            <a:endParaRPr lang="en-US" dirty="0"/>
          </a:p>
          <a:p>
            <a:pPr eaLnBrk="1" hangingPunct="1"/>
            <a:endParaRPr lang="en-US" dirty="0"/>
          </a:p>
          <a:p>
            <a:pPr eaLnBrk="1" hangingPunct="1"/>
            <a:endParaRPr lang="en-US" dirty="0"/>
          </a:p>
          <a:p>
            <a:pPr lvl="1" eaLnBrk="1" hangingPunct="1"/>
            <a:endParaRPr lang="en-US" dirty="0"/>
          </a:p>
        </p:txBody>
      </p:sp>
      <p:sp>
        <p:nvSpPr>
          <p:cNvPr id="232452" name="Slide Number Placeholder 5"/>
          <p:cNvSpPr>
            <a:spLocks noGrp="1"/>
          </p:cNvSpPr>
          <p:nvPr>
            <p:ph type="sldNum" sz="quarter" idx="10"/>
          </p:nvPr>
        </p:nvSpPr>
        <p:spPr>
          <a:xfrm>
            <a:off x="7239000" y="6519863"/>
            <a:ext cx="1905000" cy="338137"/>
          </a:xfrm>
          <a:noFill/>
        </p:spPr>
        <p:txBody>
          <a:bodyPr/>
          <a:lstStyle/>
          <a:p>
            <a:fld id="{870C3DEF-2AC6-4249-A47D-4680E68D9D7A}" type="slidenum">
              <a:rPr lang="en-US" smtClean="0"/>
              <a:pPr/>
              <a:t>206</a:t>
            </a:fld>
            <a:endParaRPr lang="en-US"/>
          </a:p>
        </p:txBody>
      </p:sp>
    </p:spTree>
  </p:cSld>
  <p:clrMapOvr>
    <a:masterClrMapping/>
  </p:clrMapOvr>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3475"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lvl="1" eaLnBrk="1" hangingPunct="1"/>
            <a:r>
              <a:rPr lang="en-US" dirty="0"/>
              <a:t>Program Management Activity initiates the form after CCB approval</a:t>
            </a:r>
          </a:p>
          <a:p>
            <a:pPr eaLnBrk="1" hangingPunct="1"/>
            <a:endParaRPr lang="en-US" dirty="0"/>
          </a:p>
          <a:p>
            <a:pPr lvl="1" eaLnBrk="1" hangingPunct="1"/>
            <a:r>
              <a:rPr lang="en-US" dirty="0"/>
              <a:t>ES/TCM Determines which items are applicable based  on information from</a:t>
            </a:r>
          </a:p>
          <a:p>
            <a:pPr lvl="3" eaLnBrk="1" hangingPunct="1"/>
            <a:r>
              <a:rPr lang="en-US" dirty="0"/>
              <a:t>AFTO Form 873</a:t>
            </a:r>
          </a:p>
        </p:txBody>
      </p:sp>
      <p:sp>
        <p:nvSpPr>
          <p:cNvPr id="233476" name="Slide Number Placeholder 5"/>
          <p:cNvSpPr>
            <a:spLocks noGrp="1"/>
          </p:cNvSpPr>
          <p:nvPr>
            <p:ph type="sldNum" sz="quarter" idx="10"/>
          </p:nvPr>
        </p:nvSpPr>
        <p:spPr>
          <a:xfrm>
            <a:off x="7239000" y="6519863"/>
            <a:ext cx="1905000" cy="338137"/>
          </a:xfrm>
          <a:noFill/>
        </p:spPr>
        <p:txBody>
          <a:bodyPr/>
          <a:lstStyle/>
          <a:p>
            <a:fld id="{7F061B17-C044-4B25-8510-C774A63379AA}" type="slidenum">
              <a:rPr lang="en-US" smtClean="0"/>
              <a:pPr/>
              <a:t>207</a:t>
            </a:fld>
            <a:endParaRPr lang="en-US"/>
          </a:p>
        </p:txBody>
      </p:sp>
    </p:spTree>
  </p:cSld>
  <p:clrMapOvr>
    <a:masterClrMapping/>
  </p:clrMapOvr>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4499"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lvl="1" eaLnBrk="1" hangingPunct="1"/>
            <a:r>
              <a:rPr lang="en-US" dirty="0"/>
              <a:t>ES/TCM </a:t>
            </a:r>
          </a:p>
          <a:p>
            <a:pPr marL="0" indent="0" eaLnBrk="1" hangingPunct="1">
              <a:buNone/>
            </a:pPr>
            <a:endParaRPr lang="en-US" dirty="0"/>
          </a:p>
          <a:p>
            <a:pPr lvl="2" eaLnBrk="1" hangingPunct="1"/>
            <a:r>
              <a:rPr lang="en-US" dirty="0"/>
              <a:t>  Marks the “Action Required” blocks</a:t>
            </a:r>
          </a:p>
          <a:p>
            <a:pPr lvl="2" eaLnBrk="1" hangingPunct="1"/>
            <a:r>
              <a:rPr lang="en-US" dirty="0"/>
              <a:t>  Signs off any completed actions</a:t>
            </a:r>
          </a:p>
          <a:p>
            <a:pPr lvl="2" eaLnBrk="1" hangingPunct="1"/>
            <a:r>
              <a:rPr lang="en-US" dirty="0"/>
              <a:t>  Forwards Forms 875 to the Production Management activity</a:t>
            </a:r>
          </a:p>
          <a:p>
            <a:pPr lvl="2" eaLnBrk="1" hangingPunct="1"/>
            <a:r>
              <a:rPr lang="en-US" dirty="0"/>
              <a:t>  Used to guide the management and programming of the TCTO</a:t>
            </a:r>
          </a:p>
          <a:p>
            <a:pPr lvl="1" eaLnBrk="1" hangingPunct="1">
              <a:buFontTx/>
              <a:buNone/>
            </a:pPr>
            <a:endParaRPr lang="en-US" dirty="0"/>
          </a:p>
        </p:txBody>
      </p:sp>
      <p:sp>
        <p:nvSpPr>
          <p:cNvPr id="234500" name="Slide Number Placeholder 5"/>
          <p:cNvSpPr>
            <a:spLocks noGrp="1"/>
          </p:cNvSpPr>
          <p:nvPr>
            <p:ph type="sldNum" sz="quarter" idx="10"/>
          </p:nvPr>
        </p:nvSpPr>
        <p:spPr>
          <a:xfrm>
            <a:off x="7239000" y="6519863"/>
            <a:ext cx="1905000" cy="338137"/>
          </a:xfrm>
          <a:noFill/>
        </p:spPr>
        <p:txBody>
          <a:bodyPr/>
          <a:lstStyle/>
          <a:p>
            <a:fld id="{F722C33F-E735-4445-803B-46876DD314B4}" type="slidenum">
              <a:rPr lang="en-US" smtClean="0"/>
              <a:pPr/>
              <a:t>208</a:t>
            </a:fld>
            <a:endParaRPr lang="en-US"/>
          </a:p>
        </p:txBody>
      </p:sp>
    </p:spTree>
  </p:cSld>
  <p:clrMapOvr>
    <a:masterClrMapping/>
  </p:clrMapOvr>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5523"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lvl="1" eaLnBrk="1" hangingPunct="1"/>
            <a:r>
              <a:rPr lang="en-US" dirty="0"/>
              <a:t>Production Management activity will</a:t>
            </a:r>
          </a:p>
          <a:p>
            <a:pPr marL="447675" lvl="1" indent="0" eaLnBrk="1" hangingPunct="1">
              <a:buNone/>
            </a:pPr>
            <a:endParaRPr lang="en-US" dirty="0"/>
          </a:p>
          <a:p>
            <a:pPr lvl="2" eaLnBrk="1" hangingPunct="1"/>
            <a:r>
              <a:rPr lang="en-US" dirty="0"/>
              <a:t>  Monitor and control the accomplishment of actions</a:t>
            </a:r>
          </a:p>
          <a:p>
            <a:pPr lvl="2" eaLnBrk="1" hangingPunct="1"/>
            <a:r>
              <a:rPr lang="en-US" dirty="0"/>
              <a:t>  Coordination's and approvals required by the tailored AFTO 875</a:t>
            </a:r>
          </a:p>
          <a:p>
            <a:pPr eaLnBrk="1" hangingPunct="1"/>
            <a:endParaRPr lang="en-US" dirty="0"/>
          </a:p>
          <a:p>
            <a:pPr eaLnBrk="1" hangingPunct="1"/>
            <a:endParaRPr lang="en-US" dirty="0"/>
          </a:p>
          <a:p>
            <a:pPr eaLnBrk="1" hangingPunct="1"/>
            <a:endParaRPr lang="en-US" dirty="0"/>
          </a:p>
          <a:p>
            <a:pPr lvl="1" eaLnBrk="1" hangingPunct="1"/>
            <a:endParaRPr lang="en-US" dirty="0"/>
          </a:p>
        </p:txBody>
      </p:sp>
      <p:sp>
        <p:nvSpPr>
          <p:cNvPr id="235524" name="Slide Number Placeholder 5"/>
          <p:cNvSpPr>
            <a:spLocks noGrp="1"/>
          </p:cNvSpPr>
          <p:nvPr>
            <p:ph type="sldNum" sz="quarter" idx="10"/>
          </p:nvPr>
        </p:nvSpPr>
        <p:spPr>
          <a:xfrm>
            <a:off x="7239000" y="6519863"/>
            <a:ext cx="1905000" cy="338137"/>
          </a:xfrm>
          <a:noFill/>
        </p:spPr>
        <p:txBody>
          <a:bodyPr/>
          <a:lstStyle/>
          <a:p>
            <a:fld id="{8EF2E956-3336-4F0B-A9FB-83DFB357FBF3}" type="slidenum">
              <a:rPr lang="en-US" smtClean="0"/>
              <a:pPr/>
              <a:t>209</a:t>
            </a:fld>
            <a:endParaRPr lang="en-US"/>
          </a:p>
        </p:txBody>
      </p:sp>
    </p:spTree>
  </p:cSld>
  <p:clrMapOvr>
    <a:masterClrMapping/>
  </p:clrMapOv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6547"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eaLnBrk="1" hangingPunct="1"/>
            <a:r>
              <a:rPr lang="en-US" dirty="0"/>
              <a:t>After all logistics support actions have been completed </a:t>
            </a:r>
          </a:p>
          <a:p>
            <a:pPr marL="0" indent="0" eaLnBrk="1" hangingPunct="1">
              <a:buNone/>
            </a:pPr>
            <a:endParaRPr lang="en-US" dirty="0"/>
          </a:p>
          <a:p>
            <a:pPr lvl="1" eaLnBrk="1" hangingPunct="1"/>
            <a:r>
              <a:rPr lang="en-US" dirty="0"/>
              <a:t>It is forwarded, with the TCTO package</a:t>
            </a:r>
          </a:p>
          <a:p>
            <a:pPr lvl="1" eaLnBrk="1" hangingPunct="1"/>
            <a:r>
              <a:rPr lang="en-US" dirty="0"/>
              <a:t>To the TO Manager for </a:t>
            </a:r>
          </a:p>
          <a:p>
            <a:pPr lvl="2" eaLnBrk="1" hangingPunct="1"/>
            <a:r>
              <a:rPr lang="en-US" dirty="0"/>
              <a:t>  Publishing the TCTO</a:t>
            </a:r>
          </a:p>
          <a:p>
            <a:pPr lvl="2" eaLnBrk="1" hangingPunct="1"/>
            <a:r>
              <a:rPr lang="en-US" dirty="0"/>
              <a:t>  Any required TO updates</a:t>
            </a:r>
          </a:p>
          <a:p>
            <a:pPr eaLnBrk="1" hangingPunct="1"/>
            <a:endParaRPr lang="en-US" dirty="0"/>
          </a:p>
          <a:p>
            <a:pPr lvl="1" eaLnBrk="1" hangingPunct="1"/>
            <a:endParaRPr lang="en-US" dirty="0"/>
          </a:p>
        </p:txBody>
      </p:sp>
      <p:sp>
        <p:nvSpPr>
          <p:cNvPr id="236548" name="Slide Number Placeholder 5"/>
          <p:cNvSpPr>
            <a:spLocks noGrp="1"/>
          </p:cNvSpPr>
          <p:nvPr>
            <p:ph type="sldNum" sz="quarter" idx="10"/>
          </p:nvPr>
        </p:nvSpPr>
        <p:spPr>
          <a:xfrm>
            <a:off x="7239000" y="6519863"/>
            <a:ext cx="1905000" cy="338137"/>
          </a:xfrm>
          <a:noFill/>
        </p:spPr>
        <p:txBody>
          <a:bodyPr/>
          <a:lstStyle/>
          <a:p>
            <a:fld id="{B7C6E71B-B8A5-4A99-BB67-D09528B58DD3}" type="slidenum">
              <a:rPr lang="en-US" smtClean="0"/>
              <a:pPr/>
              <a:t>210</a:t>
            </a:fld>
            <a:endParaRPr lang="en-US"/>
          </a:p>
        </p:txBody>
      </p:sp>
    </p:spTree>
  </p:cSld>
  <p:clrMapOvr>
    <a:masterClrMapping/>
  </p:clrMapOvr>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7571"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lvl="1" eaLnBrk="1" hangingPunct="1"/>
            <a:r>
              <a:rPr lang="en-US" dirty="0"/>
              <a:t>After the printed material is ready for distribution</a:t>
            </a:r>
          </a:p>
          <a:p>
            <a:pPr eaLnBrk="1" hangingPunct="1"/>
            <a:endParaRPr lang="en-US" dirty="0"/>
          </a:p>
          <a:p>
            <a:pPr lvl="1" eaLnBrk="1" hangingPunct="1"/>
            <a:r>
              <a:rPr lang="en-US" dirty="0"/>
              <a:t>Production Manager signs the forms</a:t>
            </a:r>
          </a:p>
          <a:p>
            <a:pPr eaLnBrk="1" hangingPunct="1"/>
            <a:endParaRPr lang="en-US" dirty="0"/>
          </a:p>
          <a:p>
            <a:pPr lvl="1" eaLnBrk="1" hangingPunct="1"/>
            <a:r>
              <a:rPr lang="en-US" dirty="0"/>
              <a:t>Forwards the form to the SM for signature,  Authorizing release of TCTO</a:t>
            </a:r>
          </a:p>
          <a:p>
            <a:pPr eaLnBrk="1" hangingPunct="1"/>
            <a:endParaRPr lang="en-US" dirty="0"/>
          </a:p>
          <a:p>
            <a:pPr lvl="1" eaLnBrk="1" hangingPunct="1"/>
            <a:endParaRPr lang="en-US" dirty="0"/>
          </a:p>
        </p:txBody>
      </p:sp>
      <p:sp>
        <p:nvSpPr>
          <p:cNvPr id="237572" name="Slide Number Placeholder 5"/>
          <p:cNvSpPr>
            <a:spLocks noGrp="1"/>
          </p:cNvSpPr>
          <p:nvPr>
            <p:ph type="sldNum" sz="quarter" idx="10"/>
          </p:nvPr>
        </p:nvSpPr>
        <p:spPr>
          <a:xfrm>
            <a:off x="7239000" y="6519863"/>
            <a:ext cx="1905000" cy="338137"/>
          </a:xfrm>
          <a:noFill/>
        </p:spPr>
        <p:txBody>
          <a:bodyPr/>
          <a:lstStyle/>
          <a:p>
            <a:fld id="{5840336E-6BF6-40CC-91A1-B038DF6AD8F3}" type="slidenum">
              <a:rPr lang="en-US" smtClean="0"/>
              <a:pPr/>
              <a:t>211</a:t>
            </a:fld>
            <a:endParaRPr lang="en-US"/>
          </a:p>
        </p:txBody>
      </p:sp>
    </p:spTree>
  </p:cSld>
  <p:clrMapOvr>
    <a:masterClrMapping/>
  </p:clrMapOvr>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8595"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lvl="1" eaLnBrk="1" hangingPunct="1"/>
            <a:r>
              <a:rPr lang="en-US" dirty="0"/>
              <a:t>Copies of the completed form are provided to</a:t>
            </a:r>
          </a:p>
          <a:p>
            <a:pPr lvl="2" eaLnBrk="1" hangingPunct="1"/>
            <a:r>
              <a:rPr lang="en-US" dirty="0"/>
              <a:t>  The ES and kit monitor</a:t>
            </a:r>
          </a:p>
          <a:p>
            <a:pPr lvl="2" eaLnBrk="1" hangingPunct="1"/>
            <a:r>
              <a:rPr lang="en-US" dirty="0"/>
              <a:t>  As authority for release of the TCTO</a:t>
            </a:r>
          </a:p>
          <a:p>
            <a:pPr lvl="1" eaLnBrk="1" hangingPunct="1"/>
            <a:endParaRPr lang="en-US" dirty="0"/>
          </a:p>
          <a:p>
            <a:pPr lvl="1" eaLnBrk="1" hangingPunct="1"/>
            <a:r>
              <a:rPr lang="en-US" dirty="0"/>
              <a:t>The Production Management activity maintains a copy of the form in the project folder until completion of the TCTO</a:t>
            </a:r>
          </a:p>
          <a:p>
            <a:pPr eaLnBrk="1" hangingPunct="1"/>
            <a:endParaRPr lang="en-US" dirty="0"/>
          </a:p>
          <a:p>
            <a:pPr lvl="1" eaLnBrk="1" hangingPunct="1"/>
            <a:endParaRPr lang="en-US" dirty="0"/>
          </a:p>
        </p:txBody>
      </p:sp>
      <p:sp>
        <p:nvSpPr>
          <p:cNvPr id="238596" name="Slide Number Placeholder 5"/>
          <p:cNvSpPr>
            <a:spLocks noGrp="1"/>
          </p:cNvSpPr>
          <p:nvPr>
            <p:ph type="sldNum" sz="quarter" idx="10"/>
          </p:nvPr>
        </p:nvSpPr>
        <p:spPr>
          <a:xfrm>
            <a:off x="7239000" y="6519863"/>
            <a:ext cx="1905000" cy="338137"/>
          </a:xfrm>
          <a:noFill/>
        </p:spPr>
        <p:txBody>
          <a:bodyPr/>
          <a:lstStyle/>
          <a:p>
            <a:fld id="{0D54D900-15DB-4611-B4C0-E2A433B0D570}" type="slidenum">
              <a:rPr lang="en-US" smtClean="0"/>
              <a:pPr/>
              <a:t>212</a:t>
            </a:fld>
            <a:endParaRPr lang="en-US"/>
          </a:p>
        </p:txBody>
      </p:sp>
    </p:spTree>
  </p:cSld>
  <p:clrMapOvr>
    <a:masterClrMapping/>
  </p:clrMapOvr>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39619"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875</a:t>
            </a:r>
          </a:p>
          <a:p>
            <a:pPr eaLnBrk="1" hangingPunct="1"/>
            <a:endParaRPr lang="en-US" dirty="0"/>
          </a:p>
          <a:p>
            <a:pPr lvl="1" eaLnBrk="1" hangingPunct="1"/>
            <a:r>
              <a:rPr lang="en-US" dirty="0"/>
              <a:t>After completion of the TCTO</a:t>
            </a:r>
          </a:p>
          <a:p>
            <a:pPr eaLnBrk="1" hangingPunct="1"/>
            <a:endParaRPr lang="en-US" dirty="0"/>
          </a:p>
          <a:p>
            <a:pPr lvl="2" eaLnBrk="1" hangingPunct="1"/>
            <a:r>
              <a:rPr lang="en-US" dirty="0"/>
              <a:t>The form will be maintained in the TCTO history file </a:t>
            </a:r>
            <a:r>
              <a:rPr lang="en-US" sz="2000" dirty="0"/>
              <a:t>for the life of</a:t>
            </a:r>
          </a:p>
          <a:p>
            <a:pPr marL="852488" lvl="2" indent="0" eaLnBrk="1" hangingPunct="1">
              <a:buNone/>
            </a:pPr>
            <a:r>
              <a:rPr lang="en-US" dirty="0"/>
              <a:t> </a:t>
            </a:r>
            <a:r>
              <a:rPr lang="en-US" sz="2000" dirty="0"/>
              <a:t> the system by the Production Management Activity</a:t>
            </a:r>
          </a:p>
          <a:p>
            <a:pPr marL="852488" lvl="2" indent="0" eaLnBrk="1" hangingPunct="1">
              <a:buNone/>
            </a:pPr>
            <a:endParaRPr lang="en-US" sz="2000" dirty="0"/>
          </a:p>
          <a:p>
            <a:pPr lvl="2" eaLnBrk="1" hangingPunct="1"/>
            <a:r>
              <a:rPr lang="en-US" dirty="0"/>
              <a:t>  00-5-15 states the PMA will initiate and maintain the History File</a:t>
            </a:r>
          </a:p>
        </p:txBody>
      </p:sp>
      <p:sp>
        <p:nvSpPr>
          <p:cNvPr id="239620" name="Slide Number Placeholder 5"/>
          <p:cNvSpPr>
            <a:spLocks noGrp="1"/>
          </p:cNvSpPr>
          <p:nvPr>
            <p:ph type="sldNum" sz="quarter" idx="10"/>
          </p:nvPr>
        </p:nvSpPr>
        <p:spPr>
          <a:xfrm>
            <a:off x="7239000" y="6519863"/>
            <a:ext cx="1905000" cy="338137"/>
          </a:xfrm>
          <a:noFill/>
        </p:spPr>
        <p:txBody>
          <a:bodyPr/>
          <a:lstStyle/>
          <a:p>
            <a:fld id="{1279EA1E-D333-4ED1-AB31-DF9E8C9140B3}" type="slidenum">
              <a:rPr lang="en-US" smtClean="0"/>
              <a:pPr/>
              <a:t>213</a:t>
            </a:fld>
            <a:endParaRPr lang="en-US"/>
          </a:p>
        </p:txBody>
      </p:sp>
    </p:spTree>
  </p:cSld>
  <p:clrMapOvr>
    <a:masterClrMapping/>
  </p:clrMapOv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0643" name="Rectangle 3"/>
          <p:cNvSpPr>
            <a:spLocks noGrp="1" noChangeArrowheads="1"/>
          </p:cNvSpPr>
          <p:nvPr>
            <p:ph idx="1"/>
          </p:nvPr>
        </p:nvSpPr>
        <p:spPr/>
        <p:txBody>
          <a:bodyPr/>
          <a:lstStyle/>
          <a:p>
            <a:pPr eaLnBrk="1" hangingPunct="1"/>
            <a:r>
              <a:rPr lang="en-US" dirty="0"/>
              <a:t>TCTO Package Contents</a:t>
            </a:r>
          </a:p>
          <a:p>
            <a:pPr eaLnBrk="1" hangingPunct="1"/>
            <a:r>
              <a:rPr lang="en-US" dirty="0"/>
              <a:t>AFTO Form 82</a:t>
            </a:r>
          </a:p>
          <a:p>
            <a:pPr eaLnBrk="1" hangingPunct="1"/>
            <a:endParaRPr lang="en-US" dirty="0"/>
          </a:p>
          <a:p>
            <a:pPr lvl="1" eaLnBrk="1" hangingPunct="1"/>
            <a:r>
              <a:rPr lang="en-US" dirty="0"/>
              <a:t>Completed by the ES/TCM</a:t>
            </a:r>
          </a:p>
          <a:p>
            <a:pPr marL="0" indent="0" eaLnBrk="1" hangingPunct="1">
              <a:buNone/>
            </a:pPr>
            <a:endParaRPr lang="en-US" dirty="0"/>
          </a:p>
          <a:p>
            <a:pPr lvl="2" eaLnBrk="1" hangingPunct="1"/>
            <a:r>
              <a:rPr lang="en-US" dirty="0"/>
              <a:t>  TO 00-5-15</a:t>
            </a:r>
          </a:p>
          <a:p>
            <a:pPr eaLnBrk="1" hangingPunct="1"/>
            <a:endParaRPr lang="en-US" dirty="0"/>
          </a:p>
          <a:p>
            <a:pPr lvl="2" eaLnBrk="1" hangingPunct="1"/>
            <a:r>
              <a:rPr lang="en-US" dirty="0"/>
              <a:t>  Performing unit can sign the form in the ES absence</a:t>
            </a:r>
          </a:p>
          <a:p>
            <a:pPr lvl="1" eaLnBrk="1" hangingPunct="1"/>
            <a:endParaRPr lang="en-US" dirty="0"/>
          </a:p>
          <a:p>
            <a:pPr lvl="2" eaLnBrk="1" hangingPunct="1"/>
            <a:r>
              <a:rPr lang="en-US" dirty="0"/>
              <a:t>  Must forward the original to the ES with 10 days after completion to the verification</a:t>
            </a:r>
          </a:p>
        </p:txBody>
      </p:sp>
      <p:sp>
        <p:nvSpPr>
          <p:cNvPr id="240644" name="Slide Number Placeholder 5"/>
          <p:cNvSpPr>
            <a:spLocks noGrp="1"/>
          </p:cNvSpPr>
          <p:nvPr>
            <p:ph type="sldNum" sz="quarter" idx="10"/>
          </p:nvPr>
        </p:nvSpPr>
        <p:spPr>
          <a:xfrm>
            <a:off x="7239000" y="6519863"/>
            <a:ext cx="1905000" cy="338137"/>
          </a:xfrm>
          <a:noFill/>
        </p:spPr>
        <p:txBody>
          <a:bodyPr/>
          <a:lstStyle/>
          <a:p>
            <a:fld id="{0D1E8DE7-F5B2-457F-8217-22E241A69BD2}" type="slidenum">
              <a:rPr lang="en-US" smtClean="0"/>
              <a:pPr/>
              <a:t>214</a:t>
            </a:fld>
            <a:endParaRPr lang="en-US"/>
          </a:p>
        </p:txBody>
      </p:sp>
    </p:spTree>
  </p:cSld>
  <p:clrMapOvr>
    <a:masterClrMapping/>
  </p:clrMapOvr>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1667" name="Rectangle 3"/>
          <p:cNvSpPr>
            <a:spLocks noGrp="1" noChangeArrowheads="1"/>
          </p:cNvSpPr>
          <p:nvPr>
            <p:ph idx="1"/>
          </p:nvPr>
        </p:nvSpPr>
        <p:spPr/>
        <p:txBody>
          <a:bodyPr/>
          <a:lstStyle/>
          <a:p>
            <a:pPr eaLnBrk="1" hangingPunct="1"/>
            <a:r>
              <a:rPr lang="en-US" dirty="0"/>
              <a:t>TCTO Package Contents</a:t>
            </a:r>
          </a:p>
          <a:p>
            <a:pPr eaLnBrk="1" hangingPunct="1"/>
            <a:r>
              <a:rPr lang="en-US" dirty="0"/>
              <a:t>AFMC Form 185</a:t>
            </a:r>
          </a:p>
          <a:p>
            <a:pPr eaLnBrk="1" hangingPunct="1"/>
            <a:endParaRPr lang="en-US" dirty="0"/>
          </a:p>
          <a:p>
            <a:pPr lvl="1" eaLnBrk="1" hangingPunct="1"/>
            <a:r>
              <a:rPr lang="en-US" dirty="0"/>
              <a:t>Request for TCTO Kit Assembly</a:t>
            </a:r>
          </a:p>
          <a:p>
            <a:pPr eaLnBrk="1" hangingPunct="1"/>
            <a:endParaRPr lang="en-US" dirty="0"/>
          </a:p>
          <a:p>
            <a:pPr lvl="1" eaLnBrk="1" hangingPunct="1"/>
            <a:r>
              <a:rPr lang="en-US" dirty="0"/>
              <a:t>Will be completed by the ES/TCM</a:t>
            </a:r>
          </a:p>
          <a:p>
            <a:pPr eaLnBrk="1" hangingPunct="1"/>
            <a:endParaRPr lang="en-US" dirty="0"/>
          </a:p>
          <a:p>
            <a:pPr lvl="1" eaLnBrk="1" hangingPunct="1"/>
            <a:r>
              <a:rPr lang="en-US" dirty="0"/>
              <a:t>Based upon how kits are to be acquired</a:t>
            </a:r>
          </a:p>
          <a:p>
            <a:pPr marL="447675" lvl="1" indent="0" eaLnBrk="1" hangingPunct="1">
              <a:buNone/>
            </a:pPr>
            <a:endParaRPr lang="en-US" dirty="0"/>
          </a:p>
          <a:p>
            <a:pPr eaLnBrk="1" hangingPunct="1"/>
            <a:endParaRPr lang="en-US" dirty="0"/>
          </a:p>
          <a:p>
            <a:pPr eaLnBrk="1" hangingPunct="1"/>
            <a:endParaRPr lang="en-US" dirty="0"/>
          </a:p>
          <a:p>
            <a:pPr eaLnBrk="1" hangingPunct="1"/>
            <a:endParaRPr lang="en-US" dirty="0"/>
          </a:p>
          <a:p>
            <a:pPr lvl="1" eaLnBrk="1" hangingPunct="1"/>
            <a:endParaRPr lang="en-US" dirty="0"/>
          </a:p>
        </p:txBody>
      </p:sp>
      <p:sp>
        <p:nvSpPr>
          <p:cNvPr id="241668" name="Slide Number Placeholder 5"/>
          <p:cNvSpPr>
            <a:spLocks noGrp="1"/>
          </p:cNvSpPr>
          <p:nvPr>
            <p:ph type="sldNum" sz="quarter" idx="10"/>
          </p:nvPr>
        </p:nvSpPr>
        <p:spPr>
          <a:xfrm>
            <a:off x="7239000" y="6519863"/>
            <a:ext cx="1905000" cy="338137"/>
          </a:xfrm>
          <a:noFill/>
        </p:spPr>
        <p:txBody>
          <a:bodyPr/>
          <a:lstStyle/>
          <a:p>
            <a:fld id="{E0D82642-3018-4D6F-BD11-A077DC4A445D}" type="slidenum">
              <a:rPr lang="en-US" smtClean="0"/>
              <a:pPr/>
              <a:t>215</a:t>
            </a:fld>
            <a:endParaRPr lang="en-US"/>
          </a:p>
        </p:txBody>
      </p:sp>
    </p:spTree>
  </p:cSld>
  <p:clrMapOvr>
    <a:masterClrMapping/>
  </p:clrMapOv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t>TCTO Types, Verification, Completion, and Rescission</a:t>
            </a:r>
          </a:p>
        </p:txBody>
      </p:sp>
      <p:sp>
        <p:nvSpPr>
          <p:cNvPr id="242691" name="Rectangle 3"/>
          <p:cNvSpPr>
            <a:spLocks noGrp="1" noChangeArrowheads="1"/>
          </p:cNvSpPr>
          <p:nvPr>
            <p:ph idx="1"/>
          </p:nvPr>
        </p:nvSpPr>
        <p:spPr/>
        <p:txBody>
          <a:bodyPr/>
          <a:lstStyle/>
          <a:p>
            <a:endParaRPr lang="en-US" dirty="0"/>
          </a:p>
          <a:p>
            <a:endParaRPr lang="en-US" dirty="0"/>
          </a:p>
          <a:p>
            <a:endParaRPr lang="en-US" dirty="0"/>
          </a:p>
          <a:p>
            <a:endParaRPr lang="en-US" dirty="0"/>
          </a:p>
          <a:p>
            <a:r>
              <a:rPr lang="en-US" dirty="0"/>
              <a:t>Objective: Identify the procedures for completing a TCTO</a:t>
            </a:r>
          </a:p>
        </p:txBody>
      </p:sp>
      <p:sp>
        <p:nvSpPr>
          <p:cNvPr id="242692" name="Slide Number Placeholder 5"/>
          <p:cNvSpPr>
            <a:spLocks noGrp="1"/>
          </p:cNvSpPr>
          <p:nvPr>
            <p:ph type="sldNum" sz="quarter" idx="10"/>
          </p:nvPr>
        </p:nvSpPr>
        <p:spPr>
          <a:xfrm>
            <a:off x="7239000" y="6519863"/>
            <a:ext cx="1905000" cy="338137"/>
          </a:xfrm>
          <a:noFill/>
        </p:spPr>
        <p:txBody>
          <a:bodyPr/>
          <a:lstStyle/>
          <a:p>
            <a:fld id="{A64C7CC9-AB0C-4C06-94FC-D7D3DF5069DE}" type="slidenum">
              <a:rPr lang="en-US" smtClean="0"/>
              <a:pPr/>
              <a:t>216</a:t>
            </a:fld>
            <a:endParaRPr lang="en-US"/>
          </a:p>
        </p:txBody>
      </p:sp>
    </p:spTree>
  </p:cSld>
  <p:clrMapOvr>
    <a:masterClrMapping/>
  </p:clrMapOvr>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3715" name="Rectangle 3"/>
          <p:cNvSpPr>
            <a:spLocks noGrp="1" noChangeArrowheads="1"/>
          </p:cNvSpPr>
          <p:nvPr>
            <p:ph idx="1"/>
          </p:nvPr>
        </p:nvSpPr>
        <p:spPr/>
        <p:txBody>
          <a:bodyPr/>
          <a:lstStyle/>
          <a:p>
            <a:pPr eaLnBrk="1" hangingPunct="1"/>
            <a:r>
              <a:rPr lang="en-US" dirty="0"/>
              <a:t>TCTO Completion</a:t>
            </a:r>
          </a:p>
          <a:p>
            <a:pPr eaLnBrk="1" hangingPunct="1"/>
            <a:endParaRPr lang="en-US" dirty="0"/>
          </a:p>
          <a:p>
            <a:pPr lvl="1" eaLnBrk="1" hangingPunct="1"/>
            <a:r>
              <a:rPr lang="en-US" dirty="0"/>
              <a:t>Each TCTO will reflect a completion target date (Rescission Date)</a:t>
            </a:r>
          </a:p>
          <a:p>
            <a:pPr eaLnBrk="1" hangingPunct="1"/>
            <a:endParaRPr lang="en-US" dirty="0"/>
          </a:p>
          <a:p>
            <a:pPr lvl="1" eaLnBrk="1" hangingPunct="1"/>
            <a:r>
              <a:rPr lang="en-US" dirty="0"/>
              <a:t>The TO index is the only official notification for TCTO Rescission</a:t>
            </a:r>
          </a:p>
          <a:p>
            <a:pPr eaLnBrk="1" hangingPunct="1"/>
            <a:endParaRPr lang="en-US" dirty="0"/>
          </a:p>
          <a:p>
            <a:pPr lvl="1" eaLnBrk="1" hangingPunct="1"/>
            <a:r>
              <a:rPr lang="en-US" dirty="0"/>
              <a:t>TO home office will advise the ES/TCM approximately 150 days prior to automatic rescission date …</a:t>
            </a:r>
          </a:p>
          <a:p>
            <a:pPr eaLnBrk="1" hangingPunct="1"/>
            <a:endParaRPr lang="en-US" dirty="0"/>
          </a:p>
          <a:p>
            <a:pPr eaLnBrk="1" hangingPunct="1">
              <a:buFont typeface="Wingdings" pitchFamily="2" charset="2"/>
              <a:buNone/>
            </a:pPr>
            <a:r>
              <a:rPr lang="en-US" dirty="0"/>
              <a:t>	</a:t>
            </a:r>
          </a:p>
          <a:p>
            <a:pPr eaLnBrk="1" hangingPunct="1">
              <a:buFont typeface="Wingdings" pitchFamily="2" charset="2"/>
              <a:buNone/>
            </a:pPr>
            <a:r>
              <a:rPr lang="en-US" dirty="0"/>
              <a:t>				</a:t>
            </a:r>
          </a:p>
          <a:p>
            <a:pPr eaLnBrk="1" hangingPunct="1"/>
            <a:endParaRPr lang="en-US" dirty="0"/>
          </a:p>
        </p:txBody>
      </p:sp>
      <p:sp>
        <p:nvSpPr>
          <p:cNvPr id="243716" name="Slide Number Placeholder 5"/>
          <p:cNvSpPr>
            <a:spLocks noGrp="1"/>
          </p:cNvSpPr>
          <p:nvPr>
            <p:ph type="sldNum" sz="quarter" idx="10"/>
          </p:nvPr>
        </p:nvSpPr>
        <p:spPr>
          <a:xfrm>
            <a:off x="7239000" y="6519863"/>
            <a:ext cx="1905000" cy="338137"/>
          </a:xfrm>
          <a:noFill/>
        </p:spPr>
        <p:txBody>
          <a:bodyPr/>
          <a:lstStyle/>
          <a:p>
            <a:fld id="{2CF15D36-40CF-4258-A422-A1782F9A2FF3}" type="slidenum">
              <a:rPr lang="en-US" smtClean="0"/>
              <a:pPr/>
              <a:t>217</a:t>
            </a:fld>
            <a:endParaRPr lang="en-US"/>
          </a:p>
        </p:txBody>
      </p:sp>
    </p:spTree>
  </p:cSld>
  <p:clrMapOvr>
    <a:masterClrMapping/>
  </p:clrMapOvr>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4739" name="Rectangle 3"/>
          <p:cNvSpPr>
            <a:spLocks noGrp="1" noChangeArrowheads="1"/>
          </p:cNvSpPr>
          <p:nvPr>
            <p:ph idx="1"/>
          </p:nvPr>
        </p:nvSpPr>
        <p:spPr/>
        <p:txBody>
          <a:bodyPr/>
          <a:lstStyle/>
          <a:p>
            <a:pPr eaLnBrk="1" hangingPunct="1"/>
            <a:r>
              <a:rPr lang="en-US" dirty="0"/>
              <a:t>TCTO Completion</a:t>
            </a:r>
          </a:p>
          <a:p>
            <a:pPr marL="0" indent="0" eaLnBrk="1" hangingPunct="1">
              <a:buNone/>
            </a:pPr>
            <a:endParaRPr lang="en-US" dirty="0"/>
          </a:p>
          <a:p>
            <a:pPr lvl="1" eaLnBrk="1" hangingPunct="1"/>
            <a:r>
              <a:rPr lang="en-US" dirty="0"/>
              <a:t>Then the ES/TCM will		</a:t>
            </a:r>
          </a:p>
          <a:p>
            <a:pPr lvl="1" eaLnBrk="1" hangingPunct="1"/>
            <a:r>
              <a:rPr lang="en-US" dirty="0"/>
              <a:t>Review applicable TCTO configuration Management data for TCTO completion Status</a:t>
            </a:r>
          </a:p>
          <a:p>
            <a:pPr lvl="1" eaLnBrk="1" hangingPunct="1"/>
            <a:r>
              <a:rPr lang="en-US" dirty="0"/>
              <a:t>If the TCTO is Completed:  </a:t>
            </a:r>
          </a:p>
          <a:p>
            <a:pPr lvl="1" eaLnBrk="1" hangingPunct="1"/>
            <a:r>
              <a:rPr lang="en-US" dirty="0"/>
              <a:t>Determine if there are excess TCTO kits</a:t>
            </a:r>
          </a:p>
          <a:p>
            <a:pPr lvl="1" eaLnBrk="1" hangingPunct="1"/>
            <a:r>
              <a:rPr lang="en-US" dirty="0"/>
              <a:t>Identify Quantity</a:t>
            </a:r>
          </a:p>
          <a:p>
            <a:pPr lvl="1" eaLnBrk="1" hangingPunct="1"/>
            <a:r>
              <a:rPr lang="en-US" dirty="0"/>
              <a:t>Location of the kits</a:t>
            </a:r>
          </a:p>
        </p:txBody>
      </p:sp>
      <p:sp>
        <p:nvSpPr>
          <p:cNvPr id="244740" name="Slide Number Placeholder 5"/>
          <p:cNvSpPr>
            <a:spLocks noGrp="1"/>
          </p:cNvSpPr>
          <p:nvPr>
            <p:ph type="sldNum" sz="quarter" idx="10"/>
          </p:nvPr>
        </p:nvSpPr>
        <p:spPr>
          <a:xfrm>
            <a:off x="7239000" y="6519863"/>
            <a:ext cx="1905000" cy="338137"/>
          </a:xfrm>
          <a:noFill/>
        </p:spPr>
        <p:txBody>
          <a:bodyPr/>
          <a:lstStyle/>
          <a:p>
            <a:fld id="{C44F232B-42E6-4E21-A21B-D6F9454BB0E5}" type="slidenum">
              <a:rPr lang="en-US" smtClean="0"/>
              <a:pPr/>
              <a:t>218</a:t>
            </a:fld>
            <a:endParaRPr lang="en-US"/>
          </a:p>
        </p:txBody>
      </p:sp>
    </p:spTree>
  </p:cSld>
  <p:clrMapOvr>
    <a:masterClrMapping/>
  </p:clrMapOvr>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5763" name="Rectangle 3"/>
          <p:cNvSpPr>
            <a:spLocks noGrp="1" noChangeArrowheads="1"/>
          </p:cNvSpPr>
          <p:nvPr>
            <p:ph idx="1"/>
          </p:nvPr>
        </p:nvSpPr>
        <p:spPr/>
        <p:txBody>
          <a:bodyPr/>
          <a:lstStyle/>
          <a:p>
            <a:pPr eaLnBrk="1" hangingPunct="1"/>
            <a:r>
              <a:rPr lang="en-US" dirty="0"/>
              <a:t>TCTO Completion</a:t>
            </a:r>
          </a:p>
          <a:p>
            <a:pPr eaLnBrk="1" hangingPunct="1"/>
            <a:r>
              <a:rPr lang="en-US" dirty="0"/>
              <a:t>ES/TCM Will:</a:t>
            </a:r>
          </a:p>
          <a:p>
            <a:pPr eaLnBrk="1" hangingPunct="1">
              <a:buFont typeface="Wingdings" pitchFamily="2" charset="2"/>
              <a:buNone/>
            </a:pPr>
            <a:r>
              <a:rPr lang="en-US" dirty="0"/>
              <a:t> </a:t>
            </a:r>
          </a:p>
          <a:p>
            <a:pPr lvl="1" eaLnBrk="1" hangingPunct="1"/>
            <a:r>
              <a:rPr lang="en-US" dirty="0"/>
              <a:t>If the TCTO is incomplete:</a:t>
            </a:r>
          </a:p>
          <a:p>
            <a:pPr eaLnBrk="1" hangingPunct="1"/>
            <a:endParaRPr lang="en-US" dirty="0"/>
          </a:p>
          <a:p>
            <a:pPr lvl="2" eaLnBrk="1" hangingPunct="1"/>
            <a:r>
              <a:rPr lang="en-US" dirty="0"/>
              <a:t>  Obtain commitment for TCTO completion from:</a:t>
            </a:r>
          </a:p>
          <a:p>
            <a:pPr lvl="3" eaLnBrk="1" hangingPunct="1"/>
            <a:r>
              <a:rPr lang="en-US" dirty="0"/>
              <a:t>MAJCOM</a:t>
            </a:r>
          </a:p>
          <a:p>
            <a:pPr lvl="3" eaLnBrk="1" hangingPunct="1"/>
            <a:r>
              <a:rPr lang="en-US" dirty="0"/>
              <a:t>TRC</a:t>
            </a:r>
          </a:p>
          <a:p>
            <a:pPr eaLnBrk="1" hangingPunct="1"/>
            <a:endParaRPr lang="en-US" dirty="0"/>
          </a:p>
          <a:p>
            <a:pPr eaLnBrk="1" hangingPunct="1">
              <a:buFont typeface="Wingdings" pitchFamily="2" charset="2"/>
              <a:buNone/>
            </a:pPr>
            <a:r>
              <a:rPr lang="en-US" dirty="0"/>
              <a:t>		</a:t>
            </a:r>
          </a:p>
          <a:p>
            <a:pPr eaLnBrk="1" hangingPunct="1">
              <a:buFont typeface="Wingdings" pitchFamily="2" charset="2"/>
              <a:buNone/>
            </a:pPr>
            <a:r>
              <a:rPr lang="en-US" dirty="0"/>
              <a:t>				</a:t>
            </a:r>
          </a:p>
          <a:p>
            <a:pPr eaLnBrk="1" hangingPunct="1"/>
            <a:endParaRPr lang="en-US" dirty="0"/>
          </a:p>
        </p:txBody>
      </p:sp>
      <p:sp>
        <p:nvSpPr>
          <p:cNvPr id="245764" name="Slide Number Placeholder 5"/>
          <p:cNvSpPr>
            <a:spLocks noGrp="1"/>
          </p:cNvSpPr>
          <p:nvPr>
            <p:ph type="sldNum" sz="quarter" idx="10"/>
          </p:nvPr>
        </p:nvSpPr>
        <p:spPr>
          <a:xfrm>
            <a:off x="7239000" y="6519863"/>
            <a:ext cx="1905000" cy="338137"/>
          </a:xfrm>
          <a:noFill/>
        </p:spPr>
        <p:txBody>
          <a:bodyPr/>
          <a:lstStyle/>
          <a:p>
            <a:fld id="{383D3657-72DA-409E-8BBB-3D66F49572D9}" type="slidenum">
              <a:rPr lang="en-US" smtClean="0"/>
              <a:pPr/>
              <a:t>219</a:t>
            </a:fld>
            <a:endParaRPr lang="en-US"/>
          </a:p>
        </p:txBody>
      </p:sp>
    </p:spTree>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6787" name="Rectangle 3"/>
          <p:cNvSpPr>
            <a:spLocks noGrp="1" noChangeArrowheads="1"/>
          </p:cNvSpPr>
          <p:nvPr>
            <p:ph idx="1"/>
          </p:nvPr>
        </p:nvSpPr>
        <p:spPr/>
        <p:txBody>
          <a:bodyPr/>
          <a:lstStyle/>
          <a:p>
            <a:pPr eaLnBrk="1" hangingPunct="1"/>
            <a:r>
              <a:rPr lang="en-US" dirty="0"/>
              <a:t>TCTO Completion  </a:t>
            </a:r>
          </a:p>
          <a:p>
            <a:pPr eaLnBrk="1" hangingPunct="1"/>
            <a:r>
              <a:rPr lang="en-US" dirty="0"/>
              <a:t>ES/TCM Will:</a:t>
            </a:r>
          </a:p>
          <a:p>
            <a:pPr eaLnBrk="1" hangingPunct="1"/>
            <a:endParaRPr lang="en-US" dirty="0"/>
          </a:p>
          <a:p>
            <a:pPr lvl="1" eaLnBrk="1" hangingPunct="1"/>
            <a:r>
              <a:rPr lang="en-US" dirty="0"/>
              <a:t>Determine if other active TCTO will be affected by rescinding the TCTO</a:t>
            </a:r>
          </a:p>
          <a:p>
            <a:pPr eaLnBrk="1" hangingPunct="1"/>
            <a:endParaRPr lang="en-US" dirty="0"/>
          </a:p>
          <a:p>
            <a:pPr lvl="1" eaLnBrk="1" hangingPunct="1"/>
            <a:r>
              <a:rPr lang="en-US" dirty="0"/>
              <a:t>Initiate appropriate action</a:t>
            </a:r>
          </a:p>
          <a:p>
            <a:pPr lvl="2" eaLnBrk="1" hangingPunct="1"/>
            <a:r>
              <a:rPr lang="en-US" dirty="0"/>
              <a:t>  Extend the TCTO</a:t>
            </a:r>
          </a:p>
          <a:p>
            <a:pPr lvl="2" eaLnBrk="1" hangingPunct="1"/>
            <a:r>
              <a:rPr lang="en-US" dirty="0"/>
              <a:t>  Check status of companion TCTO (If Applicable)</a:t>
            </a:r>
          </a:p>
          <a:p>
            <a:pPr lvl="1" eaLnBrk="1" hangingPunct="1"/>
            <a:endParaRPr lang="en-US" dirty="0"/>
          </a:p>
          <a:p>
            <a:pPr eaLnBrk="1" hangingPunct="1"/>
            <a:endParaRPr lang="en-US" dirty="0"/>
          </a:p>
          <a:p>
            <a:pPr eaLnBrk="1" hangingPunct="1">
              <a:buFont typeface="Wingdings" pitchFamily="2" charset="2"/>
              <a:buNone/>
            </a:pPr>
            <a:r>
              <a:rPr lang="en-US" dirty="0"/>
              <a:t>					</a:t>
            </a:r>
          </a:p>
          <a:p>
            <a:pPr eaLnBrk="1" hangingPunct="1">
              <a:buFont typeface="Wingdings" pitchFamily="2" charset="2"/>
              <a:buNone/>
            </a:pPr>
            <a:r>
              <a:rPr lang="en-US" dirty="0"/>
              <a:t>				</a:t>
            </a:r>
          </a:p>
          <a:p>
            <a:pPr eaLnBrk="1" hangingPunct="1"/>
            <a:endParaRPr lang="en-US" dirty="0"/>
          </a:p>
        </p:txBody>
      </p:sp>
      <p:sp>
        <p:nvSpPr>
          <p:cNvPr id="246788" name="Slide Number Placeholder 5"/>
          <p:cNvSpPr>
            <a:spLocks noGrp="1"/>
          </p:cNvSpPr>
          <p:nvPr>
            <p:ph type="sldNum" sz="quarter" idx="10"/>
          </p:nvPr>
        </p:nvSpPr>
        <p:spPr>
          <a:xfrm>
            <a:off x="7239000" y="6519863"/>
            <a:ext cx="1905000" cy="338137"/>
          </a:xfrm>
          <a:noFill/>
        </p:spPr>
        <p:txBody>
          <a:bodyPr/>
          <a:lstStyle/>
          <a:p>
            <a:fld id="{7E51AD9B-FE47-4C85-8FFB-C2B48196427B}" type="slidenum">
              <a:rPr lang="en-US" smtClean="0"/>
              <a:pPr/>
              <a:t>220</a:t>
            </a:fld>
            <a:endParaRPr lang="en-US"/>
          </a:p>
        </p:txBody>
      </p:sp>
    </p:spTree>
  </p:cSld>
  <p:clrMapOvr>
    <a:masterClrMapping/>
  </p:clrMapOvr>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7811" name="Rectangle 3"/>
          <p:cNvSpPr>
            <a:spLocks noGrp="1" noChangeArrowheads="1"/>
          </p:cNvSpPr>
          <p:nvPr>
            <p:ph idx="1"/>
          </p:nvPr>
        </p:nvSpPr>
        <p:spPr/>
        <p:txBody>
          <a:bodyPr/>
          <a:lstStyle/>
          <a:p>
            <a:pPr eaLnBrk="1" hangingPunct="1"/>
            <a:r>
              <a:rPr lang="en-US" dirty="0"/>
              <a:t>TCTO Completion  </a:t>
            </a:r>
          </a:p>
          <a:p>
            <a:pPr eaLnBrk="1" hangingPunct="1"/>
            <a:r>
              <a:rPr lang="en-US" dirty="0"/>
              <a:t>ES/TCM Will      </a:t>
            </a:r>
          </a:p>
          <a:p>
            <a:pPr lvl="1" eaLnBrk="1" hangingPunct="1"/>
            <a:r>
              <a:rPr lang="en-US" dirty="0"/>
              <a:t>When disposition of items in stock are affected:</a:t>
            </a:r>
          </a:p>
          <a:p>
            <a:pPr marL="0" indent="0" eaLnBrk="1" hangingPunct="1">
              <a:buNone/>
            </a:pPr>
            <a:endParaRPr lang="en-US" dirty="0"/>
          </a:p>
          <a:p>
            <a:pPr lvl="2" eaLnBrk="1" hangingPunct="1"/>
            <a:r>
              <a:rPr lang="en-US" dirty="0"/>
              <a:t>  Coordinate with installing org to ensure all actions have been</a:t>
            </a:r>
          </a:p>
          <a:p>
            <a:pPr marL="852488" lvl="2" indent="0" eaLnBrk="1" hangingPunct="1">
              <a:buNone/>
            </a:pPr>
            <a:r>
              <a:rPr lang="en-US" dirty="0"/>
              <a:t>    completed</a:t>
            </a:r>
          </a:p>
          <a:p>
            <a:pPr lvl="2" eaLnBrk="1" hangingPunct="1"/>
            <a:r>
              <a:rPr lang="en-US" dirty="0"/>
              <a:t>  Obtain a  written approval statement from the SM of the</a:t>
            </a:r>
          </a:p>
          <a:p>
            <a:pPr marL="852488" lvl="2" indent="0" eaLnBrk="1" hangingPunct="1">
              <a:buNone/>
            </a:pPr>
            <a:r>
              <a:rPr lang="en-US" dirty="0"/>
              <a:t>    item/commodity that</a:t>
            </a:r>
          </a:p>
          <a:p>
            <a:pPr lvl="3" eaLnBrk="1" hangingPunct="1"/>
            <a:r>
              <a:rPr lang="en-US" dirty="0"/>
              <a:t>TCTO can be rescinded  (supply actions are completed)</a:t>
            </a:r>
          </a:p>
          <a:p>
            <a:pPr lvl="3" eaLnBrk="1" hangingPunct="1"/>
            <a:r>
              <a:rPr lang="en-US" dirty="0"/>
              <a:t>A commitment for completion of action on disposition of TCTO components				</a:t>
            </a:r>
          </a:p>
          <a:p>
            <a:pPr eaLnBrk="1" hangingPunct="1">
              <a:buFont typeface="Wingdings" pitchFamily="2" charset="2"/>
              <a:buNone/>
            </a:pPr>
            <a:r>
              <a:rPr lang="en-US" dirty="0"/>
              <a:t>				</a:t>
            </a:r>
          </a:p>
          <a:p>
            <a:pPr eaLnBrk="1" hangingPunct="1"/>
            <a:endParaRPr lang="en-US" dirty="0"/>
          </a:p>
        </p:txBody>
      </p:sp>
      <p:sp>
        <p:nvSpPr>
          <p:cNvPr id="247812" name="Slide Number Placeholder 5"/>
          <p:cNvSpPr>
            <a:spLocks noGrp="1"/>
          </p:cNvSpPr>
          <p:nvPr>
            <p:ph type="sldNum" sz="quarter" idx="10"/>
          </p:nvPr>
        </p:nvSpPr>
        <p:spPr>
          <a:xfrm>
            <a:off x="7239000" y="6519863"/>
            <a:ext cx="1905000" cy="338137"/>
          </a:xfrm>
          <a:noFill/>
        </p:spPr>
        <p:txBody>
          <a:bodyPr/>
          <a:lstStyle/>
          <a:p>
            <a:fld id="{D8E9E48F-CF94-4D4C-BF3D-6DAE5B59E4FF}" type="slidenum">
              <a:rPr lang="en-US" smtClean="0"/>
              <a:pPr/>
              <a:t>221</a:t>
            </a:fld>
            <a:endParaRPr lang="en-US"/>
          </a:p>
        </p:txBody>
      </p:sp>
    </p:spTree>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8835" name="Rectangle 3"/>
          <p:cNvSpPr>
            <a:spLocks noGrp="1" noChangeArrowheads="1"/>
          </p:cNvSpPr>
          <p:nvPr>
            <p:ph idx="1"/>
          </p:nvPr>
        </p:nvSpPr>
        <p:spPr/>
        <p:txBody>
          <a:bodyPr/>
          <a:lstStyle/>
          <a:p>
            <a:pPr eaLnBrk="1" hangingPunct="1"/>
            <a:r>
              <a:rPr lang="en-US" dirty="0"/>
              <a:t>TCTO Completion    </a:t>
            </a:r>
          </a:p>
          <a:p>
            <a:pPr eaLnBrk="1" hangingPunct="1"/>
            <a:r>
              <a:rPr lang="en-US" dirty="0"/>
              <a:t>ES/TCM Will</a:t>
            </a:r>
          </a:p>
          <a:p>
            <a:pPr eaLnBrk="1" hangingPunct="1">
              <a:buFont typeface="Wingdings" pitchFamily="2" charset="2"/>
              <a:buNone/>
            </a:pPr>
            <a:r>
              <a:rPr lang="en-US" dirty="0"/>
              <a:t>     </a:t>
            </a:r>
          </a:p>
          <a:p>
            <a:pPr lvl="1" eaLnBrk="1" hangingPunct="1"/>
            <a:r>
              <a:rPr lang="en-US" dirty="0"/>
              <a:t>Determine if the rescission applies to both AF and FMS</a:t>
            </a:r>
          </a:p>
          <a:p>
            <a:pPr marL="447675" lvl="1" indent="0" eaLnBrk="1" hangingPunct="1">
              <a:buNone/>
            </a:pPr>
            <a:endParaRPr lang="en-US" dirty="0"/>
          </a:p>
          <a:p>
            <a:pPr lvl="2" eaLnBrk="1" hangingPunct="1"/>
            <a:r>
              <a:rPr lang="en-US" dirty="0"/>
              <a:t>  Notify the countries, that kits will be sent to disposal six months</a:t>
            </a:r>
          </a:p>
          <a:p>
            <a:pPr marL="852488" lvl="2" indent="0" eaLnBrk="1" hangingPunct="1">
              <a:buNone/>
            </a:pPr>
            <a:r>
              <a:rPr lang="en-US" dirty="0"/>
              <a:t>    from notification</a:t>
            </a:r>
          </a:p>
          <a:p>
            <a:pPr lvl="2" eaLnBrk="1" hangingPunct="1"/>
            <a:r>
              <a:rPr lang="en-US" dirty="0"/>
              <a:t>  Unless country indicates their intent to obtain the kits </a:t>
            </a:r>
          </a:p>
          <a:p>
            <a:pPr lvl="2" eaLnBrk="1" hangingPunct="1"/>
            <a:r>
              <a:rPr lang="en-US" dirty="0"/>
              <a:t>  They have six months to requisition kits after notifying SM</a:t>
            </a:r>
          </a:p>
          <a:p>
            <a:pPr lvl="1" eaLnBrk="1" hangingPunct="1"/>
            <a:endParaRPr lang="en-US" dirty="0"/>
          </a:p>
        </p:txBody>
      </p:sp>
      <p:sp>
        <p:nvSpPr>
          <p:cNvPr id="248836" name="Slide Number Placeholder 5"/>
          <p:cNvSpPr>
            <a:spLocks noGrp="1"/>
          </p:cNvSpPr>
          <p:nvPr>
            <p:ph type="sldNum" sz="quarter" idx="10"/>
          </p:nvPr>
        </p:nvSpPr>
        <p:spPr>
          <a:xfrm>
            <a:off x="7239000" y="6519863"/>
            <a:ext cx="1905000" cy="338137"/>
          </a:xfrm>
          <a:noFill/>
        </p:spPr>
        <p:txBody>
          <a:bodyPr/>
          <a:lstStyle/>
          <a:p>
            <a:fld id="{DD03F7A0-516F-4AC7-9380-A99A5CD00576}" type="slidenum">
              <a:rPr lang="en-US" smtClean="0"/>
              <a:pPr/>
              <a:t>222</a:t>
            </a:fld>
            <a:endParaRPr lang="en-US"/>
          </a:p>
        </p:txBody>
      </p:sp>
    </p:spTree>
  </p:cSld>
  <p:clrMapOvr>
    <a:masterClrMapping/>
  </p:clrMapOvr>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49859" name="Rectangle 3"/>
          <p:cNvSpPr>
            <a:spLocks noGrp="1" noChangeArrowheads="1"/>
          </p:cNvSpPr>
          <p:nvPr>
            <p:ph idx="1"/>
          </p:nvPr>
        </p:nvSpPr>
        <p:spPr/>
        <p:txBody>
          <a:bodyPr/>
          <a:lstStyle/>
          <a:p>
            <a:pPr eaLnBrk="1" hangingPunct="1"/>
            <a:r>
              <a:rPr lang="en-US" dirty="0"/>
              <a:t>TCTO Completion     </a:t>
            </a:r>
          </a:p>
          <a:p>
            <a:pPr eaLnBrk="1" hangingPunct="1"/>
            <a:r>
              <a:rPr lang="en-US" dirty="0"/>
              <a:t>ES/TCM Will</a:t>
            </a:r>
          </a:p>
          <a:p>
            <a:pPr eaLnBrk="1" hangingPunct="1">
              <a:buFont typeface="Wingdings" pitchFamily="2" charset="2"/>
              <a:buNone/>
            </a:pPr>
            <a:r>
              <a:rPr lang="en-US" dirty="0"/>
              <a:t>      </a:t>
            </a:r>
          </a:p>
          <a:p>
            <a:pPr lvl="1" eaLnBrk="1" hangingPunct="1"/>
            <a:r>
              <a:rPr lang="en-US" dirty="0"/>
              <a:t>Determine if the rescission applies to both AF and FMS</a:t>
            </a:r>
          </a:p>
          <a:p>
            <a:pPr marL="447675" lvl="1" indent="0" eaLnBrk="1" hangingPunct="1">
              <a:buNone/>
            </a:pPr>
            <a:endParaRPr lang="en-US" dirty="0"/>
          </a:p>
          <a:p>
            <a:pPr lvl="2" eaLnBrk="1" hangingPunct="1"/>
            <a:r>
              <a:rPr lang="en-US" dirty="0"/>
              <a:t>  If FMS country has not requisitioned the kits within the six months</a:t>
            </a:r>
          </a:p>
          <a:p>
            <a:pPr lvl="2" eaLnBrk="1" hangingPunct="1"/>
            <a:r>
              <a:rPr lang="en-US" dirty="0"/>
              <a:t>  Notify the country disposal action will begin in 30 days if their</a:t>
            </a:r>
          </a:p>
          <a:p>
            <a:pPr marL="852488" lvl="2" indent="0" eaLnBrk="1" hangingPunct="1">
              <a:buNone/>
            </a:pPr>
            <a:r>
              <a:rPr lang="en-US" dirty="0"/>
              <a:t>    requisition is not received</a:t>
            </a:r>
          </a:p>
          <a:p>
            <a:pPr lvl="2" eaLnBrk="1" hangingPunct="1"/>
            <a:r>
              <a:rPr lang="en-US" dirty="0"/>
              <a:t>  Kits Will NOT be retained in the inventory for FMS only</a:t>
            </a:r>
          </a:p>
          <a:p>
            <a:pPr lvl="1" eaLnBrk="1" hangingPunct="1"/>
            <a:endParaRPr lang="en-US" dirty="0"/>
          </a:p>
        </p:txBody>
      </p:sp>
      <p:sp>
        <p:nvSpPr>
          <p:cNvPr id="249860" name="Slide Number Placeholder 5"/>
          <p:cNvSpPr>
            <a:spLocks noGrp="1"/>
          </p:cNvSpPr>
          <p:nvPr>
            <p:ph type="sldNum" sz="quarter" idx="10"/>
          </p:nvPr>
        </p:nvSpPr>
        <p:spPr>
          <a:xfrm>
            <a:off x="7239000" y="6519863"/>
            <a:ext cx="1905000" cy="338137"/>
          </a:xfrm>
          <a:noFill/>
        </p:spPr>
        <p:txBody>
          <a:bodyPr/>
          <a:lstStyle/>
          <a:p>
            <a:fld id="{B17873EA-AC80-46E0-A464-F3C38CEDF4EF}" type="slidenum">
              <a:rPr lang="en-US" smtClean="0"/>
              <a:pPr/>
              <a:t>223</a:t>
            </a:fld>
            <a:endParaRPr lang="en-US"/>
          </a:p>
        </p:txBody>
      </p:sp>
    </p:spTree>
  </p:cSld>
  <p:clrMapOvr>
    <a:masterClrMapping/>
  </p:clrMapOvr>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50883" name="Rectangle 3"/>
          <p:cNvSpPr>
            <a:spLocks noGrp="1" noChangeArrowheads="1"/>
          </p:cNvSpPr>
          <p:nvPr>
            <p:ph idx="1"/>
          </p:nvPr>
        </p:nvSpPr>
        <p:spPr/>
        <p:txBody>
          <a:bodyPr/>
          <a:lstStyle/>
          <a:p>
            <a:pPr eaLnBrk="1" hangingPunct="1"/>
            <a:r>
              <a:rPr lang="en-US" dirty="0"/>
              <a:t>TCTO Completion</a:t>
            </a:r>
          </a:p>
          <a:p>
            <a:pPr eaLnBrk="1" hangingPunct="1"/>
            <a:r>
              <a:rPr lang="en-US" dirty="0"/>
              <a:t>ES/TCM Will</a:t>
            </a:r>
          </a:p>
          <a:p>
            <a:pPr eaLnBrk="1" hangingPunct="1"/>
            <a:endParaRPr lang="en-US" dirty="0"/>
          </a:p>
          <a:p>
            <a:pPr lvl="1" eaLnBrk="1" hangingPunct="1"/>
            <a:r>
              <a:rPr lang="en-US" dirty="0"/>
              <a:t>Determine if the TCTO should be Rescinded or Extend rescission date</a:t>
            </a:r>
          </a:p>
          <a:p>
            <a:pPr eaLnBrk="1" hangingPunct="1"/>
            <a:endParaRPr lang="en-US" dirty="0"/>
          </a:p>
          <a:p>
            <a:pPr lvl="2" eaLnBrk="1" hangingPunct="1"/>
            <a:r>
              <a:rPr lang="en-US" dirty="0"/>
              <a:t>  Extension of the rescission date is required under certain</a:t>
            </a:r>
          </a:p>
          <a:p>
            <a:pPr marL="852488" lvl="2" indent="0" eaLnBrk="1" hangingPunct="1">
              <a:buNone/>
            </a:pPr>
            <a:r>
              <a:rPr lang="en-US" dirty="0"/>
              <a:t>    conditions</a:t>
            </a:r>
          </a:p>
          <a:p>
            <a:pPr lvl="1" eaLnBrk="1" hangingPunct="1"/>
            <a:endParaRPr lang="en-US" dirty="0"/>
          </a:p>
        </p:txBody>
      </p:sp>
      <p:sp>
        <p:nvSpPr>
          <p:cNvPr id="250884" name="Slide Number Placeholder 5"/>
          <p:cNvSpPr>
            <a:spLocks noGrp="1"/>
          </p:cNvSpPr>
          <p:nvPr>
            <p:ph type="sldNum" sz="quarter" idx="10"/>
          </p:nvPr>
        </p:nvSpPr>
        <p:spPr>
          <a:xfrm>
            <a:off x="7239000" y="6519863"/>
            <a:ext cx="1905000" cy="338137"/>
          </a:xfrm>
          <a:noFill/>
        </p:spPr>
        <p:txBody>
          <a:bodyPr/>
          <a:lstStyle/>
          <a:p>
            <a:fld id="{665D2AE8-3BBA-44D3-A3FB-D8E64FCF4F49}" type="slidenum">
              <a:rPr lang="en-US" smtClean="0"/>
              <a:pPr/>
              <a:t>224</a:t>
            </a:fld>
            <a:endParaRPr lang="en-US"/>
          </a:p>
        </p:txBody>
      </p:sp>
    </p:spTree>
  </p:cSld>
  <p:clrMapOvr>
    <a:masterClrMapping/>
  </p:clrMapOvr>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51907" name="Rectangle 3"/>
          <p:cNvSpPr>
            <a:spLocks noGrp="1" noChangeArrowheads="1"/>
          </p:cNvSpPr>
          <p:nvPr>
            <p:ph idx="1"/>
          </p:nvPr>
        </p:nvSpPr>
        <p:spPr/>
        <p:txBody>
          <a:bodyPr/>
          <a:lstStyle/>
          <a:p>
            <a:pPr eaLnBrk="1" hangingPunct="1"/>
            <a:r>
              <a:rPr lang="en-US" dirty="0"/>
              <a:t>TCTO Completion   </a:t>
            </a:r>
          </a:p>
          <a:p>
            <a:pPr eaLnBrk="1" hangingPunct="1"/>
            <a:r>
              <a:rPr lang="en-US" dirty="0"/>
              <a:t> ES/TCM will</a:t>
            </a:r>
          </a:p>
          <a:p>
            <a:pPr eaLnBrk="1" hangingPunct="1">
              <a:buFont typeface="Wingdings" pitchFamily="2" charset="2"/>
              <a:buNone/>
            </a:pPr>
            <a:r>
              <a:rPr lang="en-US" dirty="0"/>
              <a:t>  </a:t>
            </a:r>
          </a:p>
          <a:p>
            <a:pPr lvl="1" eaLnBrk="1" hangingPunct="1"/>
            <a:r>
              <a:rPr lang="en-US" dirty="0"/>
              <a:t>If TCTO is to be rescinded, the ES will:</a:t>
            </a:r>
          </a:p>
          <a:p>
            <a:pPr lvl="2" eaLnBrk="1" hangingPunct="1"/>
            <a:r>
              <a:rPr lang="en-US" dirty="0"/>
              <a:t>  Provide written notification to the TCTO Configuration Manager</a:t>
            </a:r>
          </a:p>
          <a:p>
            <a:pPr lvl="2" eaLnBrk="1" hangingPunct="1"/>
            <a:r>
              <a:rPr lang="en-US" dirty="0"/>
              <a:t>  Prepare AFMC Form 111 (save list) when kits are no longer</a:t>
            </a:r>
          </a:p>
          <a:p>
            <a:pPr marL="852488" lvl="2" indent="0" eaLnBrk="1" hangingPunct="1">
              <a:buNone/>
            </a:pPr>
            <a:r>
              <a:rPr lang="en-US" dirty="0"/>
              <a:t>    required  </a:t>
            </a:r>
          </a:p>
          <a:p>
            <a:pPr lvl="2" eaLnBrk="1" hangingPunct="1"/>
            <a:r>
              <a:rPr lang="en-US" dirty="0"/>
              <a:t>  This notification gives disposition authority for any kits on hand or</a:t>
            </a:r>
          </a:p>
          <a:p>
            <a:pPr marL="852488" lvl="2" indent="0" eaLnBrk="1" hangingPunct="1">
              <a:buNone/>
            </a:pPr>
            <a:r>
              <a:rPr lang="en-US" dirty="0"/>
              <a:t>    to be generated</a:t>
            </a:r>
          </a:p>
        </p:txBody>
      </p:sp>
      <p:sp>
        <p:nvSpPr>
          <p:cNvPr id="251908" name="Slide Number Placeholder 5"/>
          <p:cNvSpPr>
            <a:spLocks noGrp="1"/>
          </p:cNvSpPr>
          <p:nvPr>
            <p:ph type="sldNum" sz="quarter" idx="10"/>
          </p:nvPr>
        </p:nvSpPr>
        <p:spPr>
          <a:xfrm>
            <a:off x="7239000" y="6519863"/>
            <a:ext cx="1905000" cy="338137"/>
          </a:xfrm>
          <a:noFill/>
        </p:spPr>
        <p:txBody>
          <a:bodyPr/>
          <a:lstStyle/>
          <a:p>
            <a:fld id="{969ED373-EDE7-427D-852C-304066C7B4ED}" type="slidenum">
              <a:rPr lang="en-US" smtClean="0"/>
              <a:pPr/>
              <a:t>225</a:t>
            </a:fld>
            <a:endParaRPr lang="en-US"/>
          </a:p>
        </p:txBody>
      </p:sp>
    </p:spTree>
  </p:cSld>
  <p:clrMapOvr>
    <a:masterClrMapping/>
  </p:clrMapOvr>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52931" name="Rectangle 3"/>
          <p:cNvSpPr>
            <a:spLocks noGrp="1" noChangeArrowheads="1"/>
          </p:cNvSpPr>
          <p:nvPr>
            <p:ph idx="1"/>
          </p:nvPr>
        </p:nvSpPr>
        <p:spPr/>
        <p:txBody>
          <a:bodyPr/>
          <a:lstStyle/>
          <a:p>
            <a:pPr eaLnBrk="1" hangingPunct="1"/>
            <a:r>
              <a:rPr lang="en-US" dirty="0"/>
              <a:t>TCTO Completion</a:t>
            </a:r>
          </a:p>
          <a:p>
            <a:pPr marL="0" indent="0" eaLnBrk="1" hangingPunct="1">
              <a:buNone/>
            </a:pPr>
            <a:endParaRPr lang="en-US" dirty="0"/>
          </a:p>
          <a:p>
            <a:pPr lvl="1" eaLnBrk="1" hangingPunct="1"/>
            <a:r>
              <a:rPr lang="en-US" dirty="0"/>
              <a:t>The TO management Activity will take action as directed by the “TCTO completion and rescission report notice”</a:t>
            </a:r>
          </a:p>
          <a:p>
            <a:pPr eaLnBrk="1" hangingPunct="1"/>
            <a:endParaRPr lang="en-US" dirty="0"/>
          </a:p>
          <a:p>
            <a:pPr lvl="2" eaLnBrk="1" hangingPunct="1"/>
            <a:r>
              <a:rPr lang="en-US" dirty="0"/>
              <a:t>  When excess kits are reported or the TCTO Rescinds</a:t>
            </a:r>
          </a:p>
          <a:p>
            <a:pPr lvl="1" eaLnBrk="1" hangingPunct="1">
              <a:buFontTx/>
              <a:buNone/>
            </a:pPr>
            <a:r>
              <a:rPr lang="en-US" dirty="0"/>
              <a:t>   </a:t>
            </a:r>
          </a:p>
          <a:p>
            <a:pPr lvl="2" eaLnBrk="1" hangingPunct="1"/>
            <a:r>
              <a:rPr lang="en-US" dirty="0"/>
              <a:t>  The SM/ES will take immediate action to:</a:t>
            </a:r>
          </a:p>
        </p:txBody>
      </p:sp>
      <p:sp>
        <p:nvSpPr>
          <p:cNvPr id="252932" name="Slide Number Placeholder 5"/>
          <p:cNvSpPr>
            <a:spLocks noGrp="1"/>
          </p:cNvSpPr>
          <p:nvPr>
            <p:ph type="sldNum" sz="quarter" idx="10"/>
          </p:nvPr>
        </p:nvSpPr>
        <p:spPr>
          <a:xfrm>
            <a:off x="7239000" y="6519863"/>
            <a:ext cx="1905000" cy="338137"/>
          </a:xfrm>
          <a:noFill/>
        </p:spPr>
        <p:txBody>
          <a:bodyPr/>
          <a:lstStyle/>
          <a:p>
            <a:fld id="{471A8EE1-E4F8-4008-99B7-11A5D65A3558}" type="slidenum">
              <a:rPr lang="en-US" smtClean="0"/>
              <a:pPr/>
              <a:t>226</a:t>
            </a:fld>
            <a:endParaRPr lang="en-US"/>
          </a:p>
        </p:txBody>
      </p:sp>
    </p:spTree>
  </p:cSld>
  <p:clrMapOvr>
    <a:masterClrMapping/>
  </p:clrMapOvr>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53955" name="Rectangle 3"/>
          <p:cNvSpPr>
            <a:spLocks noGrp="1" noChangeArrowheads="1"/>
          </p:cNvSpPr>
          <p:nvPr>
            <p:ph idx="1"/>
          </p:nvPr>
        </p:nvSpPr>
        <p:spPr/>
        <p:txBody>
          <a:bodyPr/>
          <a:lstStyle/>
          <a:p>
            <a:pPr eaLnBrk="1" hangingPunct="1"/>
            <a:r>
              <a:rPr lang="en-US" dirty="0"/>
              <a:t>TCTO Completion</a:t>
            </a:r>
          </a:p>
          <a:p>
            <a:pPr eaLnBrk="1" hangingPunct="1"/>
            <a:endParaRPr lang="en-US" dirty="0"/>
          </a:p>
          <a:p>
            <a:pPr lvl="1" eaLnBrk="1" hangingPunct="1"/>
            <a:r>
              <a:rPr lang="en-US" dirty="0"/>
              <a:t>Screen kit components for Stock number items to be saved</a:t>
            </a:r>
          </a:p>
          <a:p>
            <a:pPr eaLnBrk="1" hangingPunct="1"/>
            <a:endParaRPr lang="en-US" dirty="0"/>
          </a:p>
          <a:p>
            <a:pPr lvl="2" eaLnBrk="1" hangingPunct="1"/>
            <a:r>
              <a:rPr lang="en-US" dirty="0"/>
              <a:t>  PN cross-referenced to see if a stock number has been assigned</a:t>
            </a:r>
          </a:p>
          <a:p>
            <a:pPr lvl="2" eaLnBrk="1" hangingPunct="1"/>
            <a:r>
              <a:rPr lang="en-US" dirty="0"/>
              <a:t>  The “available critical item list” (known as the short supply items</a:t>
            </a:r>
          </a:p>
          <a:p>
            <a:pPr marL="852488" lvl="2" indent="0" eaLnBrk="1" hangingPunct="1">
              <a:buNone/>
            </a:pPr>
            <a:r>
              <a:rPr lang="en-US" dirty="0"/>
              <a:t>    list) will be reviewed</a:t>
            </a:r>
          </a:p>
          <a:p>
            <a:pPr lvl="2" eaLnBrk="1" hangingPunct="1"/>
            <a:r>
              <a:rPr lang="en-US" dirty="0"/>
              <a:t>  As source data along with known Requirements</a:t>
            </a:r>
          </a:p>
          <a:p>
            <a:pPr lvl="2" eaLnBrk="1" hangingPunct="1"/>
            <a:endParaRPr lang="en-US" dirty="0"/>
          </a:p>
          <a:p>
            <a:pPr lvl="2" eaLnBrk="1" hangingPunct="1"/>
            <a:endParaRPr lang="en-US" dirty="0"/>
          </a:p>
        </p:txBody>
      </p:sp>
      <p:sp>
        <p:nvSpPr>
          <p:cNvPr id="253956" name="Slide Number Placeholder 5"/>
          <p:cNvSpPr>
            <a:spLocks noGrp="1"/>
          </p:cNvSpPr>
          <p:nvPr>
            <p:ph type="sldNum" sz="quarter" idx="10"/>
          </p:nvPr>
        </p:nvSpPr>
        <p:spPr>
          <a:xfrm>
            <a:off x="7239000" y="6519863"/>
            <a:ext cx="1905000" cy="338137"/>
          </a:xfrm>
          <a:noFill/>
        </p:spPr>
        <p:txBody>
          <a:bodyPr/>
          <a:lstStyle/>
          <a:p>
            <a:fld id="{6257CFE5-6327-4206-BA0F-B3BFE7EE7B20}" type="slidenum">
              <a:rPr lang="en-US" smtClean="0"/>
              <a:pPr/>
              <a:t>227</a:t>
            </a:fld>
            <a:endParaRPr lang="en-US"/>
          </a:p>
        </p:txBody>
      </p:sp>
    </p:spTree>
  </p:cSld>
  <p:clrMapOvr>
    <a:masterClrMapping/>
  </p:clrMapOvr>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54979" name="Rectangle 3"/>
          <p:cNvSpPr>
            <a:spLocks noGrp="1" noChangeArrowheads="1"/>
          </p:cNvSpPr>
          <p:nvPr>
            <p:ph idx="1"/>
          </p:nvPr>
        </p:nvSpPr>
        <p:spPr/>
        <p:txBody>
          <a:bodyPr/>
          <a:lstStyle/>
          <a:p>
            <a:pPr eaLnBrk="1" hangingPunct="1"/>
            <a:r>
              <a:rPr lang="en-US" dirty="0"/>
              <a:t>TCTO Completion</a:t>
            </a:r>
          </a:p>
          <a:p>
            <a:pPr marL="0" indent="0" eaLnBrk="1" hangingPunct="1">
              <a:buNone/>
            </a:pPr>
            <a:endParaRPr lang="en-US" dirty="0"/>
          </a:p>
          <a:p>
            <a:pPr lvl="1" eaLnBrk="1" hangingPunct="1"/>
            <a:r>
              <a:rPr lang="en-US" dirty="0"/>
              <a:t>Determine if there is still a need for any non-stock listed items</a:t>
            </a:r>
          </a:p>
          <a:p>
            <a:pPr eaLnBrk="1" hangingPunct="1"/>
            <a:endParaRPr lang="en-US" dirty="0"/>
          </a:p>
          <a:p>
            <a:pPr lvl="2" eaLnBrk="1" hangingPunct="1"/>
            <a:r>
              <a:rPr lang="en-US" dirty="0"/>
              <a:t>If there is a need to stock list the items</a:t>
            </a:r>
          </a:p>
          <a:p>
            <a:pPr lvl="2" eaLnBrk="1" hangingPunct="1"/>
            <a:endParaRPr lang="en-US" dirty="0"/>
          </a:p>
          <a:p>
            <a:pPr lvl="3" eaLnBrk="1" hangingPunct="1"/>
            <a:r>
              <a:rPr lang="en-US" dirty="0"/>
              <a:t>Take cataloging action AF Form 86/FLITES</a:t>
            </a:r>
          </a:p>
          <a:p>
            <a:pPr lvl="3" eaLnBrk="1" hangingPunct="1"/>
            <a:r>
              <a:rPr lang="en-US" dirty="0"/>
              <a:t>Include items on the save list using NC or ND numbers</a:t>
            </a:r>
          </a:p>
        </p:txBody>
      </p:sp>
      <p:sp>
        <p:nvSpPr>
          <p:cNvPr id="254980" name="Slide Number Placeholder 5"/>
          <p:cNvSpPr>
            <a:spLocks noGrp="1"/>
          </p:cNvSpPr>
          <p:nvPr>
            <p:ph type="sldNum" sz="quarter" idx="10"/>
          </p:nvPr>
        </p:nvSpPr>
        <p:spPr>
          <a:xfrm>
            <a:off x="7239000" y="6519863"/>
            <a:ext cx="1905000" cy="338137"/>
          </a:xfrm>
          <a:noFill/>
        </p:spPr>
        <p:txBody>
          <a:bodyPr/>
          <a:lstStyle/>
          <a:p>
            <a:fld id="{FF44944E-555B-4A53-B1E0-603B24B8CB72}" type="slidenum">
              <a:rPr lang="en-US" smtClean="0"/>
              <a:pPr/>
              <a:t>228</a:t>
            </a:fld>
            <a:endParaRPr lang="en-US"/>
          </a:p>
        </p:txBody>
      </p:sp>
    </p:spTree>
  </p:cSld>
  <p:clrMapOvr>
    <a:masterClrMapping/>
  </p:clrMapOvr>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56003" name="Rectangle 3"/>
          <p:cNvSpPr>
            <a:spLocks noGrp="1" noChangeArrowheads="1"/>
          </p:cNvSpPr>
          <p:nvPr>
            <p:ph idx="1"/>
          </p:nvPr>
        </p:nvSpPr>
        <p:spPr/>
        <p:txBody>
          <a:bodyPr/>
          <a:lstStyle/>
          <a:p>
            <a:pPr eaLnBrk="1" hangingPunct="1"/>
            <a:r>
              <a:rPr lang="en-US" dirty="0"/>
              <a:t>TCTO Completion</a:t>
            </a:r>
          </a:p>
          <a:p>
            <a:pPr eaLnBrk="1" hangingPunct="1"/>
            <a:endParaRPr lang="en-US" dirty="0"/>
          </a:p>
          <a:p>
            <a:pPr lvl="1" eaLnBrk="1" hangingPunct="1"/>
            <a:r>
              <a:rPr lang="en-US" dirty="0"/>
              <a:t>Prepare a save list of components consisting of:</a:t>
            </a:r>
          </a:p>
          <a:p>
            <a:pPr eaLnBrk="1" hangingPunct="1"/>
            <a:endParaRPr lang="en-US" dirty="0"/>
          </a:p>
          <a:p>
            <a:pPr lvl="2" eaLnBrk="1" hangingPunct="1"/>
            <a:r>
              <a:rPr lang="en-US" dirty="0"/>
              <a:t>  All stock listed items</a:t>
            </a:r>
          </a:p>
          <a:p>
            <a:pPr lvl="2" eaLnBrk="1" hangingPunct="1"/>
            <a:r>
              <a:rPr lang="en-US" dirty="0"/>
              <a:t>  All Non-stock listed items assigned </a:t>
            </a:r>
          </a:p>
          <a:p>
            <a:pPr lvl="3" eaLnBrk="1" hangingPunct="1"/>
            <a:r>
              <a:rPr lang="en-US" dirty="0"/>
              <a:t>NC, ND &amp; Part Number items  </a:t>
            </a:r>
          </a:p>
          <a:p>
            <a:pPr lvl="2" eaLnBrk="1" hangingPunct="1"/>
            <a:r>
              <a:rPr lang="en-US" dirty="0"/>
              <a:t>  Annotate critical items requiring priority processing or</a:t>
            </a:r>
          </a:p>
          <a:p>
            <a:pPr marL="852488" lvl="2" indent="0" eaLnBrk="1" hangingPunct="1">
              <a:buNone/>
            </a:pPr>
            <a:r>
              <a:rPr lang="en-US" dirty="0"/>
              <a:t>    disassembly </a:t>
            </a:r>
          </a:p>
        </p:txBody>
      </p:sp>
      <p:sp>
        <p:nvSpPr>
          <p:cNvPr id="256004" name="Slide Number Placeholder 5"/>
          <p:cNvSpPr>
            <a:spLocks noGrp="1"/>
          </p:cNvSpPr>
          <p:nvPr>
            <p:ph type="sldNum" sz="quarter" idx="10"/>
          </p:nvPr>
        </p:nvSpPr>
        <p:spPr>
          <a:xfrm>
            <a:off x="7239000" y="6519863"/>
            <a:ext cx="1905000" cy="338137"/>
          </a:xfrm>
          <a:noFill/>
        </p:spPr>
        <p:txBody>
          <a:bodyPr/>
          <a:lstStyle/>
          <a:p>
            <a:fld id="{553F292C-F0EF-45AC-8D93-403395524C21}" type="slidenum">
              <a:rPr lang="en-US" smtClean="0"/>
              <a:pPr/>
              <a:t>229</a:t>
            </a:fld>
            <a:endParaRPr lang="en-US"/>
          </a:p>
        </p:txBody>
      </p:sp>
    </p:spTree>
  </p:cSld>
  <p:clrMapOvr>
    <a:masterClrMapping/>
  </p:clrMapOvr>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r>
              <a:rPr lang="en-US"/>
              <a:t>TCTO Types, Verification, Completion, and Rescission</a:t>
            </a:r>
          </a:p>
        </p:txBody>
      </p:sp>
      <p:sp>
        <p:nvSpPr>
          <p:cNvPr id="257027" name="Rectangle 3"/>
          <p:cNvSpPr>
            <a:spLocks noGrp="1" noChangeArrowheads="1"/>
          </p:cNvSpPr>
          <p:nvPr>
            <p:ph idx="1"/>
          </p:nvPr>
        </p:nvSpPr>
        <p:spPr/>
        <p:txBody>
          <a:bodyPr/>
          <a:lstStyle/>
          <a:p>
            <a:endParaRPr lang="en-US" dirty="0"/>
          </a:p>
          <a:p>
            <a:endParaRPr lang="en-US" dirty="0"/>
          </a:p>
          <a:p>
            <a:endParaRPr lang="en-US" dirty="0"/>
          </a:p>
          <a:p>
            <a:endParaRPr lang="en-US" dirty="0"/>
          </a:p>
          <a:p>
            <a:r>
              <a:rPr lang="en-US" dirty="0"/>
              <a:t>Objective: Identify the procedures for rescinding a TCTO</a:t>
            </a:r>
          </a:p>
        </p:txBody>
      </p:sp>
      <p:sp>
        <p:nvSpPr>
          <p:cNvPr id="257028" name="Slide Number Placeholder 5"/>
          <p:cNvSpPr>
            <a:spLocks noGrp="1"/>
          </p:cNvSpPr>
          <p:nvPr>
            <p:ph type="sldNum" sz="quarter" idx="10"/>
          </p:nvPr>
        </p:nvSpPr>
        <p:spPr>
          <a:xfrm>
            <a:off x="7239000" y="6519863"/>
            <a:ext cx="1905000" cy="338137"/>
          </a:xfrm>
          <a:noFill/>
        </p:spPr>
        <p:txBody>
          <a:bodyPr/>
          <a:lstStyle/>
          <a:p>
            <a:fld id="{B1DD2AA4-6AE5-4880-8CE7-209E8E59AE48}" type="slidenum">
              <a:rPr lang="en-US" smtClean="0"/>
              <a:pPr/>
              <a:t>230</a:t>
            </a:fld>
            <a:endParaRPr lang="en-US"/>
          </a:p>
        </p:txBody>
      </p:sp>
    </p:spTree>
  </p:cSld>
  <p:clrMapOvr>
    <a:masterClrMapping/>
  </p:clrMapOvr>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58051" name="Rectangle 3"/>
          <p:cNvSpPr>
            <a:spLocks noGrp="1" noChangeArrowheads="1"/>
          </p:cNvSpPr>
          <p:nvPr>
            <p:ph idx="1"/>
          </p:nvPr>
        </p:nvSpPr>
        <p:spPr>
          <a:xfrm>
            <a:off x="304800" y="1447800"/>
            <a:ext cx="8686800" cy="4876800"/>
          </a:xfrm>
        </p:spPr>
        <p:txBody>
          <a:bodyPr/>
          <a:lstStyle/>
          <a:p>
            <a:pPr eaLnBrk="1" hangingPunct="1"/>
            <a:r>
              <a:rPr lang="en-US" dirty="0"/>
              <a:t>TCTO Rescission</a:t>
            </a:r>
          </a:p>
          <a:p>
            <a:pPr lvl="1" eaLnBrk="1" hangingPunct="1"/>
            <a:r>
              <a:rPr lang="en-US" dirty="0"/>
              <a:t>TCTO is rescinded for AF when </a:t>
            </a:r>
          </a:p>
          <a:p>
            <a:pPr marL="447675" lvl="1" indent="0" eaLnBrk="1" hangingPunct="1">
              <a:buNone/>
            </a:pPr>
            <a:endParaRPr lang="en-US" dirty="0"/>
          </a:p>
          <a:p>
            <a:pPr lvl="2" eaLnBrk="1" hangingPunct="1"/>
            <a:r>
              <a:rPr lang="en-US" dirty="0"/>
              <a:t>  TCTO completion is reported or</a:t>
            </a:r>
          </a:p>
          <a:p>
            <a:pPr lvl="2" eaLnBrk="1" hangingPunct="1"/>
            <a:r>
              <a:rPr lang="en-US" dirty="0"/>
              <a:t>  The rescission date has expired</a:t>
            </a:r>
          </a:p>
          <a:p>
            <a:pPr lvl="2" eaLnBrk="1" hangingPunct="1"/>
            <a:endParaRPr lang="en-US" dirty="0"/>
          </a:p>
          <a:p>
            <a:pPr lvl="1" eaLnBrk="1" hangingPunct="1"/>
            <a:r>
              <a:rPr lang="en-US" dirty="0"/>
              <a:t>TCTO rescinded for AF</a:t>
            </a:r>
          </a:p>
          <a:p>
            <a:pPr marL="447675" lvl="1" indent="0" eaLnBrk="1" hangingPunct="1">
              <a:buNone/>
            </a:pPr>
            <a:endParaRPr lang="en-US" dirty="0"/>
          </a:p>
          <a:p>
            <a:pPr lvl="2" eaLnBrk="1" hangingPunct="1"/>
            <a:r>
              <a:rPr lang="en-US" dirty="0"/>
              <a:t>  May be retained in stock for SAP (TO 00-5-19)</a:t>
            </a:r>
          </a:p>
          <a:p>
            <a:pPr lvl="2" eaLnBrk="1" hangingPunct="1"/>
            <a:endParaRPr lang="en-US" dirty="0"/>
          </a:p>
          <a:p>
            <a:pPr lvl="1" eaLnBrk="1" hangingPunct="1"/>
            <a:r>
              <a:rPr lang="en-US" dirty="0"/>
              <a:t>Notification of all TCTO rescissions is accomplished by entries in the TO catalog</a:t>
            </a:r>
          </a:p>
          <a:p>
            <a:pPr lvl="2" eaLnBrk="1" hangingPunct="1"/>
            <a:endParaRPr lang="en-US" dirty="0"/>
          </a:p>
          <a:p>
            <a:pPr eaLnBrk="1" hangingPunct="1"/>
            <a:endParaRPr lang="en-US" dirty="0"/>
          </a:p>
          <a:p>
            <a:pPr eaLnBrk="1" hangingPunct="1">
              <a:buFont typeface="Wingdings" pitchFamily="2" charset="2"/>
              <a:buNone/>
            </a:pPr>
            <a:endParaRPr lang="en-US" dirty="0"/>
          </a:p>
        </p:txBody>
      </p:sp>
      <p:sp>
        <p:nvSpPr>
          <p:cNvPr id="258052" name="Slide Number Placeholder 5"/>
          <p:cNvSpPr>
            <a:spLocks noGrp="1"/>
          </p:cNvSpPr>
          <p:nvPr>
            <p:ph type="sldNum" sz="quarter" idx="10"/>
          </p:nvPr>
        </p:nvSpPr>
        <p:spPr>
          <a:xfrm>
            <a:off x="7239000" y="6519863"/>
            <a:ext cx="1905000" cy="338137"/>
          </a:xfrm>
          <a:noFill/>
        </p:spPr>
        <p:txBody>
          <a:bodyPr/>
          <a:lstStyle/>
          <a:p>
            <a:fld id="{CE9C1CC5-9C44-43E9-B809-D0D7F93969DF}" type="slidenum">
              <a:rPr lang="en-US" smtClean="0"/>
              <a:pPr/>
              <a:t>231</a:t>
            </a:fld>
            <a:endParaRPr lang="en-US"/>
          </a:p>
        </p:txBody>
      </p:sp>
    </p:spTree>
  </p:cSld>
  <p:clrMapOvr>
    <a:masterClrMapping/>
  </p:clrMapOvr>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59075" name="Rectangle 3"/>
          <p:cNvSpPr>
            <a:spLocks noGrp="1" noChangeArrowheads="1"/>
          </p:cNvSpPr>
          <p:nvPr>
            <p:ph idx="1"/>
          </p:nvPr>
        </p:nvSpPr>
        <p:spPr/>
        <p:txBody>
          <a:bodyPr/>
          <a:lstStyle/>
          <a:p>
            <a:pPr eaLnBrk="1" hangingPunct="1"/>
            <a:r>
              <a:rPr lang="en-US" dirty="0"/>
              <a:t>TCTO Rescission</a:t>
            </a:r>
          </a:p>
          <a:p>
            <a:pPr lvl="1" eaLnBrk="1" hangingPunct="1"/>
            <a:r>
              <a:rPr lang="en-US" dirty="0"/>
              <a:t>AF units Will NOT accomplish a TCTO after the rescission date</a:t>
            </a:r>
          </a:p>
          <a:p>
            <a:pPr lvl="2" eaLnBrk="1" hangingPunct="1"/>
            <a:r>
              <a:rPr lang="en-US" dirty="0"/>
              <a:t>Approval must be obtained from the TCM</a:t>
            </a:r>
          </a:p>
          <a:p>
            <a:pPr lvl="2" eaLnBrk="1" hangingPunct="1"/>
            <a:endParaRPr lang="en-US" dirty="0"/>
          </a:p>
          <a:p>
            <a:pPr lvl="1" eaLnBrk="1" hangingPunct="1"/>
            <a:r>
              <a:rPr lang="en-US" dirty="0"/>
              <a:t>TCTO will not be removed from the TO files until listed as rescinded in the TO catalog (TO Index)</a:t>
            </a:r>
          </a:p>
          <a:p>
            <a:pPr lvl="1" eaLnBrk="1" hangingPunct="1"/>
            <a:endParaRPr lang="en-US" dirty="0"/>
          </a:p>
          <a:p>
            <a:pPr lvl="1" eaLnBrk="1" hangingPunct="1"/>
            <a:r>
              <a:rPr lang="en-US" dirty="0"/>
              <a:t>TCTO rescission dates are based on the categories &amp; types TCTO Matrix chart</a:t>
            </a:r>
          </a:p>
          <a:p>
            <a:pPr lvl="2" eaLnBrk="1" hangingPunct="1"/>
            <a:r>
              <a:rPr lang="en-US" dirty="0"/>
              <a:t>  Initial rescission date can be extended by ES/PMS with SM approval</a:t>
            </a:r>
          </a:p>
          <a:p>
            <a:pPr lvl="2" eaLnBrk="1" hangingPunct="1"/>
            <a:endParaRPr lang="en-US" dirty="0"/>
          </a:p>
          <a:p>
            <a:pPr eaLnBrk="1" hangingPunct="1"/>
            <a:endParaRPr lang="en-US" dirty="0"/>
          </a:p>
          <a:p>
            <a:pPr eaLnBrk="1" hangingPunct="1">
              <a:buFont typeface="Wingdings" pitchFamily="2" charset="2"/>
              <a:buNone/>
            </a:pPr>
            <a:endParaRPr lang="en-US" dirty="0"/>
          </a:p>
        </p:txBody>
      </p:sp>
      <p:sp>
        <p:nvSpPr>
          <p:cNvPr id="259076" name="Slide Number Placeholder 5"/>
          <p:cNvSpPr>
            <a:spLocks noGrp="1"/>
          </p:cNvSpPr>
          <p:nvPr>
            <p:ph type="sldNum" sz="quarter" idx="10"/>
          </p:nvPr>
        </p:nvSpPr>
        <p:spPr>
          <a:xfrm>
            <a:off x="7239000" y="6519863"/>
            <a:ext cx="1905000" cy="338137"/>
          </a:xfrm>
          <a:noFill/>
        </p:spPr>
        <p:txBody>
          <a:bodyPr/>
          <a:lstStyle/>
          <a:p>
            <a:fld id="{931C79B7-1C59-4B17-97E5-75F0B2388722}" type="slidenum">
              <a:rPr lang="en-US" smtClean="0"/>
              <a:pPr/>
              <a:t>232</a:t>
            </a:fld>
            <a:endParaRPr lang="en-US"/>
          </a:p>
        </p:txBody>
      </p:sp>
    </p:spTree>
  </p:cSld>
  <p:clrMapOvr>
    <a:masterClrMapping/>
  </p:clrMapOvr>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p:txBody>
          <a:bodyPr/>
          <a:lstStyle/>
          <a:p>
            <a:pPr eaLnBrk="1" hangingPunct="1"/>
            <a:r>
              <a:rPr lang="en-US"/>
              <a:t>TCTO Types, Verification, Completion, and Rescission</a:t>
            </a:r>
          </a:p>
        </p:txBody>
      </p:sp>
      <p:sp>
        <p:nvSpPr>
          <p:cNvPr id="260099" name="Rectangle 3"/>
          <p:cNvSpPr>
            <a:spLocks noGrp="1" noChangeArrowheads="1"/>
          </p:cNvSpPr>
          <p:nvPr>
            <p:ph idx="1"/>
          </p:nvPr>
        </p:nvSpPr>
        <p:spPr>
          <a:xfrm>
            <a:off x="228600" y="1338036"/>
            <a:ext cx="8686800" cy="4953000"/>
          </a:xfrm>
        </p:spPr>
        <p:txBody>
          <a:bodyPr/>
          <a:lstStyle/>
          <a:p>
            <a:pPr eaLnBrk="1" hangingPunct="1"/>
            <a:r>
              <a:rPr lang="en-US" dirty="0"/>
              <a:t>TCTO Rescission</a:t>
            </a:r>
          </a:p>
          <a:p>
            <a:pPr lvl="1" eaLnBrk="1" hangingPunct="1"/>
            <a:r>
              <a:rPr lang="en-US" dirty="0"/>
              <a:t>SM, ES or PMS must periodically review the ETIMS TCTO record </a:t>
            </a:r>
          </a:p>
          <a:p>
            <a:pPr lvl="2" eaLnBrk="1" hangingPunct="1"/>
            <a:r>
              <a:rPr lang="en-US" dirty="0"/>
              <a:t>  When the TCTO is 150 days from the rescission date determine:</a:t>
            </a:r>
          </a:p>
          <a:p>
            <a:pPr lvl="3" eaLnBrk="1" hangingPunct="1"/>
            <a:r>
              <a:rPr lang="en-US" dirty="0"/>
              <a:t>Whether to extend the rescission date in ETIMS </a:t>
            </a:r>
          </a:p>
          <a:p>
            <a:pPr lvl="3" eaLnBrk="1" hangingPunct="1"/>
            <a:r>
              <a:rPr lang="en-US" dirty="0"/>
              <a:t>Allow the TCTO to rescind</a:t>
            </a:r>
          </a:p>
          <a:p>
            <a:pPr lvl="3" eaLnBrk="1" hangingPunct="1"/>
            <a:endParaRPr lang="en-US" dirty="0"/>
          </a:p>
          <a:p>
            <a:pPr lvl="2" eaLnBrk="1" hangingPunct="1"/>
            <a:r>
              <a:rPr lang="en-US" dirty="0"/>
              <a:t>  Circumstances to extend the rescission date</a:t>
            </a:r>
          </a:p>
          <a:p>
            <a:pPr lvl="3" eaLnBrk="1" hangingPunct="1"/>
            <a:r>
              <a:rPr lang="en-US" dirty="0"/>
              <a:t>Significant number of assets still require compliance</a:t>
            </a:r>
          </a:p>
          <a:p>
            <a:pPr lvl="3" eaLnBrk="1" hangingPunct="1"/>
            <a:r>
              <a:rPr lang="en-US" dirty="0"/>
              <a:t>Availability of the end item</a:t>
            </a:r>
          </a:p>
          <a:p>
            <a:pPr lvl="3" eaLnBrk="1" hangingPunct="1"/>
            <a:r>
              <a:rPr lang="en-US" dirty="0"/>
              <a:t>Mission requirements</a:t>
            </a:r>
          </a:p>
          <a:p>
            <a:pPr lvl="3" eaLnBrk="1" hangingPunct="1"/>
            <a:r>
              <a:rPr lang="en-US" dirty="0"/>
              <a:t>Problems with kits/special tools/TO etc.</a:t>
            </a:r>
          </a:p>
          <a:p>
            <a:pPr lvl="3" eaLnBrk="1" hangingPunct="1"/>
            <a:r>
              <a:rPr lang="en-US" dirty="0"/>
              <a:t>Changes to the scope of the TCTO </a:t>
            </a:r>
          </a:p>
          <a:p>
            <a:pPr eaLnBrk="1" hangingPunct="1"/>
            <a:endParaRPr lang="en-US" dirty="0"/>
          </a:p>
          <a:p>
            <a:pPr eaLnBrk="1" hangingPunct="1">
              <a:buFont typeface="Wingdings" pitchFamily="2" charset="2"/>
              <a:buNone/>
            </a:pPr>
            <a:endParaRPr lang="en-US" dirty="0"/>
          </a:p>
        </p:txBody>
      </p:sp>
      <p:sp>
        <p:nvSpPr>
          <p:cNvPr id="260100" name="Slide Number Placeholder 5"/>
          <p:cNvSpPr>
            <a:spLocks noGrp="1"/>
          </p:cNvSpPr>
          <p:nvPr>
            <p:ph type="sldNum" sz="quarter" idx="10"/>
          </p:nvPr>
        </p:nvSpPr>
        <p:spPr>
          <a:xfrm>
            <a:off x="7239000" y="6519863"/>
            <a:ext cx="1905000" cy="338137"/>
          </a:xfrm>
          <a:noFill/>
        </p:spPr>
        <p:txBody>
          <a:bodyPr/>
          <a:lstStyle/>
          <a:p>
            <a:fld id="{F987A52A-989E-4FE0-B190-A5D8B2E0E029}" type="slidenum">
              <a:rPr lang="en-US" smtClean="0"/>
              <a:pPr/>
              <a:t>233</a:t>
            </a:fld>
            <a:endParaRPr lang="en-US"/>
          </a:p>
        </p:txBody>
      </p:sp>
    </p:spTree>
  </p:cSld>
  <p:clrMapOvr>
    <a:masterClrMapping/>
  </p:clrMapOvr>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lstStyle/>
          <a:p>
            <a:pPr eaLnBrk="1" hangingPunct="1"/>
            <a:r>
              <a:rPr lang="en-US"/>
              <a:t>TCTO Types, Verification, Completion, and Rescission</a:t>
            </a:r>
          </a:p>
        </p:txBody>
      </p:sp>
      <p:sp>
        <p:nvSpPr>
          <p:cNvPr id="261123" name="Rectangle 3"/>
          <p:cNvSpPr>
            <a:spLocks noGrp="1" noChangeArrowheads="1"/>
          </p:cNvSpPr>
          <p:nvPr>
            <p:ph idx="1"/>
          </p:nvPr>
        </p:nvSpPr>
        <p:spPr/>
        <p:txBody>
          <a:bodyPr/>
          <a:lstStyle/>
          <a:p>
            <a:pPr eaLnBrk="1" hangingPunct="1"/>
            <a:r>
              <a:rPr lang="en-US" dirty="0"/>
              <a:t>TCTO Rescission</a:t>
            </a:r>
          </a:p>
          <a:p>
            <a:pPr lvl="1" eaLnBrk="1" hangingPunct="1"/>
            <a:r>
              <a:rPr lang="en-US" dirty="0"/>
              <a:t>Document extensions in REMIS &amp; ETIMS</a:t>
            </a:r>
          </a:p>
          <a:p>
            <a:pPr lvl="1" eaLnBrk="1" hangingPunct="1"/>
            <a:endParaRPr lang="en-US" dirty="0"/>
          </a:p>
          <a:p>
            <a:pPr lvl="1" eaLnBrk="1" hangingPunct="1"/>
            <a:r>
              <a:rPr lang="en-US" dirty="0"/>
              <a:t>If a supplement is issued changing the scope of the TCTO</a:t>
            </a:r>
          </a:p>
          <a:p>
            <a:pPr lvl="2" eaLnBrk="1" hangingPunct="1"/>
            <a:r>
              <a:rPr lang="en-US" dirty="0"/>
              <a:t>  It will include the revised rescission date</a:t>
            </a:r>
          </a:p>
          <a:p>
            <a:pPr lvl="2" eaLnBrk="1" hangingPunct="1"/>
            <a:endParaRPr lang="en-US" dirty="0"/>
          </a:p>
          <a:p>
            <a:pPr lvl="1" eaLnBrk="1" hangingPunct="1"/>
            <a:r>
              <a:rPr lang="en-US" dirty="0"/>
              <a:t>A new data code is assigned ONLY if the supplement changes:</a:t>
            </a:r>
          </a:p>
          <a:p>
            <a:pPr lvl="2" eaLnBrk="1" hangingPunct="1"/>
            <a:r>
              <a:rPr lang="en-US" dirty="0"/>
              <a:t>  The scope of the  effort </a:t>
            </a:r>
          </a:p>
          <a:p>
            <a:pPr lvl="2" eaLnBrk="1" hangingPunct="1"/>
            <a:r>
              <a:rPr lang="en-US" dirty="0"/>
              <a:t>  Results in a new kit requirement</a:t>
            </a:r>
          </a:p>
          <a:p>
            <a:pPr lvl="2" eaLnBrk="1" hangingPunct="1"/>
            <a:endParaRPr lang="en-US" dirty="0"/>
          </a:p>
          <a:p>
            <a:pPr lvl="1" eaLnBrk="1" hangingPunct="1">
              <a:buFontTx/>
              <a:buNone/>
            </a:pPr>
            <a:endParaRPr lang="en-US" dirty="0"/>
          </a:p>
          <a:p>
            <a:pPr lvl="1" eaLnBrk="1" hangingPunct="1"/>
            <a:endParaRPr lang="en-US" dirty="0"/>
          </a:p>
          <a:p>
            <a:pPr eaLnBrk="1" hangingPunct="1"/>
            <a:endParaRPr lang="en-US" dirty="0"/>
          </a:p>
          <a:p>
            <a:pPr eaLnBrk="1" hangingPunct="1">
              <a:buFont typeface="Wingdings" pitchFamily="2" charset="2"/>
              <a:buNone/>
            </a:pPr>
            <a:endParaRPr lang="en-US" dirty="0"/>
          </a:p>
        </p:txBody>
      </p:sp>
      <p:sp>
        <p:nvSpPr>
          <p:cNvPr id="261124" name="Slide Number Placeholder 5"/>
          <p:cNvSpPr>
            <a:spLocks noGrp="1"/>
          </p:cNvSpPr>
          <p:nvPr>
            <p:ph type="sldNum" sz="quarter" idx="10"/>
          </p:nvPr>
        </p:nvSpPr>
        <p:spPr>
          <a:xfrm>
            <a:off x="7239000" y="6519863"/>
            <a:ext cx="1905000" cy="338137"/>
          </a:xfrm>
          <a:noFill/>
        </p:spPr>
        <p:txBody>
          <a:bodyPr/>
          <a:lstStyle/>
          <a:p>
            <a:fld id="{2DF0B208-A364-4655-A267-D9F28C60B9EA}" type="slidenum">
              <a:rPr lang="en-US" smtClean="0"/>
              <a:pPr/>
              <a:t>234</a:t>
            </a:fld>
            <a:endParaRPr lang="en-US"/>
          </a:p>
        </p:txBody>
      </p:sp>
    </p:spTree>
  </p:cSld>
  <p:clrMapOvr>
    <a:masterClrMapping/>
  </p:clrMapOvr>
  <p:transition/>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62147" name="Rectangle 3"/>
          <p:cNvSpPr>
            <a:spLocks noGrp="1" noChangeArrowheads="1"/>
          </p:cNvSpPr>
          <p:nvPr>
            <p:ph idx="1"/>
          </p:nvPr>
        </p:nvSpPr>
        <p:spPr/>
        <p:txBody>
          <a:bodyPr/>
          <a:lstStyle/>
          <a:p>
            <a:pPr eaLnBrk="1" hangingPunct="1"/>
            <a:r>
              <a:rPr lang="en-US" dirty="0"/>
              <a:t>TCTO Rescission</a:t>
            </a:r>
          </a:p>
          <a:p>
            <a:pPr lvl="1" eaLnBrk="1" hangingPunct="1"/>
            <a:r>
              <a:rPr lang="en-US" dirty="0"/>
              <a:t>Supplements carry the same rescission date as the basic</a:t>
            </a:r>
          </a:p>
          <a:p>
            <a:pPr lvl="1" eaLnBrk="1" hangingPunct="1"/>
            <a:r>
              <a:rPr lang="en-US" dirty="0"/>
              <a:t>When it is necessary to reinstate a TCTO that has been rescinded</a:t>
            </a:r>
          </a:p>
          <a:p>
            <a:pPr lvl="2" eaLnBrk="1" hangingPunct="1"/>
            <a:r>
              <a:rPr lang="en-US" dirty="0"/>
              <a:t>  The reinstated TCTO will be issued </a:t>
            </a:r>
          </a:p>
          <a:p>
            <a:pPr lvl="2" eaLnBrk="1" hangingPunct="1"/>
            <a:r>
              <a:rPr lang="en-US" dirty="0"/>
              <a:t>  Initial Distribution (ID) will be made in the same manner as a new</a:t>
            </a:r>
          </a:p>
          <a:p>
            <a:pPr marL="852488" lvl="2" indent="0" eaLnBrk="1" hangingPunct="1">
              <a:buNone/>
            </a:pPr>
            <a:r>
              <a:rPr lang="en-US" dirty="0"/>
              <a:t>   TCTO</a:t>
            </a:r>
          </a:p>
          <a:p>
            <a:pPr lvl="2" eaLnBrk="1" hangingPunct="1"/>
            <a:r>
              <a:rPr lang="en-US" dirty="0"/>
              <a:t>  The old data code number will be used</a:t>
            </a:r>
          </a:p>
          <a:p>
            <a:pPr lvl="2" eaLnBrk="1" hangingPunct="1"/>
            <a:r>
              <a:rPr lang="en-US" dirty="0"/>
              <a:t>  All supplements current at the time of rescission will also be</a:t>
            </a:r>
          </a:p>
          <a:p>
            <a:pPr marL="852488" lvl="2" indent="0" eaLnBrk="1" hangingPunct="1">
              <a:buNone/>
            </a:pPr>
            <a:r>
              <a:rPr lang="en-US" dirty="0"/>
              <a:t>   reinstated </a:t>
            </a:r>
          </a:p>
          <a:p>
            <a:pPr lvl="3" eaLnBrk="1" hangingPunct="1"/>
            <a:r>
              <a:rPr lang="en-US" dirty="0"/>
              <a:t>Or incorporated in the reissued TCTO</a:t>
            </a:r>
          </a:p>
          <a:p>
            <a:pPr lvl="2" eaLnBrk="1" hangingPunct="1"/>
            <a:endParaRPr lang="en-US" dirty="0"/>
          </a:p>
          <a:p>
            <a:pPr lvl="1" eaLnBrk="1" hangingPunct="1"/>
            <a:endParaRPr lang="en-US" dirty="0"/>
          </a:p>
          <a:p>
            <a:pPr lvl="1" eaLnBrk="1" hangingPunct="1"/>
            <a:endParaRPr lang="en-US" dirty="0"/>
          </a:p>
          <a:p>
            <a:pPr eaLnBrk="1" hangingPunct="1"/>
            <a:endParaRPr lang="en-US" dirty="0"/>
          </a:p>
          <a:p>
            <a:pPr eaLnBrk="1" hangingPunct="1">
              <a:buFont typeface="Wingdings" pitchFamily="2" charset="2"/>
              <a:buNone/>
            </a:pPr>
            <a:r>
              <a:rPr lang="en-US" dirty="0"/>
              <a:t> </a:t>
            </a:r>
          </a:p>
        </p:txBody>
      </p:sp>
      <p:sp>
        <p:nvSpPr>
          <p:cNvPr id="262148" name="Slide Number Placeholder 5"/>
          <p:cNvSpPr>
            <a:spLocks noGrp="1"/>
          </p:cNvSpPr>
          <p:nvPr>
            <p:ph type="sldNum" sz="quarter" idx="10"/>
          </p:nvPr>
        </p:nvSpPr>
        <p:spPr>
          <a:xfrm>
            <a:off x="7239000" y="6519863"/>
            <a:ext cx="1905000" cy="338137"/>
          </a:xfrm>
          <a:noFill/>
        </p:spPr>
        <p:txBody>
          <a:bodyPr/>
          <a:lstStyle/>
          <a:p>
            <a:fld id="{4B1C26CA-F8C2-4E4B-B0A3-3E6916E81919}" type="slidenum">
              <a:rPr lang="en-US" smtClean="0"/>
              <a:pPr/>
              <a:t>235</a:t>
            </a:fld>
            <a:endParaRPr lang="en-US"/>
          </a:p>
        </p:txBody>
      </p:sp>
    </p:spTree>
  </p:cSld>
  <p:clrMapOvr>
    <a:masterClrMapping/>
  </p:clrMapOvr>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63171" name="Rectangle 3"/>
          <p:cNvSpPr>
            <a:spLocks noGrp="1" noChangeArrowheads="1"/>
          </p:cNvSpPr>
          <p:nvPr>
            <p:ph idx="1"/>
          </p:nvPr>
        </p:nvSpPr>
        <p:spPr>
          <a:xfrm>
            <a:off x="609600" y="1295400"/>
            <a:ext cx="8131175" cy="4875212"/>
          </a:xfrm>
        </p:spPr>
        <p:txBody>
          <a:bodyPr/>
          <a:lstStyle/>
          <a:p>
            <a:pPr eaLnBrk="1" hangingPunct="1"/>
            <a:r>
              <a:rPr lang="en-US" dirty="0"/>
              <a:t>TCTO Rescission</a:t>
            </a:r>
          </a:p>
          <a:p>
            <a:pPr lvl="1" eaLnBrk="1" hangingPunct="1"/>
            <a:r>
              <a:rPr lang="en-US" dirty="0"/>
              <a:t>TCTO completion reporting, recording and applicability record adjustments are required according to management decisions pertaining to the reinstatement</a:t>
            </a:r>
          </a:p>
          <a:p>
            <a:pPr lvl="1" eaLnBrk="1" hangingPunct="1">
              <a:buFontTx/>
              <a:buNone/>
            </a:pPr>
            <a:r>
              <a:rPr lang="en-US" dirty="0"/>
              <a:t>    </a:t>
            </a:r>
          </a:p>
          <a:p>
            <a:pPr lvl="2" eaLnBrk="1" hangingPunct="1"/>
            <a:r>
              <a:rPr lang="en-US" dirty="0"/>
              <a:t>  Below note will be placed on the reinstated TCTO between the title and paragraph 1</a:t>
            </a:r>
          </a:p>
          <a:p>
            <a:pPr marL="1371600" lvl="3" indent="0" eaLnBrk="1" hangingPunct="1">
              <a:buNone/>
            </a:pPr>
            <a:endParaRPr lang="en-US" dirty="0"/>
          </a:p>
          <a:p>
            <a:pPr marL="1371600" lvl="3" indent="0" eaLnBrk="1" hangingPunct="1">
              <a:buNone/>
            </a:pPr>
            <a:r>
              <a:rPr lang="en-US" dirty="0"/>
              <a:t>“This TCTO is issued for the purpose of reinstating </a:t>
            </a:r>
          </a:p>
          <a:p>
            <a:pPr lvl="1" eaLnBrk="1" hangingPunct="1">
              <a:buFontTx/>
              <a:buNone/>
            </a:pPr>
            <a:r>
              <a:rPr lang="en-US" dirty="0"/>
              <a:t>              </a:t>
            </a:r>
            <a:r>
              <a:rPr lang="en-US" sz="2000" dirty="0"/>
              <a:t>TCTO #,  data code (#),  dated (issue date of the rescinded TCTO)”</a:t>
            </a:r>
          </a:p>
          <a:p>
            <a:pPr lvl="1" eaLnBrk="1" hangingPunct="1">
              <a:buFontTx/>
              <a:buNone/>
            </a:pPr>
            <a:r>
              <a:rPr lang="en-US" dirty="0"/>
              <a:t> </a:t>
            </a:r>
          </a:p>
          <a:p>
            <a:pPr lvl="1" eaLnBrk="1" hangingPunct="1"/>
            <a:endParaRPr lang="en-US" dirty="0"/>
          </a:p>
          <a:p>
            <a:pPr lvl="1" eaLnBrk="1" hangingPunct="1">
              <a:buFontTx/>
              <a:buNone/>
            </a:pPr>
            <a:endParaRPr lang="en-US" dirty="0"/>
          </a:p>
          <a:p>
            <a:pPr eaLnBrk="1" hangingPunct="1"/>
            <a:endParaRPr lang="en-US" dirty="0"/>
          </a:p>
          <a:p>
            <a:pPr eaLnBrk="1" hangingPunct="1">
              <a:buFont typeface="Wingdings" pitchFamily="2" charset="2"/>
              <a:buNone/>
            </a:pPr>
            <a:endParaRPr lang="en-US" dirty="0"/>
          </a:p>
        </p:txBody>
      </p:sp>
      <p:sp>
        <p:nvSpPr>
          <p:cNvPr id="263172" name="Slide Number Placeholder 5"/>
          <p:cNvSpPr>
            <a:spLocks noGrp="1"/>
          </p:cNvSpPr>
          <p:nvPr>
            <p:ph type="sldNum" sz="quarter" idx="10"/>
          </p:nvPr>
        </p:nvSpPr>
        <p:spPr>
          <a:xfrm>
            <a:off x="7239000" y="6519863"/>
            <a:ext cx="1905000" cy="338137"/>
          </a:xfrm>
          <a:noFill/>
        </p:spPr>
        <p:txBody>
          <a:bodyPr/>
          <a:lstStyle/>
          <a:p>
            <a:fld id="{BF839995-F1DF-4FE6-B1BA-979BC9DDACC4}" type="slidenum">
              <a:rPr lang="en-US" smtClean="0"/>
              <a:pPr/>
              <a:t>236</a:t>
            </a:fld>
            <a:endParaRPr lang="en-US"/>
          </a:p>
        </p:txBody>
      </p:sp>
    </p:spTree>
  </p:cSld>
  <p:clrMapOvr>
    <a:masterClrMapping/>
  </p:clrMapOvr>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pPr eaLnBrk="1" hangingPunct="1"/>
            <a:r>
              <a:rPr lang="en-US"/>
              <a:t>TCTO Types, Verification, Completion, and Rescission</a:t>
            </a:r>
          </a:p>
        </p:txBody>
      </p:sp>
      <p:sp>
        <p:nvSpPr>
          <p:cNvPr id="264195" name="Rectangle 3"/>
          <p:cNvSpPr>
            <a:spLocks noGrp="1" noChangeArrowheads="1"/>
          </p:cNvSpPr>
          <p:nvPr>
            <p:ph idx="1"/>
          </p:nvPr>
        </p:nvSpPr>
        <p:spPr/>
        <p:txBody>
          <a:bodyPr/>
          <a:lstStyle/>
          <a:p>
            <a:pPr eaLnBrk="1" hangingPunct="1"/>
            <a:r>
              <a:rPr lang="en-US" dirty="0"/>
              <a:t>TCTO Rescission</a:t>
            </a:r>
          </a:p>
          <a:p>
            <a:pPr marL="0" indent="0" eaLnBrk="1" hangingPunct="1">
              <a:buNone/>
            </a:pPr>
            <a:endParaRPr lang="en-US" dirty="0"/>
          </a:p>
          <a:p>
            <a:pPr lvl="1" eaLnBrk="1" hangingPunct="1"/>
            <a:r>
              <a:rPr lang="en-US" dirty="0"/>
              <a:t>TCTO completion reporting, recording and applicability record adjustments </a:t>
            </a:r>
          </a:p>
          <a:p>
            <a:pPr lvl="1" eaLnBrk="1" hangingPunct="1"/>
            <a:endParaRPr lang="en-US" dirty="0"/>
          </a:p>
          <a:p>
            <a:pPr lvl="1" eaLnBrk="1" hangingPunct="1"/>
            <a:r>
              <a:rPr lang="en-US" dirty="0"/>
              <a:t>Below note will also be inserted after paragraph 3</a:t>
            </a:r>
          </a:p>
          <a:p>
            <a:pPr lvl="1" eaLnBrk="1" hangingPunct="1"/>
            <a:endParaRPr lang="en-US" dirty="0"/>
          </a:p>
          <a:p>
            <a:pPr lvl="2" eaLnBrk="1" hangingPunct="1"/>
            <a:r>
              <a:rPr lang="en-US" dirty="0"/>
              <a:t>  “No additional work is required on (system or commodity end</a:t>
            </a:r>
          </a:p>
          <a:p>
            <a:pPr marL="852488" lvl="2" indent="0" eaLnBrk="1" hangingPunct="1">
              <a:buNone/>
            </a:pPr>
            <a:r>
              <a:rPr lang="en-US" dirty="0"/>
              <a:t>     items)  which compliance with the TCTO (#), data code (#), date</a:t>
            </a:r>
          </a:p>
          <a:p>
            <a:pPr marL="852488" lvl="2" indent="0" eaLnBrk="1" hangingPunct="1">
              <a:buNone/>
            </a:pPr>
            <a:r>
              <a:rPr lang="en-US" dirty="0"/>
              <a:t>    (issue date of rescinded TCTO), has been completed.”</a:t>
            </a:r>
          </a:p>
          <a:p>
            <a:pPr eaLnBrk="1" hangingPunct="1"/>
            <a:endParaRPr lang="en-US" dirty="0"/>
          </a:p>
          <a:p>
            <a:pPr eaLnBrk="1" hangingPunct="1">
              <a:buFont typeface="Wingdings" pitchFamily="2" charset="2"/>
              <a:buNone/>
            </a:pPr>
            <a:endParaRPr lang="en-US" dirty="0"/>
          </a:p>
        </p:txBody>
      </p:sp>
      <p:sp>
        <p:nvSpPr>
          <p:cNvPr id="264196" name="Slide Number Placeholder 5"/>
          <p:cNvSpPr>
            <a:spLocks noGrp="1"/>
          </p:cNvSpPr>
          <p:nvPr>
            <p:ph type="sldNum" sz="quarter" idx="10"/>
          </p:nvPr>
        </p:nvSpPr>
        <p:spPr>
          <a:xfrm>
            <a:off x="7239000" y="6519863"/>
            <a:ext cx="1905000" cy="338137"/>
          </a:xfrm>
          <a:noFill/>
        </p:spPr>
        <p:txBody>
          <a:bodyPr/>
          <a:lstStyle/>
          <a:p>
            <a:fld id="{802ED512-5A9F-4E74-AD70-0C80B72FE3D5}" type="slidenum">
              <a:rPr lang="en-US" smtClean="0"/>
              <a:pPr/>
              <a:t>237</a:t>
            </a:fld>
            <a:endParaRPr lang="en-US"/>
          </a:p>
        </p:txBody>
      </p:sp>
    </p:spTree>
  </p:cSld>
  <p:clrMapOvr>
    <a:masterClrMapping/>
  </p:clrMapOvr>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en-US"/>
              <a:t>TCTO Types, Verification, Completion, and Rescission</a:t>
            </a:r>
          </a:p>
        </p:txBody>
      </p:sp>
      <p:sp>
        <p:nvSpPr>
          <p:cNvPr id="265219" name="Rectangle 3"/>
          <p:cNvSpPr>
            <a:spLocks noGrp="1" noChangeArrowheads="1"/>
          </p:cNvSpPr>
          <p:nvPr>
            <p:ph idx="1"/>
          </p:nvPr>
        </p:nvSpPr>
        <p:spPr/>
        <p:txBody>
          <a:bodyPr/>
          <a:lstStyle/>
          <a:p>
            <a:endParaRPr lang="en-US" dirty="0"/>
          </a:p>
          <a:p>
            <a:endParaRPr lang="en-US" dirty="0"/>
          </a:p>
          <a:p>
            <a:endParaRPr lang="en-US" dirty="0"/>
          </a:p>
          <a:p>
            <a:endParaRPr lang="en-US" dirty="0"/>
          </a:p>
          <a:p>
            <a:r>
              <a:rPr lang="en-US" dirty="0"/>
              <a:t>Objective: Identify the procedures for replacing a TCTO</a:t>
            </a:r>
          </a:p>
        </p:txBody>
      </p:sp>
      <p:sp>
        <p:nvSpPr>
          <p:cNvPr id="265220" name="Slide Number Placeholder 5"/>
          <p:cNvSpPr>
            <a:spLocks noGrp="1"/>
          </p:cNvSpPr>
          <p:nvPr>
            <p:ph type="sldNum" sz="quarter" idx="10"/>
          </p:nvPr>
        </p:nvSpPr>
        <p:spPr>
          <a:xfrm>
            <a:off x="7239000" y="6519863"/>
            <a:ext cx="1905000" cy="338137"/>
          </a:xfrm>
          <a:noFill/>
        </p:spPr>
        <p:txBody>
          <a:bodyPr/>
          <a:lstStyle/>
          <a:p>
            <a:fld id="{DF950236-6ADB-4485-A206-F0CC3257717E}" type="slidenum">
              <a:rPr lang="en-US" smtClean="0"/>
              <a:pPr/>
              <a:t>238</a:t>
            </a:fld>
            <a:endParaRPr lang="en-US"/>
          </a:p>
        </p:txBody>
      </p:sp>
    </p:spTree>
  </p:cSld>
  <p:clrMapOvr>
    <a:masterClrMapping/>
  </p:clrMapOvr>
  <p:transition/>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pPr eaLnBrk="1" hangingPunct="1"/>
            <a:r>
              <a:rPr lang="en-US"/>
              <a:t>TCTO Replacement</a:t>
            </a:r>
          </a:p>
        </p:txBody>
      </p:sp>
      <p:sp>
        <p:nvSpPr>
          <p:cNvPr id="266243" name="Rectangle 3"/>
          <p:cNvSpPr>
            <a:spLocks noGrp="1" noChangeArrowheads="1"/>
          </p:cNvSpPr>
          <p:nvPr>
            <p:ph idx="1"/>
          </p:nvPr>
        </p:nvSpPr>
        <p:spPr/>
        <p:txBody>
          <a:bodyPr/>
          <a:lstStyle/>
          <a:p>
            <a:pPr eaLnBrk="1" hangingPunct="1"/>
            <a:r>
              <a:rPr lang="en-US" dirty="0"/>
              <a:t>TCTO Replacement</a:t>
            </a:r>
          </a:p>
          <a:p>
            <a:pPr eaLnBrk="1" hangingPunct="1"/>
            <a:endParaRPr lang="en-US" dirty="0"/>
          </a:p>
          <a:p>
            <a:pPr lvl="1" eaLnBrk="1" hangingPunct="1"/>
            <a:r>
              <a:rPr lang="en-US" dirty="0"/>
              <a:t>A TCTO will be replaced with a new TCTO when:</a:t>
            </a:r>
          </a:p>
          <a:p>
            <a:pPr marL="447675" lvl="1" indent="0" eaLnBrk="1" hangingPunct="1">
              <a:buNone/>
            </a:pPr>
            <a:endParaRPr lang="en-US" dirty="0"/>
          </a:p>
          <a:p>
            <a:pPr lvl="2" eaLnBrk="1" hangingPunct="1"/>
            <a:r>
              <a:rPr lang="en-US" dirty="0"/>
              <a:t>  A major portion of the original procedures have been changed </a:t>
            </a:r>
          </a:p>
          <a:p>
            <a:pPr lvl="2" eaLnBrk="1" hangingPunct="1"/>
            <a:r>
              <a:rPr lang="en-US" dirty="0"/>
              <a:t>  Instructions require clarification Due to experience gained by</a:t>
            </a:r>
          </a:p>
          <a:p>
            <a:pPr marL="852488" lvl="2" indent="0" eaLnBrk="1" hangingPunct="1">
              <a:buNone/>
            </a:pPr>
            <a:r>
              <a:rPr lang="en-US" dirty="0"/>
              <a:t>    previous installations</a:t>
            </a:r>
          </a:p>
          <a:p>
            <a:pPr lvl="2" eaLnBrk="1" hangingPunct="1"/>
            <a:r>
              <a:rPr lang="en-US" sz="1400" dirty="0"/>
              <a:t>  </a:t>
            </a:r>
            <a:r>
              <a:rPr lang="en-US" dirty="0"/>
              <a:t>To replace a record TCTO issued to accomplish a prototype/trial</a:t>
            </a:r>
          </a:p>
          <a:p>
            <a:pPr marL="852488" lvl="2" indent="0" eaLnBrk="1" hangingPunct="1">
              <a:buNone/>
            </a:pPr>
            <a:r>
              <a:rPr lang="en-US" dirty="0"/>
              <a:t>   installation on a system</a:t>
            </a:r>
          </a:p>
          <a:p>
            <a:pPr eaLnBrk="1" hangingPunct="1"/>
            <a:endParaRPr lang="en-US" dirty="0"/>
          </a:p>
          <a:p>
            <a:pPr eaLnBrk="1" hangingPunct="1"/>
            <a:endParaRPr lang="en-US" dirty="0"/>
          </a:p>
        </p:txBody>
      </p:sp>
      <p:sp>
        <p:nvSpPr>
          <p:cNvPr id="266244" name="Slide Number Placeholder 5"/>
          <p:cNvSpPr>
            <a:spLocks noGrp="1"/>
          </p:cNvSpPr>
          <p:nvPr>
            <p:ph type="sldNum" sz="quarter" idx="10"/>
          </p:nvPr>
        </p:nvSpPr>
        <p:spPr>
          <a:xfrm>
            <a:off x="7239000" y="6519863"/>
            <a:ext cx="1905000" cy="338137"/>
          </a:xfrm>
          <a:noFill/>
        </p:spPr>
        <p:txBody>
          <a:bodyPr/>
          <a:lstStyle/>
          <a:p>
            <a:fld id="{ABC33FB9-95C6-4ABE-B141-D258E672A7A9}" type="slidenum">
              <a:rPr lang="en-US" smtClean="0"/>
              <a:pPr/>
              <a:t>239</a:t>
            </a:fld>
            <a:endParaRPr lang="en-US"/>
          </a:p>
        </p:txBody>
      </p:sp>
    </p:spTree>
  </p:cSld>
  <p:clrMapOvr>
    <a:masterClrMapping/>
  </p:clrMapOvr>
  <p:transition/>
</p:sld>
</file>

<file path=ppt/slides/slide2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pPr eaLnBrk="1" hangingPunct="1"/>
            <a:r>
              <a:rPr lang="en-US"/>
              <a:t>TCTO Replacement</a:t>
            </a:r>
          </a:p>
        </p:txBody>
      </p:sp>
      <p:sp>
        <p:nvSpPr>
          <p:cNvPr id="267267" name="Rectangle 3"/>
          <p:cNvSpPr>
            <a:spLocks noGrp="1" noChangeArrowheads="1"/>
          </p:cNvSpPr>
          <p:nvPr>
            <p:ph idx="1"/>
          </p:nvPr>
        </p:nvSpPr>
        <p:spPr/>
        <p:txBody>
          <a:bodyPr/>
          <a:lstStyle/>
          <a:p>
            <a:pPr eaLnBrk="1" hangingPunct="1"/>
            <a:r>
              <a:rPr lang="en-US" dirty="0"/>
              <a:t>TCTO Replacement</a:t>
            </a:r>
          </a:p>
          <a:p>
            <a:pPr eaLnBrk="1" hangingPunct="1"/>
            <a:endParaRPr lang="en-US" dirty="0"/>
          </a:p>
          <a:p>
            <a:pPr lvl="1" eaLnBrk="1" hangingPunct="1"/>
            <a:r>
              <a:rPr lang="en-US" dirty="0"/>
              <a:t>A TCTO will be replaced with a new TCTO to </a:t>
            </a:r>
          </a:p>
          <a:p>
            <a:pPr lvl="1" eaLnBrk="1" hangingPunct="1"/>
            <a:endParaRPr lang="en-US" dirty="0"/>
          </a:p>
          <a:p>
            <a:pPr lvl="2" eaLnBrk="1" hangingPunct="1"/>
            <a:r>
              <a:rPr lang="en-US" dirty="0"/>
              <a:t>To replace a record TCTO issued to accomplish a prototype/trial installation on a system</a:t>
            </a:r>
          </a:p>
          <a:p>
            <a:pPr eaLnBrk="1" hangingPunct="1"/>
            <a:endParaRPr lang="en-US" dirty="0"/>
          </a:p>
          <a:p>
            <a:pPr eaLnBrk="1" hangingPunct="1"/>
            <a:endParaRPr lang="en-US" dirty="0"/>
          </a:p>
          <a:p>
            <a:pPr eaLnBrk="1" hangingPunct="1"/>
            <a:endParaRPr lang="en-US" dirty="0"/>
          </a:p>
        </p:txBody>
      </p:sp>
      <p:sp>
        <p:nvSpPr>
          <p:cNvPr id="267268" name="Slide Number Placeholder 5"/>
          <p:cNvSpPr>
            <a:spLocks noGrp="1"/>
          </p:cNvSpPr>
          <p:nvPr>
            <p:ph type="sldNum" sz="quarter" idx="10"/>
          </p:nvPr>
        </p:nvSpPr>
        <p:spPr>
          <a:xfrm>
            <a:off x="7239000" y="6519863"/>
            <a:ext cx="1905000" cy="338137"/>
          </a:xfrm>
          <a:noFill/>
        </p:spPr>
        <p:txBody>
          <a:bodyPr/>
          <a:lstStyle/>
          <a:p>
            <a:fld id="{F10E3991-464A-4D9D-AA63-4AF1F521E859}" type="slidenum">
              <a:rPr lang="en-US" smtClean="0"/>
              <a:pPr/>
              <a:t>240</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pPr eaLnBrk="1" hangingPunct="1"/>
            <a:r>
              <a:rPr lang="en-US"/>
              <a:t>TCTO Replacement</a:t>
            </a:r>
          </a:p>
        </p:txBody>
      </p:sp>
      <p:sp>
        <p:nvSpPr>
          <p:cNvPr id="268291" name="Rectangle 3"/>
          <p:cNvSpPr>
            <a:spLocks noGrp="1" noChangeArrowheads="1"/>
          </p:cNvSpPr>
          <p:nvPr>
            <p:ph idx="1"/>
          </p:nvPr>
        </p:nvSpPr>
        <p:spPr/>
        <p:txBody>
          <a:bodyPr/>
          <a:lstStyle/>
          <a:p>
            <a:pPr eaLnBrk="1" hangingPunct="1"/>
            <a:r>
              <a:rPr lang="en-US" dirty="0"/>
              <a:t>TCTO Replacement</a:t>
            </a:r>
          </a:p>
          <a:p>
            <a:pPr eaLnBrk="1" hangingPunct="1"/>
            <a:r>
              <a:rPr lang="en-US" dirty="0"/>
              <a:t>Replacement TCTO may be issued to:</a:t>
            </a:r>
          </a:p>
          <a:p>
            <a:pPr eaLnBrk="1" hangingPunct="1"/>
            <a:endParaRPr lang="en-US" dirty="0"/>
          </a:p>
          <a:p>
            <a:pPr lvl="1" eaLnBrk="1" hangingPunct="1"/>
            <a:r>
              <a:rPr lang="en-US" dirty="0"/>
              <a:t>Cover the entire system or commodity population</a:t>
            </a:r>
          </a:p>
          <a:p>
            <a:pPr lvl="1" eaLnBrk="1" hangingPunct="1"/>
            <a:endParaRPr lang="en-US" dirty="0"/>
          </a:p>
          <a:p>
            <a:pPr lvl="1" eaLnBrk="1" hangingPunct="1"/>
            <a:r>
              <a:rPr lang="en-US" dirty="0"/>
              <a:t>Or the record TCTO can become a replacement by:</a:t>
            </a:r>
          </a:p>
          <a:p>
            <a:pPr marL="447675" lvl="1" indent="0" eaLnBrk="1" hangingPunct="1">
              <a:buNone/>
            </a:pPr>
            <a:endParaRPr lang="en-US" dirty="0"/>
          </a:p>
          <a:p>
            <a:pPr lvl="2" eaLnBrk="1" hangingPunct="1"/>
            <a:r>
              <a:rPr lang="en-US" dirty="0"/>
              <a:t>  Issuing a Supplement that adds any information required</a:t>
            </a:r>
          </a:p>
          <a:p>
            <a:pPr lvl="2" eaLnBrk="1" hangingPunct="1"/>
            <a:r>
              <a:rPr lang="en-US" dirty="0"/>
              <a:t>  If a supplement is issued, the TCTO Number and data code</a:t>
            </a:r>
          </a:p>
          <a:p>
            <a:pPr lvl="2" eaLnBrk="1" hangingPunct="1">
              <a:buFont typeface="Times New Roman" pitchFamily="18" charset="0"/>
              <a:buNone/>
            </a:pPr>
            <a:r>
              <a:rPr lang="en-US" dirty="0"/>
              <a:t>    remain the same</a:t>
            </a:r>
          </a:p>
          <a:p>
            <a:pPr eaLnBrk="1" hangingPunct="1">
              <a:buFont typeface="Wingdings" pitchFamily="2" charset="2"/>
              <a:buNone/>
            </a:pPr>
            <a:endParaRPr lang="en-US" dirty="0"/>
          </a:p>
          <a:p>
            <a:pPr eaLnBrk="1" hangingPunct="1"/>
            <a:endParaRPr lang="en-US" dirty="0"/>
          </a:p>
          <a:p>
            <a:pPr eaLnBrk="1" hangingPunct="1"/>
            <a:endParaRPr lang="en-US" dirty="0"/>
          </a:p>
          <a:p>
            <a:pPr eaLnBrk="1" hangingPunct="1"/>
            <a:endParaRPr lang="en-US" dirty="0"/>
          </a:p>
        </p:txBody>
      </p:sp>
      <p:sp>
        <p:nvSpPr>
          <p:cNvPr id="268292" name="Slide Number Placeholder 5"/>
          <p:cNvSpPr>
            <a:spLocks noGrp="1"/>
          </p:cNvSpPr>
          <p:nvPr>
            <p:ph type="sldNum" sz="quarter" idx="10"/>
          </p:nvPr>
        </p:nvSpPr>
        <p:spPr>
          <a:xfrm>
            <a:off x="7239000" y="6519863"/>
            <a:ext cx="1905000" cy="338137"/>
          </a:xfrm>
          <a:noFill/>
        </p:spPr>
        <p:txBody>
          <a:bodyPr/>
          <a:lstStyle/>
          <a:p>
            <a:fld id="{E2AFC2F5-DEF5-4993-A665-FEF780E7AA6B}" type="slidenum">
              <a:rPr lang="en-US" smtClean="0"/>
              <a:pPr/>
              <a:t>241</a:t>
            </a:fld>
            <a:endParaRPr lang="en-US"/>
          </a:p>
        </p:txBody>
      </p:sp>
    </p:spTree>
  </p:cSld>
  <p:clrMapOvr>
    <a:masterClrMapping/>
  </p:clrMapOvr>
  <p:transition/>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pPr eaLnBrk="1" hangingPunct="1"/>
            <a:r>
              <a:rPr lang="en-US"/>
              <a:t>TCTO Replacement</a:t>
            </a:r>
          </a:p>
        </p:txBody>
      </p:sp>
      <p:sp>
        <p:nvSpPr>
          <p:cNvPr id="269315" name="Rectangle 3"/>
          <p:cNvSpPr>
            <a:spLocks noGrp="1" noChangeArrowheads="1"/>
          </p:cNvSpPr>
          <p:nvPr>
            <p:ph idx="1"/>
          </p:nvPr>
        </p:nvSpPr>
        <p:spPr/>
        <p:txBody>
          <a:bodyPr/>
          <a:lstStyle/>
          <a:p>
            <a:pPr eaLnBrk="1" hangingPunct="1"/>
            <a:r>
              <a:rPr lang="en-US" dirty="0"/>
              <a:t>TCTO Replacement</a:t>
            </a:r>
          </a:p>
          <a:p>
            <a:pPr marL="0" indent="0" eaLnBrk="1" hangingPunct="1">
              <a:buNone/>
            </a:pPr>
            <a:endParaRPr lang="en-US" dirty="0"/>
          </a:p>
          <a:p>
            <a:pPr lvl="1" eaLnBrk="1" hangingPunct="1"/>
            <a:r>
              <a:rPr lang="en-US" dirty="0"/>
              <a:t>When it is necessary to replace a TCTO </a:t>
            </a:r>
          </a:p>
          <a:p>
            <a:pPr eaLnBrk="1" hangingPunct="1"/>
            <a:endParaRPr lang="en-US" dirty="0"/>
          </a:p>
          <a:p>
            <a:pPr lvl="2" eaLnBrk="1" hangingPunct="1"/>
            <a:r>
              <a:rPr lang="en-US" dirty="0"/>
              <a:t>  The replacement TCTO Will be assigned a new:</a:t>
            </a:r>
          </a:p>
          <a:p>
            <a:pPr lvl="3" eaLnBrk="1" hangingPunct="1"/>
            <a:r>
              <a:rPr lang="en-US" dirty="0"/>
              <a:t>TCTO number</a:t>
            </a:r>
          </a:p>
          <a:p>
            <a:pPr lvl="3" eaLnBrk="1" hangingPunct="1"/>
            <a:r>
              <a:rPr lang="en-US" dirty="0"/>
              <a:t>Data code</a:t>
            </a:r>
          </a:p>
          <a:p>
            <a:pPr lvl="3" eaLnBrk="1" hangingPunct="1"/>
            <a:r>
              <a:rPr lang="en-US" dirty="0"/>
              <a:t>Issue date</a:t>
            </a:r>
          </a:p>
          <a:p>
            <a:pPr lvl="3" eaLnBrk="1" hangingPunct="1"/>
            <a:r>
              <a:rPr lang="en-US" dirty="0"/>
              <a:t>Rescission date</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p:txBody>
      </p:sp>
      <p:sp>
        <p:nvSpPr>
          <p:cNvPr id="269316" name="Slide Number Placeholder 5"/>
          <p:cNvSpPr>
            <a:spLocks noGrp="1"/>
          </p:cNvSpPr>
          <p:nvPr>
            <p:ph type="sldNum" sz="quarter" idx="10"/>
          </p:nvPr>
        </p:nvSpPr>
        <p:spPr>
          <a:xfrm>
            <a:off x="7239000" y="6519863"/>
            <a:ext cx="1905000" cy="338137"/>
          </a:xfrm>
          <a:noFill/>
        </p:spPr>
        <p:txBody>
          <a:bodyPr/>
          <a:lstStyle/>
          <a:p>
            <a:fld id="{B700F042-286C-434A-9696-4FC5220616E3}" type="slidenum">
              <a:rPr lang="en-US" smtClean="0"/>
              <a:pPr/>
              <a:t>242</a:t>
            </a:fld>
            <a:endParaRPr lang="en-US"/>
          </a:p>
        </p:txBody>
      </p:sp>
    </p:spTree>
  </p:cSld>
  <p:clrMapOvr>
    <a:masterClrMapping/>
  </p:clrMapOvr>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pPr eaLnBrk="1" hangingPunct="1"/>
            <a:r>
              <a:rPr lang="en-US"/>
              <a:t>TCTO Replacement</a:t>
            </a:r>
          </a:p>
        </p:txBody>
      </p:sp>
      <p:sp>
        <p:nvSpPr>
          <p:cNvPr id="270339" name="Rectangle 3"/>
          <p:cNvSpPr>
            <a:spLocks noGrp="1" noChangeArrowheads="1"/>
          </p:cNvSpPr>
          <p:nvPr>
            <p:ph idx="1"/>
          </p:nvPr>
        </p:nvSpPr>
        <p:spPr/>
        <p:txBody>
          <a:bodyPr/>
          <a:lstStyle/>
          <a:p>
            <a:pPr eaLnBrk="1" hangingPunct="1"/>
            <a:r>
              <a:rPr lang="en-US" dirty="0"/>
              <a:t>TCTO Replacement</a:t>
            </a:r>
          </a:p>
          <a:p>
            <a:pPr marL="0" indent="0" eaLnBrk="1" hangingPunct="1">
              <a:buNone/>
            </a:pPr>
            <a:endParaRPr lang="en-US" dirty="0"/>
          </a:p>
          <a:p>
            <a:pPr lvl="1" eaLnBrk="1" hangingPunct="1"/>
            <a:r>
              <a:rPr lang="en-US" dirty="0"/>
              <a:t>When it is necessary to replace a TCTO </a:t>
            </a:r>
          </a:p>
          <a:p>
            <a:pPr eaLnBrk="1" hangingPunct="1"/>
            <a:endParaRPr lang="en-US" dirty="0"/>
          </a:p>
          <a:p>
            <a:pPr lvl="2" eaLnBrk="1" hangingPunct="1"/>
            <a:r>
              <a:rPr lang="en-US" dirty="0"/>
              <a:t>  Replacement TCTOs will:</a:t>
            </a:r>
          </a:p>
          <a:p>
            <a:pPr lvl="3" eaLnBrk="1" hangingPunct="1"/>
            <a:r>
              <a:rPr lang="en-US" dirty="0"/>
              <a:t>Identify the original TCTO</a:t>
            </a:r>
          </a:p>
          <a:p>
            <a:pPr lvl="3" eaLnBrk="1" hangingPunct="1"/>
            <a:r>
              <a:rPr lang="en-US" dirty="0"/>
              <a:t>List any kits remaining in supply under the original kit number</a:t>
            </a:r>
          </a:p>
          <a:p>
            <a:pPr eaLnBrk="1" hangingPunct="1"/>
            <a:endParaRPr lang="en-US" dirty="0"/>
          </a:p>
          <a:p>
            <a:pPr eaLnBrk="1" hangingPunct="1">
              <a:buFont typeface="Wingdings" pitchFamily="2" charset="2"/>
              <a:buNone/>
            </a:pPr>
            <a:endParaRPr lang="en-US" dirty="0"/>
          </a:p>
          <a:p>
            <a:pPr eaLnBrk="1" hangingPunct="1"/>
            <a:endParaRPr lang="en-US" dirty="0"/>
          </a:p>
          <a:p>
            <a:pPr eaLnBrk="1" hangingPunct="1"/>
            <a:endParaRPr lang="en-US" dirty="0"/>
          </a:p>
          <a:p>
            <a:pPr eaLnBrk="1" hangingPunct="1"/>
            <a:endParaRPr lang="en-US" dirty="0"/>
          </a:p>
        </p:txBody>
      </p:sp>
      <p:sp>
        <p:nvSpPr>
          <p:cNvPr id="270340" name="Slide Number Placeholder 5"/>
          <p:cNvSpPr>
            <a:spLocks noGrp="1"/>
          </p:cNvSpPr>
          <p:nvPr>
            <p:ph type="sldNum" sz="quarter" idx="10"/>
          </p:nvPr>
        </p:nvSpPr>
        <p:spPr>
          <a:xfrm>
            <a:off x="7239000" y="6519863"/>
            <a:ext cx="1905000" cy="338137"/>
          </a:xfrm>
          <a:noFill/>
        </p:spPr>
        <p:txBody>
          <a:bodyPr/>
          <a:lstStyle/>
          <a:p>
            <a:fld id="{D328B540-194D-4AC3-B6E5-76A8E0E9E8E9}" type="slidenum">
              <a:rPr lang="en-US" smtClean="0"/>
              <a:pPr/>
              <a:t>243</a:t>
            </a:fld>
            <a:endParaRPr lang="en-US"/>
          </a:p>
        </p:txBody>
      </p:sp>
    </p:spTree>
  </p:cSld>
  <p:clrMapOvr>
    <a:masterClrMapping/>
  </p:clrMapOvr>
  <p:transition/>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pPr eaLnBrk="1" hangingPunct="1"/>
            <a:r>
              <a:rPr lang="en-US"/>
              <a:t>TCTO Replacement</a:t>
            </a:r>
          </a:p>
        </p:txBody>
      </p:sp>
      <p:sp>
        <p:nvSpPr>
          <p:cNvPr id="271363" name="Rectangle 3"/>
          <p:cNvSpPr>
            <a:spLocks noGrp="1" noChangeArrowheads="1"/>
          </p:cNvSpPr>
          <p:nvPr>
            <p:ph idx="1"/>
          </p:nvPr>
        </p:nvSpPr>
        <p:spPr/>
        <p:txBody>
          <a:bodyPr/>
          <a:lstStyle/>
          <a:p>
            <a:pPr eaLnBrk="1" hangingPunct="1"/>
            <a:r>
              <a:rPr lang="en-US" dirty="0"/>
              <a:t>TCTO Replacement</a:t>
            </a:r>
          </a:p>
          <a:p>
            <a:pPr eaLnBrk="1" hangingPunct="1"/>
            <a:endParaRPr lang="en-US" dirty="0"/>
          </a:p>
          <a:p>
            <a:pPr lvl="1" eaLnBrk="1" hangingPunct="1"/>
            <a:r>
              <a:rPr lang="en-US" dirty="0"/>
              <a:t>Replacement TCTO will include:</a:t>
            </a:r>
          </a:p>
          <a:p>
            <a:pPr eaLnBrk="1" hangingPunct="1"/>
            <a:endParaRPr lang="en-US" dirty="0"/>
          </a:p>
          <a:p>
            <a:pPr lvl="2" eaLnBrk="1" hangingPunct="1"/>
            <a:r>
              <a:rPr lang="en-US" dirty="0"/>
              <a:t>  All applicable information from existing Supplements</a:t>
            </a:r>
          </a:p>
          <a:p>
            <a:pPr lvl="2" eaLnBrk="1" hangingPunct="1"/>
            <a:r>
              <a:rPr lang="en-US" dirty="0"/>
              <a:t>  Black line symbols indicating authorized changes to the</a:t>
            </a:r>
          </a:p>
          <a:p>
            <a:pPr marL="852488" lvl="2" indent="0" eaLnBrk="1" hangingPunct="1">
              <a:buNone/>
            </a:pPr>
            <a:r>
              <a:rPr lang="en-US" dirty="0"/>
              <a:t>    replacement  TCTO</a:t>
            </a:r>
          </a:p>
          <a:p>
            <a:pPr eaLnBrk="1" hangingPunct="1"/>
            <a:endParaRPr lang="en-US" dirty="0"/>
          </a:p>
          <a:p>
            <a:pPr eaLnBrk="1" hangingPunct="1"/>
            <a:endParaRPr lang="en-US" dirty="0"/>
          </a:p>
          <a:p>
            <a:pPr eaLnBrk="1" hangingPunct="1">
              <a:buFont typeface="Wingdings" pitchFamily="2" charset="2"/>
              <a:buNone/>
            </a:pPr>
            <a:r>
              <a:rPr lang="en-US" dirty="0"/>
              <a:t>  </a:t>
            </a:r>
          </a:p>
          <a:p>
            <a:pPr eaLnBrk="1" hangingPunct="1"/>
            <a:endParaRPr lang="en-US" dirty="0"/>
          </a:p>
          <a:p>
            <a:pPr eaLnBrk="1" hangingPunct="1"/>
            <a:endParaRPr lang="en-US" dirty="0"/>
          </a:p>
          <a:p>
            <a:pPr eaLnBrk="1" hangingPunct="1"/>
            <a:endParaRPr lang="en-US" dirty="0"/>
          </a:p>
        </p:txBody>
      </p:sp>
      <p:sp>
        <p:nvSpPr>
          <p:cNvPr id="271364" name="Slide Number Placeholder 5"/>
          <p:cNvSpPr>
            <a:spLocks noGrp="1"/>
          </p:cNvSpPr>
          <p:nvPr>
            <p:ph type="sldNum" sz="quarter" idx="10"/>
          </p:nvPr>
        </p:nvSpPr>
        <p:spPr>
          <a:xfrm>
            <a:off x="7239000" y="6519863"/>
            <a:ext cx="1905000" cy="338137"/>
          </a:xfrm>
          <a:noFill/>
        </p:spPr>
        <p:txBody>
          <a:bodyPr/>
          <a:lstStyle/>
          <a:p>
            <a:fld id="{7AFE303F-F713-47CB-9BC8-8FC2EF6F95D0}" type="slidenum">
              <a:rPr lang="en-US" smtClean="0"/>
              <a:pPr/>
              <a:t>244</a:t>
            </a:fld>
            <a:endParaRPr lang="en-US"/>
          </a:p>
        </p:txBody>
      </p:sp>
    </p:spTree>
  </p:cSld>
  <p:clrMapOvr>
    <a:masterClrMapping/>
  </p:clrMapOvr>
  <p:transition/>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pPr eaLnBrk="1" hangingPunct="1"/>
            <a:r>
              <a:rPr lang="en-US"/>
              <a:t>TCTO Types, Verification, Completion, and Rescission</a:t>
            </a:r>
          </a:p>
        </p:txBody>
      </p:sp>
      <p:sp>
        <p:nvSpPr>
          <p:cNvPr id="272387" name="Rectangle 3"/>
          <p:cNvSpPr>
            <a:spLocks noGrp="1" noChangeArrowheads="1"/>
          </p:cNvSpPr>
          <p:nvPr>
            <p:ph idx="1"/>
          </p:nvPr>
        </p:nvSpPr>
        <p:spPr>
          <a:xfrm>
            <a:off x="304800" y="1447800"/>
            <a:ext cx="8131175" cy="3576637"/>
          </a:xfrm>
        </p:spPr>
        <p:txBody>
          <a:bodyPr/>
          <a:lstStyle/>
          <a:p>
            <a:pPr eaLnBrk="1" hangingPunct="1"/>
            <a:r>
              <a:rPr lang="en-US" dirty="0"/>
              <a:t>CHAPTER 3 SUMMARY</a:t>
            </a:r>
          </a:p>
          <a:p>
            <a:pPr eaLnBrk="1" hangingPunct="1"/>
            <a:endParaRPr lang="en-US" dirty="0"/>
          </a:p>
          <a:p>
            <a:pPr eaLnBrk="1" hangingPunct="1"/>
            <a:r>
              <a:rPr lang="en-US" dirty="0"/>
              <a:t>Identify the policy and procedures for temporary modifications</a:t>
            </a:r>
          </a:p>
          <a:p>
            <a:pPr eaLnBrk="1" hangingPunct="1"/>
            <a:r>
              <a:rPr lang="en-US" dirty="0"/>
              <a:t>Define the category, type, and levels of permanent modifications</a:t>
            </a:r>
          </a:p>
          <a:p>
            <a:pPr eaLnBrk="1" hangingPunct="1"/>
            <a:r>
              <a:rPr lang="en-US" dirty="0"/>
              <a:t>Determine the TCTO designated level of accomplishment </a:t>
            </a:r>
          </a:p>
          <a:p>
            <a:pPr eaLnBrk="1" hangingPunct="1"/>
            <a:r>
              <a:rPr lang="en-US" dirty="0"/>
              <a:t>Identify TCTO validity requirements</a:t>
            </a:r>
          </a:p>
          <a:p>
            <a:pPr eaLnBrk="1" hangingPunct="1"/>
            <a:endParaRPr lang="en-US" dirty="0"/>
          </a:p>
        </p:txBody>
      </p:sp>
      <p:sp>
        <p:nvSpPr>
          <p:cNvPr id="272388" name="Slide Number Placeholder 5"/>
          <p:cNvSpPr>
            <a:spLocks noGrp="1"/>
          </p:cNvSpPr>
          <p:nvPr>
            <p:ph type="sldNum" sz="quarter" idx="10"/>
          </p:nvPr>
        </p:nvSpPr>
        <p:spPr>
          <a:xfrm>
            <a:off x="7239000" y="6519863"/>
            <a:ext cx="1905000" cy="338137"/>
          </a:xfrm>
          <a:noFill/>
        </p:spPr>
        <p:txBody>
          <a:bodyPr/>
          <a:lstStyle/>
          <a:p>
            <a:fld id="{F32258C0-5894-4E92-8B22-185B2C518C9B}" type="slidenum">
              <a:rPr lang="en-US" smtClean="0"/>
              <a:pPr/>
              <a:t>245</a:t>
            </a:fld>
            <a:endParaRPr lang="en-US"/>
          </a:p>
        </p:txBody>
      </p:sp>
    </p:spTree>
  </p:cSld>
  <p:clrMapOvr>
    <a:masterClrMapping/>
  </p:clrMapOvr>
  <p:transition/>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pPr eaLnBrk="1" hangingPunct="1"/>
            <a:r>
              <a:rPr lang="en-US"/>
              <a:t>TCTO Types, Verification, Completion, and Rescission</a:t>
            </a:r>
          </a:p>
        </p:txBody>
      </p:sp>
      <p:sp>
        <p:nvSpPr>
          <p:cNvPr id="273411" name="Rectangle 3"/>
          <p:cNvSpPr>
            <a:spLocks noGrp="1" noChangeArrowheads="1"/>
          </p:cNvSpPr>
          <p:nvPr>
            <p:ph idx="1"/>
          </p:nvPr>
        </p:nvSpPr>
        <p:spPr>
          <a:xfrm>
            <a:off x="304800" y="1371600"/>
            <a:ext cx="8686800" cy="5029200"/>
          </a:xfrm>
        </p:spPr>
        <p:txBody>
          <a:bodyPr/>
          <a:lstStyle/>
          <a:p>
            <a:pPr eaLnBrk="1" hangingPunct="1"/>
            <a:r>
              <a:rPr lang="en-US" dirty="0"/>
              <a:t>CHAPTER 3 SUMMARY</a:t>
            </a:r>
          </a:p>
          <a:p>
            <a:pPr eaLnBrk="1" hangingPunct="1"/>
            <a:endParaRPr lang="en-US" dirty="0"/>
          </a:p>
          <a:p>
            <a:pPr eaLnBrk="1" hangingPunct="1"/>
            <a:r>
              <a:rPr lang="en-US" dirty="0"/>
              <a:t>Define the forms that comprise the TCTO package and their purpose</a:t>
            </a:r>
          </a:p>
          <a:p>
            <a:pPr eaLnBrk="1" hangingPunct="1"/>
            <a:r>
              <a:rPr lang="en-US" dirty="0"/>
              <a:t>Identify the procedures for completing a TCTO</a:t>
            </a:r>
          </a:p>
          <a:p>
            <a:pPr eaLnBrk="1" hangingPunct="1"/>
            <a:r>
              <a:rPr lang="en-US" dirty="0"/>
              <a:t>Identify the procedures for rescinding a TCTO</a:t>
            </a:r>
          </a:p>
          <a:p>
            <a:pPr eaLnBrk="1" hangingPunct="1"/>
            <a:r>
              <a:rPr lang="en-US" dirty="0"/>
              <a:t>Identify the procedures for replacing a TCTO</a:t>
            </a:r>
          </a:p>
          <a:p>
            <a:pPr eaLnBrk="1" hangingPunct="1"/>
            <a:r>
              <a:rPr lang="en-US" dirty="0"/>
              <a:t>QUESTIONS?</a:t>
            </a:r>
          </a:p>
        </p:txBody>
      </p:sp>
      <p:sp>
        <p:nvSpPr>
          <p:cNvPr id="273412" name="Slide Number Placeholder 5"/>
          <p:cNvSpPr>
            <a:spLocks noGrp="1"/>
          </p:cNvSpPr>
          <p:nvPr>
            <p:ph type="sldNum" sz="quarter" idx="10"/>
          </p:nvPr>
        </p:nvSpPr>
        <p:spPr>
          <a:xfrm>
            <a:off x="7239000" y="6519863"/>
            <a:ext cx="1905000" cy="338137"/>
          </a:xfrm>
          <a:noFill/>
        </p:spPr>
        <p:txBody>
          <a:bodyPr/>
          <a:lstStyle/>
          <a:p>
            <a:fld id="{2D0E0632-FB60-4D64-B719-EA9C2F6949DA}" type="slidenum">
              <a:rPr lang="en-US" smtClean="0"/>
              <a:pPr/>
              <a:t>246</a:t>
            </a:fld>
            <a:endParaRPr lang="en-US"/>
          </a:p>
        </p:txBody>
      </p:sp>
    </p:spTree>
  </p:cSld>
  <p:clrMapOvr>
    <a:masterClrMapping/>
  </p:clrMapOvr>
  <p:transition/>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pPr eaLnBrk="1" hangingPunct="1"/>
            <a:r>
              <a:rPr lang="en-US"/>
              <a:t>Chapter 4</a:t>
            </a:r>
          </a:p>
        </p:txBody>
      </p:sp>
      <p:sp>
        <p:nvSpPr>
          <p:cNvPr id="274435" name="Rectangle 3"/>
          <p:cNvSpPr>
            <a:spLocks noGrp="1" noChangeArrowheads="1"/>
          </p:cNvSpPr>
          <p:nvPr>
            <p:ph idx="1"/>
          </p:nvPr>
        </p:nvSpPr>
        <p:spPr>
          <a:xfrm>
            <a:off x="838200" y="1524000"/>
            <a:ext cx="7772400" cy="4114800"/>
          </a:xfrm>
        </p:spPr>
        <p:txBody>
          <a:bodyPr/>
          <a:lstStyle/>
          <a:p>
            <a:pPr eaLnBrk="1" hangingPunct="1">
              <a:buFontTx/>
              <a:buNone/>
            </a:pPr>
            <a:endParaRPr lang="en-US" b="1" dirty="0"/>
          </a:p>
          <a:p>
            <a:pPr eaLnBrk="1" hangingPunct="1">
              <a:buFontTx/>
              <a:buNone/>
            </a:pPr>
            <a:endParaRPr lang="en-US" b="1" dirty="0"/>
          </a:p>
          <a:p>
            <a:pPr eaLnBrk="1" hangingPunct="1">
              <a:buFontTx/>
              <a:buNone/>
            </a:pPr>
            <a:endParaRPr lang="en-US" b="1" dirty="0"/>
          </a:p>
          <a:p>
            <a:pPr algn="ctr" eaLnBrk="1" hangingPunct="1">
              <a:buFontTx/>
              <a:buNone/>
            </a:pPr>
            <a:r>
              <a:rPr lang="en-US" sz="4400" b="1" dirty="0"/>
              <a:t>Walk-Thru Exercise</a:t>
            </a:r>
          </a:p>
        </p:txBody>
      </p:sp>
      <p:sp>
        <p:nvSpPr>
          <p:cNvPr id="274436" name="Slide Number Placeholder 5"/>
          <p:cNvSpPr>
            <a:spLocks noGrp="1"/>
          </p:cNvSpPr>
          <p:nvPr>
            <p:ph type="sldNum" sz="quarter" idx="10"/>
          </p:nvPr>
        </p:nvSpPr>
        <p:spPr>
          <a:noFill/>
        </p:spPr>
        <p:txBody>
          <a:bodyPr/>
          <a:lstStyle/>
          <a:p>
            <a:fld id="{6769D2FD-B95E-44E1-B3C0-E3950BCDF775}" type="slidenum">
              <a:rPr lang="en-US" smtClean="0"/>
              <a:pPr/>
              <a:t>247</a:t>
            </a:fld>
            <a:endParaRPr lang="en-US"/>
          </a:p>
        </p:txBody>
      </p:sp>
    </p:spTree>
  </p:cSld>
  <p:clrMapOvr>
    <a:masterClrMapping/>
  </p:clrMapOvr>
  <p:transition/>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lstStyle/>
          <a:p>
            <a:pPr eaLnBrk="1" hangingPunct="1"/>
            <a:r>
              <a:rPr lang="en-US" dirty="0"/>
              <a:t>Walk-Thru Exercise</a:t>
            </a:r>
          </a:p>
        </p:txBody>
      </p:sp>
      <p:sp>
        <p:nvSpPr>
          <p:cNvPr id="275459" name="Rectangle 3"/>
          <p:cNvSpPr>
            <a:spLocks noGrp="1" noChangeArrowheads="1"/>
          </p:cNvSpPr>
          <p:nvPr>
            <p:ph idx="1"/>
          </p:nvPr>
        </p:nvSpPr>
        <p:spPr/>
        <p:txBody>
          <a:bodyPr/>
          <a:lstStyle/>
          <a:p>
            <a:pPr eaLnBrk="1" hangingPunct="1"/>
            <a:r>
              <a:rPr lang="en-US" dirty="0"/>
              <a:t>CHAPTER 4 OBJECTIVES</a:t>
            </a:r>
          </a:p>
          <a:p>
            <a:pPr eaLnBrk="1" hangingPunct="1"/>
            <a:r>
              <a:rPr lang="en-US" dirty="0"/>
              <a:t>Instructor lead</a:t>
            </a:r>
          </a:p>
          <a:p>
            <a:pPr eaLnBrk="1" hangingPunct="1"/>
            <a:r>
              <a:rPr lang="en-US" dirty="0"/>
              <a:t>AFTO Form 873 completion by block-by-block walk-thru</a:t>
            </a:r>
          </a:p>
          <a:p>
            <a:pPr eaLnBrk="1" hangingPunct="1"/>
            <a:r>
              <a:rPr lang="en-US" dirty="0"/>
              <a:t>AFTO</a:t>
            </a:r>
            <a:r>
              <a:rPr lang="en-US" dirty="0">
                <a:solidFill>
                  <a:srgbClr val="FF0000"/>
                </a:solidFill>
              </a:rPr>
              <a:t> </a:t>
            </a:r>
            <a:r>
              <a:rPr lang="en-US" dirty="0"/>
              <a:t>Form 874 completion by block-by-block walk-thru</a:t>
            </a:r>
          </a:p>
          <a:p>
            <a:pPr eaLnBrk="1" hangingPunct="1"/>
            <a:r>
              <a:rPr lang="en-US" dirty="0"/>
              <a:t>AFTO</a:t>
            </a:r>
            <a:r>
              <a:rPr lang="en-US" dirty="0">
                <a:solidFill>
                  <a:srgbClr val="FF0000"/>
                </a:solidFill>
              </a:rPr>
              <a:t> </a:t>
            </a:r>
            <a:r>
              <a:rPr lang="en-US" dirty="0"/>
              <a:t>Form 875 completion by block-by-block walk-thru</a:t>
            </a:r>
          </a:p>
          <a:p>
            <a:pPr eaLnBrk="1" hangingPunct="1"/>
            <a:r>
              <a:rPr lang="en-US" dirty="0"/>
              <a:t>AFTO Form 82 completion by block-by-block walk-thru</a:t>
            </a:r>
          </a:p>
        </p:txBody>
      </p:sp>
      <p:sp>
        <p:nvSpPr>
          <p:cNvPr id="275460" name="Slide Number Placeholder 5"/>
          <p:cNvSpPr>
            <a:spLocks noGrp="1"/>
          </p:cNvSpPr>
          <p:nvPr>
            <p:ph type="sldNum" sz="quarter" idx="10"/>
          </p:nvPr>
        </p:nvSpPr>
        <p:spPr>
          <a:xfrm>
            <a:off x="7239000" y="6519863"/>
            <a:ext cx="1905000" cy="338137"/>
          </a:xfrm>
          <a:noFill/>
        </p:spPr>
        <p:txBody>
          <a:bodyPr/>
          <a:lstStyle/>
          <a:p>
            <a:fld id="{BB4537BA-4725-4768-834D-37F792CE2179}" type="slidenum">
              <a:rPr lang="en-US" smtClean="0"/>
              <a:pPr/>
              <a:t>248</a:t>
            </a:fld>
            <a:endParaRPr lang="en-US"/>
          </a:p>
        </p:txBody>
      </p:sp>
    </p:spTree>
  </p:cSld>
  <p:clrMapOvr>
    <a:masterClrMapping/>
  </p:clrMapOvr>
  <p:transition/>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pPr eaLnBrk="1" hangingPunct="1"/>
            <a:r>
              <a:rPr lang="en-US"/>
              <a:t>Walk-Thru </a:t>
            </a:r>
            <a:r>
              <a:rPr lang="en-US" dirty="0"/>
              <a:t>Exercise</a:t>
            </a:r>
          </a:p>
        </p:txBody>
      </p:sp>
      <p:sp>
        <p:nvSpPr>
          <p:cNvPr id="283651" name="Rectangle 3"/>
          <p:cNvSpPr>
            <a:spLocks noGrp="1" noChangeArrowheads="1"/>
          </p:cNvSpPr>
          <p:nvPr>
            <p:ph idx="1"/>
          </p:nvPr>
        </p:nvSpPr>
        <p:spPr>
          <a:xfrm>
            <a:off x="304800" y="1447800"/>
            <a:ext cx="8686800" cy="4953000"/>
          </a:xfrm>
        </p:spPr>
        <p:txBody>
          <a:bodyPr/>
          <a:lstStyle/>
          <a:p>
            <a:pPr eaLnBrk="1" hangingPunct="1"/>
            <a:r>
              <a:rPr lang="en-US" dirty="0"/>
              <a:t>CHAPTER 4 SUMMARY</a:t>
            </a:r>
          </a:p>
          <a:p>
            <a:pPr eaLnBrk="1" hangingPunct="1"/>
            <a:endParaRPr lang="en-US" dirty="0"/>
          </a:p>
          <a:p>
            <a:pPr eaLnBrk="1" hangingPunct="1"/>
            <a:r>
              <a:rPr lang="en-US" dirty="0"/>
              <a:t>1.  AFTO Form 873 completion by block-by-block walk-thru</a:t>
            </a:r>
          </a:p>
          <a:p>
            <a:pPr eaLnBrk="1" hangingPunct="1"/>
            <a:r>
              <a:rPr lang="en-US" dirty="0"/>
              <a:t>2.  AFTO Form 874 completion by block-by-block walk-thru</a:t>
            </a:r>
          </a:p>
          <a:p>
            <a:pPr eaLnBrk="1" hangingPunct="1"/>
            <a:r>
              <a:rPr lang="en-US" dirty="0"/>
              <a:t>3.  AFTO Form 875 completion by block-by-block walk-thru</a:t>
            </a:r>
          </a:p>
          <a:p>
            <a:pPr eaLnBrk="1" hangingPunct="1"/>
            <a:r>
              <a:rPr lang="en-US" dirty="0"/>
              <a:t>4.  AFTO Form 82 completion by block-by-block walk-thru</a:t>
            </a:r>
          </a:p>
          <a:p>
            <a:pPr marL="0" indent="0" eaLnBrk="1" hangingPunct="1">
              <a:buNone/>
            </a:pPr>
            <a:endParaRPr lang="en-US" dirty="0"/>
          </a:p>
        </p:txBody>
      </p:sp>
      <p:sp>
        <p:nvSpPr>
          <p:cNvPr id="283652" name="Slide Number Placeholder 5"/>
          <p:cNvSpPr>
            <a:spLocks noGrp="1"/>
          </p:cNvSpPr>
          <p:nvPr>
            <p:ph type="sldNum" sz="quarter" idx="10"/>
          </p:nvPr>
        </p:nvSpPr>
        <p:spPr>
          <a:xfrm>
            <a:off x="7239000" y="6519863"/>
            <a:ext cx="1905000" cy="338137"/>
          </a:xfrm>
          <a:noFill/>
        </p:spPr>
        <p:txBody>
          <a:bodyPr/>
          <a:lstStyle/>
          <a:p>
            <a:fld id="{C2EF8206-92E3-4733-B125-2176B161FC99}" type="slidenum">
              <a:rPr lang="en-US" smtClean="0"/>
              <a:pPr/>
              <a:t>249</a:t>
            </a:fld>
            <a:endParaRPr lang="en-US"/>
          </a:p>
        </p:txBody>
      </p:sp>
    </p:spTree>
  </p:cSld>
  <p:clrMapOvr>
    <a:masterClrMapping/>
  </p:clrMapOvr>
  <p:transition/>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pPr eaLnBrk="1" hangingPunct="1"/>
            <a:r>
              <a:rPr lang="en-US" dirty="0"/>
              <a:t>Walk-Thru Exercise</a:t>
            </a:r>
          </a:p>
        </p:txBody>
      </p:sp>
      <p:sp>
        <p:nvSpPr>
          <p:cNvPr id="283651" name="Rectangle 3"/>
          <p:cNvSpPr>
            <a:spLocks noGrp="1" noChangeArrowheads="1"/>
          </p:cNvSpPr>
          <p:nvPr>
            <p:ph idx="1"/>
          </p:nvPr>
        </p:nvSpPr>
        <p:spPr>
          <a:xfrm>
            <a:off x="228600" y="1327150"/>
            <a:ext cx="8686800" cy="4953000"/>
          </a:xfrm>
        </p:spPr>
        <p:txBody>
          <a:bodyPr/>
          <a:lstStyle/>
          <a:p>
            <a:pPr eaLnBrk="1" hangingPunct="1"/>
            <a:endParaRPr lang="en-US" dirty="0"/>
          </a:p>
          <a:p>
            <a:pPr marL="0" indent="0" eaLnBrk="1" hangingPunct="1">
              <a:buNone/>
            </a:pPr>
            <a:r>
              <a:rPr lang="en-US" dirty="0"/>
              <a:t>			     </a:t>
            </a:r>
          </a:p>
          <a:p>
            <a:pPr marL="0" indent="0" eaLnBrk="1" hangingPunct="1">
              <a:buNone/>
            </a:pPr>
            <a:endParaRPr lang="en-US" dirty="0"/>
          </a:p>
          <a:p>
            <a:pPr marL="0" indent="0" eaLnBrk="1" hangingPunct="1">
              <a:buNone/>
            </a:pPr>
            <a:endParaRPr lang="en-US" dirty="0"/>
          </a:p>
          <a:p>
            <a:pPr marL="0" indent="0" eaLnBrk="1" hangingPunct="1">
              <a:buNone/>
            </a:pPr>
            <a:r>
              <a:rPr lang="en-US" dirty="0"/>
              <a:t>		</a:t>
            </a:r>
            <a:r>
              <a:rPr lang="en-US" sz="6000" dirty="0"/>
              <a:t>QUESTIONS?</a:t>
            </a:r>
          </a:p>
          <a:p>
            <a:pPr marL="0" indent="0" eaLnBrk="1" hangingPunct="1">
              <a:buNone/>
            </a:pPr>
            <a:endParaRPr lang="en-US" dirty="0"/>
          </a:p>
        </p:txBody>
      </p:sp>
      <p:sp>
        <p:nvSpPr>
          <p:cNvPr id="283652" name="Slide Number Placeholder 5"/>
          <p:cNvSpPr>
            <a:spLocks noGrp="1"/>
          </p:cNvSpPr>
          <p:nvPr>
            <p:ph type="sldNum" sz="quarter" idx="10"/>
          </p:nvPr>
        </p:nvSpPr>
        <p:spPr>
          <a:xfrm>
            <a:off x="7239000" y="6519863"/>
            <a:ext cx="1905000" cy="338137"/>
          </a:xfrm>
          <a:noFill/>
        </p:spPr>
        <p:txBody>
          <a:bodyPr/>
          <a:lstStyle/>
          <a:p>
            <a:fld id="{C2EF8206-92E3-4733-B125-2176B161FC99}" type="slidenum">
              <a:rPr lang="en-US" smtClean="0"/>
              <a:pPr/>
              <a:t>250</a:t>
            </a:fld>
            <a:endParaRPr lang="en-US"/>
          </a:p>
        </p:txBody>
      </p:sp>
    </p:spTree>
    <p:extLst>
      <p:ext uri="{BB962C8B-B14F-4D97-AF65-F5344CB8AC3E}">
        <p14:creationId xmlns:p14="http://schemas.microsoft.com/office/powerpoint/2010/main" val="388106460"/>
      </p:ext>
    </p:extLst>
  </p:cSld>
  <p:clrMapOvr>
    <a:masterClrMapping/>
  </p:clrMapOvr>
  <p:transition/>
</p:sld>
</file>

<file path=ppt/theme/theme1.xml><?xml version="1.0" encoding="utf-8"?>
<a:theme xmlns:a="http://schemas.openxmlformats.org/drawingml/2006/main" name="New GLSC template">
  <a:themeElements>
    <a:clrScheme name="New GLSC 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New GLSC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57150" cap="flat" cmpd="sng" algn="ctr">
          <a:solidFill>
            <a:schemeClr val="accent2"/>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80000"/>
          </a:lnSpc>
          <a:spcBef>
            <a:spcPct val="0"/>
          </a:spcBef>
          <a:spcAft>
            <a:spcPct val="0"/>
          </a:spcAft>
          <a:buClr>
            <a:srgbClr val="000066"/>
          </a:buClr>
          <a:buSzPct val="80000"/>
          <a:buFont typeface="Wingdings" pitchFamily="2" charset="2"/>
          <a:buChar char="q"/>
          <a:tabLst/>
          <a:defRPr kumimoji="0" lang="en-US" sz="6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57150" cap="flat" cmpd="sng" algn="ctr">
          <a:solidFill>
            <a:schemeClr val="accent2"/>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80000"/>
          </a:lnSpc>
          <a:spcBef>
            <a:spcPct val="0"/>
          </a:spcBef>
          <a:spcAft>
            <a:spcPct val="0"/>
          </a:spcAft>
          <a:buClr>
            <a:srgbClr val="000066"/>
          </a:buClr>
          <a:buSzPct val="80000"/>
          <a:buFont typeface="Wingdings" pitchFamily="2" charset="2"/>
          <a:buChar char="q"/>
          <a:tabLst/>
          <a:defRPr kumimoji="0" lang="en-US" sz="6000" b="0" i="0" u="none" strike="noStrike" cap="none" normalizeH="0" baseline="0" smtClean="0">
            <a:ln>
              <a:noFill/>
            </a:ln>
            <a:solidFill>
              <a:schemeClr val="tx1"/>
            </a:solidFill>
            <a:effectLst/>
            <a:latin typeface="Arial" charset="0"/>
          </a:defRPr>
        </a:defPPr>
      </a:lstStyle>
    </a:lnDef>
  </a:objectDefaults>
  <a:extraClrSchemeLst>
    <a:extraClrScheme>
      <a:clrScheme name="New GLSC 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w GLSC 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ew GLSC 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w GLSC 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w GLSC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w GLSC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ew GLSC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WebsiteURL xmlns="241efbf5-977f-45bd-a626-63ce12c37c50" xsi:nil="true"/>
    <_ExtendedDescription xmlns="http://schemas.microsoft.com/sharepoint/v3" xsi:nil="true"/>
    <Summary xmlns="241efbf5-977f-45bd-a626-63ce12c37c50">This document is a comprehensive training presentation covering the entire lifecycle of Air Force Time Compliance Technical Orders (TCTOs). It is designed as courseware to educate personnel on the policies, procedures, and management actions required to successfully plan, fund, execute, and close out a TCTO.</Summary>
    <InstructorType xmlns="241efbf5-977f-45bd-a626-63ce12c37c50">Equipment Specialist</InstructorTyp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7FEFA47AFEBA94186293892278EA703" ma:contentTypeVersion="13" ma:contentTypeDescription="Create a new document." ma:contentTypeScope="" ma:versionID="d68dd8cbd9329c3d764958c0a488e40f">
  <xsd:schema xmlns:xsd="http://www.w3.org/2001/XMLSchema" xmlns:xs="http://www.w3.org/2001/XMLSchema" xmlns:p="http://schemas.microsoft.com/office/2006/metadata/properties" xmlns:ns1="http://schemas.microsoft.com/sharepoint/v3" xmlns:ns2="241efbf5-977f-45bd-a626-63ce12c37c50" targetNamespace="http://schemas.microsoft.com/office/2006/metadata/properties" ma:root="true" ma:fieldsID="3ac1a5fc10613c8bc94528932b0c09a1" ns1:_="" ns2:_="">
    <xsd:import namespace="http://schemas.microsoft.com/sharepoint/v3"/>
    <xsd:import namespace="241efbf5-977f-45bd-a626-63ce12c37c50"/>
    <xsd:element name="properties">
      <xsd:complexType>
        <xsd:sequence>
          <xsd:element name="documentManagement">
            <xsd:complexType>
              <xsd:all>
                <xsd:element ref="ns2:Summary"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WebsiteURL" minOccurs="0"/>
                <xsd:element ref="ns1:_ExtendedDescription" minOccurs="0"/>
                <xsd:element ref="ns2:Instructor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ExtendedDescription" ma:index="19"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1efbf5-977f-45bd-a626-63ce12c37c50" elementFormDefault="qualified">
    <xsd:import namespace="http://schemas.microsoft.com/office/2006/documentManagement/types"/>
    <xsd:import namespace="http://schemas.microsoft.com/office/infopath/2007/PartnerControls"/>
    <xsd:element name="Summary" ma:index="9" nillable="true" ma:displayName="Summary" ma:format="Dropdown" ma:internalName="Summar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WebsiteURL" ma:index="18" nillable="true" ma:displayName="WebsiteURL" ma:format="Dropdown" ma:internalName="WebsiteURL">
      <xsd:simpleType>
        <xsd:restriction base="dms:Text">
          <xsd:maxLength value="255"/>
        </xsd:restriction>
      </xsd:simpleType>
    </xsd:element>
    <xsd:element name="InstructorType" ma:index="20" nillable="true" ma:displayName="Instructor Type" ma:format="Dropdown" ma:internalName="InstructorType">
      <xsd:simpleType>
        <xsd:restriction base="dms:Choice">
          <xsd:enumeration value="Equipment Specialist"/>
          <xsd:enumeration value="Item Manager"/>
          <xsd:enumeration value="Supply Planner"/>
          <xsd:enumeration value="Materiel Manager"/>
          <xsd:enumeration value="Equipment Specialist &amp; Supply Planner"/>
          <xsd:enumeration value="Al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8"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1D96B6-510D-4711-B52B-AC8E3C4097EB}">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588FF48-2D16-409A-B77F-20A0BFDA1885}"/>
</file>

<file path=customXml/itemProps3.xml><?xml version="1.0" encoding="utf-8"?>
<ds:datastoreItem xmlns:ds="http://schemas.openxmlformats.org/officeDocument/2006/customXml" ds:itemID="{CD52F695-09B0-451A-A33A-ED5B6684321B}">
  <ds:schemaRefs>
    <ds:schemaRef ds:uri="http://schemas.microsoft.com/sharepoint/v3/contenttype/forms"/>
  </ds:schemaRefs>
</ds:datastoreItem>
</file>

<file path=docMetadata/LabelInfo.xml><?xml version="1.0" encoding="utf-8"?>
<clbl:labelList xmlns:clbl="http://schemas.microsoft.com/office/2020/mipLabelMetadata">
  <clbl:label id="{37adc8ff-f4a3-4a14-9c0d-84b4985de0d2}" enabled="1" method="Privileged" siteId="{8331b18d-2d87-48ef-a35f-ac8818ebf9b4}" removed="0"/>
</clbl:labelList>
</file>

<file path=docProps/app.xml><?xml version="1.0" encoding="utf-8"?>
<Properties xmlns="http://schemas.openxmlformats.org/officeDocument/2006/extended-properties" xmlns:vt="http://schemas.openxmlformats.org/officeDocument/2006/docPropsVTypes">
  <Template>Theme1</Template>
  <TotalTime>27101</TotalTime>
  <Words>10936</Words>
  <Application>Microsoft Office PowerPoint</Application>
  <PresentationFormat>On-screen Show (4:3)</PresentationFormat>
  <Paragraphs>2574</Paragraphs>
  <Slides>250</Slides>
  <Notes>23</Notes>
  <HiddenSlides>2</HiddenSlides>
  <MMClips>0</MMClips>
  <ScaleCrop>false</ScaleCrop>
  <HeadingPairs>
    <vt:vector size="4" baseType="variant">
      <vt:variant>
        <vt:lpstr>Theme</vt:lpstr>
      </vt:variant>
      <vt:variant>
        <vt:i4>1</vt:i4>
      </vt:variant>
      <vt:variant>
        <vt:lpstr>Slide Titles</vt:lpstr>
      </vt:variant>
      <vt:variant>
        <vt:i4>250</vt:i4>
      </vt:variant>
    </vt:vector>
  </HeadingPairs>
  <TitlesOfParts>
    <vt:vector size="251" baseType="lpstr">
      <vt:lpstr>New GLSC template</vt:lpstr>
      <vt:lpstr>TIME COMPLIANCE TECHNICAL ORDERS  (TCTOs)       </vt:lpstr>
      <vt:lpstr>Why are we here?</vt:lpstr>
      <vt:lpstr>TCTOs Course Overview</vt:lpstr>
      <vt:lpstr>Evaluations</vt:lpstr>
      <vt:lpstr>Regulations</vt:lpstr>
      <vt:lpstr>Regulations</vt:lpstr>
      <vt:lpstr>Chapter 1</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PowerPoint Presentation</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 TCTO Policy and Procedures </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TCTO Policy and Procedures</vt:lpstr>
      <vt:lpstr>Chapter 2</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TCTO Planning and Funding</vt:lpstr>
      <vt:lpstr>Chapter 3</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Types, Verification, Completion, and Rescission</vt:lpstr>
      <vt:lpstr>TCTO Replacement</vt:lpstr>
      <vt:lpstr>TCTO Replacement</vt:lpstr>
      <vt:lpstr>TCTO Replacement</vt:lpstr>
      <vt:lpstr>TCTO Replacement</vt:lpstr>
      <vt:lpstr>TCTO Replacement</vt:lpstr>
      <vt:lpstr>TCTO Replacement</vt:lpstr>
      <vt:lpstr>TCTO Types, Verification, Completion, and Rescission</vt:lpstr>
      <vt:lpstr>TCTO Types, Verification, Completion, and Rescission</vt:lpstr>
      <vt:lpstr>Chapter 4</vt:lpstr>
      <vt:lpstr>Walk-Thru Exercise</vt:lpstr>
      <vt:lpstr>Walk-Thru Exercise</vt:lpstr>
      <vt:lpstr>Walk-Thru Exercise</vt:lpstr>
    </vt:vector>
  </TitlesOfParts>
  <Company>training and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TCTO Process and Policy Training Course</dc:title>
  <dc:creator>Laurie.Alexander</dc:creator>
  <cp:keywords>TCTO Lifecycle, Configuration Control, Modification Proposal, Kit Proof, Trial Installation, Complete Kit Concept, Rescission, Extension, TCTO Verification, Immediate Action, Urgent Action, Routine Action, Inspection TCTO, Record TCTO, Companion TCTO, Interim TCTO (ITCTO), Supplement, Data Code, National Stock Number (NSN), Funding, Budget Programs (BP), Phased Procurement, Full Funding, TCTO, ECP, CCB, CRB, PMD, SM, TCM, ES, REMIS, GCSAS, NWRM, CPIN, NSN, ODS, HAZMAT, ICD, MNS, PM, PMA, PIWG, DR/MIP, MDS, AFTO Form 873, AFTO Form 874, AFTO Form 875, AFTO Form 82, AFTO Form 872, AF Form 1067, AFMC Form 185, TO 00-5-15, TO 00-5-18, TO 00-5-1, TO 00-5-3, AFI 63-101, AFI 23-101, AFMAN 23-122, AFH 23-123, MIL-DTL-38804F</cp:keywords>
  <cp:lastModifiedBy>FINLEY, TERRY CIV USAF AFMC 431 SCMS/GUMB</cp:lastModifiedBy>
  <cp:revision>753</cp:revision>
  <cp:lastPrinted>2014-03-07T21:00:25Z</cp:lastPrinted>
  <dcterms:created xsi:type="dcterms:W3CDTF">2002-06-20T14:47:52Z</dcterms:created>
  <dcterms:modified xsi:type="dcterms:W3CDTF">2026-04-06T13:27:11Z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0x01010007FEFA47AFEBA94186293892278EA703</vt:lpwstr>
  </property>
  <property fmtid="{D5CDD505-2E9C-101B-9397-08002B2CF9AE}" pid="3" name="Lead Center">
    <vt:lpwstr>(1) Hill AFB</vt:lpwstr>
  </property>
  <property fmtid="{D5CDD505-2E9C-101B-9397-08002B2CF9AE}" pid="4" name="Order">
    <vt:r8>107300</vt:r8>
  </property>
  <property fmtid="{D5CDD505-2E9C-101B-9397-08002B2CF9AE}" pid="5" name="TemplateUrl">
    <vt:lpwstr/>
  </property>
  <property fmtid="{D5CDD505-2E9C-101B-9397-08002B2CF9AE}" pid="6" name="xd_ProgID">
    <vt:lpwstr/>
  </property>
</Properties>
</file>