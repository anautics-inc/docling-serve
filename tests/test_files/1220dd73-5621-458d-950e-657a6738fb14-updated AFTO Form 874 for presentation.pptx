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omments/modernComment_203_610AE2E0.xml" ContentType="application/vnd.ms-powerpoint.comments+xml"/>
  <Override PartName="/ppt/notesSlides/notesSlide2.xml" ContentType="application/vnd.openxmlformats-officedocument.presentationml.notesSlide+xml"/>
  <Override PartName="/ppt/comments/modernComment_204_C1814ED1.xml" ContentType="application/vnd.ms-powerpoint.comments+xml"/>
  <Override PartName="/ppt/comments/modernComment_20A_F2088775.xml" ContentType="application/vnd.ms-powerpoint.comments+xml"/>
  <Override PartName="/ppt/comments/modernComment_20B_933BBCBA.xml" ContentType="application/vnd.ms-powerpoint.comments+xml"/>
  <Override PartName="/ppt/notesSlides/notesSlide3.xml" ContentType="application/vnd.openxmlformats-officedocument.presentationml.notesSlide+xml"/>
  <Override PartName="/ppt/comments/modernComment_1F4_F5FCA792.xml" ContentType="application/vnd.ms-powerpoint.comments+xml"/>
  <Override PartName="/ppt/comments/modernComment_1EF_2AFABFC0.xml" ContentType="application/vnd.ms-powerpoint.comments+xml"/>
  <Override PartName="/ppt/comments/modernComment_205_1FF9F005.xml" ContentType="application/vnd.ms-powerpoint.comments+xml"/>
  <Override PartName="/ppt/comments/modernComment_1F1_2DDE0169.xml" ContentType="application/vnd.ms-powerpoint.comments+xml"/>
  <Override PartName="/ppt/comments/modernComment_1F2_B5B458D2.xml" ContentType="application/vnd.ms-powerpoint.comments+xml"/>
  <Override PartName="/ppt/notesSlides/notesSlide4.xml" ContentType="application/vnd.openxmlformats-officedocument.presentationml.notesSlide+xml"/>
  <Override PartName="/ppt/comments/modernComment_1F5_EAC52291.xml" ContentType="application/vnd.ms-powerpoint.comments+xml"/>
  <Override PartName="/ppt/comments/modernComment_1F6_A55297D0.xml" ContentType="application/vnd.ms-powerpoint.comments+xml"/>
  <Override PartName="/ppt/comments/modernComment_1F7_90E43A2.xml" ContentType="application/vnd.ms-powerpoint.comments+xml"/>
  <Override PartName="/ppt/comments/modernComment_20C_B8F2331B.xml" ContentType="application/vnd.ms-powerpoint.comments+xml"/>
  <Override PartName="/ppt/comments/modernComment_206_9A7E26D7.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4"/>
  </p:sldMasterIdLst>
  <p:notesMasterIdLst>
    <p:notesMasterId r:id="rId32"/>
  </p:notesMasterIdLst>
  <p:handoutMasterIdLst>
    <p:handoutMasterId r:id="rId33"/>
  </p:handoutMasterIdLst>
  <p:sldIdLst>
    <p:sldId id="486" r:id="rId5"/>
    <p:sldId id="488" r:id="rId6"/>
    <p:sldId id="489" r:id="rId7"/>
    <p:sldId id="490" r:id="rId8"/>
    <p:sldId id="515" r:id="rId9"/>
    <p:sldId id="487" r:id="rId10"/>
    <p:sldId id="485" r:id="rId11"/>
    <p:sldId id="516" r:id="rId12"/>
    <p:sldId id="492" r:id="rId13"/>
    <p:sldId id="493" r:id="rId14"/>
    <p:sldId id="522" r:id="rId15"/>
    <p:sldId id="494" r:id="rId16"/>
    <p:sldId id="523" r:id="rId17"/>
    <p:sldId id="500" r:id="rId18"/>
    <p:sldId id="495" r:id="rId19"/>
    <p:sldId id="517" r:id="rId20"/>
    <p:sldId id="497" r:id="rId21"/>
    <p:sldId id="498" r:id="rId22"/>
    <p:sldId id="501" r:id="rId23"/>
    <p:sldId id="520" r:id="rId24"/>
    <p:sldId id="521" r:id="rId25"/>
    <p:sldId id="502" r:id="rId26"/>
    <p:sldId id="503" r:id="rId27"/>
    <p:sldId id="504" r:id="rId28"/>
    <p:sldId id="524" r:id="rId29"/>
    <p:sldId id="518" r:id="rId30"/>
    <p:sldId id="514" r:id="rId31"/>
  </p:sldIdLst>
  <p:sldSz cx="9144000" cy="6858000" type="screen4x3"/>
  <p:notesSz cx="7010400" cy="9296400"/>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1847">
          <p15:clr>
            <a:srgbClr val="A4A3A4"/>
          </p15:clr>
        </p15:guide>
        <p15:guide id="2" pos="2881">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23B1B2D-21DA-29FD-3093-DD3434AA2024}" name="MCLEAN, JEREMY K CIV USAF AFMC 431 SCMS/GUMA" initials="JM" userId="S::jeremy.mclean@us.af.mil::f397cf71-47ed-425c-be33-41f8ce4f6f5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FF"/>
    <a:srgbClr val="FF3300"/>
    <a:srgbClr val="000099"/>
    <a:srgbClr val="5F5F5F"/>
    <a:srgbClr val="FFFF00"/>
    <a:srgbClr val="EAEAEA"/>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6752A2-86CE-41D8-A8E4-87A46E43F04C}" v="33" dt="2025-10-31T16:00:21.3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897" autoAdjust="0"/>
    <p:restoredTop sz="71239" autoAdjust="0"/>
  </p:normalViewPr>
  <p:slideViewPr>
    <p:cSldViewPr snapToGrid="0">
      <p:cViewPr varScale="1">
        <p:scale>
          <a:sx n="113" d="100"/>
          <a:sy n="113" d="100"/>
        </p:scale>
        <p:origin x="5712" y="108"/>
      </p:cViewPr>
      <p:guideLst>
        <p:guide orient="horz" pos="1847"/>
        <p:guide pos="288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228"/>
    </p:cViewPr>
  </p:sorterViewPr>
  <p:notesViewPr>
    <p:cSldViewPr snapToGrid="0">
      <p:cViewPr>
        <p:scale>
          <a:sx n="166" d="100"/>
          <a:sy n="166" d="100"/>
        </p:scale>
        <p:origin x="-72" y="2334"/>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8/10/relationships/authors" Target="authors.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comments/modernComment_1EF_2AFABFC0.xml><?xml version="1.0" encoding="utf-8"?>
<p188:cmLst xmlns:a="http://schemas.openxmlformats.org/drawingml/2006/main" xmlns:r="http://schemas.openxmlformats.org/officeDocument/2006/relationships" xmlns:p188="http://schemas.microsoft.com/office/powerpoint/2018/8/main">
  <p188:cm id="{76BD8FC7-D155-4D67-9F51-9FF61B309477}" authorId="{E23B1B2D-21DA-29FD-3093-DD3434AA2024}" created="2025-10-31T15:26:30.151">
    <pc:sldMkLst xmlns:pc="http://schemas.microsoft.com/office/powerpoint/2013/main/command">
      <pc:docMk/>
      <pc:sldMk cId="721076160" sldId="495"/>
    </pc:sldMkLst>
    <p188:txBody>
      <a:bodyPr/>
      <a:lstStyle/>
      <a:p>
        <a:r>
          <a:rPr lang="en-US"/>
          <a:t>Replaced old visual with actual snippet from TO</a:t>
        </a:r>
      </a:p>
    </p188:txBody>
  </p188:cm>
</p188:cmLst>
</file>

<file path=ppt/comments/modernComment_1F1_2DDE0169.xml><?xml version="1.0" encoding="utf-8"?>
<p188:cmLst xmlns:a="http://schemas.openxmlformats.org/drawingml/2006/main" xmlns:r="http://schemas.openxmlformats.org/officeDocument/2006/relationships" xmlns:p188="http://schemas.microsoft.com/office/powerpoint/2018/8/main">
  <p188:cm id="{C47659CB-12ED-4572-BC6D-5E580EC60D2B}" authorId="{E23B1B2D-21DA-29FD-3093-DD3434AA2024}" created="2025-10-31T15:26:55.564">
    <pc:sldMkLst xmlns:pc="http://schemas.microsoft.com/office/powerpoint/2013/main/command">
      <pc:docMk/>
      <pc:sldMk cId="769524073" sldId="497"/>
    </pc:sldMkLst>
    <p188:txBody>
      <a:bodyPr/>
      <a:lstStyle/>
      <a:p>
        <a:r>
          <a:rPr lang="en-US"/>
          <a:t>Replaced old visual with actual snippet from TO</a:t>
        </a:r>
      </a:p>
    </p188:txBody>
  </p188:cm>
</p188:cmLst>
</file>

<file path=ppt/comments/modernComment_1F2_B5B458D2.xml><?xml version="1.0" encoding="utf-8"?>
<p188:cmLst xmlns:a="http://schemas.openxmlformats.org/drawingml/2006/main" xmlns:r="http://schemas.openxmlformats.org/officeDocument/2006/relationships" xmlns:p188="http://schemas.microsoft.com/office/powerpoint/2018/8/main">
  <p188:cm id="{7E528BCD-29A2-4F44-A7EF-F1CE5CB5F27D}" authorId="{E23B1B2D-21DA-29FD-3093-DD3434AA2024}" created="2025-10-31T15:57:42.608">
    <pc:sldMkLst xmlns:pc="http://schemas.microsoft.com/office/powerpoint/2013/main/command">
      <pc:docMk/>
      <pc:sldMk cId="3048495314" sldId="498"/>
    </pc:sldMkLst>
    <p188:txBody>
      <a:bodyPr/>
      <a:lstStyle/>
      <a:p>
        <a:r>
          <a:rPr lang="en-US"/>
          <a:t>Although the original presentation didn’t have a snippet of Part G, I added one</a:t>
        </a:r>
      </a:p>
    </p188:txBody>
  </p188:cm>
</p188:cmLst>
</file>

<file path=ppt/comments/modernComment_1F4_F5FCA792.xml><?xml version="1.0" encoding="utf-8"?>
<p188:cmLst xmlns:a="http://schemas.openxmlformats.org/drawingml/2006/main" xmlns:r="http://schemas.openxmlformats.org/officeDocument/2006/relationships" xmlns:p188="http://schemas.microsoft.com/office/powerpoint/2018/8/main">
  <p188:cm id="{9CD825AB-1BA7-4037-8C56-3B0EEBA2633C}" authorId="{E23B1B2D-21DA-29FD-3093-DD3434AA2024}" created="2025-10-31T15:26:18.784">
    <pc:sldMkLst xmlns:pc="http://schemas.microsoft.com/office/powerpoint/2013/main/command">
      <pc:docMk/>
      <pc:sldMk cId="4126975890" sldId="500"/>
    </pc:sldMkLst>
    <p188:txBody>
      <a:bodyPr/>
      <a:lstStyle/>
      <a:p>
        <a:r>
          <a:rPr lang="en-US"/>
          <a:t>Replaced old visual with snippet from actual TO</a:t>
        </a:r>
      </a:p>
    </p188:txBody>
  </p188:cm>
</p188:cmLst>
</file>

<file path=ppt/comments/modernComment_1F5_EAC52291.xml><?xml version="1.0" encoding="utf-8"?>
<p188:cmLst xmlns:a="http://schemas.openxmlformats.org/drawingml/2006/main" xmlns:r="http://schemas.openxmlformats.org/officeDocument/2006/relationships" xmlns:p188="http://schemas.microsoft.com/office/powerpoint/2018/8/main">
  <p188:cm id="{28BACC5D-21D8-4792-9A18-634A8A4AFAB2}" authorId="{E23B1B2D-21DA-29FD-3093-DD3434AA2024}" created="2025-10-31T15:34:13.795">
    <pc:sldMkLst xmlns:pc="http://schemas.microsoft.com/office/powerpoint/2013/main/command">
      <pc:docMk/>
      <pc:sldMk cId="3938787985" sldId="501"/>
    </pc:sldMkLst>
    <p188:txBody>
      <a:bodyPr/>
      <a:lstStyle/>
      <a:p>
        <a:r>
          <a:rPr lang="en-US"/>
          <a:t>Broke old Part H into 3 separate slides to show each of the snippets for block 1, part I, and part J</a:t>
        </a:r>
      </a:p>
    </p188:txBody>
  </p188:cm>
</p188:cmLst>
</file>

<file path=ppt/comments/modernComment_1F6_A55297D0.xml><?xml version="1.0" encoding="utf-8"?>
<p188:cmLst xmlns:a="http://schemas.openxmlformats.org/drawingml/2006/main" xmlns:r="http://schemas.openxmlformats.org/officeDocument/2006/relationships" xmlns:p188="http://schemas.microsoft.com/office/powerpoint/2018/8/main">
  <p188:cm id="{2573710B-086B-46E3-911C-636EE96623B0}" authorId="{E23B1B2D-21DA-29FD-3093-DD3434AA2024}" created="2025-10-31T15:35:31.540">
    <pc:sldMkLst xmlns:pc="http://schemas.microsoft.com/office/powerpoint/2013/main/command">
      <pc:docMk/>
      <pc:sldMk cId="2773653456" sldId="502"/>
    </pc:sldMkLst>
    <p188:txBody>
      <a:bodyPr/>
      <a:lstStyle/>
      <a:p>
        <a:r>
          <a:rPr lang="en-US"/>
          <a:t>Created a part I slide with actual snippet from TO</a:t>
        </a:r>
      </a:p>
    </p188:txBody>
  </p188:cm>
</p188:cmLst>
</file>

<file path=ppt/comments/modernComment_1F7_90E43A2.xml><?xml version="1.0" encoding="utf-8"?>
<p188:cmLst xmlns:a="http://schemas.openxmlformats.org/drawingml/2006/main" xmlns:r="http://schemas.openxmlformats.org/officeDocument/2006/relationships" xmlns:p188="http://schemas.microsoft.com/office/powerpoint/2018/8/main">
  <p188:cm id="{8FB54982-0EBB-4164-9546-DBC9783A1F8B}" authorId="{E23B1B2D-21DA-29FD-3093-DD3434AA2024}" created="2025-10-31T15:36:07.997">
    <pc:sldMkLst xmlns:pc="http://schemas.microsoft.com/office/powerpoint/2013/main/command">
      <pc:docMk/>
      <pc:sldMk cId="151929762" sldId="503"/>
    </pc:sldMkLst>
    <p188:txBody>
      <a:bodyPr/>
      <a:lstStyle/>
      <a:p>
        <a:r>
          <a:rPr lang="en-US"/>
          <a:t>Created an actual slide with a snippet of part J from the TO</a:t>
        </a:r>
      </a:p>
    </p188:txBody>
  </p188:cm>
</p188:cmLst>
</file>

<file path=ppt/comments/modernComment_20A_F2088775.xml><?xml version="1.0" encoding="utf-8"?>
<p188:cmLst xmlns:a="http://schemas.openxmlformats.org/drawingml/2006/main" xmlns:r="http://schemas.openxmlformats.org/officeDocument/2006/relationships" xmlns:p188="http://schemas.microsoft.com/office/powerpoint/2018/8/main">
  <p188:cm id="{745A5044-A3C3-4094-9EB8-8C34C17628E4}" authorId="{E23B1B2D-21DA-29FD-3093-DD3434AA2024}" created="2025-10-31T15:52:59.377">
    <pc:sldMkLst xmlns:pc="http://schemas.microsoft.com/office/powerpoint/2013/main/command">
      <pc:docMk/>
      <pc:sldMk cId="4060645237" sldId="522"/>
    </pc:sldMkLst>
    <p188:txBody>
      <a:bodyPr/>
      <a:lstStyle/>
      <a:p>
        <a:r>
          <a:rPr lang="en-US"/>
          <a:t>I moved the part A snippet from the end of the presentation to after the part A slide</a:t>
        </a:r>
      </a:p>
    </p188:txBody>
  </p188:cm>
</p188:cmLst>
</file>

<file path=ppt/comments/modernComment_20B_933BBCBA.xml><?xml version="1.0" encoding="utf-8"?>
<p188:cmLst xmlns:a="http://schemas.openxmlformats.org/drawingml/2006/main" xmlns:r="http://schemas.openxmlformats.org/officeDocument/2006/relationships" xmlns:p188="http://schemas.microsoft.com/office/powerpoint/2018/8/main">
  <p188:cm id="{A900D7D1-E160-4FAD-B3DA-EE0A79F38AF3}" authorId="{E23B1B2D-21DA-29FD-3093-DD3434AA2024}" created="2025-10-31T15:55:40.443">
    <pc:sldMkLst xmlns:pc="http://schemas.microsoft.com/office/powerpoint/2013/main/command">
      <pc:docMk/>
      <pc:sldMk cId="2470165690" sldId="523"/>
    </pc:sldMkLst>
    <p188:txBody>
      <a:bodyPr/>
      <a:lstStyle/>
      <a:p>
        <a:r>
          <a:rPr lang="en-US"/>
          <a:t>Although the original 874 didn’t have a Part B snippet, I decided to add one. </a:t>
        </a:r>
      </a:p>
    </p188:txBody>
  </p188:cm>
</p188:cmLst>
</file>

<file path=ppt/comments/modernComment_20C_B8F2331B.xml><?xml version="1.0" encoding="utf-8"?>
<p188:cmLst xmlns:a="http://schemas.openxmlformats.org/drawingml/2006/main" xmlns:r="http://schemas.openxmlformats.org/officeDocument/2006/relationships" xmlns:p188="http://schemas.microsoft.com/office/powerpoint/2018/8/main">
  <p188:cm id="{FAC56E79-D097-416C-8417-D28A3D940EA7}" authorId="{E23B1B2D-21DA-29FD-3093-DD3434AA2024}" created="2025-10-31T15:59:20.825">
    <pc:sldMkLst xmlns:pc="http://schemas.microsoft.com/office/powerpoint/2013/main/command">
      <pc:docMk/>
      <pc:sldMk cId="3102880539" sldId="524"/>
    </pc:sldMkLst>
    <p188:txBody>
      <a:bodyPr/>
      <a:lstStyle/>
      <a:p>
        <a:r>
          <a:rPr lang="en-US"/>
          <a:t>Although original presentation didn’t have a snippet for Part K, I added one. </a:t>
        </a:r>
      </a:p>
    </p188:txBody>
  </p188:cm>
</p188:cmLst>
</file>

<file path=ppt/comments/modernComment_203_610AE2E0.xml><?xml version="1.0" encoding="utf-8"?>
<p188:cmLst xmlns:a="http://schemas.openxmlformats.org/drawingml/2006/main" xmlns:r="http://schemas.openxmlformats.org/officeDocument/2006/relationships" xmlns:p188="http://schemas.microsoft.com/office/powerpoint/2018/8/main">
  <p188:cm id="{FC263933-AA7B-401D-A60B-1B161D5AF6B8}" authorId="{E23B1B2D-21DA-29FD-3093-DD3434AA2024}" created="2025-10-30T14:10:22.767">
    <pc:sldMkLst xmlns:pc="http://schemas.microsoft.com/office/powerpoint/2013/main/command">
      <pc:docMk/>
      <pc:sldMk cId="1628103392" sldId="515"/>
    </pc:sldMkLst>
    <p188:txBody>
      <a:bodyPr/>
      <a:lstStyle/>
      <a:p>
        <a:r>
          <a:rPr lang="en-US"/>
          <a:t>Hid slide because I added the NOTE to the slide prior. </a:t>
        </a:r>
      </a:p>
    </p188:txBody>
  </p188:cm>
</p188:cmLst>
</file>

<file path=ppt/comments/modernComment_204_C1814ED1.xml><?xml version="1.0" encoding="utf-8"?>
<p188:cmLst xmlns:a="http://schemas.openxmlformats.org/drawingml/2006/main" xmlns:r="http://schemas.openxmlformats.org/officeDocument/2006/relationships" xmlns:p188="http://schemas.microsoft.com/office/powerpoint/2018/8/main">
  <p188:cm id="{F132720D-68B6-4186-810B-18BEED4A5CA9}" authorId="{E23B1B2D-21DA-29FD-3093-DD3434AA2024}" created="2025-10-29T20:46:09.811">
    <pc:sldMkLst xmlns:pc="http://schemas.microsoft.com/office/powerpoint/2013/main/command">
      <pc:docMk/>
      <pc:sldMk cId="3246477009" sldId="516"/>
    </pc:sldMkLst>
    <p188:txBody>
      <a:bodyPr/>
      <a:lstStyle/>
      <a:p>
        <a:r>
          <a:rPr lang="en-US"/>
          <a:t>Hid slide because TO-00-5-15 doesn’t reference ES separate from TCM, its always TCM/ES, So I just combined the TCM and ES pages together</a:t>
        </a:r>
      </a:p>
    </p188:txBody>
  </p188:cm>
</p188:cmLst>
</file>

<file path=ppt/comments/modernComment_205_1FF9F005.xml><?xml version="1.0" encoding="utf-8"?>
<p188:cmLst xmlns:a="http://schemas.openxmlformats.org/drawingml/2006/main" xmlns:r="http://schemas.openxmlformats.org/officeDocument/2006/relationships" xmlns:p188="http://schemas.microsoft.com/office/powerpoint/2018/8/main">
  <p188:cm id="{B4EED941-3754-49A1-9B41-9A158FE15F84}" authorId="{E23B1B2D-21DA-29FD-3093-DD3434AA2024}" created="2025-10-31T15:26:41.700">
    <pc:sldMkLst xmlns:pc="http://schemas.microsoft.com/office/powerpoint/2013/main/command">
      <pc:docMk/>
      <pc:sldMk cId="536473605" sldId="517"/>
    </pc:sldMkLst>
    <p188:txBody>
      <a:bodyPr/>
      <a:lstStyle/>
      <a:p>
        <a:r>
          <a:rPr lang="en-US"/>
          <a:t>Replaced old visual with snippet from actual TO</a:t>
        </a:r>
      </a:p>
    </p188:txBody>
  </p188:cm>
</p188:cmLst>
</file>

<file path=ppt/comments/modernComment_206_9A7E26D7.xml><?xml version="1.0" encoding="utf-8"?>
<p188:cmLst xmlns:a="http://schemas.openxmlformats.org/drawingml/2006/main" xmlns:r="http://schemas.openxmlformats.org/officeDocument/2006/relationships" xmlns:p188="http://schemas.microsoft.com/office/powerpoint/2018/8/main">
  <p188:cm id="{6759229C-0DB5-4DEA-A8ED-DC4269BA309F}" authorId="{E23B1B2D-21DA-29FD-3093-DD3434AA2024}" created="2025-10-31T15:59:50.831">
    <pc:sldMkLst xmlns:pc="http://schemas.microsoft.com/office/powerpoint/2013/main/command">
      <pc:docMk/>
      <pc:sldMk cId="2591958743" sldId="518"/>
    </pc:sldMkLst>
    <p188:txBody>
      <a:bodyPr/>
      <a:lstStyle/>
      <a:p>
        <a:r>
          <a:rPr lang="en-US"/>
          <a:t>I hid this slide because I added the Part A snippet after the slide that talks about slide A. </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3003550" cy="460187"/>
          </a:xfrm>
          <a:prstGeom prst="rect">
            <a:avLst/>
          </a:prstGeom>
          <a:noFill/>
          <a:ln w="9525">
            <a:noFill/>
            <a:miter lim="800000"/>
            <a:headEnd/>
            <a:tailEnd/>
          </a:ln>
          <a:effectLst/>
        </p:spPr>
        <p:txBody>
          <a:bodyPr vert="horz" wrap="square" lIns="91856" tIns="45930" rIns="91856" bIns="45930" numCol="1" anchor="t" anchorCtr="0" compatLnSpc="1">
            <a:prstTxWarp prst="textNoShape">
              <a:avLst/>
            </a:prstTxWarp>
          </a:bodyPr>
          <a:lstStyle>
            <a:lvl1pPr defTabSz="919163">
              <a:defRPr sz="1200"/>
            </a:lvl1pPr>
          </a:lstStyle>
          <a:p>
            <a:endParaRPr lang="en-US"/>
          </a:p>
        </p:txBody>
      </p:sp>
      <p:sp>
        <p:nvSpPr>
          <p:cNvPr id="11267" name="Rectangle 3"/>
          <p:cNvSpPr>
            <a:spLocks noGrp="1" noChangeArrowheads="1"/>
          </p:cNvSpPr>
          <p:nvPr>
            <p:ph type="dt" sz="quarter" idx="1"/>
          </p:nvPr>
        </p:nvSpPr>
        <p:spPr bwMode="auto">
          <a:xfrm>
            <a:off x="4005263" y="0"/>
            <a:ext cx="3003550" cy="460187"/>
          </a:xfrm>
          <a:prstGeom prst="rect">
            <a:avLst/>
          </a:prstGeom>
          <a:noFill/>
          <a:ln w="9525">
            <a:noFill/>
            <a:miter lim="800000"/>
            <a:headEnd/>
            <a:tailEnd/>
          </a:ln>
          <a:effectLst/>
        </p:spPr>
        <p:txBody>
          <a:bodyPr vert="horz" wrap="square" lIns="91856" tIns="45930" rIns="91856" bIns="45930" numCol="1" anchor="t" anchorCtr="0" compatLnSpc="1">
            <a:prstTxWarp prst="textNoShape">
              <a:avLst/>
            </a:prstTxWarp>
          </a:bodyPr>
          <a:lstStyle>
            <a:lvl1pPr algn="r" defTabSz="919163">
              <a:defRPr sz="1200"/>
            </a:lvl1pPr>
          </a:lstStyle>
          <a:p>
            <a:endParaRPr lang="en-US"/>
          </a:p>
        </p:txBody>
      </p:sp>
      <p:sp>
        <p:nvSpPr>
          <p:cNvPr id="11268" name="Rectangle 4"/>
          <p:cNvSpPr>
            <a:spLocks noGrp="1" noChangeArrowheads="1"/>
          </p:cNvSpPr>
          <p:nvPr>
            <p:ph type="ftr" sz="quarter" idx="2"/>
          </p:nvPr>
        </p:nvSpPr>
        <p:spPr bwMode="auto">
          <a:xfrm>
            <a:off x="0" y="8823431"/>
            <a:ext cx="3003550" cy="460187"/>
          </a:xfrm>
          <a:prstGeom prst="rect">
            <a:avLst/>
          </a:prstGeom>
          <a:noFill/>
          <a:ln w="9525">
            <a:noFill/>
            <a:miter lim="800000"/>
            <a:headEnd/>
            <a:tailEnd/>
          </a:ln>
          <a:effectLst/>
        </p:spPr>
        <p:txBody>
          <a:bodyPr vert="horz" wrap="square" lIns="91856" tIns="45930" rIns="91856" bIns="45930" numCol="1" anchor="b" anchorCtr="0" compatLnSpc="1">
            <a:prstTxWarp prst="textNoShape">
              <a:avLst/>
            </a:prstTxWarp>
          </a:bodyPr>
          <a:lstStyle>
            <a:lvl1pPr defTabSz="919163">
              <a:defRPr sz="1200"/>
            </a:lvl1pPr>
          </a:lstStyle>
          <a:p>
            <a:endParaRPr lang="en-US"/>
          </a:p>
        </p:txBody>
      </p:sp>
      <p:sp>
        <p:nvSpPr>
          <p:cNvPr id="11269" name="Rectangle 5"/>
          <p:cNvSpPr>
            <a:spLocks noGrp="1" noChangeArrowheads="1"/>
          </p:cNvSpPr>
          <p:nvPr>
            <p:ph type="sldNum" sz="quarter" idx="3"/>
          </p:nvPr>
        </p:nvSpPr>
        <p:spPr bwMode="auto">
          <a:xfrm>
            <a:off x="4005263" y="8823431"/>
            <a:ext cx="3003550" cy="460187"/>
          </a:xfrm>
          <a:prstGeom prst="rect">
            <a:avLst/>
          </a:prstGeom>
          <a:noFill/>
          <a:ln w="9525">
            <a:noFill/>
            <a:miter lim="800000"/>
            <a:headEnd/>
            <a:tailEnd/>
          </a:ln>
          <a:effectLst/>
        </p:spPr>
        <p:txBody>
          <a:bodyPr vert="horz" wrap="square" lIns="91856" tIns="45930" rIns="91856" bIns="45930" numCol="1" anchor="b" anchorCtr="0" compatLnSpc="1">
            <a:prstTxWarp prst="textNoShape">
              <a:avLst/>
            </a:prstTxWarp>
          </a:bodyPr>
          <a:lstStyle>
            <a:lvl1pPr algn="r" defTabSz="919163">
              <a:defRPr sz="1200"/>
            </a:lvl1pPr>
          </a:lstStyle>
          <a:p>
            <a:fld id="{E4574B3E-4AF7-4279-8766-56CD63649825}" type="slidenum">
              <a:rPr lang="en-US"/>
              <a:pPr/>
              <a:t>‹#›</a:t>
            </a:fld>
            <a:endParaRPr lang="en-US"/>
          </a:p>
        </p:txBody>
      </p:sp>
    </p:spTree>
    <p:extLst>
      <p:ext uri="{BB962C8B-B14F-4D97-AF65-F5344CB8AC3E}">
        <p14:creationId xmlns:p14="http://schemas.microsoft.com/office/powerpoint/2010/main" val="37397956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3003550" cy="460187"/>
          </a:xfrm>
          <a:prstGeom prst="rect">
            <a:avLst/>
          </a:prstGeom>
          <a:noFill/>
          <a:ln w="9525">
            <a:noFill/>
            <a:miter lim="800000"/>
            <a:headEnd/>
            <a:tailEnd/>
          </a:ln>
          <a:effectLst/>
        </p:spPr>
        <p:txBody>
          <a:bodyPr vert="horz" wrap="square" lIns="91856" tIns="45930" rIns="91856" bIns="45930" numCol="1" anchor="t" anchorCtr="0" compatLnSpc="1">
            <a:prstTxWarp prst="textNoShape">
              <a:avLst/>
            </a:prstTxWarp>
          </a:bodyPr>
          <a:lstStyle>
            <a:lvl1pPr defTabSz="919163">
              <a:defRPr sz="1200"/>
            </a:lvl1pPr>
          </a:lstStyle>
          <a:p>
            <a:endParaRPr lang="en-US"/>
          </a:p>
        </p:txBody>
      </p:sp>
      <p:sp>
        <p:nvSpPr>
          <p:cNvPr id="13315" name="Rectangle 3"/>
          <p:cNvSpPr>
            <a:spLocks noGrp="1" noChangeArrowheads="1"/>
          </p:cNvSpPr>
          <p:nvPr>
            <p:ph type="dt" idx="1"/>
          </p:nvPr>
        </p:nvSpPr>
        <p:spPr bwMode="auto">
          <a:xfrm>
            <a:off x="4005263" y="0"/>
            <a:ext cx="3003550" cy="460187"/>
          </a:xfrm>
          <a:prstGeom prst="rect">
            <a:avLst/>
          </a:prstGeom>
          <a:noFill/>
          <a:ln w="9525">
            <a:noFill/>
            <a:miter lim="800000"/>
            <a:headEnd/>
            <a:tailEnd/>
          </a:ln>
          <a:effectLst/>
        </p:spPr>
        <p:txBody>
          <a:bodyPr vert="horz" wrap="square" lIns="91856" tIns="45930" rIns="91856" bIns="45930" numCol="1" anchor="t" anchorCtr="0" compatLnSpc="1">
            <a:prstTxWarp prst="textNoShape">
              <a:avLst/>
            </a:prstTxWarp>
          </a:bodyPr>
          <a:lstStyle>
            <a:lvl1pPr algn="r" defTabSz="919163">
              <a:defRPr sz="1200"/>
            </a:lvl1pPr>
          </a:lstStyle>
          <a:p>
            <a:endParaRPr lang="en-US"/>
          </a:p>
        </p:txBody>
      </p:sp>
      <p:sp>
        <p:nvSpPr>
          <p:cNvPr id="13316" name="Rectangle 4"/>
          <p:cNvSpPr>
            <a:spLocks noGrp="1" noRot="1" noChangeAspect="1" noChangeArrowheads="1" noTextEdit="1"/>
          </p:cNvSpPr>
          <p:nvPr>
            <p:ph type="sldImg" idx="2"/>
          </p:nvPr>
        </p:nvSpPr>
        <p:spPr bwMode="auto">
          <a:xfrm>
            <a:off x="1154113" y="690563"/>
            <a:ext cx="4700587" cy="3527425"/>
          </a:xfrm>
          <a:prstGeom prst="rect">
            <a:avLst/>
          </a:prstGeom>
          <a:noFill/>
          <a:ln w="9525">
            <a:solidFill>
              <a:srgbClr val="000000"/>
            </a:solidFill>
            <a:miter lim="800000"/>
            <a:headEnd/>
            <a:tailEnd/>
          </a:ln>
          <a:effectLst/>
        </p:spPr>
      </p:sp>
      <p:sp>
        <p:nvSpPr>
          <p:cNvPr id="13317" name="Rectangle 5"/>
          <p:cNvSpPr>
            <a:spLocks noGrp="1" noChangeArrowheads="1"/>
          </p:cNvSpPr>
          <p:nvPr>
            <p:ph type="body" sz="quarter" idx="3"/>
          </p:nvPr>
        </p:nvSpPr>
        <p:spPr bwMode="auto">
          <a:xfrm>
            <a:off x="925515" y="4450066"/>
            <a:ext cx="5157787" cy="4143273"/>
          </a:xfrm>
          <a:prstGeom prst="rect">
            <a:avLst/>
          </a:prstGeom>
          <a:noFill/>
          <a:ln w="9525">
            <a:noFill/>
            <a:miter lim="800000"/>
            <a:headEnd/>
            <a:tailEnd/>
          </a:ln>
          <a:effectLst/>
        </p:spPr>
        <p:txBody>
          <a:bodyPr vert="horz" wrap="square" lIns="91856" tIns="45930" rIns="91856" bIns="4593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318" name="Rectangle 6"/>
          <p:cNvSpPr>
            <a:spLocks noGrp="1" noChangeArrowheads="1"/>
          </p:cNvSpPr>
          <p:nvPr>
            <p:ph type="ftr" sz="quarter" idx="4"/>
          </p:nvPr>
        </p:nvSpPr>
        <p:spPr bwMode="auto">
          <a:xfrm>
            <a:off x="0" y="8823431"/>
            <a:ext cx="3003550" cy="460187"/>
          </a:xfrm>
          <a:prstGeom prst="rect">
            <a:avLst/>
          </a:prstGeom>
          <a:noFill/>
          <a:ln w="9525">
            <a:noFill/>
            <a:miter lim="800000"/>
            <a:headEnd/>
            <a:tailEnd/>
          </a:ln>
          <a:effectLst/>
        </p:spPr>
        <p:txBody>
          <a:bodyPr vert="horz" wrap="square" lIns="91856" tIns="45930" rIns="91856" bIns="45930" numCol="1" anchor="b" anchorCtr="0" compatLnSpc="1">
            <a:prstTxWarp prst="textNoShape">
              <a:avLst/>
            </a:prstTxWarp>
          </a:bodyPr>
          <a:lstStyle>
            <a:lvl1pPr defTabSz="919163">
              <a:defRPr sz="1200"/>
            </a:lvl1pPr>
          </a:lstStyle>
          <a:p>
            <a:endParaRPr lang="en-US"/>
          </a:p>
        </p:txBody>
      </p:sp>
      <p:sp>
        <p:nvSpPr>
          <p:cNvPr id="13319" name="Rectangle 7"/>
          <p:cNvSpPr>
            <a:spLocks noGrp="1" noChangeArrowheads="1"/>
          </p:cNvSpPr>
          <p:nvPr>
            <p:ph type="sldNum" sz="quarter" idx="5"/>
          </p:nvPr>
        </p:nvSpPr>
        <p:spPr bwMode="auto">
          <a:xfrm>
            <a:off x="4005263" y="8823431"/>
            <a:ext cx="3003550" cy="460187"/>
          </a:xfrm>
          <a:prstGeom prst="rect">
            <a:avLst/>
          </a:prstGeom>
          <a:noFill/>
          <a:ln w="9525">
            <a:noFill/>
            <a:miter lim="800000"/>
            <a:headEnd/>
            <a:tailEnd/>
          </a:ln>
          <a:effectLst/>
        </p:spPr>
        <p:txBody>
          <a:bodyPr vert="horz" wrap="square" lIns="91856" tIns="45930" rIns="91856" bIns="45930" numCol="1" anchor="b" anchorCtr="0" compatLnSpc="1">
            <a:prstTxWarp prst="textNoShape">
              <a:avLst/>
            </a:prstTxWarp>
          </a:bodyPr>
          <a:lstStyle>
            <a:lvl1pPr algn="r" defTabSz="919163">
              <a:defRPr sz="1200"/>
            </a:lvl1pPr>
          </a:lstStyle>
          <a:p>
            <a:fld id="{36A684E0-F6B5-4BCF-8D36-4D1B09B25423}" type="slidenum">
              <a:rPr lang="en-US"/>
              <a:pPr/>
              <a:t>‹#›</a:t>
            </a:fld>
            <a:endParaRPr lang="en-US"/>
          </a:p>
        </p:txBody>
      </p:sp>
    </p:spTree>
    <p:extLst>
      <p:ext uri="{BB962C8B-B14F-4D97-AF65-F5344CB8AC3E}">
        <p14:creationId xmlns:p14="http://schemas.microsoft.com/office/powerpoint/2010/main" val="377609371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6A684E0-F6B5-4BCF-8D36-4D1B09B25423}" type="slidenum">
              <a:rPr lang="en-US" smtClean="0"/>
              <a:pPr/>
              <a:t>3</a:t>
            </a:fld>
            <a:endParaRPr lang="en-US"/>
          </a:p>
        </p:txBody>
      </p:sp>
    </p:spTree>
    <p:extLst>
      <p:ext uri="{BB962C8B-B14F-4D97-AF65-F5344CB8AC3E}">
        <p14:creationId xmlns:p14="http://schemas.microsoft.com/office/powerpoint/2010/main" val="6611021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responsible PMA performs the following management functions: </a:t>
            </a:r>
          </a:p>
          <a:p>
            <a:r>
              <a:rPr lang="en-US" dirty="0"/>
              <a:t>-Purchase Request preparations for, or initiating action to assemble related kits. </a:t>
            </a:r>
          </a:p>
          <a:p>
            <a:r>
              <a:rPr lang="en-US" dirty="0"/>
              <a:t>-Ensures TCTO’s are verified in accordance with TO-00-5-15</a:t>
            </a:r>
          </a:p>
          <a:p>
            <a:r>
              <a:rPr lang="en-US" dirty="0"/>
              <a:t>-Ensures completion of AFTO form 82 and is maintained in the TCTO file. </a:t>
            </a:r>
          </a:p>
          <a:p>
            <a:r>
              <a:rPr lang="en-US" dirty="0"/>
              <a:t>-Maintains kit delivery and distribution schedules. </a:t>
            </a:r>
          </a:p>
          <a:p>
            <a:r>
              <a:rPr lang="en-US" dirty="0"/>
              <a:t>-Ensures logistics support is available with the release of the TCTO and kits. </a:t>
            </a:r>
          </a:p>
          <a:p>
            <a:r>
              <a:rPr lang="en-US" dirty="0"/>
              <a:t>-Manages accomplishments of the TCTO or modification to the affected weapon systems, commodity, and affected spares as required, and tracking TCTO compliance. </a:t>
            </a:r>
          </a:p>
          <a:p>
            <a:r>
              <a:rPr lang="en-US" dirty="0"/>
              <a:t>-Rescinds TCTO or extends recission dates as necessary. </a:t>
            </a:r>
          </a:p>
          <a:p>
            <a:r>
              <a:rPr lang="en-US" dirty="0"/>
              <a:t>-Initiates request for proper disposition action on any excess kits. </a:t>
            </a:r>
          </a:p>
          <a:p>
            <a:r>
              <a:rPr lang="en-US" dirty="0"/>
              <a:t>-Ensures computer programs have been prepared by the responsible computer resources activity and sufficient quantities are available for concurrent distribution with the TCTO and any applicable TO updates. </a:t>
            </a:r>
          </a:p>
          <a:p>
            <a:r>
              <a:rPr lang="en-US" dirty="0"/>
              <a:t>-Responsible to review and correct TCTO status change errors on the REMIS Suspense File Error Correction section. </a:t>
            </a:r>
          </a:p>
        </p:txBody>
      </p:sp>
      <p:sp>
        <p:nvSpPr>
          <p:cNvPr id="4" name="Slide Number Placeholder 3"/>
          <p:cNvSpPr>
            <a:spLocks noGrp="1"/>
          </p:cNvSpPr>
          <p:nvPr>
            <p:ph type="sldNum" sz="quarter" idx="5"/>
          </p:nvPr>
        </p:nvSpPr>
        <p:spPr/>
        <p:txBody>
          <a:bodyPr/>
          <a:lstStyle/>
          <a:p>
            <a:fld id="{36A684E0-F6B5-4BCF-8D36-4D1B09B25423}" type="slidenum">
              <a:rPr lang="en-US" smtClean="0"/>
              <a:pPr/>
              <a:t>6</a:t>
            </a:fld>
            <a:endParaRPr lang="en-US"/>
          </a:p>
        </p:txBody>
      </p:sp>
    </p:spTree>
    <p:extLst>
      <p:ext uri="{BB962C8B-B14F-4D97-AF65-F5344CB8AC3E}">
        <p14:creationId xmlns:p14="http://schemas.microsoft.com/office/powerpoint/2010/main" val="17921991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6A684E0-F6B5-4BCF-8D36-4D1B09B25423}" type="slidenum">
              <a:rPr lang="en-US" smtClean="0"/>
              <a:pPr/>
              <a:t>14</a:t>
            </a:fld>
            <a:endParaRPr lang="en-US"/>
          </a:p>
        </p:txBody>
      </p:sp>
    </p:spTree>
    <p:extLst>
      <p:ext uri="{BB962C8B-B14F-4D97-AF65-F5344CB8AC3E}">
        <p14:creationId xmlns:p14="http://schemas.microsoft.com/office/powerpoint/2010/main" val="27650660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6A684E0-F6B5-4BCF-8D36-4D1B09B25423}" type="slidenum">
              <a:rPr lang="en-US" smtClean="0"/>
              <a:pPr/>
              <a:t>19</a:t>
            </a:fld>
            <a:endParaRPr lang="en-US"/>
          </a:p>
        </p:txBody>
      </p:sp>
    </p:spTree>
    <p:extLst>
      <p:ext uri="{BB962C8B-B14F-4D97-AF65-F5344CB8AC3E}">
        <p14:creationId xmlns:p14="http://schemas.microsoft.com/office/powerpoint/2010/main" val="17564114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2D25AA33-DDD5-4FD0-9B78-867DAC491C75}" type="slidenum">
              <a:rPr lang="en-US"/>
              <a:pPr/>
              <a:t>‹#›</a:t>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4E9EBC09-8728-46F0-99E6-7C066CF6AFEC}" type="slidenum">
              <a:rPr lang="en-US"/>
              <a:pPr/>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286BAC77-68E0-41D0-AB0F-632A4A4763A1}" type="slidenum">
              <a:rPr lang="en-US"/>
              <a:pPr/>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63550" y="1257300"/>
            <a:ext cx="3800475" cy="45529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416425" y="1257300"/>
            <a:ext cx="3800475" cy="45529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7485629F-F686-4C7F-ADF6-A12ACFE2DBF3}" type="slidenum">
              <a:rPr lang="en-US"/>
              <a:pPr/>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FB8C9407-2F13-4A47-9D9E-F1870556FA30}" type="slidenum">
              <a:rPr lang="en-US"/>
              <a:pPr/>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BEA2432C-9675-4518-A7D3-A1EBD246DCF9}" type="slidenum">
              <a:rPr lang="en-US"/>
              <a:pPr/>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1564149D-CA84-4E68-827D-ABA46180E4BE}" type="slidenum">
              <a:rPr lang="en-US"/>
              <a:pPr/>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854AFC08-DED1-4268-A5B8-C84F4A8B2853}" type="slidenum">
              <a:rPr lang="en-US"/>
              <a:pPr/>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EF95ECE6-D885-4B51-8A37-AC3009C688E6}" type="slidenum">
              <a:rPr lang="en-US"/>
              <a:pPr/>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C1CDB35C-AD8E-4CF4-BD40-634A71481E2D}" type="slidenum">
              <a:rPr lang="en-US"/>
              <a:pPr/>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78563" y="76200"/>
            <a:ext cx="1938337" cy="57340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63550" y="76200"/>
            <a:ext cx="5662613" cy="57340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22C25236-880D-4BF3-926A-A04C764BF09F}" type="slidenum">
              <a:rPr lang="en-US"/>
              <a:pPr/>
              <a:t>‹#›</a:t>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 name="Rectangle 205"/>
          <p:cNvSpPr>
            <a:spLocks noChangeArrowheads="1"/>
          </p:cNvSpPr>
          <p:nvPr userDrawn="1"/>
        </p:nvSpPr>
        <p:spPr bwMode="auto">
          <a:xfrm flipV="1">
            <a:off x="0" y="992893"/>
            <a:ext cx="9144000" cy="45720"/>
          </a:xfrm>
          <a:prstGeom prst="rect">
            <a:avLst/>
          </a:prstGeom>
          <a:gradFill rotWithShape="0">
            <a:gsLst>
              <a:gs pos="0">
                <a:srgbClr val="000099"/>
              </a:gs>
              <a:gs pos="50000">
                <a:schemeClr val="accent2"/>
              </a:gs>
              <a:gs pos="100000">
                <a:srgbClr val="000099"/>
              </a:gs>
            </a:gsLst>
            <a:lin ang="18900000" scaled="1"/>
          </a:gradFill>
          <a:ln w="9525">
            <a:noFill/>
            <a:miter lim="800000"/>
            <a:headEnd/>
            <a:tailEnd/>
          </a:ln>
          <a:effectLst/>
        </p:spPr>
        <p:txBody>
          <a:bodyPr wrap="none" anchor="ctr"/>
          <a:lstStyle/>
          <a:p>
            <a:endParaRPr lang="en-US"/>
          </a:p>
        </p:txBody>
      </p:sp>
      <p:sp>
        <p:nvSpPr>
          <p:cNvPr id="1026" name="Rectangle 2"/>
          <p:cNvSpPr>
            <a:spLocks noGrp="1" noChangeArrowheads="1"/>
          </p:cNvSpPr>
          <p:nvPr>
            <p:ph type="title"/>
          </p:nvPr>
        </p:nvSpPr>
        <p:spPr bwMode="auto">
          <a:xfrm>
            <a:off x="952500" y="76200"/>
            <a:ext cx="7239000" cy="8382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63550" y="1257300"/>
            <a:ext cx="7753350" cy="45529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endParaRPr lang="en-US"/>
          </a:p>
        </p:txBody>
      </p:sp>
      <p:sp>
        <p:nvSpPr>
          <p:cNvPr id="1030" name="Rectangle 6"/>
          <p:cNvSpPr>
            <a:spLocks noGrp="1" noChangeArrowheads="1"/>
          </p:cNvSpPr>
          <p:nvPr>
            <p:ph type="sldNum" sz="quarter" idx="4"/>
          </p:nvPr>
        </p:nvSpPr>
        <p:spPr bwMode="auto">
          <a:xfrm>
            <a:off x="70866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11218C2E-65CB-4471-B8A9-3704A852BB21}" type="slidenum">
              <a:rPr lang="en-US"/>
              <a:pPr/>
              <a:t>‹#›</a:t>
            </a:fld>
            <a:endParaRPr lang="en-US"/>
          </a:p>
        </p:txBody>
      </p:sp>
      <p:sp>
        <p:nvSpPr>
          <p:cNvPr id="1103" name="Text Box 79"/>
          <p:cNvSpPr txBox="1">
            <a:spLocks noChangeArrowheads="1"/>
          </p:cNvSpPr>
          <p:nvPr userDrawn="1"/>
        </p:nvSpPr>
        <p:spPr bwMode="auto">
          <a:xfrm>
            <a:off x="2947988" y="854075"/>
            <a:ext cx="184150" cy="304800"/>
          </a:xfrm>
          <a:prstGeom prst="rect">
            <a:avLst/>
          </a:prstGeom>
          <a:noFill/>
          <a:ln w="9525">
            <a:noFill/>
            <a:miter lim="800000"/>
            <a:headEnd/>
            <a:tailEnd/>
          </a:ln>
          <a:effectLst/>
        </p:spPr>
        <p:txBody>
          <a:bodyPr wrap="none">
            <a:spAutoFit/>
          </a:bodyPr>
          <a:lstStyle/>
          <a:p>
            <a:endParaRPr lang="en-US" sz="1400" b="1" i="1">
              <a:solidFill>
                <a:schemeClr val="accent2"/>
              </a:solidFill>
            </a:endParaRPr>
          </a:p>
        </p:txBody>
      </p:sp>
      <p:pic>
        <p:nvPicPr>
          <p:cNvPr id="13" name="Picture 1037" descr="afsymbol"/>
          <p:cNvPicPr>
            <a:picLocks noChangeAspect="1" noChangeArrowheads="1"/>
          </p:cNvPicPr>
          <p:nvPr userDrawn="1"/>
        </p:nvPicPr>
        <p:blipFill>
          <a:blip r:embed="rId13" cstate="print"/>
          <a:srcRect/>
          <a:stretch>
            <a:fillRect/>
          </a:stretch>
        </p:blipFill>
        <p:spPr bwMode="auto">
          <a:xfrm>
            <a:off x="82833" y="36700"/>
            <a:ext cx="1144718" cy="904468"/>
          </a:xfrm>
          <a:prstGeom prst="rect">
            <a:avLst/>
          </a:prstGeom>
          <a:noFill/>
        </p:spPr>
      </p:pic>
      <p:pic>
        <p:nvPicPr>
          <p:cNvPr id="2" name="Picture 2" descr="C:\Users\clinchtc\Desktop\Atch 3 AFLCMC Emblem - Color 2012.png"/>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8177680" y="64116"/>
            <a:ext cx="926607" cy="914400"/>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ransition/>
  <p:hf hdr="0" ftr="0" dt="0"/>
  <p:txStyles>
    <p:titleStyle>
      <a:lvl1pPr algn="ctr" rtl="0" eaLnBrk="0" fontAlgn="base" hangingPunct="0">
        <a:spcBef>
          <a:spcPct val="0"/>
        </a:spcBef>
        <a:spcAft>
          <a:spcPct val="0"/>
        </a:spcAft>
        <a:defRPr sz="3200" b="1">
          <a:solidFill>
            <a:schemeClr val="tx2"/>
          </a:solidFill>
          <a:latin typeface="+mj-lt"/>
          <a:ea typeface="+mj-ea"/>
          <a:cs typeface="+mj-cs"/>
        </a:defRPr>
      </a:lvl1pPr>
      <a:lvl2pPr algn="ctr" rtl="0" eaLnBrk="0" fontAlgn="base" hangingPunct="0">
        <a:spcBef>
          <a:spcPct val="0"/>
        </a:spcBef>
        <a:spcAft>
          <a:spcPct val="0"/>
        </a:spcAft>
        <a:defRPr sz="3200" b="1">
          <a:solidFill>
            <a:schemeClr val="tx2"/>
          </a:solidFill>
          <a:latin typeface="Arial" charset="0"/>
        </a:defRPr>
      </a:lvl2pPr>
      <a:lvl3pPr algn="ctr" rtl="0" eaLnBrk="0" fontAlgn="base" hangingPunct="0">
        <a:spcBef>
          <a:spcPct val="0"/>
        </a:spcBef>
        <a:spcAft>
          <a:spcPct val="0"/>
        </a:spcAft>
        <a:defRPr sz="3200" b="1">
          <a:solidFill>
            <a:schemeClr val="tx2"/>
          </a:solidFill>
          <a:latin typeface="Arial" charset="0"/>
        </a:defRPr>
      </a:lvl3pPr>
      <a:lvl4pPr algn="ctr" rtl="0" eaLnBrk="0" fontAlgn="base" hangingPunct="0">
        <a:spcBef>
          <a:spcPct val="0"/>
        </a:spcBef>
        <a:spcAft>
          <a:spcPct val="0"/>
        </a:spcAft>
        <a:defRPr sz="3200" b="1">
          <a:solidFill>
            <a:schemeClr val="tx2"/>
          </a:solidFill>
          <a:latin typeface="Arial" charset="0"/>
        </a:defRPr>
      </a:lvl4pPr>
      <a:lvl5pPr algn="ctr" rtl="0" eaLnBrk="0" fontAlgn="base" hangingPunct="0">
        <a:spcBef>
          <a:spcPct val="0"/>
        </a:spcBef>
        <a:spcAft>
          <a:spcPct val="0"/>
        </a:spcAft>
        <a:defRPr sz="3200" b="1">
          <a:solidFill>
            <a:schemeClr val="tx2"/>
          </a:solidFill>
          <a:latin typeface="Arial" charset="0"/>
        </a:defRPr>
      </a:lvl5pPr>
      <a:lvl6pPr marL="457200" algn="ctr" rtl="0" eaLnBrk="0" fontAlgn="base" hangingPunct="0">
        <a:spcBef>
          <a:spcPct val="0"/>
        </a:spcBef>
        <a:spcAft>
          <a:spcPct val="0"/>
        </a:spcAft>
        <a:defRPr sz="3200" b="1">
          <a:solidFill>
            <a:schemeClr val="tx2"/>
          </a:solidFill>
          <a:latin typeface="Arial" charset="0"/>
        </a:defRPr>
      </a:lvl6pPr>
      <a:lvl7pPr marL="914400" algn="ctr" rtl="0" eaLnBrk="0" fontAlgn="base" hangingPunct="0">
        <a:spcBef>
          <a:spcPct val="0"/>
        </a:spcBef>
        <a:spcAft>
          <a:spcPct val="0"/>
        </a:spcAft>
        <a:defRPr sz="3200" b="1">
          <a:solidFill>
            <a:schemeClr val="tx2"/>
          </a:solidFill>
          <a:latin typeface="Arial" charset="0"/>
        </a:defRPr>
      </a:lvl7pPr>
      <a:lvl8pPr marL="1371600" algn="ctr" rtl="0" eaLnBrk="0" fontAlgn="base" hangingPunct="0">
        <a:spcBef>
          <a:spcPct val="0"/>
        </a:spcBef>
        <a:spcAft>
          <a:spcPct val="0"/>
        </a:spcAft>
        <a:defRPr sz="3200" b="1">
          <a:solidFill>
            <a:schemeClr val="tx2"/>
          </a:solidFill>
          <a:latin typeface="Arial" charset="0"/>
        </a:defRPr>
      </a:lvl8pPr>
      <a:lvl9pPr marL="1828800" algn="ctr" rtl="0" eaLnBrk="0" fontAlgn="base" hangingPunct="0">
        <a:spcBef>
          <a:spcPct val="0"/>
        </a:spcBef>
        <a:spcAft>
          <a:spcPct val="0"/>
        </a:spcAft>
        <a:defRPr sz="3200" b="1">
          <a:solidFill>
            <a:schemeClr val="tx2"/>
          </a:solidFill>
          <a:latin typeface="Arial" charset="0"/>
        </a:defRPr>
      </a:lvl9pPr>
    </p:titleStyle>
    <p:bodyStyle>
      <a:lvl1pPr marL="342900" indent="-342900" algn="l" rtl="0" eaLnBrk="0" fontAlgn="base" hangingPunct="0">
        <a:spcBef>
          <a:spcPct val="20000"/>
        </a:spcBef>
        <a:spcAft>
          <a:spcPct val="0"/>
        </a:spcAft>
        <a:buChar char="•"/>
        <a:defRPr sz="28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b="1">
          <a:solidFill>
            <a:schemeClr val="tx1"/>
          </a:solidFill>
          <a:latin typeface="+mn-lt"/>
        </a:defRPr>
      </a:lvl2pPr>
      <a:lvl3pPr marL="1143000" indent="-228600" algn="l" rtl="0" eaLnBrk="0" fontAlgn="base" hangingPunct="0">
        <a:spcBef>
          <a:spcPct val="20000"/>
        </a:spcBef>
        <a:spcAft>
          <a:spcPct val="0"/>
        </a:spcAft>
        <a:buChar char="•"/>
        <a:defRPr sz="2000" b="1">
          <a:solidFill>
            <a:schemeClr val="tx1"/>
          </a:solidFill>
          <a:latin typeface="+mn-lt"/>
        </a:defRPr>
      </a:lvl3pPr>
      <a:lvl4pPr marL="1600200" indent="-228600" algn="l" rtl="0" eaLnBrk="0" fontAlgn="base" hangingPunct="0">
        <a:spcBef>
          <a:spcPct val="20000"/>
        </a:spcBef>
        <a:spcAft>
          <a:spcPct val="0"/>
        </a:spcAft>
        <a:buChar char="–"/>
        <a:defRPr sz="2000" b="1">
          <a:solidFill>
            <a:schemeClr val="tx1"/>
          </a:solidFill>
          <a:latin typeface="+mn-lt"/>
        </a:defRPr>
      </a:lvl4pPr>
      <a:lvl5pPr marL="2057400" indent="-228600" algn="l" rtl="0" eaLnBrk="0" fontAlgn="base" hangingPunct="0">
        <a:spcBef>
          <a:spcPct val="20000"/>
        </a:spcBef>
        <a:spcAft>
          <a:spcPct val="0"/>
        </a:spcAft>
        <a:buChar char="»"/>
        <a:defRPr sz="2000" b="1">
          <a:solidFill>
            <a:schemeClr val="tx1"/>
          </a:solidFill>
          <a:latin typeface="+mn-lt"/>
        </a:defRPr>
      </a:lvl5pPr>
      <a:lvl6pPr marL="2514600" indent="-228600" algn="l" rtl="0" eaLnBrk="0" fontAlgn="base" hangingPunct="0">
        <a:spcBef>
          <a:spcPct val="20000"/>
        </a:spcBef>
        <a:spcAft>
          <a:spcPct val="0"/>
        </a:spcAft>
        <a:buChar char="»"/>
        <a:defRPr sz="2000" b="1">
          <a:solidFill>
            <a:schemeClr val="tx1"/>
          </a:solidFill>
          <a:latin typeface="+mn-lt"/>
        </a:defRPr>
      </a:lvl6pPr>
      <a:lvl7pPr marL="2971800" indent="-228600" algn="l" rtl="0" eaLnBrk="0" fontAlgn="base" hangingPunct="0">
        <a:spcBef>
          <a:spcPct val="20000"/>
        </a:spcBef>
        <a:spcAft>
          <a:spcPct val="0"/>
        </a:spcAft>
        <a:buChar char="»"/>
        <a:defRPr sz="2000" b="1">
          <a:solidFill>
            <a:schemeClr val="tx1"/>
          </a:solidFill>
          <a:latin typeface="+mn-lt"/>
        </a:defRPr>
      </a:lvl7pPr>
      <a:lvl8pPr marL="3429000" indent="-228600" algn="l" rtl="0" eaLnBrk="0" fontAlgn="base" hangingPunct="0">
        <a:spcBef>
          <a:spcPct val="20000"/>
        </a:spcBef>
        <a:spcAft>
          <a:spcPct val="0"/>
        </a:spcAft>
        <a:buChar char="»"/>
        <a:defRPr sz="2000" b="1">
          <a:solidFill>
            <a:schemeClr val="tx1"/>
          </a:solidFill>
          <a:latin typeface="+mn-lt"/>
        </a:defRPr>
      </a:lvl8pPr>
      <a:lvl9pPr marL="3886200" indent="-228600" algn="l" rtl="0" eaLnBrk="0" fontAlgn="base" hangingPunct="0">
        <a:spcBef>
          <a:spcPct val="20000"/>
        </a:spcBef>
        <a:spcAft>
          <a:spcPct val="0"/>
        </a:spcAft>
        <a:buChar char="»"/>
        <a:defRPr sz="20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microsoft.com/office/2018/10/relationships/comments" Target="../comments/modernComment_203_610AE2E0.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microsoft.com/office/2018/10/relationships/comments" Target="../comments/modernComment_204_C1814ED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8/10/relationships/comments" Target="../comments/modernComment_20A_F208877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microsoft.com/office/2018/10/relationships/comments" Target="../comments/modernComment_20B_933BBCBA.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microsoft.com/office/2018/10/relationships/comments" Target="../comments/modernComment_1F4_F5FCA792.xm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microsoft.com/office/2018/10/relationships/comments" Target="../comments/modernComment_1EF_2AFABFC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microsoft.com/office/2018/10/relationships/comments" Target="../comments/modernComment_205_1FF9F00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microsoft.com/office/2018/10/relationships/comments" Target="../comments/modernComment_1F1_2DDE016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microsoft.com/office/2018/10/relationships/comments" Target="../comments/modernComment_1F2_B5B458D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microsoft.com/office/2018/10/relationships/comments" Target="../comments/modernComment_1F5_EAC52291.xm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microsoft.com/office/2018/10/relationships/comments" Target="../comments/modernComment_1F6_A55297D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microsoft.com/office/2018/10/relationships/comments" Target="../comments/modernComment_1F7_90E43A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microsoft.com/office/2018/10/relationships/comments" Target="../comments/modernComment_20C_B8F2331B.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slide" Target="slide10.xml"/><Relationship Id="rId2" Type="http://schemas.microsoft.com/office/2018/10/relationships/comments" Target="../comments/modernComment_206_9A7E26D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094874"/>
            <a:ext cx="9144000" cy="3128211"/>
          </a:xfrm>
        </p:spPr>
        <p:txBody>
          <a:bodyPr/>
          <a:lstStyle/>
          <a:p>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TIME COMPLIANCE TECHNICAL ORDER SUPPLY DATA REQUIREMENTS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endParaRPr lang="en-US" dirty="0"/>
          </a:p>
        </p:txBody>
      </p:sp>
      <p:sp>
        <p:nvSpPr>
          <p:cNvPr id="3" name="Subtitle 2"/>
          <p:cNvSpPr>
            <a:spLocks noGrp="1"/>
          </p:cNvSpPr>
          <p:nvPr>
            <p:ph type="subTitle" idx="1"/>
          </p:nvPr>
        </p:nvSpPr>
        <p:spPr>
          <a:xfrm>
            <a:off x="1521994" y="4590047"/>
            <a:ext cx="6400800" cy="1752600"/>
          </a:xfrm>
        </p:spPr>
        <p:txBody>
          <a:bodyPr/>
          <a:lstStyle/>
          <a:p>
            <a:r>
              <a:rPr lang="en-US" dirty="0">
                <a:solidFill>
                  <a:srgbClr val="FF0000"/>
                </a:solidFill>
                <a:latin typeface="Times New Roman" panose="02020603050405020304" pitchFamily="18" charset="0"/>
                <a:cs typeface="Times New Roman" panose="02020603050405020304" pitchFamily="18" charset="0"/>
              </a:rPr>
              <a:t>EXAMPLE</a:t>
            </a:r>
            <a:br>
              <a:rPr lang="en-US" dirty="0">
                <a:solidFill>
                  <a:srgbClr val="FF0000"/>
                </a:solidFill>
                <a:latin typeface="Times New Roman" panose="02020603050405020304" pitchFamily="18" charset="0"/>
                <a:cs typeface="Times New Roman" panose="02020603050405020304" pitchFamily="18" charset="0"/>
              </a:rPr>
            </a:br>
            <a:r>
              <a:rPr lang="en-US" dirty="0" err="1">
                <a:solidFill>
                  <a:srgbClr val="FF0000"/>
                </a:solidFill>
                <a:latin typeface="Times New Roman" panose="02020603050405020304" pitchFamily="18" charset="0"/>
                <a:cs typeface="Times New Roman" panose="02020603050405020304" pitchFamily="18" charset="0"/>
              </a:rPr>
              <a:t>EXAMPLE</a:t>
            </a:r>
            <a:endParaRPr lang="en-US" dirty="0">
              <a:solidFill>
                <a:srgbClr val="FF000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a:xfrm>
            <a:off x="8839200" y="6507079"/>
            <a:ext cx="304800" cy="350921"/>
          </a:xfrm>
        </p:spPr>
        <p:txBody>
          <a:bodyPr/>
          <a:lstStyle/>
          <a:p>
            <a:fld id="{2D25AA33-DDD5-4FD0-9B78-867DAC491C75}" type="slidenum">
              <a:rPr lang="en-US" smtClean="0"/>
              <a:pPr/>
              <a:t>1</a:t>
            </a:fld>
            <a:endParaRPr lang="en-US" dirty="0"/>
          </a:p>
        </p:txBody>
      </p:sp>
      <p:sp>
        <p:nvSpPr>
          <p:cNvPr id="5" name="TextBox 4">
            <a:extLst>
              <a:ext uri="{FF2B5EF4-FFF2-40B4-BE49-F238E27FC236}">
                <a16:creationId xmlns:a16="http://schemas.microsoft.com/office/drawing/2014/main" id="{A9E944F0-F7DF-58FF-096C-6009ED608876}"/>
              </a:ext>
            </a:extLst>
          </p:cNvPr>
          <p:cNvSpPr txBox="1"/>
          <p:nvPr/>
        </p:nvSpPr>
        <p:spPr>
          <a:xfrm>
            <a:off x="0" y="218896"/>
            <a:ext cx="9144000" cy="523220"/>
          </a:xfrm>
          <a:prstGeom prst="rect">
            <a:avLst/>
          </a:prstGeom>
          <a:noFill/>
        </p:spPr>
        <p:txBody>
          <a:bodyPr wrap="square" rtlCol="0">
            <a:spAutoFit/>
          </a:bodyPr>
          <a:lstStyle/>
          <a:p>
            <a:pPr algn="ctr"/>
            <a:r>
              <a:rPr lang="en-US" sz="2800" b="1" dirty="0">
                <a:cs typeface="Times New Roman" panose="02020603050405020304" pitchFamily="18" charset="0"/>
              </a:rPr>
              <a:t>AFTO FORM 874</a:t>
            </a:r>
            <a:endParaRPr lang="en-US" sz="2800" b="1" dirty="0"/>
          </a:p>
        </p:txBody>
      </p:sp>
    </p:spTree>
    <p:extLst>
      <p:ext uri="{BB962C8B-B14F-4D97-AF65-F5344CB8AC3E}">
        <p14:creationId xmlns:p14="http://schemas.microsoft.com/office/powerpoint/2010/main" val="3926175949"/>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latin typeface="Times New Roman" panose="02020603050405020304" pitchFamily="18" charset="0"/>
                <a:cs typeface="Times New Roman" panose="02020603050405020304" pitchFamily="18" charset="0"/>
              </a:rPr>
              <a:t>AFTO FORM 874</a:t>
            </a:r>
            <a:br>
              <a:rPr lang="en-US" sz="28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p>
        </p:txBody>
      </p:sp>
      <p:sp>
        <p:nvSpPr>
          <p:cNvPr id="3" name="Content Placeholder 2"/>
          <p:cNvSpPr>
            <a:spLocks noGrp="1"/>
          </p:cNvSpPr>
          <p:nvPr>
            <p:ph idx="1"/>
          </p:nvPr>
        </p:nvSpPr>
        <p:spPr/>
        <p:txBody>
          <a:bodyPr/>
          <a:lstStyle/>
          <a:p>
            <a:pPr algn="ctr"/>
            <a:r>
              <a:rPr lang="en-US" dirty="0">
                <a:latin typeface="Times New Roman" panose="02020603050405020304" pitchFamily="18" charset="0"/>
                <a:cs typeface="Times New Roman" panose="02020603050405020304" pitchFamily="18" charset="0"/>
              </a:rPr>
              <a:t>How to fill </a:t>
            </a:r>
            <a:r>
              <a:rPr lang="en-US">
                <a:latin typeface="Times New Roman" panose="02020603050405020304" pitchFamily="18" charset="0"/>
                <a:cs typeface="Times New Roman" panose="02020603050405020304" pitchFamily="18" charset="0"/>
              </a:rPr>
              <a:t>out form</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Definitions and Responsibilities </a:t>
            </a:r>
          </a:p>
          <a:p>
            <a:r>
              <a:rPr lang="en-US" dirty="0">
                <a:latin typeface="Times New Roman" panose="02020603050405020304" pitchFamily="18" charset="0"/>
                <a:cs typeface="Times New Roman" panose="02020603050405020304" pitchFamily="18" charset="0"/>
              </a:rPr>
              <a:t>What is an 874</a:t>
            </a:r>
          </a:p>
          <a:p>
            <a:r>
              <a:rPr lang="en-US" dirty="0">
                <a:latin typeface="Times New Roman" panose="02020603050405020304" pitchFamily="18" charset="0"/>
                <a:cs typeface="Times New Roman" panose="02020603050405020304" pitchFamily="18" charset="0"/>
              </a:rPr>
              <a:t>How to fill out the form</a:t>
            </a:r>
          </a:p>
          <a:p>
            <a:pPr marL="0" indent="0">
              <a:buNone/>
            </a:pPr>
            <a:endParaRPr lang="en-US" dirty="0"/>
          </a:p>
          <a:p>
            <a:endParaRPr lang="en-US" dirty="0"/>
          </a:p>
        </p:txBody>
      </p:sp>
      <p:sp>
        <p:nvSpPr>
          <p:cNvPr id="4" name="Slide Number Placeholder 3"/>
          <p:cNvSpPr>
            <a:spLocks noGrp="1"/>
          </p:cNvSpPr>
          <p:nvPr>
            <p:ph type="sldNum" sz="quarter" idx="12"/>
          </p:nvPr>
        </p:nvSpPr>
        <p:spPr>
          <a:xfrm>
            <a:off x="8752114" y="6545943"/>
            <a:ext cx="391886" cy="312057"/>
          </a:xfrm>
        </p:spPr>
        <p:txBody>
          <a:bodyPr/>
          <a:lstStyle/>
          <a:p>
            <a:fld id="{4E9EBC09-8728-46F0-99E6-7C066CF6AFEC}" type="slidenum">
              <a:rPr lang="en-US" smtClean="0"/>
              <a:pPr/>
              <a:t>2</a:t>
            </a:fld>
            <a:endParaRPr lang="en-US" dirty="0"/>
          </a:p>
        </p:txBody>
      </p:sp>
    </p:spTree>
    <p:extLst>
      <p:ext uri="{BB962C8B-B14F-4D97-AF65-F5344CB8AC3E}">
        <p14:creationId xmlns:p14="http://schemas.microsoft.com/office/powerpoint/2010/main" val="37604546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latin typeface="Times New Roman" panose="02020603050405020304" pitchFamily="18" charset="0"/>
                <a:cs typeface="Times New Roman" panose="02020603050405020304" pitchFamily="18" charset="0"/>
              </a:rPr>
              <a:t>AFTO FORM 874</a:t>
            </a: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1039905"/>
            <a:ext cx="9143999" cy="5818095"/>
          </a:xfrm>
        </p:spPr>
        <p:txBody>
          <a:bodyPr/>
          <a:lstStyle/>
          <a:p>
            <a:pPr algn="ctr"/>
            <a:r>
              <a:rPr lang="en-US" sz="2400" dirty="0">
                <a:latin typeface="Times New Roman" panose="02020603050405020304" pitchFamily="18" charset="0"/>
                <a:cs typeface="Times New Roman" panose="02020603050405020304" pitchFamily="18" charset="0"/>
              </a:rPr>
              <a:t>What is an AFTO Form 874</a:t>
            </a:r>
          </a:p>
          <a:p>
            <a:pPr algn="ctr"/>
            <a:endParaRPr lang="en-US" sz="2000" dirty="0">
              <a:latin typeface="Times New Roman" panose="02020603050405020304" pitchFamily="18" charset="0"/>
              <a:cs typeface="Times New Roman" panose="02020603050405020304" pitchFamily="18" charset="0"/>
            </a:endParaRPr>
          </a:p>
          <a:p>
            <a:r>
              <a:rPr lang="en-US" sz="1600" b="0" dirty="0">
                <a:latin typeface="Times New Roman" panose="02020603050405020304" pitchFamily="18" charset="0"/>
                <a:cs typeface="Times New Roman" panose="02020603050405020304" pitchFamily="18" charset="0"/>
              </a:rPr>
              <a:t>The AFTO Form 874, Time Compliance Technical Order Supply Data Requirements (Figure 3-4 of 00-5-15), is used as an assembly document for all supply information required to ensure TCTO/TCTO Kits are available before the TCTO is released.</a:t>
            </a:r>
          </a:p>
          <a:p>
            <a:endParaRPr lang="en-US" sz="1600" b="0" dirty="0">
              <a:latin typeface="Times New Roman" panose="02020603050405020304" pitchFamily="18" charset="0"/>
              <a:cs typeface="Times New Roman" panose="02020603050405020304" pitchFamily="18" charset="0"/>
            </a:endParaRPr>
          </a:p>
          <a:p>
            <a:r>
              <a:rPr lang="en-US" sz="1600" b="0" dirty="0">
                <a:latin typeface="Times New Roman" panose="02020603050405020304" pitchFamily="18" charset="0"/>
                <a:cs typeface="Times New Roman" panose="02020603050405020304" pitchFamily="18" charset="0"/>
              </a:rPr>
              <a:t>The PMA must complete approval and processing of the form within 30 days of receipt from the contractor or other preparing activity.</a:t>
            </a:r>
          </a:p>
          <a:p>
            <a:endParaRPr lang="en-US" sz="1600" b="0" dirty="0">
              <a:latin typeface="Times New Roman" panose="02020603050405020304" pitchFamily="18" charset="0"/>
              <a:cs typeface="Times New Roman" panose="02020603050405020304" pitchFamily="18" charset="0"/>
            </a:endParaRPr>
          </a:p>
          <a:p>
            <a:r>
              <a:rPr lang="en-US" sz="1600" b="0" dirty="0">
                <a:latin typeface="Times New Roman" panose="02020603050405020304" pitchFamily="18" charset="0"/>
                <a:cs typeface="Times New Roman" panose="02020603050405020304" pitchFamily="18" charset="0"/>
              </a:rPr>
              <a:t>Requirements personnel must coordinate on the form if supply actions are required.</a:t>
            </a:r>
          </a:p>
          <a:p>
            <a:endParaRPr lang="en-US" sz="1600" b="0" dirty="0">
              <a:latin typeface="Times New Roman" panose="02020603050405020304" pitchFamily="18" charset="0"/>
              <a:cs typeface="Times New Roman" panose="02020603050405020304" pitchFamily="18" charset="0"/>
            </a:endParaRPr>
          </a:p>
          <a:p>
            <a:r>
              <a:rPr lang="en-US" sz="1600" b="0" dirty="0">
                <a:latin typeface="Times New Roman" panose="02020603050405020304" pitchFamily="18" charset="0"/>
                <a:cs typeface="Times New Roman" panose="02020603050405020304" pitchFamily="18" charset="0"/>
              </a:rPr>
              <a:t>The original signed copy of the form will be retained by the PMA as part of the history file of the modification for the life cycle of the system or commodity affected.</a:t>
            </a:r>
          </a:p>
          <a:p>
            <a:endParaRPr lang="en-US" sz="1600" b="0" dirty="0">
              <a:latin typeface="Times New Roman" panose="02020603050405020304" pitchFamily="18" charset="0"/>
              <a:cs typeface="Times New Roman" panose="02020603050405020304" pitchFamily="18" charset="0"/>
            </a:endParaRPr>
          </a:p>
          <a:p>
            <a:r>
              <a:rPr lang="en-US" sz="1600" b="0" dirty="0">
                <a:latin typeface="Times New Roman" panose="02020603050405020304" pitchFamily="18" charset="0"/>
                <a:cs typeface="Times New Roman" panose="02020603050405020304" pitchFamily="18" charset="0"/>
              </a:rPr>
              <a:t>Once the contract for the TCTO is signed, the contractor will complete an AFTO Form 874 (if kits or special tools are required) according to Paragraph 3.11 based on data in the AFTO Form 873 and forward the forms to the PMA for coordination and kit approval.</a:t>
            </a:r>
          </a:p>
          <a:p>
            <a:endParaRPr lang="en-US" sz="1600" b="0" dirty="0">
              <a:latin typeface="Times New Roman" panose="02020603050405020304" pitchFamily="18" charset="0"/>
              <a:cs typeface="Times New Roman" panose="02020603050405020304" pitchFamily="18" charset="0"/>
            </a:endParaRPr>
          </a:p>
          <a:p>
            <a:endParaRPr lang="en-US" sz="2000" b="0"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lgn="ctr">
              <a:buNone/>
            </a:pP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a:xfrm>
            <a:off x="8812305" y="6454588"/>
            <a:ext cx="331694" cy="403412"/>
          </a:xfrm>
        </p:spPr>
        <p:txBody>
          <a:bodyPr/>
          <a:lstStyle/>
          <a:p>
            <a:fld id="{4E9EBC09-8728-46F0-99E6-7C066CF6AFEC}" type="slidenum">
              <a:rPr lang="en-US" smtClean="0"/>
              <a:pPr/>
              <a:t>3</a:t>
            </a:fld>
            <a:endParaRPr lang="en-US" dirty="0"/>
          </a:p>
        </p:txBody>
      </p:sp>
    </p:spTree>
    <p:extLst>
      <p:ext uri="{BB962C8B-B14F-4D97-AF65-F5344CB8AC3E}">
        <p14:creationId xmlns:p14="http://schemas.microsoft.com/office/powerpoint/2010/main" val="1532615038"/>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solidFill>
                  <a:srgbClr val="000000"/>
                </a:solidFill>
                <a:latin typeface="Times New Roman" panose="02020603050405020304" pitchFamily="18" charset="0"/>
                <a:cs typeface="Times New Roman" panose="02020603050405020304" pitchFamily="18" charset="0"/>
              </a:rPr>
              <a:t>AFTO FORM 874</a:t>
            </a:r>
            <a:br>
              <a:rPr lang="en-US" sz="2800" dirty="0">
                <a:solidFill>
                  <a:srgbClr val="000000"/>
                </a:solidFill>
                <a:latin typeface="Times New Roman" panose="02020603050405020304" pitchFamily="18" charset="0"/>
                <a:cs typeface="Times New Roman" panose="02020603050405020304" pitchFamily="18" charset="0"/>
              </a:rPr>
            </a:br>
            <a:endParaRPr lang="en-US" dirty="0"/>
          </a:p>
        </p:txBody>
      </p:sp>
      <p:sp>
        <p:nvSpPr>
          <p:cNvPr id="3" name="Content Placeholder 2"/>
          <p:cNvSpPr>
            <a:spLocks noGrp="1"/>
          </p:cNvSpPr>
          <p:nvPr>
            <p:ph idx="1"/>
          </p:nvPr>
        </p:nvSpPr>
        <p:spPr>
          <a:xfrm>
            <a:off x="0" y="1058332"/>
            <a:ext cx="9144000" cy="6028267"/>
          </a:xfrm>
        </p:spPr>
        <p:txBody>
          <a:bodyPr/>
          <a:lstStyle/>
          <a:p>
            <a:r>
              <a:rPr lang="en-US" sz="1600" b="0" dirty="0">
                <a:solidFill>
                  <a:srgbClr val="231F20"/>
                </a:solidFill>
                <a:latin typeface="Times New Roman" panose="02020603050405020304" pitchFamily="18" charset="0"/>
                <a:cs typeface="Times New Roman" panose="02020603050405020304" pitchFamily="18" charset="0"/>
              </a:rPr>
              <a:t>When development of the TCTO has progressed to the point where the parts affected and kit requirements can be determined, the TCM preparing the TCTO initiates an AFTO Form 874 (Paragraph 3.11 of the 00-5-15).</a:t>
            </a:r>
          </a:p>
          <a:p>
            <a:endParaRPr lang="en-US" sz="1600" b="0" dirty="0">
              <a:solidFill>
                <a:srgbClr val="231F20"/>
              </a:solidFill>
              <a:latin typeface="Times New Roman" panose="02020603050405020304" pitchFamily="18" charset="0"/>
              <a:cs typeface="Times New Roman" panose="02020603050405020304" pitchFamily="18" charset="0"/>
            </a:endParaRPr>
          </a:p>
          <a:p>
            <a:r>
              <a:rPr lang="en-US" sz="1600" b="0" dirty="0">
                <a:solidFill>
                  <a:srgbClr val="231F20"/>
                </a:solidFill>
                <a:latin typeface="Times New Roman" panose="02020603050405020304" pitchFamily="18" charset="0"/>
                <a:cs typeface="Times New Roman" panose="02020603050405020304" pitchFamily="18" charset="0"/>
              </a:rPr>
              <a:t>The AFTO Form 874 is required when TCTO kits or special tools/test equipment are required, when spares are impacted, and/or when parts are added or removed. </a:t>
            </a:r>
          </a:p>
          <a:p>
            <a:endParaRPr lang="en-US" sz="1600" b="0" dirty="0">
              <a:solidFill>
                <a:srgbClr val="231F20"/>
              </a:solidFill>
              <a:latin typeface="Times New Roman" panose="02020603050405020304" pitchFamily="18" charset="0"/>
              <a:cs typeface="Times New Roman" panose="02020603050405020304" pitchFamily="18" charset="0"/>
            </a:endParaRPr>
          </a:p>
          <a:p>
            <a:r>
              <a:rPr lang="en-US" sz="1600" b="0" dirty="0">
                <a:solidFill>
                  <a:srgbClr val="231F20"/>
                </a:solidFill>
                <a:latin typeface="Times New Roman" panose="02020603050405020304" pitchFamily="18" charset="0"/>
                <a:cs typeface="Times New Roman" panose="02020603050405020304" pitchFamily="18" charset="0"/>
              </a:rPr>
              <a:t>An AFTO Form 874 is not required for inspection TCTOs unless required consumables, special tools, etc., are not commonly available at the performing units. </a:t>
            </a:r>
          </a:p>
          <a:p>
            <a:endParaRPr lang="en-US" sz="1600" b="0" dirty="0">
              <a:solidFill>
                <a:srgbClr val="231F20"/>
              </a:solidFill>
              <a:latin typeface="Times New Roman" panose="02020603050405020304" pitchFamily="18" charset="0"/>
              <a:cs typeface="Times New Roman" panose="02020603050405020304" pitchFamily="18" charset="0"/>
            </a:endParaRPr>
          </a:p>
          <a:p>
            <a:r>
              <a:rPr lang="en-US" sz="1600" b="0" dirty="0">
                <a:solidFill>
                  <a:srgbClr val="231F20"/>
                </a:solidFill>
                <a:latin typeface="Times New Roman" panose="02020603050405020304" pitchFamily="18" charset="0"/>
                <a:cs typeface="Times New Roman" panose="02020603050405020304" pitchFamily="18" charset="0"/>
              </a:rPr>
              <a:t>If the AFTO Form 874 is not required, it is not necessary to include it in the six-part TCTO documentation folder.</a:t>
            </a:r>
          </a:p>
          <a:p>
            <a:endParaRPr lang="en-US" sz="1600" b="0" dirty="0">
              <a:solidFill>
                <a:srgbClr val="231F20"/>
              </a:solidFill>
              <a:latin typeface="Times New Roman" panose="02020603050405020304" pitchFamily="18" charset="0"/>
              <a:cs typeface="Times New Roman" panose="02020603050405020304" pitchFamily="18" charset="0"/>
            </a:endParaRPr>
          </a:p>
          <a:p>
            <a:r>
              <a:rPr lang="en-US" sz="1600" b="0" dirty="0">
                <a:solidFill>
                  <a:srgbClr val="231F20"/>
                </a:solidFill>
                <a:latin typeface="Times New Roman" panose="02020603050405020304" pitchFamily="18" charset="0"/>
                <a:cs typeface="Times New Roman" panose="02020603050405020304" pitchFamily="18" charset="0"/>
              </a:rPr>
              <a:t>After completion of the AFTO Form 874 (when required), the TCM prepares the body of the TCTO IAW MIL-DTL-38804D.</a:t>
            </a:r>
          </a:p>
          <a:p>
            <a:pPr marL="0" indent="0" algn="ctr">
              <a:buNone/>
            </a:pPr>
            <a:r>
              <a:rPr lang="en-US" sz="2400" u="sng" dirty="0">
                <a:latin typeface="Times New Roman" panose="02020603050405020304" pitchFamily="18" charset="0"/>
                <a:cs typeface="Times New Roman" panose="02020603050405020304" pitchFamily="18" charset="0"/>
              </a:rPr>
              <a:t>NOTE</a:t>
            </a:r>
          </a:p>
          <a:p>
            <a:r>
              <a:rPr lang="en-US" sz="1400" b="0" dirty="0">
                <a:latin typeface="Times New Roman" panose="02020603050405020304" pitchFamily="18" charset="0"/>
                <a:cs typeface="Times New Roman" panose="02020603050405020304" pitchFamily="18" charset="0"/>
              </a:rPr>
              <a:t>If a TCTO requiring kits/special tools/test equipment must be released as an ITCTO, it may be processed and released prior to completion and approval of the AFTO Form 874.</a:t>
            </a:r>
          </a:p>
          <a:p>
            <a:endParaRPr lang="en-US" sz="1400" b="0" dirty="0">
              <a:latin typeface="Times New Roman" panose="02020603050405020304" pitchFamily="18" charset="0"/>
              <a:cs typeface="Times New Roman" panose="02020603050405020304" pitchFamily="18" charset="0"/>
            </a:endParaRPr>
          </a:p>
          <a:p>
            <a:r>
              <a:rPr lang="en-US" sz="1400" b="0" dirty="0">
                <a:latin typeface="Times New Roman" panose="02020603050405020304" pitchFamily="18" charset="0"/>
                <a:cs typeface="Times New Roman" panose="02020603050405020304" pitchFamily="18" charset="0"/>
              </a:rPr>
              <a:t>However, the TCM must obtain coordination and approval of the supply information in the draft ITCTO before it is released.</a:t>
            </a:r>
          </a:p>
          <a:p>
            <a:endParaRPr lang="en-US" sz="1600" b="0" dirty="0">
              <a:solidFill>
                <a:srgbClr val="231F2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a:xfrm>
            <a:off x="8881533" y="6520477"/>
            <a:ext cx="262467" cy="330200"/>
          </a:xfrm>
        </p:spPr>
        <p:txBody>
          <a:bodyPr/>
          <a:lstStyle/>
          <a:p>
            <a:fld id="{4E9EBC09-8728-46F0-99E6-7C066CF6AFEC}" type="slidenum">
              <a:rPr lang="en-US" smtClean="0"/>
              <a:pPr/>
              <a:t>4</a:t>
            </a:fld>
            <a:endParaRPr lang="en-US" dirty="0"/>
          </a:p>
        </p:txBody>
      </p:sp>
    </p:spTree>
    <p:extLst>
      <p:ext uri="{BB962C8B-B14F-4D97-AF65-F5344CB8AC3E}">
        <p14:creationId xmlns:p14="http://schemas.microsoft.com/office/powerpoint/2010/main" val="3156052520"/>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a:latin typeface="Times New Roman" panose="02020603050405020304" pitchFamily="18" charset="0"/>
                <a:cs typeface="Times New Roman" panose="02020603050405020304" pitchFamily="18" charset="0"/>
              </a:rPr>
              <a:t>AFTO FORM 874</a:t>
            </a:r>
          </a:p>
        </p:txBody>
      </p:sp>
      <p:sp>
        <p:nvSpPr>
          <p:cNvPr id="3" name="Content Placeholder 2"/>
          <p:cNvSpPr>
            <a:spLocks noGrp="1"/>
          </p:cNvSpPr>
          <p:nvPr>
            <p:ph idx="1"/>
          </p:nvPr>
        </p:nvSpPr>
        <p:spPr/>
        <p:txBody>
          <a:bodyPr/>
          <a:lstStyle/>
          <a:p>
            <a:pPr algn="ctr"/>
            <a:r>
              <a:rPr lang="en-US" sz="1400" b="0" dirty="0">
                <a:latin typeface="Times New Roman" panose="02020603050405020304" pitchFamily="18" charset="0"/>
                <a:cs typeface="Times New Roman" panose="02020603050405020304" pitchFamily="18" charset="0"/>
              </a:rPr>
              <a:t>NOTE</a:t>
            </a:r>
          </a:p>
          <a:p>
            <a:r>
              <a:rPr lang="en-US" sz="1400" b="0" dirty="0">
                <a:latin typeface="Times New Roman" panose="02020603050405020304" pitchFamily="18" charset="0"/>
                <a:cs typeface="Times New Roman" panose="02020603050405020304" pitchFamily="18" charset="0"/>
              </a:rPr>
              <a:t>If a TCTO requiring kits/special tools/test equipment must be released as an ITCTO, it may be processed and released prior to completion and approval of the AFTO Form 874.</a:t>
            </a:r>
          </a:p>
          <a:p>
            <a:r>
              <a:rPr lang="en-US" sz="1400" b="0" dirty="0">
                <a:latin typeface="Times New Roman" panose="02020603050405020304" pitchFamily="18" charset="0"/>
                <a:cs typeface="Times New Roman" panose="02020603050405020304" pitchFamily="18" charset="0"/>
              </a:rPr>
              <a:t>However, the TCM must obtain coordination and approval of the supply information in the draft ITCTO before it is released.</a:t>
            </a:r>
          </a:p>
        </p:txBody>
      </p:sp>
      <p:sp>
        <p:nvSpPr>
          <p:cNvPr id="4" name="Slide Number Placeholder 3"/>
          <p:cNvSpPr>
            <a:spLocks noGrp="1"/>
          </p:cNvSpPr>
          <p:nvPr>
            <p:ph type="sldNum" sz="quarter" idx="12"/>
          </p:nvPr>
        </p:nvSpPr>
        <p:spPr/>
        <p:txBody>
          <a:bodyPr/>
          <a:lstStyle/>
          <a:p>
            <a:fld id="{4E9EBC09-8728-46F0-99E6-7C066CF6AFEC}" type="slidenum">
              <a:rPr lang="en-US" smtClean="0"/>
              <a:pPr/>
              <a:t>5</a:t>
            </a:fld>
            <a:endParaRPr lang="en-US"/>
          </a:p>
        </p:txBody>
      </p:sp>
    </p:spTree>
    <p:extLst>
      <p:ext uri="{BB962C8B-B14F-4D97-AF65-F5344CB8AC3E}">
        <p14:creationId xmlns:p14="http://schemas.microsoft.com/office/powerpoint/2010/main" val="1628103392"/>
      </p:ext>
    </p:extLst>
  </p:cSld>
  <p:clrMapOvr>
    <a:masterClrMapping/>
  </p:clrMapOvr>
  <p:transition/>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960738" y="131805"/>
            <a:ext cx="7239000" cy="807309"/>
          </a:xfrm>
        </p:spPr>
        <p:txBody>
          <a:bodyPr/>
          <a:lstStyle/>
          <a:p>
            <a:br>
              <a:rPr lang="en-US" sz="2800" dirty="0">
                <a:latin typeface="Times New Roman" panose="02020603050405020304" pitchFamily="18" charset="0"/>
                <a:cs typeface="Times New Roman" panose="02020603050405020304" pitchFamily="18" charset="0"/>
              </a:rPr>
            </a:b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AFTO FORM 874</a:t>
            </a:r>
            <a:br>
              <a:rPr lang="en-US" sz="2800" dirty="0">
                <a:latin typeface="Times New Roman" panose="02020603050405020304" pitchFamily="18" charset="0"/>
                <a:cs typeface="Times New Roman" panose="02020603050405020304" pitchFamily="18" charset="0"/>
              </a:rPr>
            </a:br>
            <a:br>
              <a:rPr lang="en-US" sz="2800" dirty="0">
                <a:solidFill>
                  <a:srgbClr val="000000"/>
                </a:solidFill>
                <a:latin typeface="Times New Roman" panose="02020603050405020304" pitchFamily="18" charset="0"/>
                <a:cs typeface="Times New Roman" panose="02020603050405020304" pitchFamily="18" charset="0"/>
              </a:rPr>
            </a:br>
            <a:r>
              <a:rPr lang="en-US" sz="2000" dirty="0">
                <a:solidFill>
                  <a:srgbClr val="000000"/>
                </a:solidFill>
                <a:latin typeface="Times New Roman" panose="02020603050405020304" pitchFamily="18" charset="0"/>
                <a:cs typeface="Times New Roman" panose="02020603050405020304" pitchFamily="18" charset="0"/>
              </a:rPr>
              <a:t>	</a:t>
            </a:r>
            <a:endParaRPr lang="en-US" dirty="0"/>
          </a:p>
        </p:txBody>
      </p:sp>
      <p:sp>
        <p:nvSpPr>
          <p:cNvPr id="6" name="Content Placeholder 5"/>
          <p:cNvSpPr>
            <a:spLocks noGrp="1"/>
          </p:cNvSpPr>
          <p:nvPr>
            <p:ph idx="1"/>
          </p:nvPr>
        </p:nvSpPr>
        <p:spPr>
          <a:xfrm>
            <a:off x="0" y="1037772"/>
            <a:ext cx="9144000" cy="5820228"/>
          </a:xfrm>
        </p:spPr>
        <p:txBody>
          <a:bodyPr/>
          <a:lstStyle/>
          <a:p>
            <a:endParaRPr lang="en-US" sz="2000" dirty="0">
              <a:latin typeface="Times New Roman"/>
            </a:endParaRPr>
          </a:p>
          <a:p>
            <a:endParaRPr lang="en-US" sz="2000" dirty="0">
              <a:latin typeface="Times New Roman"/>
            </a:endParaRPr>
          </a:p>
          <a:p>
            <a:r>
              <a:rPr lang="en-US" sz="2000" dirty="0">
                <a:latin typeface="Times New Roman"/>
              </a:rPr>
              <a:t>PRODUCTION MANAGEMENT ACTIVITY (PMA)</a:t>
            </a:r>
          </a:p>
          <a:p>
            <a:pPr lvl="1"/>
            <a:r>
              <a:rPr lang="en-US" sz="1600" b="0" dirty="0">
                <a:latin typeface="Times New Roman"/>
              </a:rPr>
              <a:t>The program office (e.g. TCM/ES, Engineer, TO Manager, Production Management Specialist) that has responsibility for the acquisition and/or sustainment of a weapon system or commodity.</a:t>
            </a:r>
            <a:endParaRPr lang="en-US" sz="1200" b="0" dirty="0">
              <a:latin typeface="Times New Roman"/>
            </a:endParaRPr>
          </a:p>
          <a:p>
            <a:endParaRPr lang="en-US" sz="1600" dirty="0">
              <a:latin typeface="Times New Roman"/>
            </a:endParaRPr>
          </a:p>
          <a:p>
            <a:r>
              <a:rPr lang="en-US" sz="2000" dirty="0">
                <a:latin typeface="Times New Roman"/>
              </a:rPr>
              <a:t>PROGRAM MANAGER (PM) – </a:t>
            </a:r>
            <a:r>
              <a:rPr lang="en-US" sz="1900" dirty="0">
                <a:latin typeface="Times New Roman"/>
              </a:rPr>
              <a:t>As per TO-00-5-15 (3.5.3.3.1 through 3.5.3.3.3) </a:t>
            </a:r>
          </a:p>
          <a:p>
            <a:pPr lvl="1"/>
            <a:r>
              <a:rPr lang="en-US" sz="1600" b="0" dirty="0">
                <a:latin typeface="Times New Roman"/>
              </a:rPr>
              <a:t>The PM will assign the item manager (Supply Planner as well) for the end-item.</a:t>
            </a:r>
          </a:p>
          <a:p>
            <a:pPr lvl="1"/>
            <a:r>
              <a:rPr lang="en-US" sz="1600" b="0" dirty="0">
                <a:latin typeface="Times New Roman"/>
              </a:rPr>
              <a:t>Receiving the AFTO Form 874 from the PMA.</a:t>
            </a:r>
          </a:p>
          <a:p>
            <a:pPr lvl="1"/>
            <a:r>
              <a:rPr lang="en-US" sz="1600" b="0" dirty="0">
                <a:latin typeface="Times New Roman"/>
              </a:rPr>
              <a:t>Assign any additional individual responsibilities and accomplish the coordination of TCTO supply data from affected individual component/piece/part manager. </a:t>
            </a:r>
          </a:p>
          <a:p>
            <a:pPr lvl="1"/>
            <a:r>
              <a:rPr lang="en-US" sz="1600" b="0" dirty="0">
                <a:latin typeface="Times New Roman"/>
              </a:rPr>
              <a:t>Annotate any relevant supply requirements on the AFTO Form 874, obtain kit manager’s signature in the block marked Kit Manager, and return to the PMA</a:t>
            </a:r>
          </a:p>
          <a:p>
            <a:endParaRPr lang="en-US" sz="1600" dirty="0">
              <a:latin typeface="Times New Roman"/>
            </a:endParaRPr>
          </a:p>
          <a:p>
            <a:endParaRPr lang="en-US" sz="1600" dirty="0">
              <a:latin typeface="Times New Roman"/>
            </a:endParaRPr>
          </a:p>
          <a:p>
            <a:pPr marL="0" indent="0">
              <a:buNone/>
            </a:pPr>
            <a:endParaRPr lang="en-US" sz="1600" b="0" dirty="0">
              <a:latin typeface="Times New Roman"/>
            </a:endParaRPr>
          </a:p>
          <a:p>
            <a:pPr marL="0" indent="0">
              <a:buNone/>
            </a:pPr>
            <a:r>
              <a:rPr lang="en-US" sz="1600" b="0" dirty="0">
                <a:latin typeface="Times New Roman"/>
              </a:rPr>
              <a:t> </a:t>
            </a:r>
          </a:p>
          <a:p>
            <a:pPr>
              <a:buFont typeface="Arial" panose="020B0604020202020204" pitchFamily="34" charset="0"/>
              <a:buChar char="•"/>
            </a:pPr>
            <a:endParaRPr lang="en-US" sz="1600" dirty="0">
              <a:latin typeface="Times New Roman"/>
            </a:endParaRPr>
          </a:p>
        </p:txBody>
      </p:sp>
      <p:sp>
        <p:nvSpPr>
          <p:cNvPr id="4" name="Slide Number Placeholder 3"/>
          <p:cNvSpPr>
            <a:spLocks noGrp="1"/>
          </p:cNvSpPr>
          <p:nvPr>
            <p:ph type="sldNum" sz="quarter" idx="12"/>
          </p:nvPr>
        </p:nvSpPr>
        <p:spPr>
          <a:xfrm>
            <a:off x="8875486" y="6589486"/>
            <a:ext cx="268514" cy="268514"/>
          </a:xfrm>
        </p:spPr>
        <p:txBody>
          <a:bodyPr/>
          <a:lstStyle/>
          <a:p>
            <a:fld id="{2D25AA33-DDD5-4FD0-9B78-867DAC491C75}" type="slidenum">
              <a:rPr lang="en-US" smtClean="0"/>
              <a:pPr/>
              <a:t>6</a:t>
            </a:fld>
            <a:endParaRPr lang="en-US" dirty="0"/>
          </a:p>
        </p:txBody>
      </p:sp>
    </p:spTree>
    <p:extLst>
      <p:ext uri="{BB962C8B-B14F-4D97-AF65-F5344CB8AC3E}">
        <p14:creationId xmlns:p14="http://schemas.microsoft.com/office/powerpoint/2010/main" val="3965375487"/>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2800" dirty="0">
                <a:solidFill>
                  <a:srgbClr val="000000"/>
                </a:solidFill>
                <a:latin typeface="Times New Roman" panose="02020603050405020304" pitchFamily="18" charset="0"/>
                <a:cs typeface="Times New Roman" panose="02020603050405020304" pitchFamily="18" charset="0"/>
              </a:rPr>
              <a:t>AFTO FORM 874</a:t>
            </a:r>
            <a:br>
              <a:rPr lang="en-US" sz="2800" dirty="0">
                <a:solidFill>
                  <a:srgbClr val="000000"/>
                </a:solidFill>
                <a:latin typeface="Times New Roman" panose="02020603050405020304" pitchFamily="18" charset="0"/>
                <a:cs typeface="Times New Roman" panose="02020603050405020304" pitchFamily="18" charset="0"/>
              </a:rPr>
            </a:br>
            <a:r>
              <a:rPr lang="en-US" sz="2000" dirty="0">
                <a:solidFill>
                  <a:srgbClr val="000000"/>
                </a:solidFill>
                <a:latin typeface="Times New Roman" panose="02020603050405020304" pitchFamily="18" charset="0"/>
                <a:cs typeface="Times New Roman" panose="02020603050405020304" pitchFamily="18" charset="0"/>
              </a:rPr>
              <a:t>	</a:t>
            </a:r>
            <a:endParaRPr lang="en-US" dirty="0"/>
          </a:p>
        </p:txBody>
      </p:sp>
      <p:sp>
        <p:nvSpPr>
          <p:cNvPr id="6" name="Content Placeholder 5"/>
          <p:cNvSpPr>
            <a:spLocks noGrp="1"/>
          </p:cNvSpPr>
          <p:nvPr>
            <p:ph idx="1"/>
          </p:nvPr>
        </p:nvSpPr>
        <p:spPr>
          <a:xfrm>
            <a:off x="0" y="1037771"/>
            <a:ext cx="9144000" cy="5820229"/>
          </a:xfrm>
        </p:spPr>
        <p:txBody>
          <a:bodyPr/>
          <a:lstStyle/>
          <a:p>
            <a:r>
              <a:rPr lang="en-US" sz="2000" dirty="0">
                <a:latin typeface="Times New Roman" panose="02020603050405020304" pitchFamily="18" charset="0"/>
                <a:cs typeface="Times New Roman" panose="02020603050405020304" pitchFamily="18" charset="0"/>
              </a:rPr>
              <a:t>TECHNICAL CONTENT MANAGER (TCM)/Equipment Specialist (ES) — The individual responsible for </a:t>
            </a:r>
          </a:p>
          <a:p>
            <a:endParaRPr lang="en-US" sz="2000" u="sng" dirty="0">
              <a:latin typeface="Times New Roman" panose="02020603050405020304" pitchFamily="18" charset="0"/>
              <a:cs typeface="Times New Roman" panose="02020603050405020304" pitchFamily="18" charset="0"/>
            </a:endParaRPr>
          </a:p>
          <a:p>
            <a:r>
              <a:rPr lang="en-US" sz="1800" u="sng" dirty="0">
                <a:latin typeface="Times New Roman" panose="02020603050405020304" pitchFamily="18" charset="0"/>
                <a:cs typeface="Times New Roman" panose="02020603050405020304" pitchFamily="18" charset="0"/>
              </a:rPr>
              <a:t>Organically Prepared</a:t>
            </a:r>
          </a:p>
          <a:p>
            <a:pPr lvl="1"/>
            <a:r>
              <a:rPr lang="en-US" sz="1600" b="0" dirty="0">
                <a:latin typeface="Times New Roman" panose="02020603050405020304" pitchFamily="18" charset="0"/>
                <a:cs typeface="Times New Roman" panose="02020603050405020304" pitchFamily="18" charset="0"/>
              </a:rPr>
              <a:t>Submit the AFTO Form 874 for coordination of any supply actions</a:t>
            </a:r>
          </a:p>
          <a:p>
            <a:pPr lvl="1"/>
            <a:r>
              <a:rPr lang="en-US" sz="1600" b="0" dirty="0">
                <a:latin typeface="Times New Roman" panose="02020603050405020304" pitchFamily="18" charset="0"/>
                <a:cs typeface="Times New Roman" panose="02020603050405020304" pitchFamily="18" charset="0"/>
              </a:rPr>
              <a:t>Notify individual IM and DLA responsible for items affected by the TCTO of potential impacts on assigned equipment. </a:t>
            </a:r>
          </a:p>
          <a:p>
            <a:pPr lvl="1"/>
            <a:r>
              <a:rPr lang="en-US" sz="1600" b="0" dirty="0">
                <a:latin typeface="Times New Roman" panose="02020603050405020304" pitchFamily="18" charset="0"/>
                <a:cs typeface="Times New Roman" panose="02020603050405020304" pitchFamily="18" charset="0"/>
              </a:rPr>
              <a:t>Review the completed form upon return from requirements section and submit to PMA.</a:t>
            </a:r>
          </a:p>
          <a:p>
            <a:pPr lvl="1"/>
            <a:endParaRPr lang="en-US" sz="1600" dirty="0">
              <a:latin typeface="Times New Roman" panose="02020603050405020304" pitchFamily="18" charset="0"/>
              <a:cs typeface="Times New Roman" panose="02020603050405020304" pitchFamily="18" charset="0"/>
            </a:endParaRPr>
          </a:p>
          <a:p>
            <a:r>
              <a:rPr lang="en-US" sz="1800" u="sng" dirty="0">
                <a:latin typeface="Times New Roman" panose="02020603050405020304" pitchFamily="18" charset="0"/>
                <a:cs typeface="Times New Roman" panose="02020603050405020304" pitchFamily="18" charset="0"/>
              </a:rPr>
              <a:t>Contractor Prepared</a:t>
            </a:r>
          </a:p>
          <a:p>
            <a:pPr lvl="1"/>
            <a:r>
              <a:rPr lang="en-US" sz="1600" b="0" dirty="0">
                <a:latin typeface="Times New Roman" panose="02020603050405020304" pitchFamily="18" charset="0"/>
                <a:cs typeface="Times New Roman" panose="02020603050405020304" pitchFamily="18" charset="0"/>
              </a:rPr>
              <a:t>Review AFTO Form 874 within 7 days after receipt from the PMA to determine kit requirements and critical items. (As used, pertains to parts which could cause de-modification or create hazardous conditions if re-installed on modified equipment.)</a:t>
            </a:r>
          </a:p>
          <a:p>
            <a:pPr lvl="1"/>
            <a:r>
              <a:rPr lang="en-US" sz="1600" b="0" dirty="0">
                <a:latin typeface="Times New Roman" panose="02020603050405020304" pitchFamily="18" charset="0"/>
                <a:cs typeface="Times New Roman" panose="02020603050405020304" pitchFamily="18" charset="0"/>
              </a:rPr>
              <a:t>Ensure the contractor has listed the NSNs for all stock listed items and the manufacturer part numbers and CAGE codes for non-stock listed items on the AFTO Form 874. </a:t>
            </a:r>
          </a:p>
          <a:p>
            <a:pPr lvl="1"/>
            <a:r>
              <a:rPr lang="en-US" sz="1600" b="0" dirty="0">
                <a:latin typeface="Times New Roman" panose="02020603050405020304" pitchFamily="18" charset="0"/>
                <a:cs typeface="Times New Roman" panose="02020603050405020304" pitchFamily="18" charset="0"/>
              </a:rPr>
              <a:t>Include any items which will require re-identification after modification.  Contact will be made with the PMA to obtain any missing information, and ensure the contractor as calculated the number of kits required for installs and spares (item in stock affected by the modification or inspection). </a:t>
            </a: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pPr marL="0" indent="0">
              <a:buNone/>
            </a:pPr>
            <a:endParaRPr lang="en-US" dirty="0"/>
          </a:p>
        </p:txBody>
      </p:sp>
      <p:sp>
        <p:nvSpPr>
          <p:cNvPr id="4" name="Slide Number Placeholder 3"/>
          <p:cNvSpPr>
            <a:spLocks noGrp="1"/>
          </p:cNvSpPr>
          <p:nvPr>
            <p:ph type="sldNum" sz="quarter" idx="12"/>
          </p:nvPr>
        </p:nvSpPr>
        <p:spPr>
          <a:xfrm>
            <a:off x="8875486" y="6538686"/>
            <a:ext cx="268514" cy="319314"/>
          </a:xfrm>
        </p:spPr>
        <p:txBody>
          <a:bodyPr/>
          <a:lstStyle/>
          <a:p>
            <a:fld id="{286BAC77-68E0-41D0-AB0F-632A4A4763A1}" type="slidenum">
              <a:rPr lang="en-US" smtClean="0"/>
              <a:pPr/>
              <a:t>7</a:t>
            </a:fld>
            <a:endParaRPr lang="en-US" dirty="0"/>
          </a:p>
        </p:txBody>
      </p:sp>
    </p:spTree>
    <p:extLst>
      <p:ext uri="{BB962C8B-B14F-4D97-AF65-F5344CB8AC3E}">
        <p14:creationId xmlns:p14="http://schemas.microsoft.com/office/powerpoint/2010/main" val="952296026"/>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latin typeface="Times New Roman" panose="02020603050405020304" pitchFamily="18" charset="0"/>
                <a:cs typeface="Times New Roman" panose="02020603050405020304" pitchFamily="18" charset="0"/>
              </a:rPr>
              <a:t>AFTO FORM 874</a:t>
            </a:r>
          </a:p>
        </p:txBody>
      </p:sp>
      <p:sp>
        <p:nvSpPr>
          <p:cNvPr id="3" name="Content Placeholder 2"/>
          <p:cNvSpPr>
            <a:spLocks noGrp="1"/>
          </p:cNvSpPr>
          <p:nvPr>
            <p:ph idx="1"/>
          </p:nvPr>
        </p:nvSpPr>
        <p:spPr/>
        <p:txBody>
          <a:bodyPr/>
          <a:lstStyle/>
          <a:p>
            <a:r>
              <a:rPr lang="en-US" sz="1600" dirty="0">
                <a:latin typeface="Times New Roman" panose="02020603050405020304" pitchFamily="18" charset="0"/>
                <a:cs typeface="Times New Roman" panose="02020603050405020304" pitchFamily="18" charset="0"/>
              </a:rPr>
              <a:t>EQUIPMENT SPECIALIST (ES)</a:t>
            </a:r>
          </a:p>
          <a:p>
            <a:r>
              <a:rPr lang="en-US" sz="1600" b="0" dirty="0">
                <a:latin typeface="Times New Roman" panose="02020603050405020304" pitchFamily="18" charset="0"/>
                <a:cs typeface="Times New Roman" panose="02020603050405020304" pitchFamily="18" charset="0"/>
              </a:rPr>
              <a:t>The individual or position responsible for assisting the acquisition team during the development/production phase and for technical management of a system, subsystem or commodity during the sustainment phase of a program.</a:t>
            </a:r>
          </a:p>
          <a:p>
            <a:pPr marL="0" indent="0">
              <a:buNone/>
            </a:pPr>
            <a:endParaRPr lang="en-US" dirty="0"/>
          </a:p>
        </p:txBody>
      </p:sp>
      <p:sp>
        <p:nvSpPr>
          <p:cNvPr id="4" name="Slide Number Placeholder 3"/>
          <p:cNvSpPr>
            <a:spLocks noGrp="1"/>
          </p:cNvSpPr>
          <p:nvPr>
            <p:ph type="sldNum" sz="quarter" idx="12"/>
          </p:nvPr>
        </p:nvSpPr>
        <p:spPr/>
        <p:txBody>
          <a:bodyPr/>
          <a:lstStyle/>
          <a:p>
            <a:fld id="{4E9EBC09-8728-46F0-99E6-7C066CF6AFEC}" type="slidenum">
              <a:rPr lang="en-US" smtClean="0"/>
              <a:pPr/>
              <a:t>8</a:t>
            </a:fld>
            <a:endParaRPr lang="en-US"/>
          </a:p>
        </p:txBody>
      </p:sp>
    </p:spTree>
    <p:extLst>
      <p:ext uri="{BB962C8B-B14F-4D97-AF65-F5344CB8AC3E}">
        <p14:creationId xmlns:p14="http://schemas.microsoft.com/office/powerpoint/2010/main" val="3246477009"/>
      </p:ext>
    </p:extLst>
  </p:cSld>
  <p:clrMapOvr>
    <a:masterClrMapping/>
  </p:clrMapOvr>
  <p:transition/>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048871"/>
            <a:ext cx="9144000" cy="5809129"/>
          </a:xfrm>
        </p:spPr>
        <p:txBody>
          <a:bodyPr/>
          <a:lstStyle/>
          <a:p>
            <a:pPr algn="ctr"/>
            <a:r>
              <a:rPr lang="en-US" sz="2400" dirty="0">
                <a:latin typeface="Times New Roman" panose="02020603050405020304" pitchFamily="18" charset="0"/>
                <a:cs typeface="Times New Roman" panose="02020603050405020304" pitchFamily="18" charset="0"/>
              </a:rPr>
              <a:t>How to fill out the form</a:t>
            </a:r>
          </a:p>
          <a:p>
            <a:pPr algn="ctr"/>
            <a:endParaRPr lang="en-US" sz="1500" dirty="0">
              <a:latin typeface="Times New Roman" panose="02020603050405020304" pitchFamily="18" charset="0"/>
              <a:cs typeface="Times New Roman" panose="02020603050405020304" pitchFamily="18" charset="0"/>
            </a:endParaRPr>
          </a:p>
          <a:p>
            <a:r>
              <a:rPr lang="en-US" sz="1700" u="sng" dirty="0">
                <a:latin typeface="Times New Roman" panose="02020603050405020304" pitchFamily="18" charset="0"/>
                <a:cs typeface="Times New Roman" panose="02020603050405020304" pitchFamily="18" charset="0"/>
              </a:rPr>
              <a:t>Block 1 - Return To:</a:t>
            </a:r>
            <a:r>
              <a:rPr lang="en-US" sz="1700" b="0" dirty="0">
                <a:latin typeface="Times New Roman" panose="02020603050405020304" pitchFamily="18" charset="0"/>
                <a:cs typeface="Times New Roman" panose="02020603050405020304" pitchFamily="18" charset="0"/>
              </a:rPr>
              <a:t> The activity preparing the TCTO (TCM/ES or contractor return address).</a:t>
            </a:r>
          </a:p>
          <a:p>
            <a:endParaRPr lang="en-US" sz="1700" b="0" dirty="0">
              <a:latin typeface="Times New Roman" panose="02020603050405020304" pitchFamily="18" charset="0"/>
              <a:cs typeface="Times New Roman" panose="02020603050405020304" pitchFamily="18" charset="0"/>
            </a:endParaRPr>
          </a:p>
          <a:p>
            <a:r>
              <a:rPr lang="en-US" sz="1700" u="sng" dirty="0">
                <a:latin typeface="Times New Roman" panose="02020603050405020304" pitchFamily="18" charset="0"/>
                <a:cs typeface="Times New Roman" panose="02020603050405020304" pitchFamily="18" charset="0"/>
              </a:rPr>
              <a:t>Block 2 – Date:</a:t>
            </a:r>
            <a:r>
              <a:rPr lang="en-US" sz="1700" b="0" dirty="0">
                <a:latin typeface="Times New Roman" panose="02020603050405020304" pitchFamily="18" charset="0"/>
                <a:cs typeface="Times New Roman" panose="02020603050405020304" pitchFamily="18" charset="0"/>
              </a:rPr>
              <a:t> Form preparation date or (if contractor-prepared) date submitted to the government. (YYYY-MM-DD)</a:t>
            </a:r>
          </a:p>
          <a:p>
            <a:endParaRPr lang="en-US" sz="1700" b="0" dirty="0">
              <a:latin typeface="Times New Roman" panose="02020603050405020304" pitchFamily="18" charset="0"/>
              <a:cs typeface="Times New Roman" panose="02020603050405020304" pitchFamily="18" charset="0"/>
            </a:endParaRPr>
          </a:p>
          <a:p>
            <a:r>
              <a:rPr lang="en-US" sz="1700" u="sng" dirty="0">
                <a:latin typeface="Times New Roman" panose="02020603050405020304" pitchFamily="18" charset="0"/>
                <a:cs typeface="Times New Roman" panose="02020603050405020304" pitchFamily="18" charset="0"/>
              </a:rPr>
              <a:t>Block 3 - Date First Kit Must Be Available:</a:t>
            </a:r>
            <a:r>
              <a:rPr lang="en-US" sz="1700" b="0" dirty="0">
                <a:latin typeface="Times New Roman" panose="02020603050405020304" pitchFamily="18" charset="0"/>
                <a:cs typeface="Times New Roman" panose="02020603050405020304" pitchFamily="18" charset="0"/>
              </a:rPr>
              <a:t> Determined by PM/LMS based on modification program requirements. (YYYY-MM-DD)</a:t>
            </a:r>
          </a:p>
          <a:p>
            <a:endParaRPr lang="en-US" sz="1700" b="0" dirty="0">
              <a:latin typeface="Times New Roman" panose="02020603050405020304" pitchFamily="18" charset="0"/>
              <a:cs typeface="Times New Roman" panose="02020603050405020304" pitchFamily="18" charset="0"/>
            </a:endParaRPr>
          </a:p>
          <a:p>
            <a:r>
              <a:rPr lang="en-US" sz="1700" u="sng" dirty="0">
                <a:latin typeface="Times New Roman" panose="02020603050405020304" pitchFamily="18" charset="0"/>
                <a:cs typeface="Times New Roman" panose="02020603050405020304" pitchFamily="18" charset="0"/>
              </a:rPr>
              <a:t>Block 4 - TCTO Number:</a:t>
            </a:r>
            <a:r>
              <a:rPr lang="en-US" sz="1700" b="0" dirty="0">
                <a:latin typeface="Times New Roman" panose="02020603050405020304" pitchFamily="18" charset="0"/>
                <a:cs typeface="Times New Roman" panose="02020603050405020304" pitchFamily="18" charset="0"/>
              </a:rPr>
              <a:t> Obtain from the AFTO Form 873 or TO Manager (TOMA). </a:t>
            </a:r>
          </a:p>
          <a:p>
            <a:endParaRPr lang="en-US" sz="1700" b="0" dirty="0">
              <a:latin typeface="Times New Roman" panose="02020603050405020304" pitchFamily="18" charset="0"/>
              <a:cs typeface="Times New Roman" panose="02020603050405020304" pitchFamily="18" charset="0"/>
            </a:endParaRPr>
          </a:p>
          <a:p>
            <a:r>
              <a:rPr lang="en-US" sz="1700" u="sng" dirty="0">
                <a:latin typeface="Times New Roman" panose="02020603050405020304" pitchFamily="18" charset="0"/>
                <a:cs typeface="Times New Roman" panose="02020603050405020304" pitchFamily="18" charset="0"/>
              </a:rPr>
              <a:t>Block 5 - Data Code Number:</a:t>
            </a:r>
            <a:r>
              <a:rPr lang="en-US" sz="1700" b="0" dirty="0">
                <a:latin typeface="Times New Roman" panose="02020603050405020304" pitchFamily="18" charset="0"/>
                <a:cs typeface="Times New Roman" panose="02020603050405020304" pitchFamily="18" charset="0"/>
              </a:rPr>
              <a:t> Obtain from the AFTO Form 873 or TO Manager. </a:t>
            </a:r>
          </a:p>
          <a:p>
            <a:endParaRPr lang="en-US" sz="1700" b="0" dirty="0">
              <a:latin typeface="Times New Roman" panose="02020603050405020304" pitchFamily="18" charset="0"/>
              <a:cs typeface="Times New Roman" panose="02020603050405020304" pitchFamily="18" charset="0"/>
            </a:endParaRPr>
          </a:p>
          <a:p>
            <a:r>
              <a:rPr lang="en-US" sz="1700" u="sng" dirty="0">
                <a:latin typeface="Times New Roman" panose="02020603050405020304" pitchFamily="18" charset="0"/>
                <a:cs typeface="Times New Roman" panose="02020603050405020304" pitchFamily="18" charset="0"/>
              </a:rPr>
              <a:t>Block 6 - TCTO Title and Application:</a:t>
            </a:r>
            <a:r>
              <a:rPr lang="en-US" sz="1700" b="0" dirty="0">
                <a:latin typeface="Times New Roman" panose="02020603050405020304" pitchFamily="18" charset="0"/>
                <a:cs typeface="Times New Roman" panose="02020603050405020304" pitchFamily="18" charset="0"/>
              </a:rPr>
              <a:t> Obtain from the AFTO 873</a:t>
            </a:r>
          </a:p>
          <a:p>
            <a:endParaRPr lang="en-US" sz="1700" b="0" dirty="0">
              <a:latin typeface="Times New Roman" panose="02020603050405020304" pitchFamily="18" charset="0"/>
              <a:cs typeface="Times New Roman" panose="02020603050405020304" pitchFamily="18" charset="0"/>
            </a:endParaRPr>
          </a:p>
          <a:p>
            <a:r>
              <a:rPr lang="en-US" sz="1700" u="sng" dirty="0">
                <a:latin typeface="Times New Roman" panose="02020603050405020304" pitchFamily="18" charset="0"/>
                <a:cs typeface="Times New Roman" panose="02020603050405020304" pitchFamily="18" charset="0"/>
              </a:rPr>
              <a:t>Block 7 - Kit Assembly:</a:t>
            </a:r>
            <a:r>
              <a:rPr lang="en-US" sz="1700" b="0" dirty="0">
                <a:latin typeface="Times New Roman" panose="02020603050405020304" pitchFamily="18" charset="0"/>
                <a:cs typeface="Times New Roman" panose="02020603050405020304" pitchFamily="18" charset="0"/>
              </a:rPr>
              <a:t> Check the appropriate box from the following choices; Contractor, Depot or DLA.</a:t>
            </a:r>
          </a:p>
          <a:p>
            <a:pPr marL="0" indent="0">
              <a:buNone/>
            </a:pPr>
            <a:r>
              <a:rPr lang="en-US" sz="1800" b="0" dirty="0">
                <a:latin typeface="Times New Roman" panose="02020603050405020304" pitchFamily="18" charset="0"/>
                <a:cs typeface="Times New Roman" panose="02020603050405020304" pitchFamily="18" charset="0"/>
              </a:rPr>
              <a:t> </a:t>
            </a:r>
          </a:p>
        </p:txBody>
      </p:sp>
      <p:sp>
        <p:nvSpPr>
          <p:cNvPr id="4" name="Slide Number Placeholder 3"/>
          <p:cNvSpPr>
            <a:spLocks noGrp="1"/>
          </p:cNvSpPr>
          <p:nvPr>
            <p:ph type="sldNum" sz="quarter" idx="12"/>
          </p:nvPr>
        </p:nvSpPr>
        <p:spPr>
          <a:xfrm>
            <a:off x="8839200" y="6544235"/>
            <a:ext cx="304800" cy="313765"/>
          </a:xfrm>
        </p:spPr>
        <p:txBody>
          <a:bodyPr/>
          <a:lstStyle/>
          <a:p>
            <a:fld id="{4E9EBC09-8728-46F0-99E6-7C066CF6AFEC}" type="slidenum">
              <a:rPr lang="en-US" smtClean="0"/>
              <a:pPr/>
              <a:t>9</a:t>
            </a:fld>
            <a:endParaRPr lang="en-US"/>
          </a:p>
        </p:txBody>
      </p:sp>
      <p:sp>
        <p:nvSpPr>
          <p:cNvPr id="6" name="Title 5">
            <a:extLst>
              <a:ext uri="{FF2B5EF4-FFF2-40B4-BE49-F238E27FC236}">
                <a16:creationId xmlns:a16="http://schemas.microsoft.com/office/drawing/2014/main" id="{A15DD7F2-62AA-E121-A767-63DF9026A9BC}"/>
              </a:ext>
            </a:extLst>
          </p:cNvPr>
          <p:cNvSpPr>
            <a:spLocks noGrp="1"/>
          </p:cNvSpPr>
          <p:nvPr>
            <p:ph type="title"/>
          </p:nvPr>
        </p:nvSpPr>
        <p:spPr>
          <a:xfrm>
            <a:off x="0" y="-1"/>
            <a:ext cx="9144000" cy="1048871"/>
          </a:xfrm>
        </p:spPr>
        <p:txBody>
          <a:bodyPr/>
          <a:lstStyle/>
          <a:p>
            <a:r>
              <a:rPr lang="en-US" sz="2800" dirty="0">
                <a:solidFill>
                  <a:srgbClr val="000000"/>
                </a:solidFill>
                <a:latin typeface="Times New Roman" panose="02020603050405020304" pitchFamily="18" charset="0"/>
                <a:cs typeface="Times New Roman" panose="02020603050405020304" pitchFamily="18" charset="0"/>
              </a:rPr>
              <a:t>AFTO FORM 874</a:t>
            </a:r>
            <a:br>
              <a:rPr lang="en-US" sz="4000" dirty="0">
                <a:solidFill>
                  <a:srgbClr val="000000"/>
                </a:solidFill>
                <a:latin typeface="Times New Roman" panose="02020603050405020304" pitchFamily="18" charset="0"/>
                <a:cs typeface="Times New Roman" panose="02020603050405020304" pitchFamily="18" charset="0"/>
              </a:rPr>
            </a:br>
            <a:r>
              <a:rPr lang="en-US" sz="2000" dirty="0">
                <a:solidFill>
                  <a:srgbClr val="000000"/>
                </a:solidFill>
                <a:latin typeface="Times New Roman" panose="02020603050405020304" pitchFamily="18" charset="0"/>
                <a:cs typeface="Times New Roman" panose="02020603050405020304" pitchFamily="18" charset="0"/>
              </a:rPr>
              <a:t>Heading Information</a:t>
            </a:r>
            <a:endParaRPr lang="en-US" sz="2000" dirty="0"/>
          </a:p>
        </p:txBody>
      </p:sp>
    </p:spTree>
    <p:extLst>
      <p:ext uri="{BB962C8B-B14F-4D97-AF65-F5344CB8AC3E}">
        <p14:creationId xmlns:p14="http://schemas.microsoft.com/office/powerpoint/2010/main" val="2735271843"/>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solidFill>
                  <a:srgbClr val="000000"/>
                </a:solidFill>
                <a:latin typeface="Times New Roman" panose="02020603050405020304" pitchFamily="18" charset="0"/>
                <a:cs typeface="Times New Roman" panose="02020603050405020304" pitchFamily="18" charset="0"/>
              </a:rPr>
              <a:t>AFTO FORM 874</a:t>
            </a:r>
            <a:br>
              <a:rPr lang="en-US" sz="2800" dirty="0">
                <a:solidFill>
                  <a:srgbClr val="000000"/>
                </a:solidFill>
                <a:latin typeface="Times New Roman" panose="02020603050405020304" pitchFamily="18" charset="0"/>
                <a:cs typeface="Times New Roman" panose="02020603050405020304" pitchFamily="18" charset="0"/>
              </a:rPr>
            </a:br>
            <a:r>
              <a:rPr lang="en-US" sz="2400" u="sng" dirty="0">
                <a:solidFill>
                  <a:srgbClr val="000000"/>
                </a:solidFill>
                <a:latin typeface="Times New Roman" panose="02020603050405020304" pitchFamily="18" charset="0"/>
                <a:cs typeface="Times New Roman" panose="02020603050405020304" pitchFamily="18" charset="0"/>
              </a:rPr>
              <a:t>PART A</a:t>
            </a:r>
            <a:endParaRPr lang="en-US" sz="2400" u="sng" dirty="0"/>
          </a:p>
        </p:txBody>
      </p:sp>
      <p:sp>
        <p:nvSpPr>
          <p:cNvPr id="4" name="Slide Number Placeholder 3"/>
          <p:cNvSpPr>
            <a:spLocks noGrp="1"/>
          </p:cNvSpPr>
          <p:nvPr>
            <p:ph type="sldNum" sz="quarter" idx="12"/>
          </p:nvPr>
        </p:nvSpPr>
        <p:spPr>
          <a:xfrm>
            <a:off x="8720667" y="6468533"/>
            <a:ext cx="423333" cy="389467"/>
          </a:xfrm>
        </p:spPr>
        <p:txBody>
          <a:bodyPr/>
          <a:lstStyle/>
          <a:p>
            <a:fld id="{4E9EBC09-8728-46F0-99E6-7C066CF6AFEC}" type="slidenum">
              <a:rPr lang="en-US" smtClean="0"/>
              <a:pPr/>
              <a:t>10</a:t>
            </a:fld>
            <a:endParaRPr lang="en-US" dirty="0"/>
          </a:p>
        </p:txBody>
      </p:sp>
      <p:sp>
        <p:nvSpPr>
          <p:cNvPr id="6" name="Content Placeholder 5">
            <a:extLst>
              <a:ext uri="{FF2B5EF4-FFF2-40B4-BE49-F238E27FC236}">
                <a16:creationId xmlns:a16="http://schemas.microsoft.com/office/drawing/2014/main" id="{F387D036-8027-4FE1-8AEA-552167E15372}"/>
              </a:ext>
            </a:extLst>
          </p:cNvPr>
          <p:cNvSpPr>
            <a:spLocks noGrp="1"/>
          </p:cNvSpPr>
          <p:nvPr>
            <p:ph idx="1"/>
          </p:nvPr>
        </p:nvSpPr>
        <p:spPr>
          <a:xfrm>
            <a:off x="0" y="1066800"/>
            <a:ext cx="9144000" cy="5791200"/>
          </a:xfrm>
        </p:spPr>
        <p:txBody>
          <a:bodyPr/>
          <a:lstStyle/>
          <a:p>
            <a:pPr marL="0" indent="0" algn="ctr">
              <a:buNone/>
            </a:pPr>
            <a:endParaRPr lang="en-US" sz="2400" dirty="0"/>
          </a:p>
          <a:p>
            <a:r>
              <a:rPr lang="en-US" sz="1800" u="sng" dirty="0"/>
              <a:t>Block 1 – Kits to be furnished by requisition from:</a:t>
            </a:r>
            <a:r>
              <a:rPr lang="en-US" sz="1800" dirty="0"/>
              <a:t> </a:t>
            </a:r>
            <a:r>
              <a:rPr lang="en-US" sz="1800" b="0" dirty="0"/>
              <a:t>Obtain from owning agency.</a:t>
            </a:r>
          </a:p>
          <a:p>
            <a:pPr lvl="1"/>
            <a:r>
              <a:rPr lang="en-US" sz="1600" u="sng" dirty="0"/>
              <a:t>Block 1a – Number of Kits required:</a:t>
            </a:r>
            <a:r>
              <a:rPr lang="en-US" sz="1600" b="0" dirty="0"/>
              <a:t> Enter the number of kits being acquired. </a:t>
            </a:r>
          </a:p>
          <a:p>
            <a:pPr lvl="1"/>
            <a:r>
              <a:rPr lang="en-US" sz="1600" u="sng" dirty="0"/>
              <a:t>Block 1b – Required materials requisitioned from appropriate agency:</a:t>
            </a:r>
            <a:r>
              <a:rPr lang="en-US" sz="1600" b="0" dirty="0"/>
              <a:t> Enter the agency from where the required materials will be obtained from. </a:t>
            </a:r>
          </a:p>
          <a:p>
            <a:pPr lvl="1"/>
            <a:r>
              <a:rPr lang="en-US" sz="1600" u="sng" dirty="0"/>
              <a:t>Block 1c – Delivery of Kits/parts is scheduled to begin </a:t>
            </a:r>
            <a:r>
              <a:rPr lang="en-US" sz="1600" u="sng" dirty="0" err="1"/>
              <a:t>about_________and</a:t>
            </a:r>
            <a:r>
              <a:rPr lang="en-US" sz="1600" u="sng" dirty="0"/>
              <a:t> be completed by________:</a:t>
            </a:r>
            <a:r>
              <a:rPr lang="en-US" sz="1600" b="0" dirty="0"/>
              <a:t> Enter the dates from the dropdown calendar that the scheduled delivery of kits/parts are expected to begin, and when the deliveries are to be completed.  </a:t>
            </a:r>
          </a:p>
          <a:p>
            <a:pPr lvl="1"/>
            <a:endParaRPr lang="en-US" sz="1200" b="0" dirty="0"/>
          </a:p>
          <a:p>
            <a:pPr lvl="1"/>
            <a:endParaRPr lang="en-US" sz="1200" b="0" dirty="0"/>
          </a:p>
          <a:p>
            <a:pPr indent="-285750"/>
            <a:r>
              <a:rPr lang="en-US" sz="1800" u="sng" dirty="0"/>
              <a:t>Block 2 – Kit information and components.  List all items required for the modification:</a:t>
            </a:r>
            <a:r>
              <a:rPr lang="en-US" sz="1800" b="0" dirty="0"/>
              <a:t> List all required kit information in the applicable column.  List kit information on 1</a:t>
            </a:r>
            <a:r>
              <a:rPr lang="en-US" sz="1800" b="0" baseline="30000" dirty="0"/>
              <a:t>st</a:t>
            </a:r>
            <a:r>
              <a:rPr lang="en-US" sz="1800" b="0" dirty="0"/>
              <a:t> line with components on subsequent.  List the assigned NSN of the item being modified or inspected or the computer program identification number (CPIN) of the software being distributed.  If an NSN has not been assigned, enter the stock class followed by the manufacturer part number, nomenclature, and CAGE (Commercial and Government entity code).  List the applicable code from the choices listed (if applicable). </a:t>
            </a:r>
          </a:p>
        </p:txBody>
      </p:sp>
    </p:spTree>
    <p:extLst>
      <p:ext uri="{BB962C8B-B14F-4D97-AF65-F5344CB8AC3E}">
        <p14:creationId xmlns:p14="http://schemas.microsoft.com/office/powerpoint/2010/main" val="1688555101"/>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6BF8A-FE40-9C16-F998-58D5A68050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138B19-B05C-A31B-E8D8-EF47946497EA}"/>
              </a:ext>
            </a:extLst>
          </p:cNvPr>
          <p:cNvSpPr>
            <a:spLocks noGrp="1"/>
          </p:cNvSpPr>
          <p:nvPr>
            <p:ph type="title"/>
          </p:nvPr>
        </p:nvSpPr>
        <p:spPr/>
        <p:txBody>
          <a:bodyPr/>
          <a:lstStyle/>
          <a:p>
            <a:r>
              <a:rPr lang="en-US" sz="2800" dirty="0">
                <a:solidFill>
                  <a:srgbClr val="000000"/>
                </a:solidFill>
                <a:latin typeface="Times New Roman" panose="02020603050405020304" pitchFamily="18" charset="0"/>
                <a:cs typeface="Times New Roman" panose="02020603050405020304" pitchFamily="18" charset="0"/>
              </a:rPr>
              <a:t>AFTO FORM 874</a:t>
            </a:r>
            <a:br>
              <a:rPr lang="en-US" sz="2800" dirty="0">
                <a:solidFill>
                  <a:srgbClr val="000000"/>
                </a:solidFill>
                <a:latin typeface="Times New Roman" panose="02020603050405020304" pitchFamily="18" charset="0"/>
                <a:cs typeface="Times New Roman" panose="02020603050405020304" pitchFamily="18" charset="0"/>
              </a:rPr>
            </a:br>
            <a:r>
              <a:rPr lang="en-US" sz="2400" u="sng" dirty="0">
                <a:solidFill>
                  <a:srgbClr val="000000"/>
                </a:solidFill>
                <a:latin typeface="Times New Roman" panose="02020603050405020304" pitchFamily="18" charset="0"/>
                <a:cs typeface="Times New Roman" panose="02020603050405020304" pitchFamily="18" charset="0"/>
              </a:rPr>
              <a:t>PART A</a:t>
            </a:r>
            <a:endParaRPr lang="en-US" sz="2400" u="sng" dirty="0"/>
          </a:p>
        </p:txBody>
      </p:sp>
      <p:sp>
        <p:nvSpPr>
          <p:cNvPr id="4" name="Slide Number Placeholder 3">
            <a:extLst>
              <a:ext uri="{FF2B5EF4-FFF2-40B4-BE49-F238E27FC236}">
                <a16:creationId xmlns:a16="http://schemas.microsoft.com/office/drawing/2014/main" id="{C4A1D309-FABB-DB77-673B-C12E7B2FFA11}"/>
              </a:ext>
            </a:extLst>
          </p:cNvPr>
          <p:cNvSpPr>
            <a:spLocks noGrp="1"/>
          </p:cNvSpPr>
          <p:nvPr>
            <p:ph type="sldNum" sz="quarter" idx="12"/>
          </p:nvPr>
        </p:nvSpPr>
        <p:spPr>
          <a:xfrm>
            <a:off x="8720667" y="6468533"/>
            <a:ext cx="423333" cy="389467"/>
          </a:xfrm>
        </p:spPr>
        <p:txBody>
          <a:bodyPr/>
          <a:lstStyle/>
          <a:p>
            <a:fld id="{4E9EBC09-8728-46F0-99E6-7C066CF6AFEC}" type="slidenum">
              <a:rPr lang="en-US" smtClean="0"/>
              <a:pPr/>
              <a:t>11</a:t>
            </a:fld>
            <a:endParaRPr lang="en-US" dirty="0"/>
          </a:p>
        </p:txBody>
      </p:sp>
      <p:pic>
        <p:nvPicPr>
          <p:cNvPr id="5" name="Content Placeholder 4" descr="Table&#10;&#10;AI-generated content may be incorrect.">
            <a:extLst>
              <a:ext uri="{FF2B5EF4-FFF2-40B4-BE49-F238E27FC236}">
                <a16:creationId xmlns:a16="http://schemas.microsoft.com/office/drawing/2014/main" id="{CF70BE62-A6DB-2EAF-BFE9-3DAD859DEDE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19112" y="1227604"/>
            <a:ext cx="8105775" cy="5353050"/>
          </a:xfrm>
        </p:spPr>
      </p:pic>
    </p:spTree>
    <p:extLst>
      <p:ext uri="{BB962C8B-B14F-4D97-AF65-F5344CB8AC3E}">
        <p14:creationId xmlns:p14="http://schemas.microsoft.com/office/powerpoint/2010/main" val="4060645237"/>
      </p:ext>
    </p:extLst>
  </p:cSld>
  <p:clrMapOvr>
    <a:masterClrMapping/>
  </p:clrMapOvr>
  <p:transition/>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6200"/>
            <a:ext cx="9144000" cy="838200"/>
          </a:xfrm>
        </p:spPr>
        <p:txBody>
          <a:bodyPr/>
          <a:lstStyle/>
          <a:p>
            <a:br>
              <a:rPr lang="en-US" sz="2800" dirty="0">
                <a:solidFill>
                  <a:srgbClr val="000000"/>
                </a:solidFill>
                <a:latin typeface="Times New Roman" panose="02020603050405020304" pitchFamily="18" charset="0"/>
                <a:cs typeface="Times New Roman" panose="02020603050405020304" pitchFamily="18" charset="0"/>
              </a:rPr>
            </a:br>
            <a:r>
              <a:rPr lang="en-US" sz="2800" dirty="0">
                <a:solidFill>
                  <a:srgbClr val="000000"/>
                </a:solidFill>
                <a:latin typeface="Times New Roman" panose="02020603050405020304" pitchFamily="18" charset="0"/>
                <a:cs typeface="Times New Roman" panose="02020603050405020304" pitchFamily="18" charset="0"/>
              </a:rPr>
              <a:t>AFTO FORM 874</a:t>
            </a:r>
            <a:br>
              <a:rPr lang="en-US" sz="2800" dirty="0">
                <a:solidFill>
                  <a:srgbClr val="000000"/>
                </a:solidFill>
                <a:latin typeface="Times New Roman" panose="02020603050405020304" pitchFamily="18" charset="0"/>
                <a:cs typeface="Times New Roman" panose="02020603050405020304" pitchFamily="18" charset="0"/>
              </a:rPr>
            </a:br>
            <a:r>
              <a:rPr lang="en-US" sz="2400" u="sng" dirty="0">
                <a:latin typeface="Times New Roman" panose="02020603050405020304" pitchFamily="18" charset="0"/>
                <a:cs typeface="Times New Roman" panose="02020603050405020304" pitchFamily="18" charset="0"/>
              </a:rPr>
              <a:t>Part B - Action Required On Spares</a:t>
            </a:r>
            <a:br>
              <a:rPr lang="en-US" b="0" dirty="0">
                <a:latin typeface="Times New Roman" panose="02020603050405020304" pitchFamily="18" charset="0"/>
                <a:cs typeface="Times New Roman" panose="02020603050405020304" pitchFamily="18" charset="0"/>
              </a:rPr>
            </a:br>
            <a:endParaRPr lang="en-US" dirty="0"/>
          </a:p>
        </p:txBody>
      </p:sp>
      <p:sp>
        <p:nvSpPr>
          <p:cNvPr id="3" name="Content Placeholder 2"/>
          <p:cNvSpPr>
            <a:spLocks noGrp="1"/>
          </p:cNvSpPr>
          <p:nvPr>
            <p:ph idx="1"/>
          </p:nvPr>
        </p:nvSpPr>
        <p:spPr>
          <a:xfrm>
            <a:off x="0" y="1049867"/>
            <a:ext cx="9144000" cy="5808133"/>
          </a:xfrm>
        </p:spPr>
        <p:txBody>
          <a:bodyPr/>
          <a:lstStyle/>
          <a:p>
            <a:pPr algn="ctr"/>
            <a:endParaRPr lang="en-US" sz="1600" b="0" dirty="0">
              <a:latin typeface="Times New Roman" panose="02020603050405020304" pitchFamily="18" charset="0"/>
              <a:cs typeface="Times New Roman" panose="02020603050405020304" pitchFamily="18" charset="0"/>
            </a:endParaRPr>
          </a:p>
          <a:p>
            <a:r>
              <a:rPr lang="en-US" sz="2000" u="sng" dirty="0">
                <a:latin typeface="Times New Roman" panose="02020603050405020304" pitchFamily="18" charset="0"/>
                <a:cs typeface="Times New Roman" panose="02020603050405020304" pitchFamily="18" charset="0"/>
              </a:rPr>
              <a:t>Block 1 – Spares to be modified:</a:t>
            </a:r>
            <a:r>
              <a:rPr lang="en-US" sz="2000" b="0" dirty="0">
                <a:latin typeface="Times New Roman" panose="02020603050405020304" pitchFamily="18" charset="0"/>
                <a:cs typeface="Times New Roman" panose="02020603050405020304" pitchFamily="18" charset="0"/>
              </a:rPr>
              <a:t> Check the applicable box “YES” or “NO”.  If yes, indicate action required in Action column with reference to the applicable phrase 1a through 1e.  </a:t>
            </a:r>
          </a:p>
          <a:p>
            <a:endParaRPr lang="en-US" sz="2000" b="0" dirty="0">
              <a:latin typeface="Times New Roman" panose="02020603050405020304" pitchFamily="18" charset="0"/>
              <a:cs typeface="Times New Roman" panose="02020603050405020304" pitchFamily="18" charset="0"/>
            </a:endParaRPr>
          </a:p>
          <a:p>
            <a:r>
              <a:rPr lang="en-US" sz="2000" u="sng" dirty="0">
                <a:latin typeface="Times New Roman" panose="02020603050405020304" pitchFamily="18" charset="0"/>
                <a:cs typeface="Times New Roman" panose="02020603050405020304" pitchFamily="18" charset="0"/>
              </a:rPr>
              <a:t>Block 2 – War Reserve Material to be modified:</a:t>
            </a:r>
            <a:r>
              <a:rPr lang="en-US" sz="2000" b="0" dirty="0">
                <a:latin typeface="Times New Roman" panose="02020603050405020304" pitchFamily="18" charset="0"/>
                <a:cs typeface="Times New Roman" panose="02020603050405020304" pitchFamily="18" charset="0"/>
              </a:rPr>
              <a:t> Check the application box “YES” or “NO”. </a:t>
            </a:r>
          </a:p>
          <a:p>
            <a:pPr lvl="1"/>
            <a:r>
              <a:rPr lang="en-US" sz="1600" u="sng" dirty="0">
                <a:latin typeface="Times New Roman" panose="02020603050405020304" pitchFamily="18" charset="0"/>
                <a:cs typeface="Times New Roman" panose="02020603050405020304" pitchFamily="18" charset="0"/>
              </a:rPr>
              <a:t>Block 2a – War Reserve Material Stocks in storage site(s):</a:t>
            </a:r>
            <a:r>
              <a:rPr lang="en-US" sz="1600" b="0" dirty="0">
                <a:latin typeface="Times New Roman" panose="02020603050405020304" pitchFamily="18" charset="0"/>
                <a:cs typeface="Times New Roman" panose="02020603050405020304" pitchFamily="18" charset="0"/>
              </a:rPr>
              <a:t> Enter where the items are to be shipped to and check the applicable box for Rework, Salvage, Reclamation, or any other applicable action. </a:t>
            </a:r>
          </a:p>
          <a:p>
            <a:pPr lvl="1"/>
            <a:endParaRPr lang="en-US" sz="1400" b="0" dirty="0">
              <a:latin typeface="Times New Roman" panose="02020603050405020304" pitchFamily="18" charset="0"/>
              <a:cs typeface="Times New Roman" panose="02020603050405020304" pitchFamily="18" charset="0"/>
            </a:endParaRPr>
          </a:p>
          <a:p>
            <a:pPr indent="-285750"/>
            <a:r>
              <a:rPr lang="en-US" sz="2000" u="sng" dirty="0">
                <a:latin typeface="Times New Roman" panose="02020603050405020304" pitchFamily="18" charset="0"/>
                <a:cs typeface="Times New Roman" panose="02020603050405020304" pitchFamily="18" charset="0"/>
              </a:rPr>
              <a:t>Block 3 – Modified Locally:</a:t>
            </a:r>
            <a:r>
              <a:rPr lang="en-US" sz="2000" b="0" dirty="0">
                <a:latin typeface="Times New Roman" panose="02020603050405020304" pitchFamily="18" charset="0"/>
                <a:cs typeface="Times New Roman" panose="02020603050405020304" pitchFamily="18" charset="0"/>
              </a:rPr>
              <a:t> Check the application box “YES” or “NO” if local modification is to be performed.  If yes, perform the tasks listed in 3a through 3e.  In item 3c, select the disposal date from the dropdown calendar.  If 3e is utilized, enter any other action to be taken.</a:t>
            </a:r>
          </a:p>
          <a:p>
            <a:pPr indent="-285750"/>
            <a:endParaRPr lang="en-US" sz="2000" b="0" dirty="0">
              <a:latin typeface="Times New Roman" panose="02020603050405020304" pitchFamily="18" charset="0"/>
              <a:cs typeface="Times New Roman" panose="02020603050405020304" pitchFamily="18" charset="0"/>
            </a:endParaRPr>
          </a:p>
          <a:p>
            <a:pPr indent="-285750"/>
            <a:r>
              <a:rPr lang="en-US" sz="2000" u="sng" dirty="0">
                <a:latin typeface="Times New Roman" panose="02020603050405020304" pitchFamily="18" charset="0"/>
                <a:cs typeface="Times New Roman" panose="02020603050405020304" pitchFamily="18" charset="0"/>
              </a:rPr>
              <a:t>Block 4 – All Spares Information:</a:t>
            </a:r>
            <a:r>
              <a:rPr lang="en-US" sz="2000" b="0" dirty="0">
                <a:latin typeface="Times New Roman" panose="02020603050405020304" pitchFamily="18" charset="0"/>
                <a:cs typeface="Times New Roman" panose="02020603050405020304" pitchFamily="18" charset="0"/>
              </a:rPr>
              <a:t> List all required spare information in the applicable column.  Codes from Part A, Block 2 will be utilized in the Code column.  </a:t>
            </a:r>
          </a:p>
          <a:p>
            <a:endParaRPr lang="en-US" sz="1600" b="0" dirty="0">
              <a:latin typeface="Times New Roman" panose="02020603050405020304" pitchFamily="18" charset="0"/>
              <a:cs typeface="Times New Roman" panose="02020603050405020304" pitchFamily="18" charset="0"/>
            </a:endParaRPr>
          </a:p>
          <a:p>
            <a:endParaRPr lang="en-US" sz="1600" b="0" dirty="0">
              <a:latin typeface="Times New Roman" panose="02020603050405020304" pitchFamily="18" charset="0"/>
              <a:cs typeface="Times New Roman" panose="02020603050405020304" pitchFamily="18" charset="0"/>
            </a:endParaRPr>
          </a:p>
          <a:p>
            <a:endParaRPr lang="en-US" sz="1600" b="0" dirty="0">
              <a:latin typeface="Times New Roman" panose="02020603050405020304" pitchFamily="18" charset="0"/>
              <a:cs typeface="Times New Roman" panose="02020603050405020304" pitchFamily="18" charset="0"/>
            </a:endParaRPr>
          </a:p>
          <a:p>
            <a:endParaRPr lang="en-US" sz="1600" b="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a:xfrm>
            <a:off x="8763000" y="6561667"/>
            <a:ext cx="381000" cy="296333"/>
          </a:xfrm>
        </p:spPr>
        <p:txBody>
          <a:bodyPr/>
          <a:lstStyle/>
          <a:p>
            <a:fld id="{4E9EBC09-8728-46F0-99E6-7C066CF6AFEC}" type="slidenum">
              <a:rPr lang="en-US" smtClean="0"/>
              <a:pPr/>
              <a:t>12</a:t>
            </a:fld>
            <a:endParaRPr lang="en-US" dirty="0"/>
          </a:p>
        </p:txBody>
      </p:sp>
    </p:spTree>
    <p:extLst>
      <p:ext uri="{BB962C8B-B14F-4D97-AF65-F5344CB8AC3E}">
        <p14:creationId xmlns:p14="http://schemas.microsoft.com/office/powerpoint/2010/main" val="2725022210"/>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FE3D9-7B50-7DD6-B045-A8CE7EF045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F794B3-4BCF-F2BB-654A-4049ED8F5795}"/>
              </a:ext>
            </a:extLst>
          </p:cNvPr>
          <p:cNvSpPr>
            <a:spLocks noGrp="1"/>
          </p:cNvSpPr>
          <p:nvPr>
            <p:ph type="title"/>
          </p:nvPr>
        </p:nvSpPr>
        <p:spPr>
          <a:xfrm>
            <a:off x="0" y="76200"/>
            <a:ext cx="9144000" cy="838200"/>
          </a:xfrm>
        </p:spPr>
        <p:txBody>
          <a:bodyPr/>
          <a:lstStyle/>
          <a:p>
            <a:br>
              <a:rPr lang="en-US" sz="2800" dirty="0">
                <a:solidFill>
                  <a:srgbClr val="000000"/>
                </a:solidFill>
                <a:latin typeface="Times New Roman" panose="02020603050405020304" pitchFamily="18" charset="0"/>
                <a:cs typeface="Times New Roman" panose="02020603050405020304" pitchFamily="18" charset="0"/>
              </a:rPr>
            </a:br>
            <a:r>
              <a:rPr lang="en-US" sz="2800" dirty="0">
                <a:solidFill>
                  <a:srgbClr val="000000"/>
                </a:solidFill>
                <a:latin typeface="Times New Roman" panose="02020603050405020304" pitchFamily="18" charset="0"/>
                <a:cs typeface="Times New Roman" panose="02020603050405020304" pitchFamily="18" charset="0"/>
              </a:rPr>
              <a:t>AFTO FORM 874</a:t>
            </a:r>
            <a:br>
              <a:rPr lang="en-US" sz="2800" dirty="0">
                <a:solidFill>
                  <a:srgbClr val="000000"/>
                </a:solidFill>
                <a:latin typeface="Times New Roman" panose="02020603050405020304" pitchFamily="18" charset="0"/>
                <a:cs typeface="Times New Roman" panose="02020603050405020304" pitchFamily="18" charset="0"/>
              </a:rPr>
            </a:br>
            <a:r>
              <a:rPr lang="en-US" sz="2400" u="sng" dirty="0">
                <a:latin typeface="Times New Roman" panose="02020603050405020304" pitchFamily="18" charset="0"/>
                <a:cs typeface="Times New Roman" panose="02020603050405020304" pitchFamily="18" charset="0"/>
              </a:rPr>
              <a:t>Part B - Action Required On Spares</a:t>
            </a:r>
            <a:br>
              <a:rPr lang="en-US" b="0" dirty="0">
                <a:latin typeface="Times New Roman" panose="02020603050405020304" pitchFamily="18"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D8CA4978-AB32-2AD6-3379-456E955F0EE9}"/>
              </a:ext>
            </a:extLst>
          </p:cNvPr>
          <p:cNvSpPr>
            <a:spLocks noGrp="1"/>
          </p:cNvSpPr>
          <p:nvPr>
            <p:ph idx="1"/>
          </p:nvPr>
        </p:nvSpPr>
        <p:spPr>
          <a:xfrm>
            <a:off x="0" y="1049867"/>
            <a:ext cx="9144000" cy="5808133"/>
          </a:xfrm>
        </p:spPr>
        <p:txBody>
          <a:bodyPr/>
          <a:lstStyle/>
          <a:p>
            <a:endParaRPr lang="en-US" sz="1600" b="0" dirty="0">
              <a:latin typeface="Times New Roman" panose="02020603050405020304" pitchFamily="18" charset="0"/>
              <a:cs typeface="Times New Roman" panose="02020603050405020304" pitchFamily="18" charset="0"/>
            </a:endParaRPr>
          </a:p>
          <a:p>
            <a:endParaRPr lang="en-US" sz="1600" b="0" dirty="0">
              <a:latin typeface="Times New Roman" panose="02020603050405020304" pitchFamily="18" charset="0"/>
              <a:cs typeface="Times New Roman" panose="02020603050405020304" pitchFamily="18" charset="0"/>
            </a:endParaRPr>
          </a:p>
          <a:p>
            <a:endParaRPr lang="en-US" sz="1600" b="0" dirty="0">
              <a:latin typeface="Times New Roman" panose="02020603050405020304" pitchFamily="18" charset="0"/>
              <a:cs typeface="Times New Roman" panose="02020603050405020304" pitchFamily="18" charset="0"/>
            </a:endParaRPr>
          </a:p>
          <a:p>
            <a:endParaRPr lang="en-US" sz="1600" b="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08423C1-5285-87E9-52A8-C12BEFD036A0}"/>
              </a:ext>
            </a:extLst>
          </p:cNvPr>
          <p:cNvSpPr>
            <a:spLocks noGrp="1"/>
          </p:cNvSpPr>
          <p:nvPr>
            <p:ph type="sldNum" sz="quarter" idx="12"/>
          </p:nvPr>
        </p:nvSpPr>
        <p:spPr>
          <a:xfrm>
            <a:off x="8763000" y="6561667"/>
            <a:ext cx="381000" cy="296333"/>
          </a:xfrm>
        </p:spPr>
        <p:txBody>
          <a:bodyPr/>
          <a:lstStyle/>
          <a:p>
            <a:fld id="{4E9EBC09-8728-46F0-99E6-7C066CF6AFEC}" type="slidenum">
              <a:rPr lang="en-US" smtClean="0"/>
              <a:pPr/>
              <a:t>13</a:t>
            </a:fld>
            <a:endParaRPr lang="en-US" dirty="0"/>
          </a:p>
        </p:txBody>
      </p:sp>
      <p:pic>
        <p:nvPicPr>
          <p:cNvPr id="6" name="Picture 5" descr="Table&#10;&#10;AI-generated content may be incorrect.">
            <a:extLst>
              <a:ext uri="{FF2B5EF4-FFF2-40B4-BE49-F238E27FC236}">
                <a16:creationId xmlns:a16="http://schemas.microsoft.com/office/drawing/2014/main" id="{5BD688F2-E07F-1B4E-AD4C-ACC6D7FFCC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4350" y="1059392"/>
            <a:ext cx="8115299" cy="5579532"/>
          </a:xfrm>
          <a:prstGeom prst="rect">
            <a:avLst/>
          </a:prstGeom>
        </p:spPr>
      </p:pic>
    </p:spTree>
    <p:extLst>
      <p:ext uri="{BB962C8B-B14F-4D97-AF65-F5344CB8AC3E}">
        <p14:creationId xmlns:p14="http://schemas.microsoft.com/office/powerpoint/2010/main" val="2470165690"/>
      </p:ext>
    </p:extLst>
  </p:cSld>
  <p:clrMapOvr>
    <a:masterClrMapping/>
  </p:clrMapOvr>
  <p:transition/>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6200"/>
            <a:ext cx="9144000" cy="838200"/>
          </a:xfrm>
        </p:spPr>
        <p:txBody>
          <a:bodyPr/>
          <a:lstStyle/>
          <a:p>
            <a:br>
              <a:rPr lang="en-US" sz="2800" dirty="0">
                <a:solidFill>
                  <a:srgbClr val="000000"/>
                </a:solidFill>
                <a:latin typeface="Times New Roman" panose="02020603050405020304" pitchFamily="18" charset="0"/>
                <a:cs typeface="Times New Roman" panose="02020603050405020304" pitchFamily="18" charset="0"/>
              </a:rPr>
            </a:br>
            <a:r>
              <a:rPr lang="en-US" sz="2800" dirty="0">
                <a:solidFill>
                  <a:srgbClr val="000000"/>
                </a:solidFill>
                <a:latin typeface="Times New Roman" panose="02020603050405020304" pitchFamily="18" charset="0"/>
                <a:cs typeface="Times New Roman" panose="02020603050405020304" pitchFamily="18" charset="0"/>
              </a:rPr>
              <a:t>AFTO FORM 874</a:t>
            </a:r>
            <a:br>
              <a:rPr lang="en-US" sz="2800" dirty="0">
                <a:solidFill>
                  <a:srgbClr val="000000"/>
                </a:solidFill>
                <a:latin typeface="Times New Roman" panose="02020603050405020304" pitchFamily="18" charset="0"/>
                <a:cs typeface="Times New Roman" panose="02020603050405020304" pitchFamily="18" charset="0"/>
              </a:rPr>
            </a:br>
            <a:r>
              <a:rPr lang="en-US" sz="2400" u="sng" dirty="0">
                <a:latin typeface="Times New Roman" panose="02020603050405020304" pitchFamily="18" charset="0"/>
                <a:cs typeface="Times New Roman" panose="02020603050405020304" pitchFamily="18" charset="0"/>
              </a:rPr>
              <a:t>Part C - Kits/Parts Required To Modify Spares</a:t>
            </a:r>
            <a:br>
              <a:rPr lang="en-US" b="0" dirty="0">
                <a:latin typeface="Times New Roman" panose="02020603050405020304" pitchFamily="18" charset="0"/>
                <a:cs typeface="Times New Roman" panose="02020603050405020304" pitchFamily="18" charset="0"/>
              </a:rPr>
            </a:br>
            <a:endParaRPr lang="en-US" dirty="0"/>
          </a:p>
        </p:txBody>
      </p:sp>
      <p:sp>
        <p:nvSpPr>
          <p:cNvPr id="3" name="Content Placeholder 2"/>
          <p:cNvSpPr>
            <a:spLocks noGrp="1"/>
          </p:cNvSpPr>
          <p:nvPr>
            <p:ph idx="1"/>
          </p:nvPr>
        </p:nvSpPr>
        <p:spPr>
          <a:xfrm>
            <a:off x="-1" y="1024467"/>
            <a:ext cx="9143999" cy="5833533"/>
          </a:xfrm>
        </p:spPr>
        <p:txBody>
          <a:bodyPr/>
          <a:lstStyle/>
          <a:p>
            <a:r>
              <a:rPr lang="en-US" sz="2400" u="sng" dirty="0">
                <a:latin typeface="Times New Roman" panose="02020603050405020304" pitchFamily="18" charset="0"/>
                <a:cs typeface="Times New Roman" panose="02020603050405020304" pitchFamily="18" charset="0"/>
              </a:rPr>
              <a:t>Block 1 – Same as Part A:</a:t>
            </a:r>
            <a:r>
              <a:rPr lang="en-US" sz="2400" b="0" dirty="0">
                <a:latin typeface="Times New Roman" panose="02020603050405020304" pitchFamily="18" charset="0"/>
                <a:cs typeface="Times New Roman" panose="02020603050405020304" pitchFamily="18" charset="0"/>
              </a:rPr>
              <a:t> Check the box if parts are the same as those indicated in Part A. </a:t>
            </a:r>
          </a:p>
          <a:p>
            <a:endParaRPr lang="en-US" sz="1600" b="0" dirty="0">
              <a:latin typeface="Times New Roman" panose="02020603050405020304" pitchFamily="18" charset="0"/>
              <a:cs typeface="Times New Roman" panose="02020603050405020304" pitchFamily="18" charset="0"/>
            </a:endParaRPr>
          </a:p>
          <a:p>
            <a:r>
              <a:rPr lang="en-US" sz="2400" u="sng" dirty="0">
                <a:latin typeface="Times New Roman" panose="02020603050405020304" pitchFamily="18" charset="0"/>
                <a:cs typeface="Times New Roman" panose="02020603050405020304" pitchFamily="18" charset="0"/>
              </a:rPr>
              <a:t>Block 2 – Different:</a:t>
            </a:r>
            <a:r>
              <a:rPr lang="en-US" sz="2400" b="0" dirty="0">
                <a:latin typeface="Times New Roman" panose="02020603050405020304" pitchFamily="18" charset="0"/>
                <a:cs typeface="Times New Roman" panose="02020603050405020304" pitchFamily="18" charset="0"/>
              </a:rPr>
              <a:t> Check the box if the parts are different than those indicated in Part A.  If this box is checked, list all required kit information in the applicable column.  List kit information on 1</a:t>
            </a:r>
            <a:r>
              <a:rPr lang="en-US" sz="2400" b="0" baseline="30000" dirty="0">
                <a:latin typeface="Times New Roman" panose="02020603050405020304" pitchFamily="18" charset="0"/>
                <a:cs typeface="Times New Roman" panose="02020603050405020304" pitchFamily="18" charset="0"/>
              </a:rPr>
              <a:t>st</a:t>
            </a:r>
            <a:r>
              <a:rPr lang="en-US" sz="2400" b="0" dirty="0">
                <a:latin typeface="Times New Roman" panose="02020603050405020304" pitchFamily="18" charset="0"/>
                <a:cs typeface="Times New Roman" panose="02020603050405020304" pitchFamily="18" charset="0"/>
              </a:rPr>
              <a:t> line with components on subsequent.  Codes from Part A, Block 2 will be utilized in the Code column. </a:t>
            </a:r>
          </a:p>
          <a:p>
            <a:endParaRPr lang="en-US" sz="1600" b="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a:xfrm>
            <a:off x="8763000" y="6510867"/>
            <a:ext cx="381000" cy="347133"/>
          </a:xfrm>
        </p:spPr>
        <p:txBody>
          <a:bodyPr/>
          <a:lstStyle/>
          <a:p>
            <a:fld id="{4E9EBC09-8728-46F0-99E6-7C066CF6AFEC}" type="slidenum">
              <a:rPr lang="en-US" smtClean="0"/>
              <a:pPr/>
              <a:t>14</a:t>
            </a:fld>
            <a:endParaRPr lang="en-US" dirty="0"/>
          </a:p>
        </p:txBody>
      </p:sp>
      <p:pic>
        <p:nvPicPr>
          <p:cNvPr id="6" name="Picture 5" descr="Table&#10;&#10;AI-generated content may be incorrect.">
            <a:extLst>
              <a:ext uri="{FF2B5EF4-FFF2-40B4-BE49-F238E27FC236}">
                <a16:creationId xmlns:a16="http://schemas.microsoft.com/office/drawing/2014/main" id="{5F161348-46B7-5CA9-3B61-3245DB51C1D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2255" y="4016436"/>
            <a:ext cx="6881090" cy="2841565"/>
          </a:xfrm>
          <a:prstGeom prst="rect">
            <a:avLst/>
          </a:prstGeom>
        </p:spPr>
      </p:pic>
    </p:spTree>
    <p:extLst>
      <p:ext uri="{BB962C8B-B14F-4D97-AF65-F5344CB8AC3E}">
        <p14:creationId xmlns:p14="http://schemas.microsoft.com/office/powerpoint/2010/main" val="4126975890"/>
      </p:ext>
    </p:extLst>
  </p:cSld>
  <p:clrMapOvr>
    <a:masterClrMapping/>
  </p:clrMapOvr>
  <p:transition/>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14284"/>
          </a:xfrm>
        </p:spPr>
        <p:txBody>
          <a:bodyPr/>
          <a:lstStyle/>
          <a:p>
            <a:br>
              <a:rPr lang="en-US" sz="2800" dirty="0">
                <a:solidFill>
                  <a:srgbClr val="000000"/>
                </a:solidFill>
                <a:latin typeface="Times New Roman" panose="02020603050405020304" pitchFamily="18" charset="0"/>
                <a:cs typeface="Times New Roman" panose="02020603050405020304" pitchFamily="18" charset="0"/>
              </a:rPr>
            </a:br>
            <a:r>
              <a:rPr lang="en-US" sz="2800" dirty="0">
                <a:solidFill>
                  <a:srgbClr val="000000"/>
                </a:solidFill>
                <a:latin typeface="Times New Roman" panose="02020603050405020304" pitchFamily="18" charset="0"/>
                <a:cs typeface="Times New Roman" panose="02020603050405020304" pitchFamily="18" charset="0"/>
              </a:rPr>
              <a:t>AFTO FORM 874</a:t>
            </a:r>
            <a:br>
              <a:rPr lang="en-US" sz="2800" dirty="0">
                <a:solidFill>
                  <a:srgbClr val="000000"/>
                </a:solidFill>
                <a:latin typeface="Times New Roman" panose="02020603050405020304" pitchFamily="18" charset="0"/>
                <a:cs typeface="Times New Roman" panose="02020603050405020304" pitchFamily="18" charset="0"/>
              </a:rPr>
            </a:br>
            <a:r>
              <a:rPr lang="en-US" sz="2200" u="sng" dirty="0">
                <a:latin typeface="Times New Roman" panose="02020603050405020304" pitchFamily="18" charset="0"/>
                <a:cs typeface="Times New Roman" panose="02020603050405020304" pitchFamily="18" charset="0"/>
              </a:rPr>
              <a:t>Part D - Disposition of Removed and Replaced Parts</a:t>
            </a:r>
            <a:br>
              <a:rPr lang="en-US" sz="2200" u="sng" dirty="0">
                <a:latin typeface="Times New Roman" panose="02020603050405020304" pitchFamily="18" charset="0"/>
                <a:cs typeface="Times New Roman" panose="02020603050405020304" pitchFamily="18" charset="0"/>
              </a:rPr>
            </a:br>
            <a:endParaRPr lang="en-US" sz="2200" u="sng" dirty="0"/>
          </a:p>
        </p:txBody>
      </p:sp>
      <p:sp>
        <p:nvSpPr>
          <p:cNvPr id="3" name="Content Placeholder 2"/>
          <p:cNvSpPr>
            <a:spLocks noGrp="1"/>
          </p:cNvSpPr>
          <p:nvPr>
            <p:ph idx="1"/>
          </p:nvPr>
        </p:nvSpPr>
        <p:spPr>
          <a:xfrm>
            <a:off x="0" y="1014284"/>
            <a:ext cx="9144000" cy="5843716"/>
          </a:xfrm>
        </p:spPr>
        <p:txBody>
          <a:bodyPr/>
          <a:lstStyle/>
          <a:p>
            <a:pPr marL="0" indent="0" algn="ctr">
              <a:buNone/>
            </a:pPr>
            <a:endParaRPr lang="en-US" sz="1600" b="0" dirty="0">
              <a:latin typeface="Times New Roman" panose="02020603050405020304" pitchFamily="18" charset="0"/>
              <a:cs typeface="Times New Roman" panose="02020603050405020304" pitchFamily="18" charset="0"/>
            </a:endParaRPr>
          </a:p>
          <a:p>
            <a:r>
              <a:rPr lang="en-US" sz="1800" u="sng" dirty="0">
                <a:latin typeface="Times New Roman" panose="02020603050405020304" pitchFamily="18" charset="0"/>
                <a:cs typeface="Times New Roman" panose="02020603050405020304" pitchFamily="18" charset="0"/>
              </a:rPr>
              <a:t>Block 1 – Disposition Actions:</a:t>
            </a:r>
            <a:r>
              <a:rPr lang="en-US" sz="1800" b="0" dirty="0">
                <a:latin typeface="Times New Roman" panose="02020603050405020304" pitchFamily="18" charset="0"/>
                <a:cs typeface="Times New Roman" panose="02020603050405020304" pitchFamily="18" charset="0"/>
              </a:rPr>
              <a:t> List all required part information in the applicable column.  Indicate action required in Action column with reference to the applicable phrase in 1a through 1e.  For item 1a, these parts will be returned to DRMO with instruction for disposition of removed and replaced parts.  All items critical to flight safety, or will cause de-modification if reinstalled on modified equipment, will be coded as such.  Instructions must be provided for mutilation of critical parts not usable in other applications.  For item 1b, select the begin disposal action date from the dropdown calendar.  If 1e is utilized, enter any other action to be taken.</a:t>
            </a:r>
            <a:r>
              <a:rPr lang="en-US" sz="1600" b="0" dirty="0">
                <a:latin typeface="Times New Roman" panose="02020603050405020304" pitchFamily="18" charset="0"/>
                <a:cs typeface="Times New Roman" panose="02020603050405020304" pitchFamily="18" charset="0"/>
              </a:rPr>
              <a:t> </a:t>
            </a:r>
          </a:p>
          <a:p>
            <a:endParaRPr lang="en-US" sz="1600" b="0" dirty="0">
              <a:latin typeface="Times New Roman" panose="02020603050405020304" pitchFamily="18" charset="0"/>
              <a:cs typeface="Times New Roman" panose="02020603050405020304" pitchFamily="18" charset="0"/>
            </a:endParaRPr>
          </a:p>
          <a:p>
            <a:endParaRPr lang="en-US" sz="1600" b="0" dirty="0">
              <a:latin typeface="Times New Roman" panose="02020603050405020304" pitchFamily="18" charset="0"/>
              <a:cs typeface="Times New Roman" panose="02020603050405020304" pitchFamily="18" charset="0"/>
            </a:endParaRPr>
          </a:p>
          <a:p>
            <a:endParaRPr lang="en-US" sz="1600" b="0" dirty="0">
              <a:latin typeface="Times New Roman" panose="02020603050405020304" pitchFamily="18" charset="0"/>
              <a:cs typeface="Times New Roman" panose="02020603050405020304" pitchFamily="18" charset="0"/>
            </a:endParaRPr>
          </a:p>
          <a:p>
            <a:endParaRPr lang="en-US" sz="1600" b="0" dirty="0">
              <a:latin typeface="Times New Roman" panose="02020603050405020304" pitchFamily="18" charset="0"/>
              <a:cs typeface="Times New Roman" panose="02020603050405020304" pitchFamily="18" charset="0"/>
            </a:endParaRPr>
          </a:p>
          <a:p>
            <a:endParaRPr lang="en-US" sz="1600" b="0" dirty="0">
              <a:latin typeface="Times New Roman" panose="02020603050405020304" pitchFamily="18" charset="0"/>
              <a:cs typeface="Times New Roman" panose="02020603050405020304" pitchFamily="18" charset="0"/>
            </a:endParaRPr>
          </a:p>
          <a:p>
            <a:endParaRPr lang="en-US" sz="1600" b="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a:xfrm>
            <a:off x="8627533" y="6460067"/>
            <a:ext cx="516467" cy="397933"/>
          </a:xfrm>
        </p:spPr>
        <p:txBody>
          <a:bodyPr/>
          <a:lstStyle/>
          <a:p>
            <a:fld id="{4E9EBC09-8728-46F0-99E6-7C066CF6AFEC}" type="slidenum">
              <a:rPr lang="en-US" smtClean="0"/>
              <a:pPr/>
              <a:t>15</a:t>
            </a:fld>
            <a:endParaRPr lang="en-US" dirty="0"/>
          </a:p>
        </p:txBody>
      </p:sp>
      <p:pic>
        <p:nvPicPr>
          <p:cNvPr id="7" name="Picture 6" descr="Table&#10;&#10;AI-generated content may be incorrect.">
            <a:extLst>
              <a:ext uri="{FF2B5EF4-FFF2-40B4-BE49-F238E27FC236}">
                <a16:creationId xmlns:a16="http://schemas.microsoft.com/office/drawing/2014/main" id="{5AEAA2B8-FC42-C980-342F-D56DB4CFEB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8837" y="3852275"/>
            <a:ext cx="8008696" cy="2733252"/>
          </a:xfrm>
          <a:prstGeom prst="rect">
            <a:avLst/>
          </a:prstGeom>
        </p:spPr>
      </p:pic>
    </p:spTree>
    <p:extLst>
      <p:ext uri="{BB962C8B-B14F-4D97-AF65-F5344CB8AC3E}">
        <p14:creationId xmlns:p14="http://schemas.microsoft.com/office/powerpoint/2010/main" val="721076160"/>
      </p:ext>
    </p:extLst>
  </p:cSld>
  <p:clrMapOvr>
    <a:masterClrMapping/>
  </p:clrMapOvr>
  <p:transition/>
  <p:extLst>
    <p:ext uri="{6950BFC3-D8DA-4A85-94F7-54DA5524770B}">
      <p188:commentRel xmlns:p188="http://schemas.microsoft.com/office/powerpoint/2018/8/main" r:id="rId2"/>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47750"/>
          </a:xfrm>
        </p:spPr>
        <p:txBody>
          <a:bodyPr/>
          <a:lstStyle/>
          <a:p>
            <a:br>
              <a:rPr lang="en-US" sz="2800" dirty="0"/>
            </a:br>
            <a:r>
              <a:rPr lang="en-US" sz="2800" dirty="0"/>
              <a:t>AFTO FORM 874</a:t>
            </a:r>
            <a:br>
              <a:rPr lang="en-US" sz="2800" dirty="0"/>
            </a:br>
            <a:r>
              <a:rPr lang="en-US" sz="2400" u="sng" dirty="0">
                <a:latin typeface="Times New Roman" panose="02020603050405020304" pitchFamily="18" charset="0"/>
                <a:cs typeface="Times New Roman" panose="02020603050405020304" pitchFamily="18" charset="0"/>
              </a:rPr>
              <a:t>Part E - Minor Assemblies and Parts</a:t>
            </a:r>
            <a:br>
              <a:rPr lang="en-US" sz="2800" b="0" dirty="0">
                <a:latin typeface="Times New Roman" panose="02020603050405020304" pitchFamily="18" charset="0"/>
                <a:cs typeface="Times New Roman" panose="02020603050405020304" pitchFamily="18" charset="0"/>
              </a:rPr>
            </a:br>
            <a:endParaRPr lang="en-US" sz="2800" dirty="0"/>
          </a:p>
        </p:txBody>
      </p:sp>
      <p:sp>
        <p:nvSpPr>
          <p:cNvPr id="3" name="Content Placeholder 2"/>
          <p:cNvSpPr>
            <a:spLocks noGrp="1"/>
          </p:cNvSpPr>
          <p:nvPr>
            <p:ph idx="1"/>
          </p:nvPr>
        </p:nvSpPr>
        <p:spPr>
          <a:xfrm>
            <a:off x="0" y="1047750"/>
            <a:ext cx="9144000" cy="5810250"/>
          </a:xfrm>
        </p:spPr>
        <p:txBody>
          <a:bodyPr/>
          <a:lstStyle/>
          <a:p>
            <a:pPr algn="ctr"/>
            <a:endParaRPr lang="en-US" sz="1600" b="0" dirty="0">
              <a:latin typeface="Times New Roman" panose="02020603050405020304" pitchFamily="18" charset="0"/>
              <a:cs typeface="Times New Roman" panose="02020603050405020304" pitchFamily="18" charset="0"/>
            </a:endParaRPr>
          </a:p>
          <a:p>
            <a:r>
              <a:rPr lang="en-US" sz="1800" u="sng" dirty="0">
                <a:latin typeface="Times New Roman" panose="02020603050405020304" pitchFamily="18" charset="0"/>
                <a:cs typeface="Times New Roman" panose="02020603050405020304" pitchFamily="18" charset="0"/>
              </a:rPr>
              <a:t>Block 1 – Minor Parts and Assemblies Affected:</a:t>
            </a:r>
            <a:r>
              <a:rPr lang="en-US" sz="1800" b="0" dirty="0">
                <a:latin typeface="Times New Roman" panose="02020603050405020304" pitchFamily="18" charset="0"/>
                <a:cs typeface="Times New Roman" panose="02020603050405020304" pitchFamily="18" charset="0"/>
              </a:rPr>
              <a:t> List all required information in the applicable column.  Indicate action required for minor parts and assemblies in the Action column with reference to the applicable phrase from 1a through 1e.  For item 1a, list minor parts and assemblies to be returned to DRMO with disposal action.  For item 1b, select the disposal action date from the dropdown calendar.  For item 1d, follow the guidance provided by AFI 23-101, AFMAN 23-122, and AFH 23-123V1.  If 1e is utilized, enter any other action to be taken. </a:t>
            </a:r>
          </a:p>
          <a:p>
            <a:endParaRPr lang="en-US" sz="1600" b="0" dirty="0">
              <a:latin typeface="Times New Roman" panose="02020603050405020304" pitchFamily="18" charset="0"/>
              <a:cs typeface="Times New Roman" panose="02020603050405020304" pitchFamily="18" charset="0"/>
            </a:endParaRPr>
          </a:p>
          <a:p>
            <a:endParaRPr lang="en-US" sz="1600" b="0" dirty="0">
              <a:latin typeface="Times New Roman" panose="02020603050405020304" pitchFamily="18" charset="0"/>
              <a:cs typeface="Times New Roman" panose="02020603050405020304" pitchFamily="18" charset="0"/>
            </a:endParaRPr>
          </a:p>
          <a:p>
            <a:endParaRPr lang="en-US" sz="1600" b="0" dirty="0">
              <a:latin typeface="Times New Roman" panose="02020603050405020304" pitchFamily="18" charset="0"/>
              <a:cs typeface="Times New Roman" panose="02020603050405020304" pitchFamily="18" charset="0"/>
            </a:endParaRPr>
          </a:p>
          <a:p>
            <a:endParaRPr lang="en-US" sz="1600" b="0" dirty="0">
              <a:latin typeface="Times New Roman" panose="02020603050405020304" pitchFamily="18" charset="0"/>
              <a:cs typeface="Times New Roman" panose="02020603050405020304" pitchFamily="18" charset="0"/>
            </a:endParaRPr>
          </a:p>
          <a:p>
            <a:endParaRPr lang="en-US" sz="1600" b="0" dirty="0">
              <a:latin typeface="Times New Roman" panose="02020603050405020304" pitchFamily="18" charset="0"/>
              <a:cs typeface="Times New Roman" panose="02020603050405020304" pitchFamily="18" charset="0"/>
            </a:endParaRPr>
          </a:p>
          <a:p>
            <a:endParaRPr lang="en-US" sz="1600" b="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a:xfrm>
            <a:off x="8661400" y="6468533"/>
            <a:ext cx="482600" cy="389467"/>
          </a:xfrm>
        </p:spPr>
        <p:txBody>
          <a:bodyPr/>
          <a:lstStyle/>
          <a:p>
            <a:fld id="{4E9EBC09-8728-46F0-99E6-7C066CF6AFEC}" type="slidenum">
              <a:rPr lang="en-US" smtClean="0"/>
              <a:pPr/>
              <a:t>16</a:t>
            </a:fld>
            <a:endParaRPr lang="en-US" dirty="0"/>
          </a:p>
        </p:txBody>
      </p:sp>
      <p:pic>
        <p:nvPicPr>
          <p:cNvPr id="7" name="Picture 6" descr="Table&#10;&#10;AI-generated content may be incorrect.">
            <a:extLst>
              <a:ext uri="{FF2B5EF4-FFF2-40B4-BE49-F238E27FC236}">
                <a16:creationId xmlns:a16="http://schemas.microsoft.com/office/drawing/2014/main" id="{FFFF06A7-6C01-B4ED-9378-6126959CC2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3696" y="3592946"/>
            <a:ext cx="8105312" cy="2413916"/>
          </a:xfrm>
          <a:prstGeom prst="rect">
            <a:avLst/>
          </a:prstGeom>
        </p:spPr>
      </p:pic>
    </p:spTree>
    <p:extLst>
      <p:ext uri="{BB962C8B-B14F-4D97-AF65-F5344CB8AC3E}">
        <p14:creationId xmlns:p14="http://schemas.microsoft.com/office/powerpoint/2010/main" val="536473605"/>
      </p:ext>
    </p:extLst>
  </p:cSld>
  <p:clrMapOvr>
    <a:masterClrMapping/>
  </p:clrMapOvr>
  <p:transition/>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47750"/>
          </a:xfrm>
        </p:spPr>
        <p:txBody>
          <a:bodyPr/>
          <a:lstStyle/>
          <a:p>
            <a:r>
              <a:rPr lang="en-US" sz="2800" dirty="0">
                <a:solidFill>
                  <a:srgbClr val="000000"/>
                </a:solidFill>
                <a:latin typeface="Times New Roman" panose="02020603050405020304" pitchFamily="18" charset="0"/>
                <a:cs typeface="Times New Roman" panose="02020603050405020304" pitchFamily="18" charset="0"/>
              </a:rPr>
              <a:t>AFTO FORM 874</a:t>
            </a:r>
            <a:br>
              <a:rPr lang="en-US" sz="2800" dirty="0">
                <a:solidFill>
                  <a:srgbClr val="000000"/>
                </a:solidFill>
                <a:latin typeface="Times New Roman" panose="02020603050405020304" pitchFamily="18" charset="0"/>
                <a:cs typeface="Times New Roman" panose="02020603050405020304" pitchFamily="18" charset="0"/>
              </a:rPr>
            </a:br>
            <a:r>
              <a:rPr lang="en-US" sz="2400" u="sng" dirty="0">
                <a:latin typeface="Times New Roman" panose="02020603050405020304" pitchFamily="18" charset="0"/>
                <a:cs typeface="Times New Roman" panose="02020603050405020304" pitchFamily="18" charset="0"/>
              </a:rPr>
              <a:t>Part F - Size, Weight and Cost of Kits</a:t>
            </a:r>
            <a:endParaRPr lang="en-US" sz="2400" u="sng" dirty="0"/>
          </a:p>
        </p:txBody>
      </p:sp>
      <p:sp>
        <p:nvSpPr>
          <p:cNvPr id="3" name="Content Placeholder 2"/>
          <p:cNvSpPr>
            <a:spLocks noGrp="1"/>
          </p:cNvSpPr>
          <p:nvPr>
            <p:ph idx="1"/>
          </p:nvPr>
        </p:nvSpPr>
        <p:spPr>
          <a:xfrm>
            <a:off x="0" y="1047750"/>
            <a:ext cx="9144000" cy="5810250"/>
          </a:xfrm>
        </p:spPr>
        <p:txBody>
          <a:bodyPr/>
          <a:lstStyle/>
          <a:p>
            <a:pPr algn="ctr"/>
            <a:endParaRPr lang="en-US" sz="1600" b="0" dirty="0">
              <a:latin typeface="Times New Roman" panose="02020603050405020304" pitchFamily="18" charset="0"/>
              <a:cs typeface="Times New Roman" panose="02020603050405020304" pitchFamily="18" charset="0"/>
            </a:endParaRPr>
          </a:p>
          <a:p>
            <a:pPr algn="ctr"/>
            <a:r>
              <a:rPr lang="en-US" sz="2400" b="0" dirty="0">
                <a:latin typeface="Times New Roman" panose="02020603050405020304" pitchFamily="18" charset="0"/>
                <a:cs typeface="Times New Roman" panose="02020603050405020304" pitchFamily="18" charset="0"/>
              </a:rPr>
              <a:t>List all required kit information in the applicable column (if known).  </a:t>
            </a:r>
          </a:p>
          <a:p>
            <a:pPr algn="ctr"/>
            <a:r>
              <a:rPr lang="en-US" sz="2000" b="0" dirty="0">
                <a:latin typeface="Times New Roman" panose="02020603050405020304" pitchFamily="18" charset="0"/>
                <a:cs typeface="Times New Roman" panose="02020603050405020304" pitchFamily="18" charset="0"/>
              </a:rPr>
              <a:t>Refer to AFI 23-101, AFMAN 23-122, and AFH 23-123V1. </a:t>
            </a:r>
          </a:p>
        </p:txBody>
      </p:sp>
      <p:sp>
        <p:nvSpPr>
          <p:cNvPr id="4" name="Slide Number Placeholder 3"/>
          <p:cNvSpPr>
            <a:spLocks noGrp="1"/>
          </p:cNvSpPr>
          <p:nvPr>
            <p:ph type="sldNum" sz="quarter" idx="12"/>
          </p:nvPr>
        </p:nvSpPr>
        <p:spPr>
          <a:xfrm>
            <a:off x="8746067" y="6544733"/>
            <a:ext cx="397933" cy="313267"/>
          </a:xfrm>
        </p:spPr>
        <p:txBody>
          <a:bodyPr/>
          <a:lstStyle/>
          <a:p>
            <a:fld id="{4E9EBC09-8728-46F0-99E6-7C066CF6AFEC}" type="slidenum">
              <a:rPr lang="en-US" smtClean="0"/>
              <a:pPr/>
              <a:t>17</a:t>
            </a:fld>
            <a:endParaRPr lang="en-US" dirty="0"/>
          </a:p>
        </p:txBody>
      </p:sp>
      <p:pic>
        <p:nvPicPr>
          <p:cNvPr id="7" name="Picture 6" descr="Table&#10;&#10;AI-generated content may be incorrect.">
            <a:extLst>
              <a:ext uri="{FF2B5EF4-FFF2-40B4-BE49-F238E27FC236}">
                <a16:creationId xmlns:a16="http://schemas.microsoft.com/office/drawing/2014/main" id="{A01B8D42-DD90-7679-442F-BA00689F61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6869" y="2474095"/>
            <a:ext cx="8384675" cy="2364509"/>
          </a:xfrm>
          <a:prstGeom prst="rect">
            <a:avLst/>
          </a:prstGeom>
        </p:spPr>
      </p:pic>
    </p:spTree>
    <p:extLst>
      <p:ext uri="{BB962C8B-B14F-4D97-AF65-F5344CB8AC3E}">
        <p14:creationId xmlns:p14="http://schemas.microsoft.com/office/powerpoint/2010/main" val="769524073"/>
      </p:ext>
    </p:extLst>
  </p:cSld>
  <p:clrMapOvr>
    <a:masterClrMapping/>
  </p:clrMapOvr>
  <p:transition/>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47750"/>
          </a:xfrm>
        </p:spPr>
        <p:txBody>
          <a:bodyPr/>
          <a:lstStyle/>
          <a:p>
            <a:br>
              <a:rPr lang="en-US" sz="2800" dirty="0">
                <a:solidFill>
                  <a:srgbClr val="000000"/>
                </a:solidFill>
                <a:latin typeface="Times New Roman" panose="02020603050405020304" pitchFamily="18" charset="0"/>
                <a:cs typeface="Times New Roman" panose="02020603050405020304" pitchFamily="18" charset="0"/>
              </a:rPr>
            </a:br>
            <a:r>
              <a:rPr lang="en-US" sz="2800" dirty="0">
                <a:solidFill>
                  <a:srgbClr val="000000"/>
                </a:solidFill>
                <a:latin typeface="Times New Roman" panose="02020603050405020304" pitchFamily="18" charset="0"/>
                <a:cs typeface="Times New Roman" panose="02020603050405020304" pitchFamily="18" charset="0"/>
              </a:rPr>
              <a:t>AFTO FORM 874</a:t>
            </a:r>
            <a:br>
              <a:rPr lang="en-US" sz="2800" dirty="0">
                <a:solidFill>
                  <a:srgbClr val="000000"/>
                </a:solidFill>
                <a:latin typeface="Times New Roman" panose="02020603050405020304" pitchFamily="18" charset="0"/>
                <a:cs typeface="Times New Roman" panose="02020603050405020304" pitchFamily="18" charset="0"/>
              </a:rPr>
            </a:br>
            <a:r>
              <a:rPr lang="en-US" sz="2400" u="sng" dirty="0">
                <a:latin typeface="Times New Roman" panose="02020603050405020304" pitchFamily="18" charset="0"/>
                <a:cs typeface="Times New Roman" panose="02020603050405020304" pitchFamily="18" charset="0"/>
              </a:rPr>
              <a:t>Part G - Disposition of Kits</a:t>
            </a:r>
            <a:br>
              <a:rPr lang="en-US" b="0" dirty="0">
                <a:latin typeface="Times New Roman" panose="02020603050405020304" pitchFamily="18" charset="0"/>
                <a:cs typeface="Times New Roman" panose="02020603050405020304" pitchFamily="18" charset="0"/>
              </a:rPr>
            </a:br>
            <a:endParaRPr lang="en-US" dirty="0"/>
          </a:p>
        </p:txBody>
      </p:sp>
      <p:sp>
        <p:nvSpPr>
          <p:cNvPr id="3" name="Content Placeholder 2"/>
          <p:cNvSpPr>
            <a:spLocks noGrp="1"/>
          </p:cNvSpPr>
          <p:nvPr>
            <p:ph idx="1"/>
          </p:nvPr>
        </p:nvSpPr>
        <p:spPr>
          <a:xfrm>
            <a:off x="-1" y="1047750"/>
            <a:ext cx="9143999" cy="5810250"/>
          </a:xfrm>
        </p:spPr>
        <p:txBody>
          <a:bodyPr/>
          <a:lstStyle/>
          <a:p>
            <a:pPr algn="ctr"/>
            <a:endParaRPr lang="en-US" sz="1600" b="0" dirty="0">
              <a:latin typeface="Times New Roman" panose="02020603050405020304" pitchFamily="18" charset="0"/>
              <a:cs typeface="Times New Roman" panose="02020603050405020304" pitchFamily="18" charset="0"/>
            </a:endParaRPr>
          </a:p>
          <a:p>
            <a:r>
              <a:rPr lang="en-US" sz="1800" u="sng" dirty="0">
                <a:latin typeface="Times New Roman" panose="02020603050405020304" pitchFamily="18" charset="0"/>
                <a:cs typeface="Times New Roman" panose="02020603050405020304" pitchFamily="18" charset="0"/>
              </a:rPr>
              <a:t>Block 1 – Kits remaining in stock after rescission date:</a:t>
            </a:r>
            <a:r>
              <a:rPr lang="en-US" sz="1800" b="0" dirty="0">
                <a:latin typeface="Times New Roman" panose="02020603050405020304" pitchFamily="18" charset="0"/>
                <a:cs typeface="Times New Roman" panose="02020603050405020304" pitchFamily="18" charset="0"/>
              </a:rPr>
              <a:t> Check the applicable box “YES” or “NO” to indicate whether kits remain in stock after the rescission date.  Select the rescission date from the dropdown calendar. </a:t>
            </a:r>
          </a:p>
          <a:p>
            <a:endParaRPr lang="en-US" sz="1600" b="0" dirty="0">
              <a:latin typeface="Times New Roman" panose="02020603050405020304" pitchFamily="18" charset="0"/>
              <a:cs typeface="Times New Roman" panose="02020603050405020304" pitchFamily="18" charset="0"/>
            </a:endParaRPr>
          </a:p>
          <a:p>
            <a:r>
              <a:rPr lang="en-US" sz="1800" u="sng" dirty="0">
                <a:latin typeface="Times New Roman" panose="02020603050405020304" pitchFamily="18" charset="0"/>
                <a:cs typeface="Times New Roman" panose="02020603050405020304" pitchFamily="18" charset="0"/>
              </a:rPr>
              <a:t>Block 2 – Excess kits will be reported to applicable kit manager:</a:t>
            </a:r>
            <a:r>
              <a:rPr lang="en-US" sz="1800" b="0" dirty="0">
                <a:latin typeface="Times New Roman" panose="02020603050405020304" pitchFamily="18" charset="0"/>
                <a:cs typeface="Times New Roman" panose="02020603050405020304" pitchFamily="18" charset="0"/>
              </a:rPr>
              <a:t> Enter the location of the applicable kit manager. </a:t>
            </a:r>
          </a:p>
        </p:txBody>
      </p:sp>
      <p:sp>
        <p:nvSpPr>
          <p:cNvPr id="4" name="Slide Number Placeholder 3"/>
          <p:cNvSpPr>
            <a:spLocks noGrp="1"/>
          </p:cNvSpPr>
          <p:nvPr>
            <p:ph type="sldNum" sz="quarter" idx="12"/>
          </p:nvPr>
        </p:nvSpPr>
        <p:spPr>
          <a:xfrm>
            <a:off x="8659091" y="6474691"/>
            <a:ext cx="484909" cy="383309"/>
          </a:xfrm>
        </p:spPr>
        <p:txBody>
          <a:bodyPr/>
          <a:lstStyle/>
          <a:p>
            <a:fld id="{4E9EBC09-8728-46F0-99E6-7C066CF6AFEC}" type="slidenum">
              <a:rPr lang="en-US" smtClean="0"/>
              <a:pPr/>
              <a:t>18</a:t>
            </a:fld>
            <a:endParaRPr lang="en-US" dirty="0"/>
          </a:p>
        </p:txBody>
      </p:sp>
      <p:pic>
        <p:nvPicPr>
          <p:cNvPr id="6" name="Picture 5" descr="Graphical user interface, text, application&#10;&#10;AI-generated content may be incorrect.">
            <a:extLst>
              <a:ext uri="{FF2B5EF4-FFF2-40B4-BE49-F238E27FC236}">
                <a16:creationId xmlns:a16="http://schemas.microsoft.com/office/drawing/2014/main" id="{B7023562-3276-FA4E-A965-49635C2F5A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9610" y="3629026"/>
            <a:ext cx="7724775" cy="2038350"/>
          </a:xfrm>
          <a:prstGeom prst="rect">
            <a:avLst/>
          </a:prstGeom>
        </p:spPr>
      </p:pic>
    </p:spTree>
    <p:extLst>
      <p:ext uri="{BB962C8B-B14F-4D97-AF65-F5344CB8AC3E}">
        <p14:creationId xmlns:p14="http://schemas.microsoft.com/office/powerpoint/2010/main" val="3048495314"/>
      </p:ext>
    </p:extLst>
  </p:cSld>
  <p:clrMapOvr>
    <a:masterClrMapping/>
  </p:clrMapOvr>
  <p:transition/>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9144000" cy="973667"/>
          </a:xfrm>
        </p:spPr>
        <p:txBody>
          <a:bodyPr/>
          <a:lstStyle/>
          <a:p>
            <a:r>
              <a:rPr lang="en-US" sz="2800" dirty="0"/>
              <a:t>AFTO FORM 874</a:t>
            </a:r>
            <a:br>
              <a:rPr lang="en-US" sz="2800" dirty="0"/>
            </a:br>
            <a:r>
              <a:rPr lang="en-US" sz="2400" u="sng" dirty="0">
                <a:latin typeface="Times New Roman" panose="02020603050405020304" pitchFamily="18" charset="0"/>
                <a:cs typeface="Times New Roman" panose="02020603050405020304" pitchFamily="18" charset="0"/>
              </a:rPr>
              <a:t>Part H - Action Required On Supply Records</a:t>
            </a:r>
            <a:endParaRPr lang="en-US" sz="2400" u="sng" dirty="0"/>
          </a:p>
        </p:txBody>
      </p:sp>
      <p:sp>
        <p:nvSpPr>
          <p:cNvPr id="3" name="Content Placeholder 2"/>
          <p:cNvSpPr>
            <a:spLocks noGrp="1"/>
          </p:cNvSpPr>
          <p:nvPr>
            <p:ph idx="1"/>
          </p:nvPr>
        </p:nvSpPr>
        <p:spPr>
          <a:xfrm>
            <a:off x="0" y="1041400"/>
            <a:ext cx="9143999" cy="5816600"/>
          </a:xfrm>
        </p:spPr>
        <p:txBody>
          <a:bodyPr/>
          <a:lstStyle/>
          <a:p>
            <a:pPr algn="ctr"/>
            <a:endParaRPr lang="en-US" sz="1600" b="0" dirty="0">
              <a:latin typeface="Times New Roman" panose="02020603050405020304" pitchFamily="18" charset="0"/>
              <a:cs typeface="Times New Roman" panose="02020603050405020304" pitchFamily="18" charset="0"/>
            </a:endParaRPr>
          </a:p>
          <a:p>
            <a:r>
              <a:rPr lang="en-US" sz="1600" u="sng" dirty="0">
                <a:latin typeface="Times New Roman" panose="02020603050405020304" pitchFamily="18" charset="0"/>
                <a:cs typeface="Times New Roman" panose="02020603050405020304" pitchFamily="18" charset="0"/>
              </a:rPr>
              <a:t>Block 1 – Critical Items Supply Records:</a:t>
            </a:r>
            <a:r>
              <a:rPr lang="en-US" sz="1600" b="0" dirty="0">
                <a:latin typeface="Times New Roman" panose="02020603050405020304" pitchFamily="18" charset="0"/>
                <a:cs typeface="Times New Roman" panose="02020603050405020304" pitchFamily="18" charset="0"/>
              </a:rPr>
              <a:t> List all required part information for those critical items identified by and * in part D, NSN column.  Fill out applicable table for AF Base Records, Base Supports Records, and Depot Records.  Enter SMR Code IAW TO-00-25-195 or Exception Code IAW AFMAN 21-122 and AFH 23-123V2PT2.</a:t>
            </a:r>
          </a:p>
          <a:p>
            <a:endParaRPr lang="en-US" sz="1600" b="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a:xfrm>
            <a:off x="8712200" y="6468533"/>
            <a:ext cx="431800" cy="389467"/>
          </a:xfrm>
        </p:spPr>
        <p:txBody>
          <a:bodyPr/>
          <a:lstStyle/>
          <a:p>
            <a:fld id="{4E9EBC09-8728-46F0-99E6-7C066CF6AFEC}" type="slidenum">
              <a:rPr lang="en-US" smtClean="0"/>
              <a:pPr/>
              <a:t>19</a:t>
            </a:fld>
            <a:endParaRPr lang="en-US" dirty="0"/>
          </a:p>
        </p:txBody>
      </p:sp>
      <p:pic>
        <p:nvPicPr>
          <p:cNvPr id="5" name="Content Placeholder 5" descr="Table&#10;&#10;AI-generated content may be incorrect.">
            <a:extLst>
              <a:ext uri="{FF2B5EF4-FFF2-40B4-BE49-F238E27FC236}">
                <a16:creationId xmlns:a16="http://schemas.microsoft.com/office/drawing/2014/main" id="{8BFCDDE8-79A4-27EA-8C6C-5B6DAE16D96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auto">
          <a:xfrm>
            <a:off x="674621" y="2429933"/>
            <a:ext cx="7794756" cy="4332817"/>
          </a:xfrm>
          <a:prstGeom prst="rect">
            <a:avLst/>
          </a:prstGeom>
          <a:noFill/>
          <a:ln w="9525">
            <a:noFill/>
            <a:miter lim="800000"/>
            <a:headEnd/>
            <a:tailEnd/>
          </a:ln>
          <a:effectLst/>
        </p:spPr>
      </p:pic>
    </p:spTree>
    <p:extLst>
      <p:ext uri="{BB962C8B-B14F-4D97-AF65-F5344CB8AC3E}">
        <p14:creationId xmlns:p14="http://schemas.microsoft.com/office/powerpoint/2010/main" val="3938787985"/>
      </p:ext>
    </p:extLst>
  </p:cSld>
  <p:clrMapOvr>
    <a:masterClrMapping/>
  </p:clrMapOvr>
  <p:transition/>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23FA8-027C-952D-BB8B-034407440E49}"/>
              </a:ext>
            </a:extLst>
          </p:cNvPr>
          <p:cNvSpPr>
            <a:spLocks noGrp="1"/>
          </p:cNvSpPr>
          <p:nvPr>
            <p:ph type="title"/>
          </p:nvPr>
        </p:nvSpPr>
        <p:spPr>
          <a:xfrm>
            <a:off x="0" y="0"/>
            <a:ext cx="9144000" cy="968188"/>
          </a:xfrm>
        </p:spPr>
        <p:txBody>
          <a:bodyPr/>
          <a:lstStyle/>
          <a:p>
            <a:r>
              <a:rPr lang="en-US" sz="2400" dirty="0"/>
              <a:t>AFTO FORM 874</a:t>
            </a:r>
            <a:br>
              <a:rPr lang="en-US" sz="2400" dirty="0"/>
            </a:br>
            <a:r>
              <a:rPr lang="en-US" sz="2400" u="sng" dirty="0">
                <a:latin typeface="Times New Roman" panose="02020603050405020304" pitchFamily="18" charset="0"/>
                <a:cs typeface="Times New Roman" panose="02020603050405020304" pitchFamily="18" charset="0"/>
              </a:rPr>
              <a:t>Part H - Action Required On Supply Records</a:t>
            </a:r>
            <a:endParaRPr lang="en-US" sz="2400" dirty="0"/>
          </a:p>
        </p:txBody>
      </p:sp>
      <p:sp>
        <p:nvSpPr>
          <p:cNvPr id="3" name="Content Placeholder 2">
            <a:extLst>
              <a:ext uri="{FF2B5EF4-FFF2-40B4-BE49-F238E27FC236}">
                <a16:creationId xmlns:a16="http://schemas.microsoft.com/office/drawing/2014/main" id="{C7BE04C9-DDC2-81AF-4707-CFD0A33E50BD}"/>
              </a:ext>
            </a:extLst>
          </p:cNvPr>
          <p:cNvSpPr>
            <a:spLocks noGrp="1"/>
          </p:cNvSpPr>
          <p:nvPr>
            <p:ph idx="1"/>
          </p:nvPr>
        </p:nvSpPr>
        <p:spPr>
          <a:xfrm>
            <a:off x="0" y="1093694"/>
            <a:ext cx="9144000" cy="5764306"/>
          </a:xfrm>
        </p:spPr>
        <p:txBody>
          <a:bodyPr/>
          <a:lstStyle/>
          <a:p>
            <a:r>
              <a:rPr lang="en-US" sz="2400" u="sng" dirty="0">
                <a:latin typeface="Times New Roman" panose="02020603050405020304" pitchFamily="18" charset="0"/>
                <a:cs typeface="Times New Roman" panose="02020603050405020304" pitchFamily="18" charset="0"/>
              </a:rPr>
              <a:t>Part I</a:t>
            </a:r>
            <a:r>
              <a:rPr lang="en-US" sz="2400" b="0" dirty="0">
                <a:latin typeface="Times New Roman" panose="02020603050405020304" pitchFamily="18" charset="0"/>
                <a:cs typeface="Times New Roman" panose="02020603050405020304" pitchFamily="18" charset="0"/>
              </a:rPr>
              <a:t> – List all required information in the applicable column for critical items kit installations tools (special tools, test equipment, or fixtures).  Enter the disposition instructions for each item listed.  Provide instructions for disposal after completion of the TCTO.</a:t>
            </a:r>
          </a:p>
          <a:p>
            <a:endParaRPr lang="en-US" dirty="0"/>
          </a:p>
        </p:txBody>
      </p:sp>
      <p:sp>
        <p:nvSpPr>
          <p:cNvPr id="4" name="Slide Number Placeholder 3">
            <a:extLst>
              <a:ext uri="{FF2B5EF4-FFF2-40B4-BE49-F238E27FC236}">
                <a16:creationId xmlns:a16="http://schemas.microsoft.com/office/drawing/2014/main" id="{420A36A8-C1E7-7AF3-3329-76B024AAB912}"/>
              </a:ext>
            </a:extLst>
          </p:cNvPr>
          <p:cNvSpPr>
            <a:spLocks noGrp="1"/>
          </p:cNvSpPr>
          <p:nvPr>
            <p:ph type="sldNum" sz="quarter" idx="12"/>
          </p:nvPr>
        </p:nvSpPr>
        <p:spPr>
          <a:xfrm>
            <a:off x="8659906" y="6472518"/>
            <a:ext cx="484094" cy="385482"/>
          </a:xfrm>
        </p:spPr>
        <p:txBody>
          <a:bodyPr/>
          <a:lstStyle/>
          <a:p>
            <a:fld id="{4E9EBC09-8728-46F0-99E6-7C066CF6AFEC}" type="slidenum">
              <a:rPr lang="en-US" smtClean="0"/>
              <a:pPr/>
              <a:t>20</a:t>
            </a:fld>
            <a:endParaRPr lang="en-US"/>
          </a:p>
        </p:txBody>
      </p:sp>
      <p:pic>
        <p:nvPicPr>
          <p:cNvPr id="5" name="Picture 4" descr="Graphical user interface, application&#10;&#10;AI-generated content may be incorrect.">
            <a:extLst>
              <a:ext uri="{FF2B5EF4-FFF2-40B4-BE49-F238E27FC236}">
                <a16:creationId xmlns:a16="http://schemas.microsoft.com/office/drawing/2014/main" id="{7147FE4B-8C79-BC67-3204-EB0F9BAF36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8625" y="3038475"/>
            <a:ext cx="8145555" cy="3257549"/>
          </a:xfrm>
          <a:prstGeom prst="rect">
            <a:avLst/>
          </a:prstGeom>
        </p:spPr>
      </p:pic>
    </p:spTree>
    <p:extLst>
      <p:ext uri="{BB962C8B-B14F-4D97-AF65-F5344CB8AC3E}">
        <p14:creationId xmlns:p14="http://schemas.microsoft.com/office/powerpoint/2010/main" val="1970863591"/>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C3500-C275-0C8D-24DC-80CA3B788E32}"/>
              </a:ext>
            </a:extLst>
          </p:cNvPr>
          <p:cNvSpPr>
            <a:spLocks noGrp="1"/>
          </p:cNvSpPr>
          <p:nvPr>
            <p:ph type="title"/>
          </p:nvPr>
        </p:nvSpPr>
        <p:spPr>
          <a:xfrm>
            <a:off x="0" y="-1"/>
            <a:ext cx="9144000" cy="981075"/>
          </a:xfrm>
        </p:spPr>
        <p:txBody>
          <a:bodyPr/>
          <a:lstStyle/>
          <a:p>
            <a:r>
              <a:rPr lang="en-US" sz="2400" dirty="0"/>
              <a:t>AFTO FORM 874</a:t>
            </a:r>
            <a:br>
              <a:rPr lang="en-US" sz="2400" dirty="0"/>
            </a:br>
            <a:r>
              <a:rPr lang="en-US" sz="2400" u="sng" dirty="0">
                <a:latin typeface="Times New Roman" panose="02020603050405020304" pitchFamily="18" charset="0"/>
                <a:cs typeface="Times New Roman" panose="02020603050405020304" pitchFamily="18" charset="0"/>
              </a:rPr>
              <a:t>Part H - Action Required On Supply Records</a:t>
            </a:r>
            <a:endParaRPr lang="en-US" sz="2400" dirty="0"/>
          </a:p>
        </p:txBody>
      </p:sp>
      <p:sp>
        <p:nvSpPr>
          <p:cNvPr id="3" name="Content Placeholder 2">
            <a:extLst>
              <a:ext uri="{FF2B5EF4-FFF2-40B4-BE49-F238E27FC236}">
                <a16:creationId xmlns:a16="http://schemas.microsoft.com/office/drawing/2014/main" id="{CF35A423-2012-560B-B9C8-849B9F78703B}"/>
              </a:ext>
            </a:extLst>
          </p:cNvPr>
          <p:cNvSpPr>
            <a:spLocks noGrp="1"/>
          </p:cNvSpPr>
          <p:nvPr>
            <p:ph idx="1"/>
          </p:nvPr>
        </p:nvSpPr>
        <p:spPr>
          <a:xfrm>
            <a:off x="0" y="1057835"/>
            <a:ext cx="9144000" cy="5800165"/>
          </a:xfrm>
        </p:spPr>
        <p:txBody>
          <a:bodyPr/>
          <a:lstStyle/>
          <a:p>
            <a:r>
              <a:rPr lang="en-US" sz="2400" u="sng" dirty="0">
                <a:latin typeface="Times New Roman" panose="02020603050405020304" pitchFamily="18" charset="0"/>
                <a:cs typeface="Times New Roman" panose="02020603050405020304" pitchFamily="18" charset="0"/>
              </a:rPr>
              <a:t>Part J</a:t>
            </a:r>
            <a:r>
              <a:rPr lang="en-US" sz="2400" b="0" dirty="0">
                <a:latin typeface="Times New Roman" panose="02020603050405020304" pitchFamily="18" charset="0"/>
                <a:cs typeface="Times New Roman" panose="02020603050405020304" pitchFamily="18" charset="0"/>
              </a:rPr>
              <a:t> – Enter any remarks pertaining to all special tools, test equipment, or fixtures required for kit installations which are not available to the performing activity. </a:t>
            </a:r>
          </a:p>
          <a:p>
            <a:endParaRPr lang="en-US" dirty="0"/>
          </a:p>
        </p:txBody>
      </p:sp>
      <p:sp>
        <p:nvSpPr>
          <p:cNvPr id="4" name="Slide Number Placeholder 3">
            <a:extLst>
              <a:ext uri="{FF2B5EF4-FFF2-40B4-BE49-F238E27FC236}">
                <a16:creationId xmlns:a16="http://schemas.microsoft.com/office/drawing/2014/main" id="{D9E672F0-535D-7A1E-163F-49021A2B22D0}"/>
              </a:ext>
            </a:extLst>
          </p:cNvPr>
          <p:cNvSpPr>
            <a:spLocks noGrp="1"/>
          </p:cNvSpPr>
          <p:nvPr>
            <p:ph type="sldNum" sz="quarter" idx="12"/>
          </p:nvPr>
        </p:nvSpPr>
        <p:spPr>
          <a:xfrm>
            <a:off x="8650941" y="6615953"/>
            <a:ext cx="493059" cy="242047"/>
          </a:xfrm>
        </p:spPr>
        <p:txBody>
          <a:bodyPr/>
          <a:lstStyle/>
          <a:p>
            <a:fld id="{4E9EBC09-8728-46F0-99E6-7C066CF6AFEC}" type="slidenum">
              <a:rPr lang="en-US" smtClean="0"/>
              <a:pPr/>
              <a:t>21</a:t>
            </a:fld>
            <a:endParaRPr lang="en-US" dirty="0"/>
          </a:p>
        </p:txBody>
      </p:sp>
      <p:pic>
        <p:nvPicPr>
          <p:cNvPr id="5" name="Picture 4" descr="Text&#10;&#10;AI-generated content may be incorrect.">
            <a:extLst>
              <a:ext uri="{FF2B5EF4-FFF2-40B4-BE49-F238E27FC236}">
                <a16:creationId xmlns:a16="http://schemas.microsoft.com/office/drawing/2014/main" id="{BD9258B3-DC17-17C5-4B76-89ADD868E1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1950" y="2962766"/>
            <a:ext cx="8458200" cy="3114183"/>
          </a:xfrm>
          <a:prstGeom prst="rect">
            <a:avLst/>
          </a:prstGeom>
        </p:spPr>
      </p:pic>
    </p:spTree>
    <p:extLst>
      <p:ext uri="{BB962C8B-B14F-4D97-AF65-F5344CB8AC3E}">
        <p14:creationId xmlns:p14="http://schemas.microsoft.com/office/powerpoint/2010/main" val="104288249"/>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AFTO FORM 874</a:t>
            </a:r>
          </a:p>
        </p:txBody>
      </p:sp>
      <p:sp>
        <p:nvSpPr>
          <p:cNvPr id="3" name="Content Placeholder 2"/>
          <p:cNvSpPr>
            <a:spLocks noGrp="1"/>
          </p:cNvSpPr>
          <p:nvPr>
            <p:ph idx="1"/>
          </p:nvPr>
        </p:nvSpPr>
        <p:spPr/>
        <p:txBody>
          <a:bodyPr/>
          <a:lstStyle/>
          <a:p>
            <a:pPr algn="ctr"/>
            <a:r>
              <a:rPr lang="en-US" sz="1600" b="0" dirty="0">
                <a:latin typeface="Times New Roman" panose="02020603050405020304" pitchFamily="18" charset="0"/>
                <a:cs typeface="Times New Roman" panose="02020603050405020304" pitchFamily="18" charset="0"/>
              </a:rPr>
              <a:t>Part I, Kit Installation Tools.</a:t>
            </a:r>
          </a:p>
          <a:p>
            <a:pPr algn="ctr"/>
            <a:endParaRPr lang="en-US" sz="1600" b="0" dirty="0">
              <a:latin typeface="Times New Roman" panose="02020603050405020304" pitchFamily="18" charset="0"/>
              <a:cs typeface="Times New Roman" panose="02020603050405020304" pitchFamily="18" charset="0"/>
            </a:endParaRPr>
          </a:p>
          <a:p>
            <a:r>
              <a:rPr lang="en-US" sz="1600" b="0" dirty="0">
                <a:latin typeface="Times New Roman" panose="02020603050405020304" pitchFamily="18" charset="0"/>
                <a:cs typeface="Times New Roman" panose="02020603050405020304" pitchFamily="18" charset="0"/>
              </a:rPr>
              <a:t>List all special tools, test equipment or fixtures required for kit installation which are not normally available to the performing activity. </a:t>
            </a:r>
          </a:p>
          <a:p>
            <a:r>
              <a:rPr lang="en-US" sz="1600" b="0" dirty="0">
                <a:latin typeface="Times New Roman" panose="02020603050405020304" pitchFamily="18" charset="0"/>
                <a:cs typeface="Times New Roman" panose="02020603050405020304" pitchFamily="18" charset="0"/>
              </a:rPr>
              <a:t>The method of obtaining special equipment will be listed in the source column, and the disposition column will provide instructions for disposal after completion of the TCTO.</a:t>
            </a:r>
          </a:p>
        </p:txBody>
      </p:sp>
      <p:sp>
        <p:nvSpPr>
          <p:cNvPr id="4" name="Slide Number Placeholder 3"/>
          <p:cNvSpPr>
            <a:spLocks noGrp="1"/>
          </p:cNvSpPr>
          <p:nvPr>
            <p:ph type="sldNum" sz="quarter" idx="12"/>
          </p:nvPr>
        </p:nvSpPr>
        <p:spPr/>
        <p:txBody>
          <a:bodyPr/>
          <a:lstStyle/>
          <a:p>
            <a:fld id="{4E9EBC09-8728-46F0-99E6-7C066CF6AFEC}" type="slidenum">
              <a:rPr lang="en-US" smtClean="0"/>
              <a:pPr/>
              <a:t>22</a:t>
            </a:fld>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1968348566"/>
              </p:ext>
            </p:extLst>
          </p:nvPr>
        </p:nvGraphicFramePr>
        <p:xfrm>
          <a:off x="880217" y="3217254"/>
          <a:ext cx="7252530" cy="828040"/>
        </p:xfrm>
        <a:graphic>
          <a:graphicData uri="http://schemas.openxmlformats.org/drawingml/2006/table">
            <a:tbl>
              <a:tblPr firstRow="1" bandRow="1">
                <a:tableStyleId>{5C22544A-7EE6-4342-B048-85BDC9FD1C3A}</a:tableStyleId>
              </a:tblPr>
              <a:tblGrid>
                <a:gridCol w="1450506">
                  <a:extLst>
                    <a:ext uri="{9D8B030D-6E8A-4147-A177-3AD203B41FA5}">
                      <a16:colId xmlns:a16="http://schemas.microsoft.com/office/drawing/2014/main" val="20000"/>
                    </a:ext>
                  </a:extLst>
                </a:gridCol>
                <a:gridCol w="1450506">
                  <a:extLst>
                    <a:ext uri="{9D8B030D-6E8A-4147-A177-3AD203B41FA5}">
                      <a16:colId xmlns:a16="http://schemas.microsoft.com/office/drawing/2014/main" val="20001"/>
                    </a:ext>
                  </a:extLst>
                </a:gridCol>
                <a:gridCol w="1450506">
                  <a:extLst>
                    <a:ext uri="{9D8B030D-6E8A-4147-A177-3AD203B41FA5}">
                      <a16:colId xmlns:a16="http://schemas.microsoft.com/office/drawing/2014/main" val="20002"/>
                    </a:ext>
                  </a:extLst>
                </a:gridCol>
                <a:gridCol w="1450506">
                  <a:extLst>
                    <a:ext uri="{9D8B030D-6E8A-4147-A177-3AD203B41FA5}">
                      <a16:colId xmlns:a16="http://schemas.microsoft.com/office/drawing/2014/main" val="20003"/>
                    </a:ext>
                  </a:extLst>
                </a:gridCol>
                <a:gridCol w="1450506">
                  <a:extLst>
                    <a:ext uri="{9D8B030D-6E8A-4147-A177-3AD203B41FA5}">
                      <a16:colId xmlns:a16="http://schemas.microsoft.com/office/drawing/2014/main" val="20004"/>
                    </a:ext>
                  </a:extLst>
                </a:gridCol>
              </a:tblGrid>
              <a:tr h="370840">
                <a:tc>
                  <a:txBody>
                    <a:bodyPr/>
                    <a:lstStyle/>
                    <a:p>
                      <a:r>
                        <a:rPr lang="en-US" sz="1200" dirty="0">
                          <a:latin typeface="Times New Roman" panose="02020603050405020304" pitchFamily="18" charset="0"/>
                          <a:cs typeface="Times New Roman" panose="02020603050405020304" pitchFamily="18" charset="0"/>
                        </a:rPr>
                        <a:t>NSN</a:t>
                      </a:r>
                    </a:p>
                  </a:txBody>
                  <a:tcPr/>
                </a:tc>
                <a:tc>
                  <a:txBody>
                    <a:bodyPr/>
                    <a:lstStyle/>
                    <a:p>
                      <a:r>
                        <a:rPr lang="en-US" sz="1200" dirty="0">
                          <a:latin typeface="Times New Roman" panose="02020603050405020304" pitchFamily="18" charset="0"/>
                          <a:cs typeface="Times New Roman" panose="02020603050405020304" pitchFamily="18" charset="0"/>
                        </a:rPr>
                        <a:t>Part Number</a:t>
                      </a:r>
                    </a:p>
                  </a:txBody>
                  <a:tcPr/>
                </a:tc>
                <a:tc>
                  <a:txBody>
                    <a:bodyPr/>
                    <a:lstStyle/>
                    <a:p>
                      <a:r>
                        <a:rPr lang="en-US" sz="1200" dirty="0">
                          <a:latin typeface="Times New Roman" panose="02020603050405020304" pitchFamily="18" charset="0"/>
                          <a:cs typeface="Times New Roman" panose="02020603050405020304" pitchFamily="18" charset="0"/>
                        </a:rPr>
                        <a:t>Nomenclature</a:t>
                      </a:r>
                    </a:p>
                  </a:txBody>
                  <a:tcPr/>
                </a:tc>
                <a:tc>
                  <a:txBody>
                    <a:bodyPr/>
                    <a:lstStyle/>
                    <a:p>
                      <a:r>
                        <a:rPr lang="en-US" sz="1200" dirty="0">
                          <a:latin typeface="Times New Roman" panose="02020603050405020304" pitchFamily="18" charset="0"/>
                          <a:cs typeface="Times New Roman" panose="02020603050405020304" pitchFamily="18" charset="0"/>
                        </a:rPr>
                        <a:t>Source </a:t>
                      </a:r>
                    </a:p>
                  </a:txBody>
                  <a:tcPr/>
                </a:tc>
                <a:tc>
                  <a:txBody>
                    <a:bodyPr/>
                    <a:lstStyle/>
                    <a:p>
                      <a:r>
                        <a:rPr lang="en-US" sz="1200" dirty="0">
                          <a:latin typeface="Times New Roman" panose="02020603050405020304" pitchFamily="18" charset="0"/>
                          <a:cs typeface="Times New Roman" panose="02020603050405020304" pitchFamily="18" charset="0"/>
                        </a:rPr>
                        <a:t>Disposition</a:t>
                      </a:r>
                    </a:p>
                  </a:txBody>
                  <a:tcPr/>
                </a:tc>
                <a:extLst>
                  <a:ext uri="{0D108BD9-81ED-4DB2-BD59-A6C34878D82A}">
                    <a16:rowId xmlns:a16="http://schemas.microsoft.com/office/drawing/2014/main" val="10000"/>
                  </a:ext>
                </a:extLst>
              </a:tr>
              <a:tr h="370840">
                <a:tc>
                  <a:txBody>
                    <a:bodyPr/>
                    <a:lstStyle/>
                    <a:p>
                      <a:r>
                        <a:rPr lang="en-US" sz="1200" dirty="0">
                          <a:latin typeface="Times New Roman" panose="02020603050405020304" pitchFamily="18" charset="0"/>
                          <a:cs typeface="Times New Roman" panose="02020603050405020304" pitchFamily="18" charset="0"/>
                        </a:rPr>
                        <a:t>XXXX-XX-XXX-XXXX</a:t>
                      </a:r>
                    </a:p>
                  </a:txBody>
                  <a:tcPr/>
                </a:tc>
                <a:tc>
                  <a:txBody>
                    <a:bodyPr/>
                    <a:lstStyle/>
                    <a:p>
                      <a:r>
                        <a:rPr lang="en-US" sz="1200" dirty="0">
                          <a:latin typeface="Times New Roman" panose="02020603050405020304" pitchFamily="18" charset="0"/>
                          <a:cs typeface="Times New Roman" panose="02020603050405020304" pitchFamily="18" charset="0"/>
                        </a:rPr>
                        <a:t>XXXXXXX</a:t>
                      </a:r>
                    </a:p>
                  </a:txBody>
                  <a:tcPr/>
                </a:tc>
                <a:tc>
                  <a:txBody>
                    <a:bodyPr/>
                    <a:lstStyle/>
                    <a:p>
                      <a:r>
                        <a:rPr lang="en-US" sz="1200" dirty="0">
                          <a:latin typeface="Times New Roman" panose="02020603050405020304" pitchFamily="18" charset="0"/>
                          <a:cs typeface="Times New Roman" panose="02020603050405020304" pitchFamily="18" charset="0"/>
                        </a:rPr>
                        <a:t>XXXXXXXXX</a:t>
                      </a:r>
                    </a:p>
                  </a:txBody>
                  <a:tcPr/>
                </a:tc>
                <a:tc>
                  <a:txBody>
                    <a:bodyPr/>
                    <a:lstStyle/>
                    <a:p>
                      <a:r>
                        <a:rPr lang="en-US" sz="1200" dirty="0">
                          <a:latin typeface="Times New Roman" panose="02020603050405020304" pitchFamily="18" charset="0"/>
                          <a:cs typeface="Times New Roman" panose="02020603050405020304" pitchFamily="18" charset="0"/>
                        </a:rPr>
                        <a:t>AF, DLA, Contractor</a:t>
                      </a:r>
                    </a:p>
                  </a:txBody>
                  <a:tcPr/>
                </a:tc>
                <a:tc>
                  <a:txBody>
                    <a:bodyPr/>
                    <a:lstStyle/>
                    <a:p>
                      <a:r>
                        <a:rPr lang="en-US" sz="1200" dirty="0" err="1">
                          <a:latin typeface="Times New Roman" panose="02020603050405020304" pitchFamily="18" charset="0"/>
                          <a:cs typeface="Times New Roman" panose="02020603050405020304" pitchFamily="18" charset="0"/>
                        </a:rPr>
                        <a:t>DeMil</a:t>
                      </a:r>
                      <a:r>
                        <a:rPr lang="en-US" sz="1200" dirty="0">
                          <a:latin typeface="Times New Roman" panose="02020603050405020304" pitchFamily="18" charset="0"/>
                          <a:cs typeface="Times New Roman" panose="02020603050405020304" pitchFamily="18" charset="0"/>
                        </a:rPr>
                        <a:t>, etc.</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773653456"/>
      </p:ext>
    </p:extLst>
  </p:cSld>
  <p:clrMapOvr>
    <a:masterClrMapping/>
  </p:clrMapOvr>
  <p:transition/>
  <p:extLst>
    <p:ext uri="{6950BFC3-D8DA-4A85-94F7-54DA5524770B}">
      <p188:commentRel xmlns:p188="http://schemas.microsoft.com/office/powerpoint/2018/8/main" r:id="rId2"/>
    </p:ext>
  </p:extLst>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AFTO FORM 874</a:t>
            </a:r>
          </a:p>
        </p:txBody>
      </p:sp>
      <p:sp>
        <p:nvSpPr>
          <p:cNvPr id="3" name="Content Placeholder 2"/>
          <p:cNvSpPr>
            <a:spLocks noGrp="1"/>
          </p:cNvSpPr>
          <p:nvPr>
            <p:ph idx="1"/>
          </p:nvPr>
        </p:nvSpPr>
        <p:spPr/>
        <p:txBody>
          <a:bodyPr/>
          <a:lstStyle/>
          <a:p>
            <a:pPr algn="ctr"/>
            <a:r>
              <a:rPr lang="en-US" sz="1600" b="0" dirty="0">
                <a:latin typeface="Times New Roman" panose="02020603050405020304" pitchFamily="18" charset="0"/>
                <a:cs typeface="Times New Roman" panose="02020603050405020304" pitchFamily="18" charset="0"/>
              </a:rPr>
              <a:t>Part J, Remarks.</a:t>
            </a:r>
          </a:p>
          <a:p>
            <a:pPr algn="ctr"/>
            <a:endParaRPr lang="en-US" sz="1600" b="0" dirty="0">
              <a:latin typeface="Times New Roman" panose="02020603050405020304" pitchFamily="18" charset="0"/>
              <a:cs typeface="Times New Roman" panose="02020603050405020304" pitchFamily="18" charset="0"/>
            </a:endParaRPr>
          </a:p>
          <a:p>
            <a:r>
              <a:rPr lang="en-US" sz="1600" b="0" dirty="0">
                <a:latin typeface="Times New Roman" panose="02020603050405020304" pitchFamily="18" charset="0"/>
                <a:cs typeface="Times New Roman" panose="02020603050405020304" pitchFamily="18" charset="0"/>
              </a:rPr>
              <a:t>Used for any carry-over information (indicate which part/block is being carried over) and to provide further explanation of TCTO requirements.</a:t>
            </a:r>
          </a:p>
        </p:txBody>
      </p:sp>
      <p:sp>
        <p:nvSpPr>
          <p:cNvPr id="4" name="Slide Number Placeholder 3"/>
          <p:cNvSpPr>
            <a:spLocks noGrp="1"/>
          </p:cNvSpPr>
          <p:nvPr>
            <p:ph type="sldNum" sz="quarter" idx="12"/>
          </p:nvPr>
        </p:nvSpPr>
        <p:spPr/>
        <p:txBody>
          <a:bodyPr/>
          <a:lstStyle/>
          <a:p>
            <a:fld id="{4E9EBC09-8728-46F0-99E6-7C066CF6AFEC}" type="slidenum">
              <a:rPr lang="en-US" smtClean="0"/>
              <a:pPr/>
              <a:t>23</a:t>
            </a:fld>
            <a:endParaRPr lang="en-US"/>
          </a:p>
        </p:txBody>
      </p:sp>
    </p:spTree>
    <p:extLst>
      <p:ext uri="{BB962C8B-B14F-4D97-AF65-F5344CB8AC3E}">
        <p14:creationId xmlns:p14="http://schemas.microsoft.com/office/powerpoint/2010/main" val="151929762"/>
      </p:ext>
    </p:extLst>
  </p:cSld>
  <p:clrMapOvr>
    <a:masterClrMapping/>
  </p:clrMapOvr>
  <p:transition/>
  <p:extLst>
    <p:ext uri="{6950BFC3-D8DA-4A85-94F7-54DA5524770B}">
      <p188:commentRel xmlns:p188="http://schemas.microsoft.com/office/powerpoint/2018/8/main" r:id="rId2"/>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21976"/>
          </a:xfrm>
        </p:spPr>
        <p:txBody>
          <a:bodyPr/>
          <a:lstStyle/>
          <a:p>
            <a:r>
              <a:rPr lang="en-US" sz="2800" dirty="0"/>
              <a:t>AFTO FORM 874</a:t>
            </a:r>
            <a:br>
              <a:rPr lang="en-US" sz="2800" dirty="0"/>
            </a:br>
            <a:r>
              <a:rPr lang="en-US" sz="2400" u="sng" dirty="0"/>
              <a:t>Part K - Certification</a:t>
            </a:r>
          </a:p>
        </p:txBody>
      </p:sp>
      <p:sp>
        <p:nvSpPr>
          <p:cNvPr id="3" name="Content Placeholder 2"/>
          <p:cNvSpPr>
            <a:spLocks noGrp="1"/>
          </p:cNvSpPr>
          <p:nvPr>
            <p:ph idx="1"/>
          </p:nvPr>
        </p:nvSpPr>
        <p:spPr>
          <a:xfrm>
            <a:off x="0" y="1021976"/>
            <a:ext cx="9143999" cy="5836024"/>
          </a:xfrm>
        </p:spPr>
        <p:txBody>
          <a:bodyPr/>
          <a:lstStyle/>
          <a:p>
            <a:pPr marL="0" indent="0" algn="ctr">
              <a:buNone/>
            </a:pPr>
            <a:endParaRPr lang="en-US" sz="1600" b="0" dirty="0">
              <a:latin typeface="Times New Roman" panose="02020603050405020304" pitchFamily="18" charset="0"/>
              <a:cs typeface="Times New Roman" panose="02020603050405020304" pitchFamily="18" charset="0"/>
            </a:endParaRPr>
          </a:p>
          <a:p>
            <a:r>
              <a:rPr lang="en-US" sz="1600" u="sng" dirty="0">
                <a:latin typeface="Times New Roman" panose="02020603050405020304" pitchFamily="18" charset="0"/>
                <a:cs typeface="Times New Roman" panose="02020603050405020304" pitchFamily="18" charset="0"/>
              </a:rPr>
              <a:t>Block 1 – Equipment Specialist:</a:t>
            </a:r>
            <a:r>
              <a:rPr lang="en-US" sz="1600" b="0" dirty="0">
                <a:latin typeface="Times New Roman" panose="02020603050405020304" pitchFamily="18" charset="0"/>
                <a:cs typeface="Times New Roman" panose="02020603050405020304" pitchFamily="18" charset="0"/>
              </a:rPr>
              <a:t> Enter the equipment specialists name, office symbol, and phone number. </a:t>
            </a:r>
          </a:p>
          <a:p>
            <a:r>
              <a:rPr lang="en-US" sz="1600" u="sng" dirty="0">
                <a:latin typeface="Times New Roman" panose="02020603050405020304" pitchFamily="18" charset="0"/>
                <a:cs typeface="Times New Roman" panose="02020603050405020304" pitchFamily="18" charset="0"/>
              </a:rPr>
              <a:t>Block 2 – Equipment Specialist signature:</a:t>
            </a:r>
            <a:r>
              <a:rPr lang="en-US" sz="1600" b="0" dirty="0">
                <a:latin typeface="Times New Roman" panose="02020603050405020304" pitchFamily="18" charset="0"/>
                <a:cs typeface="Times New Roman" panose="02020603050405020304" pitchFamily="18" charset="0"/>
              </a:rPr>
              <a:t> Enter the equipment specialist's electronic signature.  Once digitally signed, data will auto-populate. </a:t>
            </a:r>
          </a:p>
          <a:p>
            <a:r>
              <a:rPr lang="en-US" sz="1600" u="sng" dirty="0">
                <a:latin typeface="Times New Roman" panose="02020603050405020304" pitchFamily="18" charset="0"/>
                <a:cs typeface="Times New Roman" panose="02020603050405020304" pitchFamily="18" charset="0"/>
              </a:rPr>
              <a:t>Block 3 – Kit Manager:</a:t>
            </a:r>
            <a:r>
              <a:rPr lang="en-US" sz="1600" b="0" dirty="0">
                <a:latin typeface="Times New Roman" panose="02020603050405020304" pitchFamily="18" charset="0"/>
                <a:cs typeface="Times New Roman" panose="02020603050405020304" pitchFamily="18" charset="0"/>
              </a:rPr>
              <a:t> Enter the kit manager’s name, office symbol, and phone number. </a:t>
            </a:r>
          </a:p>
          <a:p>
            <a:r>
              <a:rPr lang="en-US" sz="1600" u="sng" dirty="0">
                <a:latin typeface="Times New Roman" panose="02020603050405020304" pitchFamily="18" charset="0"/>
                <a:cs typeface="Times New Roman" panose="02020603050405020304" pitchFamily="18" charset="0"/>
              </a:rPr>
              <a:t>Block 4 – Kit Manager Signature:</a:t>
            </a:r>
            <a:r>
              <a:rPr lang="en-US" sz="1600" b="0" dirty="0">
                <a:latin typeface="Times New Roman" panose="02020603050405020304" pitchFamily="18" charset="0"/>
                <a:cs typeface="Times New Roman" panose="02020603050405020304" pitchFamily="18" charset="0"/>
              </a:rPr>
              <a:t> Enter the kit manager’s electronic signature.  Once digitally signed, date will auto-populate. </a:t>
            </a:r>
          </a:p>
          <a:p>
            <a:r>
              <a:rPr lang="en-US" sz="1600" u="sng" dirty="0">
                <a:latin typeface="Times New Roman" panose="02020603050405020304" pitchFamily="18" charset="0"/>
                <a:cs typeface="Times New Roman" panose="02020603050405020304" pitchFamily="18" charset="0"/>
              </a:rPr>
              <a:t>Block 5 – Program Manager (PM) approval:</a:t>
            </a:r>
            <a:r>
              <a:rPr lang="en-US" sz="1600" b="0" dirty="0">
                <a:latin typeface="Times New Roman" panose="02020603050405020304" pitchFamily="18" charset="0"/>
                <a:cs typeface="Times New Roman" panose="02020603050405020304" pitchFamily="18" charset="0"/>
              </a:rPr>
              <a:t> Enter the approving program manager’s name, office symbol, and phone number. </a:t>
            </a:r>
          </a:p>
          <a:p>
            <a:r>
              <a:rPr lang="en-US" sz="1600" u="sng" dirty="0">
                <a:latin typeface="Times New Roman" panose="02020603050405020304" pitchFamily="18" charset="0"/>
                <a:cs typeface="Times New Roman" panose="02020603050405020304" pitchFamily="18" charset="0"/>
              </a:rPr>
              <a:t>Block 6 – Program Manager (PM) signature:</a:t>
            </a:r>
            <a:r>
              <a:rPr lang="en-US" sz="1600" b="0" dirty="0">
                <a:latin typeface="Times New Roman" panose="02020603050405020304" pitchFamily="18" charset="0"/>
                <a:cs typeface="Times New Roman" panose="02020603050405020304" pitchFamily="18" charset="0"/>
              </a:rPr>
              <a:t> Enter the approving program manager’s electronic signature.  Once digitally signed, date will auto-populate. </a:t>
            </a:r>
          </a:p>
          <a:p>
            <a:r>
              <a:rPr lang="en-US" sz="1600" u="sng" dirty="0">
                <a:latin typeface="Times New Roman" panose="02020603050405020304" pitchFamily="18" charset="0"/>
                <a:cs typeface="Times New Roman" panose="02020603050405020304" pitchFamily="18" charset="0"/>
              </a:rPr>
              <a:t>Block 7 – Production Management Specialist (or equivalent):</a:t>
            </a:r>
            <a:r>
              <a:rPr lang="en-US" sz="1600" b="0" dirty="0">
                <a:latin typeface="Times New Roman" panose="02020603050405020304" pitchFamily="18" charset="0"/>
                <a:cs typeface="Times New Roman" panose="02020603050405020304" pitchFamily="18" charset="0"/>
              </a:rPr>
              <a:t> Enter the production management specialist’s name, office symbol, and phone number. </a:t>
            </a:r>
          </a:p>
          <a:p>
            <a:r>
              <a:rPr lang="en-US" sz="1600" u="sng" dirty="0">
                <a:latin typeface="Times New Roman" panose="02020603050405020304" pitchFamily="18" charset="0"/>
                <a:cs typeface="Times New Roman" panose="02020603050405020304" pitchFamily="18" charset="0"/>
              </a:rPr>
              <a:t>Block 8 – Production Management Specialist signature (or equivalent):</a:t>
            </a:r>
            <a:r>
              <a:rPr lang="en-US" sz="1600" b="0" dirty="0">
                <a:latin typeface="Times New Roman" panose="02020603050405020304" pitchFamily="18" charset="0"/>
                <a:cs typeface="Times New Roman" panose="02020603050405020304" pitchFamily="18" charset="0"/>
              </a:rPr>
              <a:t> Enter the production management specialist’s electronic signature.  Once digitally signed, date will auto-populate. </a:t>
            </a:r>
          </a:p>
          <a:p>
            <a:r>
              <a:rPr lang="en-US" sz="1600" u="sng" dirty="0">
                <a:latin typeface="Times New Roman" panose="02020603050405020304" pitchFamily="18" charset="0"/>
                <a:cs typeface="Times New Roman" panose="02020603050405020304" pitchFamily="18" charset="0"/>
              </a:rPr>
              <a:t>Block 9 – Engineer:</a:t>
            </a:r>
            <a:r>
              <a:rPr lang="en-US" sz="1600" b="0" dirty="0">
                <a:latin typeface="Times New Roman" panose="02020603050405020304" pitchFamily="18" charset="0"/>
                <a:cs typeface="Times New Roman" panose="02020603050405020304" pitchFamily="18" charset="0"/>
              </a:rPr>
              <a:t> Enter the engineer’s name, office symbol, and phone number. </a:t>
            </a:r>
          </a:p>
          <a:p>
            <a:r>
              <a:rPr lang="en-US" sz="1600" u="sng" dirty="0">
                <a:latin typeface="Times New Roman" panose="02020603050405020304" pitchFamily="18" charset="0"/>
                <a:cs typeface="Times New Roman" panose="02020603050405020304" pitchFamily="18" charset="0"/>
              </a:rPr>
              <a:t>Block 10 – Engineer signature:</a:t>
            </a:r>
            <a:r>
              <a:rPr lang="en-US" sz="1600" b="0" dirty="0">
                <a:latin typeface="Times New Roman" panose="02020603050405020304" pitchFamily="18" charset="0"/>
                <a:cs typeface="Times New Roman" panose="02020603050405020304" pitchFamily="18" charset="0"/>
              </a:rPr>
              <a:t> Enter the engineer’s electronic signature.  Once digitally signed, date will auto-populate. </a:t>
            </a:r>
          </a:p>
          <a:p>
            <a:r>
              <a:rPr lang="en-US" sz="1600" u="sng" dirty="0">
                <a:latin typeface="Times New Roman" panose="02020603050405020304" pitchFamily="18" charset="0"/>
                <a:cs typeface="Times New Roman" panose="02020603050405020304" pitchFamily="18" charset="0"/>
              </a:rPr>
              <a:t>Block 11 – Contractor (if applicable):</a:t>
            </a:r>
            <a:r>
              <a:rPr lang="en-US" sz="1600" b="0" dirty="0">
                <a:latin typeface="Times New Roman" panose="02020603050405020304" pitchFamily="18" charset="0"/>
                <a:cs typeface="Times New Roman" panose="02020603050405020304" pitchFamily="18" charset="0"/>
              </a:rPr>
              <a:t> If applicable, enter the contractors name, date, and phone number. </a:t>
            </a:r>
          </a:p>
        </p:txBody>
      </p:sp>
      <p:sp>
        <p:nvSpPr>
          <p:cNvPr id="4" name="Slide Number Placeholder 3"/>
          <p:cNvSpPr>
            <a:spLocks noGrp="1"/>
          </p:cNvSpPr>
          <p:nvPr>
            <p:ph type="sldNum" sz="quarter" idx="12"/>
          </p:nvPr>
        </p:nvSpPr>
        <p:spPr>
          <a:xfrm>
            <a:off x="8641976" y="6438900"/>
            <a:ext cx="502024" cy="381000"/>
          </a:xfrm>
        </p:spPr>
        <p:txBody>
          <a:bodyPr/>
          <a:lstStyle/>
          <a:p>
            <a:fld id="{4E9EBC09-8728-46F0-99E6-7C066CF6AFEC}" type="slidenum">
              <a:rPr lang="en-US" smtClean="0"/>
              <a:pPr/>
              <a:t>24</a:t>
            </a:fld>
            <a:endParaRPr lang="en-US" dirty="0"/>
          </a:p>
        </p:txBody>
      </p:sp>
    </p:spTree>
    <p:extLst>
      <p:ext uri="{BB962C8B-B14F-4D97-AF65-F5344CB8AC3E}">
        <p14:creationId xmlns:p14="http://schemas.microsoft.com/office/powerpoint/2010/main" val="3255873811"/>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0D396-45F7-16A7-057E-AC7C887B5A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F6D5A0-997B-ED74-93B7-007FBFCF8703}"/>
              </a:ext>
            </a:extLst>
          </p:cNvPr>
          <p:cNvSpPr>
            <a:spLocks noGrp="1"/>
          </p:cNvSpPr>
          <p:nvPr>
            <p:ph type="title"/>
          </p:nvPr>
        </p:nvSpPr>
        <p:spPr>
          <a:xfrm>
            <a:off x="0" y="0"/>
            <a:ext cx="9144000" cy="1021976"/>
          </a:xfrm>
        </p:spPr>
        <p:txBody>
          <a:bodyPr/>
          <a:lstStyle/>
          <a:p>
            <a:r>
              <a:rPr lang="en-US" sz="2800" dirty="0"/>
              <a:t>AFTO FORM 874</a:t>
            </a:r>
            <a:br>
              <a:rPr lang="en-US" sz="2800" dirty="0"/>
            </a:br>
            <a:r>
              <a:rPr lang="en-US" sz="2400" u="sng" dirty="0"/>
              <a:t>Part K - Certification</a:t>
            </a:r>
          </a:p>
        </p:txBody>
      </p:sp>
      <p:pic>
        <p:nvPicPr>
          <p:cNvPr id="6" name="Content Placeholder 5" descr="Graphical user interface, text&#10;&#10;AI-generated content may be incorrect.">
            <a:extLst>
              <a:ext uri="{FF2B5EF4-FFF2-40B4-BE49-F238E27FC236}">
                <a16:creationId xmlns:a16="http://schemas.microsoft.com/office/drawing/2014/main" id="{6EB720BF-1EA1-A042-3FCF-D2AA62A10C5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85762" y="1247776"/>
            <a:ext cx="8372475" cy="5191124"/>
          </a:xfrm>
        </p:spPr>
      </p:pic>
      <p:sp>
        <p:nvSpPr>
          <p:cNvPr id="4" name="Slide Number Placeholder 3">
            <a:extLst>
              <a:ext uri="{FF2B5EF4-FFF2-40B4-BE49-F238E27FC236}">
                <a16:creationId xmlns:a16="http://schemas.microsoft.com/office/drawing/2014/main" id="{FBA080D8-804B-7BA6-470E-E4F67F706983}"/>
              </a:ext>
            </a:extLst>
          </p:cNvPr>
          <p:cNvSpPr>
            <a:spLocks noGrp="1"/>
          </p:cNvSpPr>
          <p:nvPr>
            <p:ph type="sldNum" sz="quarter" idx="12"/>
          </p:nvPr>
        </p:nvSpPr>
        <p:spPr>
          <a:xfrm>
            <a:off x="8641976" y="6438900"/>
            <a:ext cx="502024" cy="381000"/>
          </a:xfrm>
        </p:spPr>
        <p:txBody>
          <a:bodyPr/>
          <a:lstStyle/>
          <a:p>
            <a:fld id="{4E9EBC09-8728-46F0-99E6-7C066CF6AFEC}" type="slidenum">
              <a:rPr lang="en-US" smtClean="0"/>
              <a:pPr/>
              <a:t>25</a:t>
            </a:fld>
            <a:endParaRPr lang="en-US" dirty="0"/>
          </a:p>
        </p:txBody>
      </p:sp>
    </p:spTree>
    <p:extLst>
      <p:ext uri="{BB962C8B-B14F-4D97-AF65-F5344CB8AC3E}">
        <p14:creationId xmlns:p14="http://schemas.microsoft.com/office/powerpoint/2010/main" val="3102880539"/>
      </p:ext>
    </p:extLst>
  </p:cSld>
  <p:clrMapOvr>
    <a:masterClrMapping/>
  </p:clrMapOvr>
  <p:transition/>
  <p:extLst>
    <p:ext uri="{6950BFC3-D8DA-4A85-94F7-54DA5524770B}">
      <p188:commentRel xmlns:p188="http://schemas.microsoft.com/office/powerpoint/2018/8/main" r:id="rId2"/>
    </p:ext>
  </p:extLst>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 A</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811191976"/>
              </p:ext>
            </p:extLst>
          </p:nvPr>
        </p:nvGraphicFramePr>
        <p:xfrm>
          <a:off x="188006" y="1257298"/>
          <a:ext cx="8802168" cy="2433951"/>
        </p:xfrm>
        <a:graphic>
          <a:graphicData uri="http://schemas.openxmlformats.org/drawingml/2006/table">
            <a:tbl>
              <a:tblPr firstRow="1" bandRow="1">
                <a:tableStyleId>{21E4AEA4-8DFA-4A89-87EB-49C32662AFE0}</a:tableStyleId>
              </a:tblPr>
              <a:tblGrid>
                <a:gridCol w="1467028">
                  <a:extLst>
                    <a:ext uri="{9D8B030D-6E8A-4147-A177-3AD203B41FA5}">
                      <a16:colId xmlns:a16="http://schemas.microsoft.com/office/drawing/2014/main" val="20000"/>
                    </a:ext>
                  </a:extLst>
                </a:gridCol>
                <a:gridCol w="1467028">
                  <a:extLst>
                    <a:ext uri="{9D8B030D-6E8A-4147-A177-3AD203B41FA5}">
                      <a16:colId xmlns:a16="http://schemas.microsoft.com/office/drawing/2014/main" val="20001"/>
                    </a:ext>
                  </a:extLst>
                </a:gridCol>
                <a:gridCol w="1313205">
                  <a:extLst>
                    <a:ext uri="{9D8B030D-6E8A-4147-A177-3AD203B41FA5}">
                      <a16:colId xmlns:a16="http://schemas.microsoft.com/office/drawing/2014/main" val="20002"/>
                    </a:ext>
                  </a:extLst>
                </a:gridCol>
                <a:gridCol w="1837346">
                  <a:extLst>
                    <a:ext uri="{9D8B030D-6E8A-4147-A177-3AD203B41FA5}">
                      <a16:colId xmlns:a16="http://schemas.microsoft.com/office/drawing/2014/main" val="20003"/>
                    </a:ext>
                  </a:extLst>
                </a:gridCol>
                <a:gridCol w="1250533">
                  <a:extLst>
                    <a:ext uri="{9D8B030D-6E8A-4147-A177-3AD203B41FA5}">
                      <a16:colId xmlns:a16="http://schemas.microsoft.com/office/drawing/2014/main" val="20004"/>
                    </a:ext>
                  </a:extLst>
                </a:gridCol>
                <a:gridCol w="1467028">
                  <a:extLst>
                    <a:ext uri="{9D8B030D-6E8A-4147-A177-3AD203B41FA5}">
                      <a16:colId xmlns:a16="http://schemas.microsoft.com/office/drawing/2014/main" val="20005"/>
                    </a:ext>
                  </a:extLst>
                </a:gridCol>
              </a:tblGrid>
              <a:tr h="811317">
                <a:tc>
                  <a:txBody>
                    <a:bodyPr/>
                    <a:lstStyle/>
                    <a:p>
                      <a:r>
                        <a:rPr lang="en-US" dirty="0"/>
                        <a:t>Qty.</a:t>
                      </a:r>
                    </a:p>
                  </a:txBody>
                  <a:tcPr/>
                </a:tc>
                <a:tc>
                  <a:txBody>
                    <a:bodyPr/>
                    <a:lstStyle/>
                    <a:p>
                      <a:r>
                        <a:rPr lang="en-US" dirty="0"/>
                        <a:t>NSN</a:t>
                      </a:r>
                    </a:p>
                  </a:txBody>
                  <a:tcPr/>
                </a:tc>
                <a:tc>
                  <a:txBody>
                    <a:bodyPr/>
                    <a:lstStyle/>
                    <a:p>
                      <a:r>
                        <a:rPr lang="en-US" dirty="0"/>
                        <a:t>Part Number</a:t>
                      </a:r>
                    </a:p>
                  </a:txBody>
                  <a:tcPr/>
                </a:tc>
                <a:tc>
                  <a:txBody>
                    <a:bodyPr/>
                    <a:lstStyle/>
                    <a:p>
                      <a:r>
                        <a:rPr lang="en-US" dirty="0"/>
                        <a:t>Nomenclature</a:t>
                      </a:r>
                    </a:p>
                  </a:txBody>
                  <a:tcPr/>
                </a:tc>
                <a:tc>
                  <a:txBody>
                    <a:bodyPr/>
                    <a:lstStyle/>
                    <a:p>
                      <a:r>
                        <a:rPr lang="en-US" dirty="0"/>
                        <a:t>Source</a:t>
                      </a:r>
                    </a:p>
                  </a:txBody>
                  <a:tcPr/>
                </a:tc>
                <a:tc>
                  <a:txBody>
                    <a:bodyPr/>
                    <a:lstStyle/>
                    <a:p>
                      <a:r>
                        <a:rPr lang="en-US" dirty="0"/>
                        <a:t>Code</a:t>
                      </a:r>
                    </a:p>
                  </a:txBody>
                  <a:tcPr/>
                </a:tc>
                <a:extLst>
                  <a:ext uri="{0D108BD9-81ED-4DB2-BD59-A6C34878D82A}">
                    <a16:rowId xmlns:a16="http://schemas.microsoft.com/office/drawing/2014/main" val="10000"/>
                  </a:ext>
                </a:extLst>
              </a:tr>
              <a:tr h="811317">
                <a:tc>
                  <a:txBody>
                    <a:bodyPr/>
                    <a:lstStyle/>
                    <a:p>
                      <a:r>
                        <a:rPr lang="en-US" dirty="0"/>
                        <a:t>A</a:t>
                      </a:r>
                    </a:p>
                  </a:txBody>
                  <a:tcPr/>
                </a:tc>
                <a:tc>
                  <a:txBody>
                    <a:bodyPr/>
                    <a:lstStyle/>
                    <a:p>
                      <a:r>
                        <a:rPr lang="en-US" dirty="0" err="1"/>
                        <a:t>xxxx</a:t>
                      </a:r>
                      <a:r>
                        <a:rPr lang="en-US" dirty="0"/>
                        <a:t>-xx-xxx-</a:t>
                      </a:r>
                      <a:r>
                        <a:rPr lang="en-US" dirty="0" err="1"/>
                        <a:t>xxxx</a:t>
                      </a:r>
                      <a:endParaRPr lang="en-US" dirty="0"/>
                    </a:p>
                  </a:txBody>
                  <a:tcPr/>
                </a:tc>
                <a:tc>
                  <a:txBody>
                    <a:bodyPr/>
                    <a:lstStyle/>
                    <a:p>
                      <a:r>
                        <a:rPr lang="en-US" dirty="0" err="1"/>
                        <a:t>xxxxxxxx</a:t>
                      </a:r>
                      <a:endParaRPr lang="en-US" dirty="0"/>
                    </a:p>
                  </a:txBody>
                  <a:tcPr/>
                </a:tc>
                <a:tc>
                  <a:txBody>
                    <a:bodyPr/>
                    <a:lstStyle/>
                    <a:p>
                      <a:r>
                        <a:rPr lang="en-US" dirty="0"/>
                        <a:t>Kit</a:t>
                      </a:r>
                    </a:p>
                  </a:txBody>
                  <a:tcPr/>
                </a:tc>
                <a:tc>
                  <a:txBody>
                    <a:bodyPr/>
                    <a:lstStyle/>
                    <a:p>
                      <a:r>
                        <a:rPr lang="en-US" dirty="0"/>
                        <a:t>AF, DLA, Contractor</a:t>
                      </a:r>
                    </a:p>
                  </a:txBody>
                  <a:tcPr/>
                </a:tc>
                <a:tc>
                  <a:txBody>
                    <a:bodyPr/>
                    <a:lstStyle/>
                    <a:p>
                      <a:r>
                        <a:rPr lang="en-US" dirty="0"/>
                        <a:t>See 9.</a:t>
                      </a:r>
                    </a:p>
                  </a:txBody>
                  <a:tcPr/>
                </a:tc>
                <a:extLst>
                  <a:ext uri="{0D108BD9-81ED-4DB2-BD59-A6C34878D82A}">
                    <a16:rowId xmlns:a16="http://schemas.microsoft.com/office/drawing/2014/main" val="10001"/>
                  </a:ext>
                </a:extLst>
              </a:tr>
              <a:tr h="811317">
                <a:tc>
                  <a:txBody>
                    <a:bodyPr/>
                    <a:lstStyle/>
                    <a:p>
                      <a:r>
                        <a:rPr lang="en-US" dirty="0"/>
                        <a:t>1</a:t>
                      </a:r>
                    </a:p>
                  </a:txBody>
                  <a:tcPr/>
                </a:tc>
                <a:tc>
                  <a:txBody>
                    <a:bodyPr/>
                    <a:lstStyle/>
                    <a:p>
                      <a:r>
                        <a:rPr lang="en-US" dirty="0" err="1"/>
                        <a:t>xxxx</a:t>
                      </a:r>
                      <a:r>
                        <a:rPr lang="en-US" dirty="0"/>
                        <a:t>-xx-xxx-</a:t>
                      </a:r>
                      <a:r>
                        <a:rPr lang="en-US" dirty="0" err="1"/>
                        <a:t>xxxx</a:t>
                      </a:r>
                      <a:endParaRPr lang="en-US" dirty="0"/>
                    </a:p>
                  </a:txBody>
                  <a:tcPr/>
                </a:tc>
                <a:tc>
                  <a:txBody>
                    <a:bodyPr/>
                    <a:lstStyle/>
                    <a:p>
                      <a:r>
                        <a:rPr lang="en-US" dirty="0" err="1"/>
                        <a:t>xxxxxxxx</a:t>
                      </a:r>
                      <a:endParaRPr lang="en-US" dirty="0"/>
                    </a:p>
                  </a:txBody>
                  <a:tcPr/>
                </a:tc>
                <a:tc>
                  <a:txBody>
                    <a:bodyPr/>
                    <a:lstStyle/>
                    <a:p>
                      <a:r>
                        <a:rPr lang="en-US" dirty="0" err="1"/>
                        <a:t>xxxxxxxxxxx</a:t>
                      </a:r>
                      <a:endParaRPr lang="en-US" dirty="0"/>
                    </a:p>
                  </a:txBody>
                  <a:tcPr/>
                </a:tc>
                <a:tc>
                  <a:txBody>
                    <a:bodyPr/>
                    <a:lstStyle/>
                    <a:p>
                      <a:r>
                        <a:rPr lang="en-US" dirty="0"/>
                        <a:t>AF, DLA,</a:t>
                      </a:r>
                    </a:p>
                    <a:p>
                      <a:r>
                        <a:rPr lang="en-US" dirty="0"/>
                        <a:t>Contractor</a:t>
                      </a:r>
                    </a:p>
                  </a:txBody>
                  <a:tcPr/>
                </a:tc>
                <a:tc>
                  <a:txBody>
                    <a:bodyPr/>
                    <a:lstStyle/>
                    <a:p>
                      <a:r>
                        <a:rPr lang="en-US" dirty="0"/>
                        <a:t>See 9.</a:t>
                      </a:r>
                    </a:p>
                  </a:txBody>
                  <a:tcPr/>
                </a:tc>
                <a:extLst>
                  <a:ext uri="{0D108BD9-81ED-4DB2-BD59-A6C34878D82A}">
                    <a16:rowId xmlns:a16="http://schemas.microsoft.com/office/drawing/2014/main" val="10002"/>
                  </a:ext>
                </a:extLst>
              </a:tr>
            </a:tbl>
          </a:graphicData>
        </a:graphic>
      </p:graphicFrame>
      <p:sp>
        <p:nvSpPr>
          <p:cNvPr id="4" name="Slide Number Placeholder 3"/>
          <p:cNvSpPr>
            <a:spLocks noGrp="1"/>
          </p:cNvSpPr>
          <p:nvPr>
            <p:ph type="sldNum" sz="quarter" idx="12"/>
          </p:nvPr>
        </p:nvSpPr>
        <p:spPr/>
        <p:txBody>
          <a:bodyPr/>
          <a:lstStyle/>
          <a:p>
            <a:fld id="{4E9EBC09-8728-46F0-99E6-7C066CF6AFEC}" type="slidenum">
              <a:rPr lang="en-US" smtClean="0"/>
              <a:pPr/>
              <a:t>26</a:t>
            </a:fld>
            <a:endParaRPr lang="en-US"/>
          </a:p>
        </p:txBody>
      </p:sp>
      <p:sp>
        <p:nvSpPr>
          <p:cNvPr id="3" name="Right Arrow 2">
            <a:hlinkClick r:id="rId3" action="ppaction://hlinksldjump"/>
          </p:cNvPr>
          <p:cNvSpPr/>
          <p:nvPr/>
        </p:nvSpPr>
        <p:spPr bwMode="auto">
          <a:xfrm>
            <a:off x="7622951" y="4868213"/>
            <a:ext cx="1137098" cy="72933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effectLst/>
                <a:latin typeface="Times New Roman" pitchFamily="18" charset="0"/>
              </a:rPr>
              <a:t>Back</a:t>
            </a:r>
          </a:p>
        </p:txBody>
      </p:sp>
    </p:spTree>
    <p:extLst>
      <p:ext uri="{BB962C8B-B14F-4D97-AF65-F5344CB8AC3E}">
        <p14:creationId xmlns:p14="http://schemas.microsoft.com/office/powerpoint/2010/main" val="2591958743"/>
      </p:ext>
    </p:extLst>
  </p:cSld>
  <p:clrMapOvr>
    <a:masterClrMapping/>
  </p:clrMapOvr>
  <p:transition/>
  <p:extLst>
    <p:ext uri="{6950BFC3-D8DA-4A85-94F7-54DA5524770B}">
      <p188:commentRel xmlns:p188="http://schemas.microsoft.com/office/powerpoint/2018/8/main" r:id="rId2"/>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AFTO FORM 874</a:t>
            </a:r>
          </a:p>
        </p:txBody>
      </p:sp>
      <p:sp>
        <p:nvSpPr>
          <p:cNvPr id="4" name="Slide Number Placeholder 3"/>
          <p:cNvSpPr>
            <a:spLocks noGrp="1"/>
          </p:cNvSpPr>
          <p:nvPr>
            <p:ph type="sldNum" sz="quarter" idx="12"/>
          </p:nvPr>
        </p:nvSpPr>
        <p:spPr/>
        <p:txBody>
          <a:bodyPr/>
          <a:lstStyle/>
          <a:p>
            <a:fld id="{4E9EBC09-8728-46F0-99E6-7C066CF6AFEC}" type="slidenum">
              <a:rPr lang="en-US" smtClean="0"/>
              <a:pPr/>
              <a:t>27</a:t>
            </a:fld>
            <a:endParaRPr lang="en-US"/>
          </a:p>
        </p:txBody>
      </p:sp>
      <p:sp>
        <p:nvSpPr>
          <p:cNvPr id="8" name="Content Placeholder 7"/>
          <p:cNvSpPr>
            <a:spLocks noGrp="1"/>
          </p:cNvSpPr>
          <p:nvPr>
            <p:ph idx="1"/>
          </p:nvPr>
        </p:nvSpPr>
        <p:spPr/>
        <p:txBody>
          <a:bodyPr/>
          <a:lstStyle/>
          <a:p>
            <a:endParaRPr lang="en-US" sz="2000" dirty="0">
              <a:latin typeface="Times New Roman" panose="02020603050405020304" pitchFamily="18" charset="0"/>
              <a:cs typeface="Times New Roman" panose="02020603050405020304" pitchFamily="18" charset="0"/>
            </a:endParaRPr>
          </a:p>
        </p:txBody>
      </p:sp>
      <p:sp>
        <p:nvSpPr>
          <p:cNvPr id="9" name="Rectangle 8"/>
          <p:cNvSpPr/>
          <p:nvPr/>
        </p:nvSpPr>
        <p:spPr>
          <a:xfrm>
            <a:off x="2459885" y="2967335"/>
            <a:ext cx="4224233" cy="1661993"/>
          </a:xfrm>
          <a:prstGeom prst="rect">
            <a:avLst/>
          </a:prstGeom>
          <a:noFill/>
        </p:spPr>
        <p:txBody>
          <a:bodyPr wrap="none" lIns="91440" tIns="45720" rIns="91440" bIns="45720">
            <a:sp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gn="ctr"/>
            <a:r>
              <a:rPr lang="en-US" sz="5400" b="1" cap="all" spc="0"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Questions</a:t>
            </a:r>
          </a:p>
          <a:p>
            <a:pPr algn="ctr"/>
            <a:r>
              <a:rPr lang="en-US" b="1"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Contact </a:t>
            </a:r>
            <a:r>
              <a:rPr lang="en-US" b="1" cap="all">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Bill Malone</a:t>
            </a:r>
          </a:p>
          <a:p>
            <a:pPr algn="ctr"/>
            <a:endParaRPr lang="en-US" b="1" cap="all" spc="0"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endParaRPr>
          </a:p>
        </p:txBody>
      </p:sp>
    </p:spTree>
    <p:extLst>
      <p:ext uri="{BB962C8B-B14F-4D97-AF65-F5344CB8AC3E}">
        <p14:creationId xmlns:p14="http://schemas.microsoft.com/office/powerpoint/2010/main" val="3263575640"/>
      </p:ext>
    </p:extLst>
  </p:cSld>
  <p:clrMapOvr>
    <a:masterClrMapping/>
  </p:clrMapOvr>
  <p:transition/>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documentManagement>
    <Summary xmlns="241efbf5-977f-45bd-a626-63ce12c37c50">This presentation details the use of the AFTO Form 874, which acts as a continuation sheet for the AFTO Form 873. It is used when additional space is required to document all the repairs, modifications, or inspections performed on a piece of equipment, ensuring a complete and thorough record.</Summary>
    <WebsiteURL xmlns="241efbf5-977f-45bd-a626-63ce12c37c50" xsi:nil="true"/>
    <_ExtendedDescription xmlns="http://schemas.microsoft.com/sharepoint/v3" xsi:nil="true"/>
    <InstructorType xmlns="241efbf5-977f-45bd-a626-63ce12c37c50"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7FEFA47AFEBA94186293892278EA703" ma:contentTypeVersion="13" ma:contentTypeDescription="Create a new document." ma:contentTypeScope="" ma:versionID="d68dd8cbd9329c3d764958c0a488e40f">
  <xsd:schema xmlns:xsd="http://www.w3.org/2001/XMLSchema" xmlns:xs="http://www.w3.org/2001/XMLSchema" xmlns:p="http://schemas.microsoft.com/office/2006/metadata/properties" xmlns:ns1="http://schemas.microsoft.com/sharepoint/v3" xmlns:ns2="241efbf5-977f-45bd-a626-63ce12c37c50" targetNamespace="http://schemas.microsoft.com/office/2006/metadata/properties" ma:root="true" ma:fieldsID="3ac1a5fc10613c8bc94528932b0c09a1" ns1:_="" ns2:_="">
    <xsd:import namespace="http://schemas.microsoft.com/sharepoint/v3"/>
    <xsd:import namespace="241efbf5-977f-45bd-a626-63ce12c37c50"/>
    <xsd:element name="properties">
      <xsd:complexType>
        <xsd:sequence>
          <xsd:element name="documentManagement">
            <xsd:complexType>
              <xsd:all>
                <xsd:element ref="ns2:Summary"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element ref="ns2:WebsiteURL" minOccurs="0"/>
                <xsd:element ref="ns1:_ExtendedDescription" minOccurs="0"/>
                <xsd:element ref="ns2:InstructorTyp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ExtendedDescription" ma:index="19" nillable="true" ma:displayName="Description" ma:internalName="_ExtendedDescription">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41efbf5-977f-45bd-a626-63ce12c37c50" elementFormDefault="qualified">
    <xsd:import namespace="http://schemas.microsoft.com/office/2006/documentManagement/types"/>
    <xsd:import namespace="http://schemas.microsoft.com/office/infopath/2007/PartnerControls"/>
    <xsd:element name="Summary" ma:index="9" nillable="true" ma:displayName="Summary" ma:format="Dropdown" ma:internalName="Summar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BillingMetadata" ma:index="17" nillable="true" ma:displayName="MediaServiceBillingMetadata" ma:hidden="true" ma:internalName="MediaServiceBillingMetadata" ma:readOnly="true">
      <xsd:simpleType>
        <xsd:restriction base="dms:Note"/>
      </xsd:simpleType>
    </xsd:element>
    <xsd:element name="WebsiteURL" ma:index="18" nillable="true" ma:displayName="WebsiteURL" ma:format="Dropdown" ma:internalName="WebsiteURL">
      <xsd:simpleType>
        <xsd:restriction base="dms:Text">
          <xsd:maxLength value="255"/>
        </xsd:restriction>
      </xsd:simpleType>
    </xsd:element>
    <xsd:element name="InstructorType" ma:index="20" nillable="true" ma:displayName="Instructor Type" ma:format="Dropdown" ma:internalName="InstructorType">
      <xsd:simpleType>
        <xsd:restriction base="dms:Choice">
          <xsd:enumeration value="Equipment Specialist"/>
          <xsd:enumeration value="Item Manager"/>
          <xsd:enumeration value="Supply Planner"/>
          <xsd:enumeration value="Materiel Manager"/>
          <xsd:enumeration value="Equipment Specialist &amp; Supply Planner"/>
          <xsd:enumeration value="All"/>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ma:index="8"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9C36FFE-46C8-430D-93AE-8D77423B5785}">
  <ds:schemaRefs>
    <ds:schemaRef ds:uri="http://schemas.microsoft.com/office/2006/documentManagement/types"/>
    <ds:schemaRef ds:uri="http://schemas.openxmlformats.org/package/2006/metadata/core-properties"/>
    <ds:schemaRef ds:uri="http://purl.org/dc/dcmitype/"/>
    <ds:schemaRef ds:uri="http://purl.org/dc/elements/1.1/"/>
    <ds:schemaRef ds:uri="http://schemas.microsoft.com/office/2006/metadata/properties"/>
    <ds:schemaRef ds:uri="http://www.w3.org/XML/1998/namespace"/>
    <ds:schemaRef ds:uri="http://purl.org/dc/terms/"/>
  </ds:schemaRefs>
</ds:datastoreItem>
</file>

<file path=customXml/itemProps2.xml><?xml version="1.0" encoding="utf-8"?>
<ds:datastoreItem xmlns:ds="http://schemas.openxmlformats.org/officeDocument/2006/customXml" ds:itemID="{D6BA49B8-69C5-40A9-8A87-51401C4AF892}">
  <ds:schemaRefs>
    <ds:schemaRef ds:uri="http://schemas.microsoft.com/sharepoint/v3/contenttype/forms"/>
  </ds:schemaRefs>
</ds:datastoreItem>
</file>

<file path=customXml/itemProps3.xml><?xml version="1.0" encoding="utf-8"?>
<ds:datastoreItem xmlns:ds="http://schemas.openxmlformats.org/officeDocument/2006/customXml" ds:itemID="{8D21C984-2D3C-43EF-9530-760D3F904639}"/>
</file>

<file path=docMetadata/LabelInfo.xml><?xml version="1.0" encoding="utf-8"?>
<clbl:labelList xmlns:clbl="http://schemas.microsoft.com/office/2020/mipLabelMetadata">
  <clbl:label id="{8331b18d-2d87-48ef-a35f-ac8818ebf9b4}" enabled="0" method="" siteId="{8331b18d-2d87-48ef-a35f-ac8818ebf9b4}" removed="1"/>
</clbl:labelList>
</file>

<file path=docProps/app.xml><?xml version="1.0" encoding="utf-8"?>
<Properties xmlns="http://schemas.openxmlformats.org/officeDocument/2006/extended-properties" xmlns:vt="http://schemas.openxmlformats.org/officeDocument/2006/docPropsVTypes">
  <TotalTime>9881</TotalTime>
  <Words>2697</Words>
  <Application>Microsoft Office PowerPoint</Application>
  <PresentationFormat>On-screen Show (4:3)</PresentationFormat>
  <Paragraphs>247</Paragraphs>
  <Slides>27</Slides>
  <Notes>4</Notes>
  <HiddenSlides>5</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Times New Roman</vt:lpstr>
      <vt:lpstr>Default Design</vt:lpstr>
      <vt:lpstr>  TIME COMPLIANCE TECHNICAL ORDER SUPPLY DATA REQUIREMENTS  </vt:lpstr>
      <vt:lpstr>AFTO FORM 874  </vt:lpstr>
      <vt:lpstr>AFTO FORM 874 </vt:lpstr>
      <vt:lpstr>AFTO FORM 874 </vt:lpstr>
      <vt:lpstr>AFTO FORM 874</vt:lpstr>
      <vt:lpstr>  AFTO FORM 874   </vt:lpstr>
      <vt:lpstr>AFTO FORM 874  </vt:lpstr>
      <vt:lpstr>AFTO FORM 874</vt:lpstr>
      <vt:lpstr>AFTO FORM 874 Heading Information</vt:lpstr>
      <vt:lpstr>AFTO FORM 874 PART A</vt:lpstr>
      <vt:lpstr>AFTO FORM 874 PART A</vt:lpstr>
      <vt:lpstr> AFTO FORM 874 Part B - Action Required On Spares </vt:lpstr>
      <vt:lpstr> AFTO FORM 874 Part B - Action Required On Spares </vt:lpstr>
      <vt:lpstr> AFTO FORM 874 Part C - Kits/Parts Required To Modify Spares </vt:lpstr>
      <vt:lpstr> AFTO FORM 874 Part D - Disposition of Removed and Replaced Parts </vt:lpstr>
      <vt:lpstr> AFTO FORM 874 Part E - Minor Assemblies and Parts </vt:lpstr>
      <vt:lpstr>AFTO FORM 874 Part F - Size, Weight and Cost of Kits</vt:lpstr>
      <vt:lpstr> AFTO FORM 874 Part G - Disposition of Kits </vt:lpstr>
      <vt:lpstr>AFTO FORM 874 Part H - Action Required On Supply Records</vt:lpstr>
      <vt:lpstr>AFTO FORM 874 Part H - Action Required On Supply Records</vt:lpstr>
      <vt:lpstr>AFTO FORM 874 Part H - Action Required On Supply Records</vt:lpstr>
      <vt:lpstr>AFTO FORM 874</vt:lpstr>
      <vt:lpstr>AFTO FORM 874</vt:lpstr>
      <vt:lpstr>AFTO FORM 874 Part K - Certification</vt:lpstr>
      <vt:lpstr>AFTO FORM 874 Part K - Certification</vt:lpstr>
      <vt:lpstr>Part A</vt:lpstr>
      <vt:lpstr>AFTO FORM 874</vt:lpstr>
    </vt:vector>
  </TitlesOfParts>
  <Company>HQAMFC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AFTO Form 874: Base-Level Repair, Modification, or Inspection Continuation Sheet</dc:title>
  <dc:creator>Capt Kent Meredith</dc:creator>
  <cp:keywords>AFTO Form 874, Continuation Sheet, AFTO Form 873, Repair, Modification, Inspection, Documentation</cp:keywords>
  <cp:lastModifiedBy>MCLEAN, JEREMY K CIV USAF AFMC 431 SCMS/GUMA</cp:lastModifiedBy>
  <cp:revision>1189</cp:revision>
  <cp:lastPrinted>2016-05-10T18:52:26Z</cp:lastPrinted>
  <dcterms:created xsi:type="dcterms:W3CDTF">2000-11-29T18:53:46Z</dcterms:created>
  <dcterms:modified xsi:type="dcterms:W3CDTF">2025-10-31T16:02:01Z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ink">
    <vt:lpwstr/>
  </property>
  <property fmtid="{D5CDD505-2E9C-101B-9397-08002B2CF9AE}" pid="3" name="ContentTypeId">
    <vt:lpwstr>0x01010007FEFA47AFEBA94186293892278EA703</vt:lpwstr>
  </property>
  <property fmtid="{D5CDD505-2E9C-101B-9397-08002B2CF9AE}" pid="4" name="Order">
    <vt:r8>11300</vt:r8>
  </property>
  <property fmtid="{D5CDD505-2E9C-101B-9397-08002B2CF9AE}" pid="5" name="xd_Signature">
    <vt:bool>false</vt:bool>
  </property>
  <property fmtid="{D5CDD505-2E9C-101B-9397-08002B2CF9AE}" pid="6" name="xd_ProgID">
    <vt:lpwstr/>
  </property>
  <property fmtid="{D5CDD505-2E9C-101B-9397-08002B2CF9AE}" pid="7" name="TriggerFlowInfo">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ies>
</file>