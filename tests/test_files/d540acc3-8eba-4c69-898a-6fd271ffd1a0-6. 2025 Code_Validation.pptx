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4"/>
  </p:sldMasterIdLst>
  <p:notesMasterIdLst>
    <p:notesMasterId r:id="rId33"/>
  </p:notesMasterIdLst>
  <p:handoutMasterIdLst>
    <p:handoutMasterId r:id="rId34"/>
  </p:handoutMasterIdLst>
  <p:sldIdLst>
    <p:sldId id="257" r:id="rId5"/>
    <p:sldId id="301" r:id="rId6"/>
    <p:sldId id="304" r:id="rId7"/>
    <p:sldId id="305" r:id="rId8"/>
    <p:sldId id="256" r:id="rId9"/>
    <p:sldId id="293" r:id="rId10"/>
    <p:sldId id="272" r:id="rId11"/>
    <p:sldId id="273" r:id="rId12"/>
    <p:sldId id="263" r:id="rId13"/>
    <p:sldId id="314" r:id="rId14"/>
    <p:sldId id="295" r:id="rId15"/>
    <p:sldId id="300" r:id="rId16"/>
    <p:sldId id="316" r:id="rId17"/>
    <p:sldId id="317" r:id="rId18"/>
    <p:sldId id="268" r:id="rId19"/>
    <p:sldId id="302" r:id="rId20"/>
    <p:sldId id="309" r:id="rId21"/>
    <p:sldId id="297" r:id="rId22"/>
    <p:sldId id="298" r:id="rId23"/>
    <p:sldId id="299" r:id="rId24"/>
    <p:sldId id="269" r:id="rId25"/>
    <p:sldId id="308" r:id="rId26"/>
    <p:sldId id="307" r:id="rId27"/>
    <p:sldId id="318" r:id="rId28"/>
    <p:sldId id="319" r:id="rId29"/>
    <p:sldId id="320" r:id="rId30"/>
    <p:sldId id="310" r:id="rId31"/>
    <p:sldId id="287" r:id="rId32"/>
  </p:sldIdLst>
  <p:sldSz cx="9144000" cy="6858000" type="screen4x3"/>
  <p:notesSz cx="7315200" cy="9601200"/>
  <p:defaultTextStyle>
    <a:defPPr>
      <a:defRPr lang="en-US"/>
    </a:defPPr>
    <a:lvl1pPr algn="l" rtl="0" fontAlgn="base">
      <a:spcBef>
        <a:spcPct val="0"/>
      </a:spcBef>
      <a:spcAft>
        <a:spcPct val="0"/>
      </a:spcAft>
      <a:defRPr sz="1000" b="1" kern="1200">
        <a:solidFill>
          <a:schemeClr val="tx1"/>
        </a:solidFill>
        <a:latin typeface="Times New Roman" pitchFamily="18" charset="0"/>
        <a:ea typeface="+mn-ea"/>
        <a:cs typeface="+mn-cs"/>
      </a:defRPr>
    </a:lvl1pPr>
    <a:lvl2pPr marL="457200" algn="l" rtl="0" fontAlgn="base">
      <a:spcBef>
        <a:spcPct val="0"/>
      </a:spcBef>
      <a:spcAft>
        <a:spcPct val="0"/>
      </a:spcAft>
      <a:defRPr sz="1000" b="1" kern="1200">
        <a:solidFill>
          <a:schemeClr val="tx1"/>
        </a:solidFill>
        <a:latin typeface="Times New Roman" pitchFamily="18" charset="0"/>
        <a:ea typeface="+mn-ea"/>
        <a:cs typeface="+mn-cs"/>
      </a:defRPr>
    </a:lvl2pPr>
    <a:lvl3pPr marL="914400" algn="l" rtl="0" fontAlgn="base">
      <a:spcBef>
        <a:spcPct val="0"/>
      </a:spcBef>
      <a:spcAft>
        <a:spcPct val="0"/>
      </a:spcAft>
      <a:defRPr sz="1000" b="1" kern="1200">
        <a:solidFill>
          <a:schemeClr val="tx1"/>
        </a:solidFill>
        <a:latin typeface="Times New Roman" pitchFamily="18" charset="0"/>
        <a:ea typeface="+mn-ea"/>
        <a:cs typeface="+mn-cs"/>
      </a:defRPr>
    </a:lvl3pPr>
    <a:lvl4pPr marL="1371600" algn="l" rtl="0" fontAlgn="base">
      <a:spcBef>
        <a:spcPct val="0"/>
      </a:spcBef>
      <a:spcAft>
        <a:spcPct val="0"/>
      </a:spcAft>
      <a:defRPr sz="1000" b="1" kern="1200">
        <a:solidFill>
          <a:schemeClr val="tx1"/>
        </a:solidFill>
        <a:latin typeface="Times New Roman" pitchFamily="18" charset="0"/>
        <a:ea typeface="+mn-ea"/>
        <a:cs typeface="+mn-cs"/>
      </a:defRPr>
    </a:lvl4pPr>
    <a:lvl5pPr marL="1828800" algn="l" rtl="0" fontAlgn="base">
      <a:spcBef>
        <a:spcPct val="0"/>
      </a:spcBef>
      <a:spcAft>
        <a:spcPct val="0"/>
      </a:spcAft>
      <a:defRPr sz="1000" b="1" kern="1200">
        <a:solidFill>
          <a:schemeClr val="tx1"/>
        </a:solidFill>
        <a:latin typeface="Times New Roman" pitchFamily="18" charset="0"/>
        <a:ea typeface="+mn-ea"/>
        <a:cs typeface="+mn-cs"/>
      </a:defRPr>
    </a:lvl5pPr>
    <a:lvl6pPr marL="2286000" algn="l" defTabSz="914400" rtl="0" eaLnBrk="1" latinLnBrk="0" hangingPunct="1">
      <a:defRPr sz="1000" b="1" kern="1200">
        <a:solidFill>
          <a:schemeClr val="tx1"/>
        </a:solidFill>
        <a:latin typeface="Times New Roman" pitchFamily="18" charset="0"/>
        <a:ea typeface="+mn-ea"/>
        <a:cs typeface="+mn-cs"/>
      </a:defRPr>
    </a:lvl6pPr>
    <a:lvl7pPr marL="2743200" algn="l" defTabSz="914400" rtl="0" eaLnBrk="1" latinLnBrk="0" hangingPunct="1">
      <a:defRPr sz="1000" b="1" kern="1200">
        <a:solidFill>
          <a:schemeClr val="tx1"/>
        </a:solidFill>
        <a:latin typeface="Times New Roman" pitchFamily="18" charset="0"/>
        <a:ea typeface="+mn-ea"/>
        <a:cs typeface="+mn-cs"/>
      </a:defRPr>
    </a:lvl7pPr>
    <a:lvl8pPr marL="3200400" algn="l" defTabSz="914400" rtl="0" eaLnBrk="1" latinLnBrk="0" hangingPunct="1">
      <a:defRPr sz="1000" b="1" kern="1200">
        <a:solidFill>
          <a:schemeClr val="tx1"/>
        </a:solidFill>
        <a:latin typeface="Times New Roman" pitchFamily="18" charset="0"/>
        <a:ea typeface="+mn-ea"/>
        <a:cs typeface="+mn-cs"/>
      </a:defRPr>
    </a:lvl8pPr>
    <a:lvl9pPr marL="3657600" algn="l" defTabSz="914400" rtl="0" eaLnBrk="1" latinLnBrk="0" hangingPunct="1">
      <a:defRPr sz="1000" b="1"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3">
          <p15:clr>
            <a:srgbClr val="A4A3A4"/>
          </p15:clr>
        </p15:guide>
        <p15:guide id="2" pos="2304">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23B1B2D-21DA-29FD-3093-DD3434AA2024}" name="MCLEAN, JEREMY K CIV USAF AFMC 431 SCMS/GUMA" initials="JM" userId="S::jeremy.mclean@us.af.mil::f397cf71-47ed-425c-be33-41f8ce4f6f50"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66FF66"/>
    <a:srgbClr val="CCECFF"/>
    <a:srgbClr val="FFFFCC"/>
    <a:srgbClr val="CCFF66"/>
    <a:srgbClr val="DDDD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2D7C0EB-C334-4522-B09D-BD6418135660}" v="2" dt="2025-03-25T16:27:53.570"/>
  </p1510:revLst>
</p1510:revInfo>
</file>

<file path=ppt/tableStyles.xml><?xml version="1.0" encoding="utf-8"?>
<a:tblStyleLst xmlns:a="http://schemas.openxmlformats.org/drawingml/2006/main" def="{5C22544A-7EE6-4342-B048-85BDC9FD1C3A}">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4505" autoAdjust="0"/>
    <p:restoredTop sz="74274" autoAdjust="0"/>
  </p:normalViewPr>
  <p:slideViewPr>
    <p:cSldViewPr snapToGrid="0">
      <p:cViewPr varScale="1">
        <p:scale>
          <a:sx n="116" d="100"/>
          <a:sy n="116" d="100"/>
        </p:scale>
        <p:origin x="5622" y="84"/>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Lst>
  </p:outlineViewPr>
  <p:notesTextViewPr>
    <p:cViewPr>
      <p:scale>
        <a:sx n="3" d="2"/>
        <a:sy n="3" d="2"/>
      </p:scale>
      <p:origin x="0" y="0"/>
    </p:cViewPr>
  </p:notesTextViewPr>
  <p:sorterViewPr>
    <p:cViewPr>
      <p:scale>
        <a:sx n="66" d="100"/>
        <a:sy n="66" d="100"/>
      </p:scale>
      <p:origin x="0" y="0"/>
    </p:cViewPr>
  </p:sorterViewPr>
  <p:notesViewPr>
    <p:cSldViewPr snapToGrid="0">
      <p:cViewPr varScale="1">
        <p:scale>
          <a:sx n="113" d="100"/>
          <a:sy n="113" d="100"/>
        </p:scale>
        <p:origin x="2514" y="126"/>
      </p:cViewPr>
      <p:guideLst>
        <p:guide orient="horz" pos="3023"/>
        <p:guide pos="230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6/11/relationships/changesInfo" Target="changesInfos/changesInfo1.xml"/><Relationship Id="rId21" Type="http://schemas.openxmlformats.org/officeDocument/2006/relationships/slide" Target="slides/slide17.xml"/><Relationship Id="rId34" Type="http://schemas.openxmlformats.org/officeDocument/2006/relationships/handoutMaster" Target="handoutMasters/handoutMaster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openxmlformats.org/officeDocument/2006/relationships/tableStyles" Target="tableStyles.xml"/></Relationships>
</file>

<file path=ppt/_rels/viewProps.xml.rels><?xml version="1.0" encoding="UTF-8" standalone="yes"?>
<Relationships xmlns="http://schemas.openxmlformats.org/package/2006/relationships"><Relationship Id="rId8" Type="http://schemas.openxmlformats.org/officeDocument/2006/relationships/slide" Target="slides/slide20.xml"/><Relationship Id="rId3" Type="http://schemas.openxmlformats.org/officeDocument/2006/relationships/slide" Target="slides/slide5.xml"/><Relationship Id="rId7" Type="http://schemas.openxmlformats.org/officeDocument/2006/relationships/slide" Target="slides/slide19.xml"/><Relationship Id="rId2" Type="http://schemas.openxmlformats.org/officeDocument/2006/relationships/slide" Target="slides/slide2.xml"/><Relationship Id="rId1" Type="http://schemas.openxmlformats.org/officeDocument/2006/relationships/slide" Target="slides/slide1.xml"/><Relationship Id="rId6" Type="http://schemas.openxmlformats.org/officeDocument/2006/relationships/slide" Target="slides/slide18.xml"/><Relationship Id="rId5" Type="http://schemas.openxmlformats.org/officeDocument/2006/relationships/slide" Target="slides/slide17.xml"/><Relationship Id="rId4"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CLEAN, JEREMY K CIV USAF AFMC 431 SCMS/GUMA" userId="f397cf71-47ed-425c-be33-41f8ce4f6f50" providerId="ADAL" clId="{68162E45-C487-4507-9AC8-1F2287D1DE53}"/>
    <pc:docChg chg="delSld">
      <pc:chgData name="MCLEAN, JEREMY K CIV USAF AFMC 431 SCMS/GUMA" userId="f397cf71-47ed-425c-be33-41f8ce4f6f50" providerId="ADAL" clId="{68162E45-C487-4507-9AC8-1F2287D1DE53}" dt="2025-03-26T15:58:19.240" v="0" actId="47"/>
      <pc:docMkLst>
        <pc:docMk/>
      </pc:docMkLst>
      <pc:sldChg chg="del">
        <pc:chgData name="MCLEAN, JEREMY K CIV USAF AFMC 431 SCMS/GUMA" userId="f397cf71-47ed-425c-be33-41f8ce4f6f50" providerId="ADAL" clId="{68162E45-C487-4507-9AC8-1F2287D1DE53}" dt="2025-03-26T15:58:19.240" v="0" actId="47"/>
        <pc:sldMkLst>
          <pc:docMk/>
          <pc:sldMk cId="2309084077" sldId="315"/>
        </pc:sldMkLst>
      </pc:sldChg>
    </pc:docChg>
  </pc:docChgLst>
  <pc:docChgLst>
    <pc:chgData name="MCLEAN, JEREMY K CIV USAF AFMC 431 SCMS/GUMA" userId="f397cf71-47ed-425c-be33-41f8ce4f6f50" providerId="ADAL" clId="{A2D7C0EB-C334-4522-B09D-BD6418135660}"/>
    <pc:docChg chg="addSld modSld">
      <pc:chgData name="MCLEAN, JEREMY K CIV USAF AFMC 431 SCMS/GUMA" userId="f397cf71-47ed-425c-be33-41f8ce4f6f50" providerId="ADAL" clId="{A2D7C0EB-C334-4522-B09D-BD6418135660}" dt="2025-03-25T16:27:53.570" v="2"/>
      <pc:docMkLst>
        <pc:docMk/>
      </pc:docMkLst>
      <pc:sldChg chg="addSp modSp new">
        <pc:chgData name="MCLEAN, JEREMY K CIV USAF AFMC 431 SCMS/GUMA" userId="f397cf71-47ed-425c-be33-41f8ce4f6f50" providerId="ADAL" clId="{A2D7C0EB-C334-4522-B09D-BD6418135660}" dt="2025-03-25T16:27:53.570" v="2"/>
        <pc:sldMkLst>
          <pc:docMk/>
          <pc:sldMk cId="2141471040" sldId="320"/>
        </pc:sldMkLst>
        <pc:spChg chg="add mod">
          <ac:chgData name="MCLEAN, JEREMY K CIV USAF AFMC 431 SCMS/GUMA" userId="f397cf71-47ed-425c-be33-41f8ce4f6f50" providerId="ADAL" clId="{A2D7C0EB-C334-4522-B09D-BD6418135660}" dt="2025-03-25T16:27:48.998" v="1"/>
          <ac:spMkLst>
            <pc:docMk/>
            <pc:sldMk cId="2141471040" sldId="320"/>
            <ac:spMk id="4" creationId="{27BA0833-256D-2960-910A-18F6AE5E8D6F}"/>
          </ac:spMkLst>
        </pc:spChg>
        <pc:graphicFrameChg chg="add mod">
          <ac:chgData name="MCLEAN, JEREMY K CIV USAF AFMC 431 SCMS/GUMA" userId="f397cf71-47ed-425c-be33-41f8ce4f6f50" providerId="ADAL" clId="{A2D7C0EB-C334-4522-B09D-BD6418135660}" dt="2025-03-25T16:27:53.570" v="2"/>
          <ac:graphicFrameMkLst>
            <pc:docMk/>
            <pc:sldMk cId="2141471040" sldId="320"/>
            <ac:graphicFrameMk id="5" creationId="{F7074F84-3270-7529-B3E6-A345003A8DC8}"/>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2229" name="Rectangle 5"/>
          <p:cNvSpPr>
            <a:spLocks noGrp="1" noChangeArrowheads="1"/>
          </p:cNvSpPr>
          <p:nvPr>
            <p:ph type="sldNum" sz="quarter" idx="3"/>
          </p:nvPr>
        </p:nvSpPr>
        <p:spPr bwMode="auto">
          <a:xfrm>
            <a:off x="4146550" y="9121775"/>
            <a:ext cx="3168650" cy="479425"/>
          </a:xfrm>
          <a:prstGeom prst="rect">
            <a:avLst/>
          </a:prstGeom>
          <a:noFill/>
          <a:ln w="9525">
            <a:noFill/>
            <a:miter lim="800000"/>
            <a:headEnd/>
            <a:tailEnd/>
          </a:ln>
          <a:effectLst/>
        </p:spPr>
        <p:txBody>
          <a:bodyPr vert="horz" wrap="square" lIns="96641" tIns="48320" rIns="96641" bIns="48320" numCol="1" anchor="b" anchorCtr="0" compatLnSpc="1">
            <a:prstTxWarp prst="textNoShape">
              <a:avLst/>
            </a:prstTxWarp>
          </a:bodyPr>
          <a:lstStyle>
            <a:lvl1pPr algn="r" defTabSz="965200">
              <a:defRPr sz="1300" b="0"/>
            </a:lvl1pPr>
          </a:lstStyle>
          <a:p>
            <a:pPr>
              <a:defRPr/>
            </a:pPr>
            <a:fld id="{7FFE3334-7E33-4D68-BD72-12078696A670}" type="slidenum">
              <a:rPr lang="en-US"/>
              <a:pPr>
                <a:defRPr/>
              </a:pPr>
              <a:t>‹#›</a:t>
            </a:fld>
            <a:endParaRPr lang="en-US"/>
          </a:p>
        </p:txBody>
      </p:sp>
      <p:sp>
        <p:nvSpPr>
          <p:cNvPr id="52230" name="Rectangle 6"/>
          <p:cNvSpPr>
            <a:spLocks noGrp="1" noChangeArrowheads="1"/>
          </p:cNvSpPr>
          <p:nvPr>
            <p:ph type="ftr" sz="quarter" idx="2"/>
          </p:nvPr>
        </p:nvSpPr>
        <p:spPr bwMode="auto">
          <a:xfrm>
            <a:off x="0" y="9120188"/>
            <a:ext cx="3170238" cy="47942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defRPr sz="1200" b="0"/>
            </a:lvl1pPr>
          </a:lstStyle>
          <a:p>
            <a:pPr>
              <a:defRPr/>
            </a:pPr>
            <a:r>
              <a:rPr lang="en-US"/>
              <a:t>DEMIL Code Challenge</a:t>
            </a:r>
          </a:p>
        </p:txBody>
      </p:sp>
    </p:spTree>
    <p:extLst>
      <p:ext uri="{BB962C8B-B14F-4D97-AF65-F5344CB8AC3E}">
        <p14:creationId xmlns:p14="http://schemas.microsoft.com/office/powerpoint/2010/main" val="170199607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410" name="Rectangle 2"/>
          <p:cNvSpPr>
            <a:spLocks noGrp="1" noChangeArrowheads="1"/>
          </p:cNvSpPr>
          <p:nvPr>
            <p:ph type="hdr" sz="quarter"/>
          </p:nvPr>
        </p:nvSpPr>
        <p:spPr bwMode="auto">
          <a:xfrm>
            <a:off x="0" y="0"/>
            <a:ext cx="3168650" cy="479425"/>
          </a:xfrm>
          <a:prstGeom prst="rect">
            <a:avLst/>
          </a:prstGeom>
          <a:noFill/>
          <a:ln w="9525">
            <a:noFill/>
            <a:miter lim="800000"/>
            <a:headEnd/>
            <a:tailEnd/>
          </a:ln>
          <a:effectLst/>
        </p:spPr>
        <p:txBody>
          <a:bodyPr vert="horz" wrap="square" lIns="96641" tIns="48320" rIns="96641" bIns="48320" numCol="1" anchor="t" anchorCtr="0" compatLnSpc="1">
            <a:prstTxWarp prst="textNoShape">
              <a:avLst/>
            </a:prstTxWarp>
          </a:bodyPr>
          <a:lstStyle>
            <a:lvl1pPr defTabSz="965200">
              <a:defRPr sz="1300" b="0"/>
            </a:lvl1pPr>
          </a:lstStyle>
          <a:p>
            <a:pPr>
              <a:defRPr/>
            </a:pPr>
            <a:endParaRPr lang="en-US"/>
          </a:p>
        </p:txBody>
      </p:sp>
      <p:sp>
        <p:nvSpPr>
          <p:cNvPr id="17411" name="Rectangle 3"/>
          <p:cNvSpPr>
            <a:spLocks noGrp="1" noChangeArrowheads="1"/>
          </p:cNvSpPr>
          <p:nvPr>
            <p:ph type="dt" idx="1"/>
          </p:nvPr>
        </p:nvSpPr>
        <p:spPr bwMode="auto">
          <a:xfrm>
            <a:off x="4146550" y="0"/>
            <a:ext cx="3168650" cy="479425"/>
          </a:xfrm>
          <a:prstGeom prst="rect">
            <a:avLst/>
          </a:prstGeom>
          <a:noFill/>
          <a:ln w="9525">
            <a:noFill/>
            <a:miter lim="800000"/>
            <a:headEnd/>
            <a:tailEnd/>
          </a:ln>
          <a:effectLst/>
        </p:spPr>
        <p:txBody>
          <a:bodyPr vert="horz" wrap="square" lIns="96641" tIns="48320" rIns="96641" bIns="48320" numCol="1" anchor="t" anchorCtr="0" compatLnSpc="1">
            <a:prstTxWarp prst="textNoShape">
              <a:avLst/>
            </a:prstTxWarp>
          </a:bodyPr>
          <a:lstStyle>
            <a:lvl1pPr algn="r" defTabSz="965200">
              <a:defRPr sz="1300" b="0"/>
            </a:lvl1pPr>
          </a:lstStyle>
          <a:p>
            <a:pPr>
              <a:defRPr/>
            </a:pPr>
            <a:fld id="{4CA5F76D-4581-4FEB-8AFA-142BE2550D64}" type="datetimeFigureOut">
              <a:rPr lang="en-US"/>
              <a:pPr>
                <a:defRPr/>
              </a:pPr>
              <a:t>3/26/2025</a:t>
            </a:fld>
            <a:endParaRPr lang="en-US"/>
          </a:p>
        </p:txBody>
      </p:sp>
      <p:sp>
        <p:nvSpPr>
          <p:cNvPr id="27652" name="Rectangle 4"/>
          <p:cNvSpPr>
            <a:spLocks noGrp="1" noRot="1" noChangeAspect="1" noChangeArrowheads="1" noTextEdit="1"/>
          </p:cNvSpPr>
          <p:nvPr>
            <p:ph type="sldImg" idx="2"/>
          </p:nvPr>
        </p:nvSpPr>
        <p:spPr bwMode="auto">
          <a:xfrm>
            <a:off x="1260475" y="720725"/>
            <a:ext cx="4799013" cy="3598863"/>
          </a:xfrm>
          <a:prstGeom prst="rect">
            <a:avLst/>
          </a:prstGeom>
          <a:noFill/>
          <a:ln w="9525">
            <a:solidFill>
              <a:srgbClr val="000000"/>
            </a:solidFill>
            <a:miter lim="800000"/>
            <a:headEnd/>
            <a:tailEnd/>
          </a:ln>
        </p:spPr>
      </p:sp>
      <p:sp>
        <p:nvSpPr>
          <p:cNvPr id="17413" name="Rectangle 5"/>
          <p:cNvSpPr>
            <a:spLocks noGrp="1" noChangeArrowheads="1"/>
          </p:cNvSpPr>
          <p:nvPr>
            <p:ph type="body" sz="quarter" idx="3"/>
          </p:nvPr>
        </p:nvSpPr>
        <p:spPr bwMode="auto">
          <a:xfrm>
            <a:off x="974725" y="4559300"/>
            <a:ext cx="5365750" cy="4321175"/>
          </a:xfrm>
          <a:prstGeom prst="rect">
            <a:avLst/>
          </a:prstGeom>
          <a:noFill/>
          <a:ln w="9525">
            <a:noFill/>
            <a:miter lim="800000"/>
            <a:headEnd/>
            <a:tailEnd/>
          </a:ln>
          <a:effectLst/>
        </p:spPr>
        <p:txBody>
          <a:bodyPr vert="horz" wrap="square" lIns="96641" tIns="48320" rIns="96641" bIns="483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414" name="Rectangle 6"/>
          <p:cNvSpPr>
            <a:spLocks noGrp="1" noChangeArrowheads="1"/>
          </p:cNvSpPr>
          <p:nvPr>
            <p:ph type="ftr" sz="quarter" idx="4"/>
          </p:nvPr>
        </p:nvSpPr>
        <p:spPr bwMode="auto">
          <a:xfrm>
            <a:off x="0" y="9121775"/>
            <a:ext cx="3168650" cy="479425"/>
          </a:xfrm>
          <a:prstGeom prst="rect">
            <a:avLst/>
          </a:prstGeom>
          <a:noFill/>
          <a:ln w="9525">
            <a:noFill/>
            <a:miter lim="800000"/>
            <a:headEnd/>
            <a:tailEnd/>
          </a:ln>
          <a:effectLst/>
        </p:spPr>
        <p:txBody>
          <a:bodyPr vert="horz" wrap="square" lIns="96641" tIns="48320" rIns="96641" bIns="48320" numCol="1" anchor="b" anchorCtr="0" compatLnSpc="1">
            <a:prstTxWarp prst="textNoShape">
              <a:avLst/>
            </a:prstTxWarp>
          </a:bodyPr>
          <a:lstStyle>
            <a:lvl1pPr defTabSz="965200">
              <a:defRPr sz="1300" b="0"/>
            </a:lvl1pPr>
          </a:lstStyle>
          <a:p>
            <a:pPr>
              <a:defRPr/>
            </a:pPr>
            <a:r>
              <a:rPr lang="en-US"/>
              <a:t>DEMIL Code Challenge</a:t>
            </a:r>
          </a:p>
        </p:txBody>
      </p:sp>
      <p:sp>
        <p:nvSpPr>
          <p:cNvPr id="17415" name="Rectangle 7"/>
          <p:cNvSpPr>
            <a:spLocks noGrp="1" noChangeArrowheads="1"/>
          </p:cNvSpPr>
          <p:nvPr>
            <p:ph type="sldNum" sz="quarter" idx="5"/>
          </p:nvPr>
        </p:nvSpPr>
        <p:spPr bwMode="auto">
          <a:xfrm>
            <a:off x="4146550" y="9121775"/>
            <a:ext cx="3168650" cy="479425"/>
          </a:xfrm>
          <a:prstGeom prst="rect">
            <a:avLst/>
          </a:prstGeom>
          <a:noFill/>
          <a:ln w="9525">
            <a:noFill/>
            <a:miter lim="800000"/>
            <a:headEnd/>
            <a:tailEnd/>
          </a:ln>
          <a:effectLst/>
        </p:spPr>
        <p:txBody>
          <a:bodyPr vert="horz" wrap="square" lIns="96641" tIns="48320" rIns="96641" bIns="48320" numCol="1" anchor="b" anchorCtr="0" compatLnSpc="1">
            <a:prstTxWarp prst="textNoShape">
              <a:avLst/>
            </a:prstTxWarp>
          </a:bodyPr>
          <a:lstStyle>
            <a:lvl1pPr algn="r" defTabSz="965200">
              <a:defRPr sz="1300" b="0"/>
            </a:lvl1pPr>
          </a:lstStyle>
          <a:p>
            <a:pPr>
              <a:defRPr/>
            </a:pPr>
            <a:fld id="{B98CAA25-AAA5-49D4-9492-526732C560B7}" type="slidenum">
              <a:rPr lang="en-US"/>
              <a:pPr>
                <a:defRPr/>
              </a:pPr>
              <a:t>‹#›</a:t>
            </a:fld>
            <a:endParaRPr lang="en-US"/>
          </a:p>
        </p:txBody>
      </p:sp>
    </p:spTree>
    <p:extLst>
      <p:ext uri="{BB962C8B-B14F-4D97-AF65-F5344CB8AC3E}">
        <p14:creationId xmlns:p14="http://schemas.microsoft.com/office/powerpoint/2010/main" val="2833999300"/>
      </p:ext>
    </p:extLst>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6"/>
          <p:cNvSpPr>
            <a:spLocks noGrp="1" noChangeArrowheads="1"/>
          </p:cNvSpPr>
          <p:nvPr>
            <p:ph type="ftr" sz="quarter" idx="4"/>
          </p:nvPr>
        </p:nvSpPr>
        <p:spPr>
          <a:noFill/>
        </p:spPr>
        <p:txBody>
          <a:bodyPr/>
          <a:lstStyle/>
          <a:p>
            <a:r>
              <a:rPr lang="en-US" dirty="0"/>
              <a:t>DEMIL Code Validation</a:t>
            </a:r>
          </a:p>
        </p:txBody>
      </p:sp>
      <p:sp>
        <p:nvSpPr>
          <p:cNvPr id="28675" name="Rectangle 7"/>
          <p:cNvSpPr>
            <a:spLocks noGrp="1" noChangeArrowheads="1"/>
          </p:cNvSpPr>
          <p:nvPr>
            <p:ph type="sldNum" sz="quarter" idx="5"/>
          </p:nvPr>
        </p:nvSpPr>
        <p:spPr>
          <a:noFill/>
        </p:spPr>
        <p:txBody>
          <a:bodyPr/>
          <a:lstStyle/>
          <a:p>
            <a:fld id="{78CE3AF8-9470-4B6C-B5C8-0FA9B1367326}" type="slidenum">
              <a:rPr lang="en-US" smtClean="0"/>
              <a:pPr/>
              <a:t>1</a:t>
            </a:fld>
            <a:endParaRPr lang="en-US" dirty="0"/>
          </a:p>
        </p:txBody>
      </p:sp>
      <p:sp>
        <p:nvSpPr>
          <p:cNvPr id="28676" name="Rectangle 2"/>
          <p:cNvSpPr>
            <a:spLocks noGrp="1" noRot="1" noChangeAspect="1" noChangeArrowheads="1" noTextEdit="1"/>
          </p:cNvSpPr>
          <p:nvPr>
            <p:ph type="sldImg"/>
          </p:nvPr>
        </p:nvSpPr>
        <p:spPr>
          <a:ln/>
        </p:spPr>
      </p:sp>
      <p:sp>
        <p:nvSpPr>
          <p:cNvPr id="28677" name="Rectangle 3"/>
          <p:cNvSpPr>
            <a:spLocks noGrp="1" noChangeArrowheads="1"/>
          </p:cNvSpPr>
          <p:nvPr>
            <p:ph type="body" idx="1"/>
          </p:nvPr>
        </p:nvSpPr>
        <p:spPr>
          <a:noFill/>
          <a:ln>
            <a:solidFill>
              <a:schemeClr val="tx1"/>
            </a:solidFill>
          </a:ln>
        </p:spPr>
        <p:txBody>
          <a:bodyPr/>
          <a:lstStyle/>
          <a:p>
            <a:pPr eaLnBrk="1" hangingPunct="1"/>
            <a:r>
              <a:rPr lang="en-US" dirty="0">
                <a:cs typeface="Times New Roman" pitchFamily="18" charset="0"/>
              </a:rPr>
              <a:t>.DoD Components use the DEMIL code validation as a quality control measure to verify the accuracy of DEMIL codes assigned to DoD personal property. The DDCMO administers the validation by assigning a code during the provisioning process, during the materiel disposition process, or at any time during the life-cycle of the item.</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6"/>
          <p:cNvSpPr>
            <a:spLocks noGrp="1" noChangeArrowheads="1"/>
          </p:cNvSpPr>
          <p:nvPr>
            <p:ph type="ftr" sz="quarter" idx="4"/>
          </p:nvPr>
        </p:nvSpPr>
        <p:spPr>
          <a:noFill/>
        </p:spPr>
        <p:txBody>
          <a:bodyPr/>
          <a:lstStyle/>
          <a:p>
            <a:r>
              <a:rPr lang="en-US" dirty="0"/>
              <a:t>DEMIL Code Validation</a:t>
            </a:r>
          </a:p>
        </p:txBody>
      </p:sp>
      <p:sp>
        <p:nvSpPr>
          <p:cNvPr id="29699" name="Rectangle 7"/>
          <p:cNvSpPr>
            <a:spLocks noGrp="1" noChangeArrowheads="1"/>
          </p:cNvSpPr>
          <p:nvPr>
            <p:ph type="sldNum" sz="quarter" idx="5"/>
          </p:nvPr>
        </p:nvSpPr>
        <p:spPr>
          <a:noFill/>
        </p:spPr>
        <p:txBody>
          <a:bodyPr/>
          <a:lstStyle/>
          <a:p>
            <a:fld id="{48B7FF1A-777E-4361-8C2A-8D0752940672}" type="slidenum">
              <a:rPr lang="en-US" smtClean="0"/>
              <a:pPr/>
              <a:t>2</a:t>
            </a:fld>
            <a:endParaRPr lang="en-US"/>
          </a:p>
        </p:txBody>
      </p:sp>
      <p:sp>
        <p:nvSpPr>
          <p:cNvPr id="29700" name="Rectangle 2"/>
          <p:cNvSpPr>
            <a:spLocks noGrp="1" noRot="1" noChangeAspect="1" noChangeArrowheads="1" noTextEdit="1"/>
          </p:cNvSpPr>
          <p:nvPr>
            <p:ph type="sldImg"/>
          </p:nvPr>
        </p:nvSpPr>
        <p:spPr>
          <a:ln/>
        </p:spPr>
      </p:sp>
      <p:sp>
        <p:nvSpPr>
          <p:cNvPr id="29701" name="Rectangle 3"/>
          <p:cNvSpPr>
            <a:spLocks noGrp="1" noChangeArrowheads="1"/>
          </p:cNvSpPr>
          <p:nvPr>
            <p:ph type="body" idx="1"/>
          </p:nvPr>
        </p:nvSpPr>
        <p:spPr>
          <a:noFill/>
          <a:ln>
            <a:solidFill>
              <a:schemeClr val="tx1"/>
            </a:solidFill>
          </a:ln>
        </p:spPr>
        <p:txBody>
          <a:bodyPr/>
          <a:lstStyle/>
          <a:p>
            <a:pPr algn="ctr" eaLnBrk="1" hangingPunct="1"/>
            <a:r>
              <a:rPr lang="en-US" dirty="0"/>
              <a:t>INTRODUCTION. </a:t>
            </a:r>
          </a:p>
          <a:p>
            <a:pPr eaLnBrk="1" hangingPunct="1"/>
            <a:r>
              <a:rPr lang="en-US" dirty="0"/>
              <a:t>DoD Components use the DEMIL code validation as a quality control measure to verify the accuracy of DEMIL codes assigned to DoD personal property. The DDCMO administers the validation by assigning a code during the provisioning process, during the materiel disposition process, or at any time during the life-cycle of the item.</a:t>
            </a:r>
          </a:p>
          <a:p>
            <a:pPr eaLnBrk="1" hangingPunct="1"/>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6"/>
          <p:cNvSpPr>
            <a:spLocks noGrp="1" noChangeArrowheads="1"/>
          </p:cNvSpPr>
          <p:nvPr>
            <p:ph type="ftr" sz="quarter" idx="4"/>
          </p:nvPr>
        </p:nvSpPr>
        <p:spPr>
          <a:noFill/>
        </p:spPr>
        <p:txBody>
          <a:bodyPr/>
          <a:lstStyle/>
          <a:p>
            <a:r>
              <a:rPr lang="en-US" dirty="0"/>
              <a:t>DEMIL Code Validation</a:t>
            </a:r>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a:ln>
            <a:solidFill>
              <a:schemeClr val="tx1">
                <a:lumMod val="95000"/>
                <a:lumOff val="5000"/>
              </a:schemeClr>
            </a:solidFill>
          </a:ln>
        </p:spPr>
        <p:txBody>
          <a:bodyPr/>
          <a:lstStyle/>
          <a:p>
            <a:r>
              <a:rPr lang="en-US" dirty="0"/>
              <a:t>Items coded as “No DEMIL required”</a:t>
            </a:r>
          </a:p>
          <a:p>
            <a:endParaRPr lang="en-US" dirty="0"/>
          </a:p>
          <a:p>
            <a:r>
              <a:rPr lang="en-US" dirty="0"/>
              <a:t>AWACS </a:t>
            </a:r>
            <a:r>
              <a:rPr lang="en-US" dirty="0" err="1"/>
              <a:t>Radome</a:t>
            </a:r>
            <a:r>
              <a:rPr lang="en-US" dirty="0"/>
              <a:t> – Table 11 Part 1 Category XI paragraph</a:t>
            </a:r>
            <a:r>
              <a:rPr lang="en-US" baseline="0" dirty="0"/>
              <a:t> (a)(3) </a:t>
            </a:r>
            <a:r>
              <a:rPr lang="en-US" dirty="0"/>
              <a:t>DEMIL Code “D”</a:t>
            </a:r>
          </a:p>
          <a:p>
            <a:r>
              <a:rPr lang="en-US" dirty="0"/>
              <a:t>High explosive artillery shell – Table 3</a:t>
            </a:r>
            <a:r>
              <a:rPr lang="en-US" baseline="0" dirty="0"/>
              <a:t> </a:t>
            </a:r>
            <a:r>
              <a:rPr lang="en-US" dirty="0"/>
              <a:t>Category III paragraph (a) DEMIL Code “G”</a:t>
            </a:r>
          </a:p>
          <a:p>
            <a:r>
              <a:rPr lang="en-US" dirty="0"/>
              <a:t>Periscope – Table 19 Part 1 Category XX paragraph</a:t>
            </a:r>
            <a:r>
              <a:rPr lang="en-US" baseline="0" dirty="0"/>
              <a:t> (c)</a:t>
            </a:r>
            <a:r>
              <a:rPr lang="en-US" dirty="0"/>
              <a:t> DEMIL code “D”</a:t>
            </a:r>
          </a:p>
          <a:p>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6"/>
          <p:cNvSpPr>
            <a:spLocks noGrp="1" noChangeArrowheads="1"/>
          </p:cNvSpPr>
          <p:nvPr>
            <p:ph type="ftr" sz="quarter" idx="4"/>
          </p:nvPr>
        </p:nvSpPr>
        <p:spPr>
          <a:noFill/>
        </p:spPr>
        <p:txBody>
          <a:bodyPr/>
          <a:lstStyle/>
          <a:p>
            <a:r>
              <a:rPr lang="en-US" dirty="0"/>
              <a:t>DEMIL Code Validation</a:t>
            </a:r>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noFill/>
          <a:ln>
            <a:solidFill>
              <a:schemeClr val="tx1">
                <a:lumMod val="95000"/>
                <a:lumOff val="5000"/>
              </a:schemeClr>
            </a:solidFill>
          </a:ln>
        </p:spPr>
        <p:txBody>
          <a:bodyPr/>
          <a:lstStyle/>
          <a:p>
            <a:r>
              <a:rPr lang="en-US" dirty="0"/>
              <a:t>Items coded as “DEMIL required”</a:t>
            </a:r>
          </a:p>
          <a:p>
            <a:endParaRPr lang="en-US" dirty="0"/>
          </a:p>
          <a:p>
            <a:r>
              <a:rPr lang="en-US" dirty="0"/>
              <a:t>	Cotton swabs</a:t>
            </a:r>
          </a:p>
          <a:p>
            <a:r>
              <a:rPr lang="en-US" dirty="0"/>
              <a:t>	Cotter pins</a:t>
            </a:r>
          </a:p>
          <a:p>
            <a:r>
              <a:rPr lang="en-US" dirty="0"/>
              <a:t>	Light fixtures</a:t>
            </a:r>
          </a:p>
          <a:p>
            <a:r>
              <a:rPr lang="en-US" dirty="0"/>
              <a:t>	Webbing straps</a:t>
            </a:r>
          </a:p>
          <a:p>
            <a:endParaRPr lang="en-US" dirty="0"/>
          </a:p>
          <a:p>
            <a:r>
              <a:rPr lang="en-US" dirty="0"/>
              <a:t>All DEMIL code A.</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6"/>
          <p:cNvSpPr>
            <a:spLocks noGrp="1" noChangeArrowheads="1"/>
          </p:cNvSpPr>
          <p:nvPr>
            <p:ph type="ftr" sz="quarter" idx="4"/>
          </p:nvPr>
        </p:nvSpPr>
        <p:spPr>
          <a:noFill/>
        </p:spPr>
        <p:txBody>
          <a:bodyPr/>
          <a:lstStyle/>
          <a:p>
            <a:r>
              <a:rPr lang="en-US" dirty="0"/>
              <a:t>DEMIL Code Validation</a:t>
            </a:r>
          </a:p>
        </p:txBody>
      </p:sp>
      <p:sp>
        <p:nvSpPr>
          <p:cNvPr id="32771" name="Rectangle 7"/>
          <p:cNvSpPr>
            <a:spLocks noGrp="1" noChangeArrowheads="1"/>
          </p:cNvSpPr>
          <p:nvPr>
            <p:ph type="sldNum" sz="quarter" idx="5"/>
          </p:nvPr>
        </p:nvSpPr>
        <p:spPr>
          <a:noFill/>
        </p:spPr>
        <p:txBody>
          <a:bodyPr/>
          <a:lstStyle/>
          <a:p>
            <a:fld id="{88B1E266-756A-41E5-9E19-E393D6F2A07C}" type="slidenum">
              <a:rPr lang="en-US" smtClean="0"/>
              <a:pPr/>
              <a:t>5</a:t>
            </a:fld>
            <a:endParaRPr lang="en-US"/>
          </a:p>
        </p:txBody>
      </p:sp>
      <p:sp>
        <p:nvSpPr>
          <p:cNvPr id="32772" name="Rectangle 2"/>
          <p:cNvSpPr>
            <a:spLocks noGrp="1" noRot="1" noChangeAspect="1" noChangeArrowheads="1" noTextEdit="1"/>
          </p:cNvSpPr>
          <p:nvPr>
            <p:ph type="sldImg"/>
          </p:nvPr>
        </p:nvSpPr>
        <p:spPr>
          <a:ln/>
        </p:spPr>
      </p:sp>
      <p:sp>
        <p:nvSpPr>
          <p:cNvPr id="32773" name="Rectangle 3"/>
          <p:cNvSpPr>
            <a:spLocks noGrp="1" noChangeArrowheads="1"/>
          </p:cNvSpPr>
          <p:nvPr>
            <p:ph type="body" idx="1"/>
          </p:nvPr>
        </p:nvSpPr>
        <p:spPr>
          <a:noFill/>
          <a:ln>
            <a:solidFill>
              <a:schemeClr val="tx1"/>
            </a:solidFill>
          </a:ln>
        </p:spPr>
        <p:txBody>
          <a:bodyPr/>
          <a:lstStyle/>
          <a:p>
            <a:pPr eaLnBrk="1" hangingPunct="1"/>
            <a:r>
              <a:rPr lang="en-US" dirty="0"/>
              <a:t>Past findings by the Demilitarization Coding Management office revealed numerous miscoded items. </a:t>
            </a:r>
            <a:endParaRPr lang="en-US" dirty="0">
              <a:solidFill>
                <a:srgbClr val="000000"/>
              </a:solidFill>
              <a:cs typeface="Arial" charset="0"/>
            </a:endParaRPr>
          </a:p>
          <a:p>
            <a:pPr eaLnBrk="1" hangingPunct="1"/>
            <a:endParaRPr lang="en-US" dirty="0"/>
          </a:p>
          <a:p>
            <a:pPr eaLnBrk="1" hangingPunct="1"/>
            <a:r>
              <a:rPr lang="en-US" dirty="0">
                <a:cs typeface="Times New Roman" pitchFamily="18" charset="0"/>
              </a:rPr>
              <a:t>An example is a NSN 1330-01-481-4425 Grenade, Hand, Non Lethal Smoke Composition -DEMIL Code A was requested change to code G because of the inherent danger of combustion and propellant used to create smoke effect. The item is clearly AE. This example was provided by the DDCMO.</a:t>
            </a:r>
          </a:p>
          <a:p>
            <a:pPr eaLnBrk="1" hangingPunct="1"/>
            <a:endParaRPr lang="en-US" dirty="0">
              <a:cs typeface="Times New Roman" pitchFamily="18" charset="0"/>
            </a:endParaRPr>
          </a:p>
          <a:p>
            <a:pPr eaLnBrk="1" hangingPunct="1"/>
            <a:endParaRPr lang="en-US" dirty="0">
              <a:cs typeface="Times New Roman" pitchFamily="18" charset="0"/>
            </a:endParaRPr>
          </a:p>
          <a:p>
            <a:pPr eaLnBrk="1" hangingPunct="1"/>
            <a:r>
              <a:rPr lang="en-US" dirty="0"/>
              <a:t>Table 4 Part 2 ECCN 0A604 paragraph</a:t>
            </a:r>
            <a:r>
              <a:rPr lang="en-US" baseline="0" dirty="0"/>
              <a:t> (c)</a:t>
            </a:r>
            <a:r>
              <a:rPr lang="en-US" dirty="0"/>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6"/>
          <p:cNvSpPr>
            <a:spLocks noGrp="1" noChangeArrowheads="1"/>
          </p:cNvSpPr>
          <p:nvPr>
            <p:ph type="ftr" sz="quarter" idx="4"/>
          </p:nvPr>
        </p:nvSpPr>
        <p:spPr>
          <a:noFill/>
        </p:spPr>
        <p:txBody>
          <a:bodyPr/>
          <a:lstStyle/>
          <a:p>
            <a:r>
              <a:rPr lang="en-US" dirty="0"/>
              <a:t>DEMIL Code Validation</a:t>
            </a:r>
          </a:p>
        </p:txBody>
      </p:sp>
      <p:sp>
        <p:nvSpPr>
          <p:cNvPr id="33795" name="Rectangle 7"/>
          <p:cNvSpPr>
            <a:spLocks noGrp="1" noChangeArrowheads="1"/>
          </p:cNvSpPr>
          <p:nvPr>
            <p:ph type="sldNum" sz="quarter" idx="5"/>
          </p:nvPr>
        </p:nvSpPr>
        <p:spPr>
          <a:noFill/>
        </p:spPr>
        <p:txBody>
          <a:bodyPr/>
          <a:lstStyle/>
          <a:p>
            <a:fld id="{8EF36D97-687D-47CB-B5E9-A3D65B60D1C1}" type="slidenum">
              <a:rPr lang="en-US" smtClean="0"/>
              <a:pPr/>
              <a:t>6</a:t>
            </a:fld>
            <a:endParaRPr lang="en-US"/>
          </a:p>
        </p:txBody>
      </p:sp>
      <p:sp>
        <p:nvSpPr>
          <p:cNvPr id="33796" name="Rectangle 2"/>
          <p:cNvSpPr>
            <a:spLocks noGrp="1" noRot="1" noChangeAspect="1" noChangeArrowheads="1" noTextEdit="1"/>
          </p:cNvSpPr>
          <p:nvPr>
            <p:ph type="sldImg"/>
          </p:nvPr>
        </p:nvSpPr>
        <p:spPr>
          <a:ln/>
        </p:spPr>
      </p:sp>
      <p:sp>
        <p:nvSpPr>
          <p:cNvPr id="33797" name="Rectangle 3"/>
          <p:cNvSpPr>
            <a:spLocks noGrp="1" noChangeArrowheads="1"/>
          </p:cNvSpPr>
          <p:nvPr>
            <p:ph type="body" idx="1"/>
          </p:nvPr>
        </p:nvSpPr>
        <p:spPr>
          <a:xfrm>
            <a:off x="158750" y="4556125"/>
            <a:ext cx="7059613" cy="4321175"/>
          </a:xfrm>
          <a:noFill/>
          <a:ln>
            <a:solidFill>
              <a:schemeClr val="tx1"/>
            </a:solidFill>
          </a:ln>
        </p:spPr>
        <p:txBody>
          <a:bodyPr/>
          <a:lstStyle/>
          <a:p>
            <a:pPr eaLnBrk="1" hangingPunct="1"/>
            <a:r>
              <a:rPr lang="en-US" b="1" dirty="0"/>
              <a:t>Instructor Note: Custom Animation is setup to bring in everything except the new code. You can ask the students: What DEMIL code would they assign to these items. After they made their DEMIL code choice, you can then confirm with them the code DDCMO recommended.</a:t>
            </a:r>
          </a:p>
          <a:p>
            <a:pPr eaLnBrk="1" hangingPunct="1"/>
            <a:r>
              <a:rPr lang="en-US" u="sng" dirty="0"/>
              <a:t>Nomenclature</a:t>
            </a:r>
            <a:r>
              <a:rPr lang="en-US" dirty="0"/>
              <a:t>	</a:t>
            </a:r>
            <a:r>
              <a:rPr lang="en-US" u="sng" dirty="0"/>
              <a:t>End Item</a:t>
            </a:r>
            <a:r>
              <a:rPr lang="en-US" dirty="0"/>
              <a:t>				</a:t>
            </a:r>
            <a:r>
              <a:rPr lang="en-US" u="sng" dirty="0"/>
              <a:t>Old Code</a:t>
            </a:r>
            <a:r>
              <a:rPr lang="en-US" dirty="0"/>
              <a:t> 	</a:t>
            </a:r>
            <a:r>
              <a:rPr lang="en-US" u="sng" dirty="0"/>
              <a:t>New Code</a:t>
            </a:r>
          </a:p>
          <a:p>
            <a:pPr eaLnBrk="1" hangingPunct="1"/>
            <a:r>
              <a:rPr lang="en-US" dirty="0"/>
              <a:t>Antenna		Cruise Missile			A	D</a:t>
            </a:r>
          </a:p>
          <a:p>
            <a:pPr eaLnBrk="1" hangingPunct="1"/>
            <a:r>
              <a:rPr lang="en-US" dirty="0"/>
              <a:t>Engagement Control	Patriot Missile			C	P</a:t>
            </a:r>
          </a:p>
          <a:p>
            <a:pPr eaLnBrk="1" hangingPunct="1"/>
            <a:r>
              <a:rPr lang="en-US" dirty="0"/>
              <a:t>Radio Receiving Set	Guardrail			A	D</a:t>
            </a:r>
          </a:p>
          <a:p>
            <a:pPr eaLnBrk="1" hangingPunct="1"/>
            <a:r>
              <a:rPr lang="en-US" dirty="0"/>
              <a:t>Personnel Carrier F/T	M2, M2A2, M3			A	C</a:t>
            </a:r>
          </a:p>
          <a:p>
            <a:pPr eaLnBrk="1" hangingPunct="1"/>
            <a:r>
              <a:rPr lang="en-US" dirty="0"/>
              <a:t>Award Plaque		Suggestion Award		B	A</a:t>
            </a:r>
          </a:p>
          <a:p>
            <a:pPr eaLnBrk="1" hangingPunct="1"/>
            <a:r>
              <a:rPr lang="en-US" dirty="0"/>
              <a:t>Ship Anchor		Combat Support Ship		F	A</a:t>
            </a:r>
          </a:p>
          <a:p>
            <a:pPr eaLnBrk="1" hangingPunct="1"/>
            <a:r>
              <a:rPr lang="en-US" dirty="0"/>
              <a:t>Chaplaincy LSP	Chaplain’s Field Desk		B	A</a:t>
            </a:r>
          </a:p>
          <a:p>
            <a:pPr eaLnBrk="1" hangingPunct="1"/>
            <a:r>
              <a:rPr lang="en-US" dirty="0"/>
              <a:t>Toilet Tank Assembly	KC-135			B 	A</a:t>
            </a:r>
          </a:p>
          <a:p>
            <a:pPr eaLnBrk="1" hangingPunct="1"/>
            <a:endParaRPr lang="en-US" dirty="0"/>
          </a:p>
          <a:p>
            <a:pPr eaLnBrk="1" hangingPunct="1"/>
            <a:r>
              <a:rPr lang="en-US" dirty="0"/>
              <a:t>*LSP is a Logistical Support Package</a:t>
            </a:r>
          </a:p>
          <a:p>
            <a:pPr eaLnBrk="1" hangingPunct="1"/>
            <a:endParaRPr lang="en-US" dirty="0"/>
          </a:p>
          <a:p>
            <a:pPr eaLnBrk="1" hangingPunct="1"/>
            <a:endParaRPr lang="en-US" dirty="0"/>
          </a:p>
          <a:p>
            <a:pPr eaLnBrk="1" hangingPunct="1">
              <a:buFontTx/>
              <a:buChar char="•"/>
            </a:pPr>
            <a:r>
              <a:rPr lang="en-US" b="1" dirty="0"/>
              <a:t>You should not rely on nomenclature alone to make your DEMIL Code determination. </a:t>
            </a:r>
          </a:p>
          <a:p>
            <a:pPr eaLnBrk="1" hangingPunct="1"/>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6"/>
          <p:cNvSpPr>
            <a:spLocks noGrp="1" noChangeArrowheads="1"/>
          </p:cNvSpPr>
          <p:nvPr>
            <p:ph type="ftr" sz="quarter" idx="4"/>
          </p:nvPr>
        </p:nvSpPr>
        <p:spPr>
          <a:noFill/>
        </p:spPr>
        <p:txBody>
          <a:bodyPr/>
          <a:lstStyle/>
          <a:p>
            <a:r>
              <a:rPr lang="en-US" dirty="0"/>
              <a:t>DEMIL Code Validation</a:t>
            </a:r>
          </a:p>
        </p:txBody>
      </p:sp>
      <p:sp>
        <p:nvSpPr>
          <p:cNvPr id="34819" name="Rectangle 7"/>
          <p:cNvSpPr>
            <a:spLocks noGrp="1" noChangeArrowheads="1"/>
          </p:cNvSpPr>
          <p:nvPr>
            <p:ph type="sldNum" sz="quarter" idx="5"/>
          </p:nvPr>
        </p:nvSpPr>
        <p:spPr>
          <a:noFill/>
        </p:spPr>
        <p:txBody>
          <a:bodyPr/>
          <a:lstStyle/>
          <a:p>
            <a:fld id="{B5D22C1C-8591-4D51-9F3F-9BE07ABE87B1}" type="slidenum">
              <a:rPr lang="en-US" smtClean="0"/>
              <a:pPr/>
              <a:t>7</a:t>
            </a:fld>
            <a:endParaRPr lang="en-US"/>
          </a:p>
        </p:txBody>
      </p:sp>
      <p:sp>
        <p:nvSpPr>
          <p:cNvPr id="34820" name="Rectangle 2"/>
          <p:cNvSpPr>
            <a:spLocks noGrp="1" noRot="1" noChangeAspect="1" noChangeArrowheads="1" noTextEdit="1"/>
          </p:cNvSpPr>
          <p:nvPr>
            <p:ph type="sldImg"/>
          </p:nvPr>
        </p:nvSpPr>
        <p:spPr>
          <a:ln/>
        </p:spPr>
      </p:sp>
      <p:sp>
        <p:nvSpPr>
          <p:cNvPr id="34821" name="Rectangle 3"/>
          <p:cNvSpPr>
            <a:spLocks noGrp="1" noChangeArrowheads="1"/>
          </p:cNvSpPr>
          <p:nvPr>
            <p:ph type="body" idx="1"/>
          </p:nvPr>
        </p:nvSpPr>
        <p:spPr>
          <a:noFill/>
          <a:ln>
            <a:solidFill>
              <a:schemeClr val="tx1"/>
            </a:solidFill>
          </a:ln>
        </p:spPr>
        <p:txBody>
          <a:bodyPr/>
          <a:lstStyle/>
          <a:p>
            <a:pPr eaLnBrk="1" hangingPunct="1"/>
            <a:r>
              <a:rPr lang="en-US" b="1" u="sng" dirty="0">
                <a:cs typeface="Times New Roman" pitchFamily="18" charset="0"/>
              </a:rPr>
              <a:t>The purpose of this lesson is to: </a:t>
            </a:r>
          </a:p>
          <a:p>
            <a:pPr eaLnBrk="1" hangingPunct="1"/>
            <a:r>
              <a:rPr lang="en-US" dirty="0"/>
              <a:t>Verify the accuracy of DEMIL codes assigned to DoD Personal Property.</a:t>
            </a:r>
          </a:p>
          <a:p>
            <a:pPr eaLnBrk="1" hangingPunct="1"/>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6"/>
          <p:cNvSpPr>
            <a:spLocks noGrp="1" noChangeArrowheads="1"/>
          </p:cNvSpPr>
          <p:nvPr>
            <p:ph type="ftr" sz="quarter" idx="4"/>
          </p:nvPr>
        </p:nvSpPr>
        <p:spPr>
          <a:noFill/>
        </p:spPr>
        <p:txBody>
          <a:bodyPr/>
          <a:lstStyle/>
          <a:p>
            <a:r>
              <a:rPr lang="en-US" dirty="0"/>
              <a:t>DEMIL Code Validation</a:t>
            </a:r>
          </a:p>
        </p:txBody>
      </p:sp>
      <p:sp>
        <p:nvSpPr>
          <p:cNvPr id="35843" name="Rectangle 7"/>
          <p:cNvSpPr>
            <a:spLocks noGrp="1" noChangeArrowheads="1"/>
          </p:cNvSpPr>
          <p:nvPr>
            <p:ph type="sldNum" sz="quarter" idx="5"/>
          </p:nvPr>
        </p:nvSpPr>
        <p:spPr>
          <a:noFill/>
        </p:spPr>
        <p:txBody>
          <a:bodyPr/>
          <a:lstStyle/>
          <a:p>
            <a:fld id="{C5724B8D-5CB7-4F06-B802-D33C1AD8D88C}" type="slidenum">
              <a:rPr lang="en-US" smtClean="0"/>
              <a:pPr/>
              <a:t>8</a:t>
            </a:fld>
            <a:endParaRPr lang="en-US"/>
          </a:p>
        </p:txBody>
      </p:sp>
      <p:sp>
        <p:nvSpPr>
          <p:cNvPr id="35844" name="Rectangle 2"/>
          <p:cNvSpPr>
            <a:spLocks noGrp="1" noRot="1" noChangeAspect="1" noChangeArrowheads="1" noTextEdit="1"/>
          </p:cNvSpPr>
          <p:nvPr>
            <p:ph type="sldImg"/>
          </p:nvPr>
        </p:nvSpPr>
        <p:spPr>
          <a:ln/>
        </p:spPr>
      </p:sp>
      <p:sp>
        <p:nvSpPr>
          <p:cNvPr id="35845" name="Rectangle 3"/>
          <p:cNvSpPr>
            <a:spLocks noGrp="1" noChangeArrowheads="1"/>
          </p:cNvSpPr>
          <p:nvPr>
            <p:ph type="body" idx="1"/>
          </p:nvPr>
        </p:nvSpPr>
        <p:spPr>
          <a:noFill/>
          <a:ln>
            <a:solidFill>
              <a:schemeClr val="tx1"/>
            </a:solidFill>
          </a:ln>
        </p:spPr>
        <p:txBody>
          <a:bodyPr/>
          <a:lstStyle/>
          <a:p>
            <a:pPr eaLnBrk="1" hangingPunct="1"/>
            <a:r>
              <a:rPr lang="en-US" b="1" u="sng" dirty="0">
                <a:cs typeface="Times New Roman" pitchFamily="18" charset="0"/>
              </a:rPr>
              <a:t>Our objective is to: </a:t>
            </a:r>
            <a:r>
              <a:rPr lang="en-US" dirty="0">
                <a:cs typeface="Times New Roman" pitchFamily="18" charset="0"/>
              </a:rPr>
              <a:t>Identify procedures and responsibilities for Demilitarization Code Validations.</a:t>
            </a:r>
            <a:r>
              <a:rPr lang="en-US" dirty="0"/>
              <a:t> </a:t>
            </a:r>
          </a:p>
          <a:p>
            <a:pPr eaLnBrk="1" hangingPunct="1"/>
            <a:endParaRPr lang="en-US" dirty="0"/>
          </a:p>
          <a:p>
            <a:pPr eaLnBrk="1" hangingPunct="1"/>
            <a:r>
              <a:rPr lang="en-US" b="1" u="sng" dirty="0"/>
              <a:t>Transition to next slide:</a:t>
            </a:r>
          </a:p>
          <a:p>
            <a:pPr eaLnBrk="1" hangingPunct="1"/>
            <a:r>
              <a:rPr lang="en-US" dirty="0"/>
              <a:t>We will start by examining responsibilities.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6"/>
          <p:cNvSpPr>
            <a:spLocks noGrp="1" noChangeArrowheads="1"/>
          </p:cNvSpPr>
          <p:nvPr>
            <p:ph type="ftr" sz="quarter" idx="4"/>
          </p:nvPr>
        </p:nvSpPr>
        <p:spPr>
          <a:noFill/>
        </p:spPr>
        <p:txBody>
          <a:bodyPr/>
          <a:lstStyle/>
          <a:p>
            <a:r>
              <a:rPr lang="en-US" dirty="0"/>
              <a:t>DEMIL Code Challenge</a:t>
            </a:r>
          </a:p>
        </p:txBody>
      </p:sp>
      <p:sp>
        <p:nvSpPr>
          <p:cNvPr id="36867" name="Rectangle 7"/>
          <p:cNvSpPr>
            <a:spLocks noGrp="1" noChangeArrowheads="1"/>
          </p:cNvSpPr>
          <p:nvPr>
            <p:ph type="sldNum" sz="quarter" idx="5"/>
          </p:nvPr>
        </p:nvSpPr>
        <p:spPr>
          <a:noFill/>
        </p:spPr>
        <p:txBody>
          <a:bodyPr/>
          <a:lstStyle/>
          <a:p>
            <a:fld id="{9656DF87-1FCF-414E-B846-0121BB9AC01A}" type="slidenum">
              <a:rPr lang="en-US" smtClean="0"/>
              <a:pPr/>
              <a:t>9</a:t>
            </a:fld>
            <a:endParaRPr lang="en-US"/>
          </a:p>
        </p:txBody>
      </p:sp>
      <p:sp>
        <p:nvSpPr>
          <p:cNvPr id="36868" name="Rectangle 2"/>
          <p:cNvSpPr>
            <a:spLocks noGrp="1" noRot="1" noChangeAspect="1" noChangeArrowheads="1" noTextEdit="1"/>
          </p:cNvSpPr>
          <p:nvPr>
            <p:ph type="sldImg"/>
          </p:nvPr>
        </p:nvSpPr>
        <p:spPr>
          <a:ln/>
        </p:spPr>
      </p:sp>
      <p:sp>
        <p:nvSpPr>
          <p:cNvPr id="36869" name="Rectangle 3"/>
          <p:cNvSpPr>
            <a:spLocks noGrp="1" noChangeArrowheads="1"/>
          </p:cNvSpPr>
          <p:nvPr>
            <p:ph type="body" idx="1"/>
          </p:nvPr>
        </p:nvSpPr>
        <p:spPr>
          <a:noFill/>
          <a:ln>
            <a:solidFill>
              <a:schemeClr val="tx1"/>
            </a:solidFill>
          </a:ln>
        </p:spPr>
        <p:txBody>
          <a:bodyPr/>
          <a:lstStyle/>
          <a:p>
            <a:pPr eaLnBrk="1" hangingPunct="1"/>
            <a:r>
              <a:rPr lang="en-US" b="1" u="sng" dirty="0"/>
              <a:t>Responsibilities</a:t>
            </a:r>
          </a:p>
          <a:p>
            <a:pPr eaLnBrk="1" hangingPunct="1">
              <a:buFontTx/>
              <a:buChar char="•"/>
            </a:pPr>
            <a:r>
              <a:rPr lang="en-US" dirty="0"/>
              <a:t>DDCMO is responsible for the overall program administration and maintenance of the DEMIL Code Challenge Program.</a:t>
            </a:r>
          </a:p>
          <a:p>
            <a:pPr lvl="1" eaLnBrk="1" hangingPunct="1">
              <a:buFontTx/>
              <a:buChar char="•"/>
            </a:pPr>
            <a:r>
              <a:rPr lang="en-US" b="1" dirty="0"/>
              <a:t>Administers the revision of DEMIL codes when the DOS or Department of Commerce revises export controls for items which are of low risk for release, and which can be processed for release with the limited TSC measures applicable to EAR99 items identified in DoDI 2030.08</a:t>
            </a:r>
            <a:r>
              <a:rPr lang="en-US" dirty="0"/>
              <a:t>.</a:t>
            </a:r>
          </a:p>
          <a:p>
            <a:pPr eaLnBrk="1" hangingPunct="1">
              <a:buFontTx/>
              <a:buNone/>
            </a:pPr>
            <a:endParaRPr lang="en-US" dirty="0"/>
          </a:p>
          <a:p>
            <a:pPr eaLnBrk="1" hangingPunct="1">
              <a:buFontTx/>
              <a:buChar char="•"/>
            </a:pPr>
            <a:r>
              <a:rPr lang="en-US" dirty="0"/>
              <a:t>The Inventory Control Point is responsible  for timely resolution of items submitted for a challenge.</a:t>
            </a:r>
          </a:p>
          <a:p>
            <a:pPr lvl="1" eaLnBrk="1" hangingPunct="1">
              <a:buFontTx/>
              <a:buChar char="•"/>
            </a:pPr>
            <a:r>
              <a:rPr lang="en-US" b="1" dirty="0"/>
              <a:t>The ICP is the organizational element within a DoD system which is assigned responsibility for material management of a group of items including such management functions as the computation of requirements, the initiation of procurement or disposal actions, distribution management, and rebuild direction </a:t>
            </a:r>
          </a:p>
          <a:p>
            <a:pPr eaLnBrk="1" hangingPunct="1">
              <a:buFontTx/>
              <a:buNone/>
            </a:pPr>
            <a:endParaRPr lang="en-US" dirty="0"/>
          </a:p>
          <a:p>
            <a:pPr lvl="1" eaLnBrk="1" hangingPunct="1"/>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6"/>
          <p:cNvSpPr>
            <a:spLocks noGrp="1" noChangeArrowheads="1"/>
          </p:cNvSpPr>
          <p:nvPr>
            <p:ph type="ftr" sz="quarter" idx="4"/>
          </p:nvPr>
        </p:nvSpPr>
        <p:spPr>
          <a:noFill/>
        </p:spPr>
        <p:txBody>
          <a:bodyPr/>
          <a:lstStyle/>
          <a:p>
            <a:r>
              <a:rPr lang="en-US" dirty="0"/>
              <a:t>DEMIL Code Challenge</a:t>
            </a:r>
          </a:p>
        </p:txBody>
      </p:sp>
      <p:sp>
        <p:nvSpPr>
          <p:cNvPr id="37891" name="Rectangle 7"/>
          <p:cNvSpPr>
            <a:spLocks noGrp="1" noChangeArrowheads="1"/>
          </p:cNvSpPr>
          <p:nvPr>
            <p:ph type="sldNum" sz="quarter" idx="5"/>
          </p:nvPr>
        </p:nvSpPr>
        <p:spPr>
          <a:noFill/>
        </p:spPr>
        <p:txBody>
          <a:bodyPr/>
          <a:lstStyle/>
          <a:p>
            <a:fld id="{0362735F-DDAD-404F-86D5-3C0986B590ED}" type="slidenum">
              <a:rPr lang="en-US" smtClean="0"/>
              <a:pPr/>
              <a:t>10</a:t>
            </a:fld>
            <a:endParaRPr lang="en-US"/>
          </a:p>
        </p:txBody>
      </p:sp>
      <p:sp>
        <p:nvSpPr>
          <p:cNvPr id="37892" name="Rectangle 2"/>
          <p:cNvSpPr>
            <a:spLocks noGrp="1" noRot="1" noChangeAspect="1" noChangeArrowheads="1" noTextEdit="1"/>
          </p:cNvSpPr>
          <p:nvPr>
            <p:ph type="sldImg"/>
          </p:nvPr>
        </p:nvSpPr>
        <p:spPr>
          <a:ln/>
        </p:spPr>
      </p:sp>
      <p:sp>
        <p:nvSpPr>
          <p:cNvPr id="37893" name="Rectangle 3"/>
          <p:cNvSpPr>
            <a:spLocks noGrp="1" noChangeArrowheads="1"/>
          </p:cNvSpPr>
          <p:nvPr>
            <p:ph type="body" idx="1"/>
          </p:nvPr>
        </p:nvSpPr>
        <p:spPr>
          <a:noFill/>
          <a:ln>
            <a:solidFill>
              <a:schemeClr val="tx1"/>
            </a:solidFill>
          </a:ln>
        </p:spPr>
        <p:txBody>
          <a:bodyPr/>
          <a:lstStyle/>
          <a:p>
            <a:pPr algn="ctr" eaLnBrk="1" hangingPunct="1"/>
            <a:r>
              <a:rPr lang="en-US" dirty="0"/>
              <a:t>Initiate a Code Challenge</a:t>
            </a:r>
          </a:p>
          <a:p>
            <a:pPr eaLnBrk="1" hangingPunct="1"/>
            <a:r>
              <a:rPr lang="en-US" dirty="0"/>
              <a:t>Initiation. </a:t>
            </a:r>
          </a:p>
          <a:p>
            <a:pPr eaLnBrk="1" hangingPunct="1">
              <a:buFont typeface="Arial" pitchFamily="34" charset="0"/>
              <a:buChar char="•"/>
            </a:pPr>
            <a:r>
              <a:rPr lang="en-US" dirty="0"/>
              <a:t>Any individual or activity who has access to the DDCMO Website at may initiate DEMIL code challenges. </a:t>
            </a:r>
          </a:p>
          <a:p>
            <a:pPr eaLnBrk="1" hangingPunct="1">
              <a:buFont typeface="Arial" pitchFamily="34" charset="0"/>
              <a:buChar char="•"/>
            </a:pPr>
            <a:r>
              <a:rPr lang="en-US" dirty="0"/>
              <a:t>DLA Disposition Service personnel generally submit DEMIL code challenges via  Distribution Standard System (DSS).</a:t>
            </a:r>
          </a:p>
          <a:p>
            <a:pPr eaLnBrk="1" hangingPunct="1">
              <a:buFont typeface="Arial" pitchFamily="34" charset="0"/>
              <a:buChar char="•"/>
            </a:pPr>
            <a:r>
              <a:rPr lang="en-US" dirty="0"/>
              <a:t>Required entries for challenge submission are cited on the DDCMO Website.</a:t>
            </a:r>
          </a:p>
          <a:p>
            <a:pPr eaLnBrk="1" hangingPunct="1">
              <a:buFont typeface="Arial" pitchFamily="34" charset="0"/>
              <a:buChar char="•"/>
            </a:pPr>
            <a:r>
              <a:rPr lang="en-US" dirty="0"/>
              <a:t> Items identified within a critical Federal Supply Class (FSC) or by a key word can help personnel identify DEMIL code challenge candidates.</a:t>
            </a:r>
          </a:p>
          <a:p>
            <a:pPr eaLnBrk="1" hangingPunct="1">
              <a:buFont typeface="Arial" pitchFamily="34" charset="0"/>
              <a:buChar char="•"/>
            </a:pPr>
            <a:endParaRPr lang="en-US" dirty="0"/>
          </a:p>
          <a:p>
            <a:pPr eaLnBrk="1" hangingPunct="1"/>
            <a:r>
              <a:rPr lang="en-US" dirty="0"/>
              <a:t>-DoDM 4160.28 Volume 1, Section 6, Page  21-24.</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6"/>
          <p:cNvSpPr>
            <a:spLocks noGrp="1" noChangeArrowheads="1"/>
          </p:cNvSpPr>
          <p:nvPr>
            <p:ph type="ftr" sz="quarter" idx="4"/>
          </p:nvPr>
        </p:nvSpPr>
        <p:spPr>
          <a:noFill/>
        </p:spPr>
        <p:txBody>
          <a:bodyPr/>
          <a:lstStyle/>
          <a:p>
            <a:r>
              <a:rPr lang="en-US"/>
              <a:t>DEMIL Code Challenge</a:t>
            </a:r>
          </a:p>
        </p:txBody>
      </p:sp>
      <p:sp>
        <p:nvSpPr>
          <p:cNvPr id="38915" name="Rectangle 7"/>
          <p:cNvSpPr>
            <a:spLocks noGrp="1" noChangeArrowheads="1"/>
          </p:cNvSpPr>
          <p:nvPr>
            <p:ph type="sldNum" sz="quarter" idx="5"/>
          </p:nvPr>
        </p:nvSpPr>
        <p:spPr>
          <a:noFill/>
        </p:spPr>
        <p:txBody>
          <a:bodyPr/>
          <a:lstStyle/>
          <a:p>
            <a:fld id="{9C973759-8989-490D-B06C-3624F4DC618E}" type="slidenum">
              <a:rPr lang="en-US" smtClean="0"/>
              <a:pPr/>
              <a:t>11</a:t>
            </a:fld>
            <a:endParaRPr lang="en-US"/>
          </a:p>
        </p:txBody>
      </p:sp>
      <p:sp>
        <p:nvSpPr>
          <p:cNvPr id="38916" name="Rectangle 2"/>
          <p:cNvSpPr>
            <a:spLocks noGrp="1" noRot="1" noChangeAspect="1" noChangeArrowheads="1" noTextEdit="1"/>
          </p:cNvSpPr>
          <p:nvPr>
            <p:ph type="sldImg"/>
          </p:nvPr>
        </p:nvSpPr>
        <p:spPr>
          <a:ln/>
        </p:spPr>
      </p:sp>
      <p:sp>
        <p:nvSpPr>
          <p:cNvPr id="38917" name="Rectangle 3"/>
          <p:cNvSpPr>
            <a:spLocks noGrp="1" noChangeArrowheads="1"/>
          </p:cNvSpPr>
          <p:nvPr>
            <p:ph type="body" idx="1"/>
          </p:nvPr>
        </p:nvSpPr>
        <p:spPr>
          <a:noFill/>
          <a:ln>
            <a:solidFill>
              <a:schemeClr val="tx1"/>
            </a:solidFill>
          </a:ln>
        </p:spPr>
        <p:txBody>
          <a:bodyPr/>
          <a:lstStyle/>
          <a:p>
            <a:pPr eaLnBrk="1" hangingPunct="1"/>
            <a:r>
              <a:rPr lang="en-US" dirty="0"/>
              <a:t>Required Fields explanation: </a:t>
            </a:r>
          </a:p>
          <a:p>
            <a:pPr eaLnBrk="1" hangingPunct="1"/>
            <a:r>
              <a:rPr lang="en-US" dirty="0"/>
              <a:t>1. Name: This field is mandatory. Fill in complete name. This should be the name of the individual who is submitting the form.</a:t>
            </a:r>
          </a:p>
          <a:p>
            <a:pPr eaLnBrk="1" hangingPunct="1"/>
            <a:r>
              <a:rPr lang="en-US" dirty="0"/>
              <a:t>2. Phone: This field is mandatory. If submitter is providing a DSN (Government)</a:t>
            </a:r>
          </a:p>
          <a:p>
            <a:pPr eaLnBrk="1" hangingPunct="1"/>
            <a:r>
              <a:rPr lang="en-US" dirty="0"/>
              <a:t>    number, fill in the letters DSN. If the phone number is a commercial number, include area code and number. The extension     field is not mandatory. </a:t>
            </a:r>
          </a:p>
          <a:p>
            <a:pPr eaLnBrk="1" hangingPunct="1"/>
            <a:r>
              <a:rPr lang="en-US" dirty="0"/>
              <a:t>3. E-Mail Address: This field is mandatory. Please provide valid e-mail address for</a:t>
            </a:r>
          </a:p>
          <a:p>
            <a:pPr eaLnBrk="1" hangingPunct="1"/>
            <a:r>
              <a:rPr lang="en-US" dirty="0"/>
              <a:t>    coordination purposes</a:t>
            </a:r>
          </a:p>
          <a:p>
            <a:pPr eaLnBrk="1" hangingPunct="1"/>
            <a:r>
              <a:rPr lang="en-US" dirty="0"/>
              <a:t>4. NSN (National Stock Number)</a:t>
            </a:r>
          </a:p>
          <a:p>
            <a:pPr eaLnBrk="1" hangingPunct="1"/>
            <a:r>
              <a:rPr lang="en-US" dirty="0"/>
              <a:t>5. Current DEMIL code in FLIS (FLITEs)</a:t>
            </a:r>
          </a:p>
          <a:p>
            <a:pPr eaLnBrk="1" hangingPunct="1"/>
            <a:r>
              <a:rPr lang="en-US" dirty="0"/>
              <a:t>6. DEMIL code you are recommending. </a:t>
            </a:r>
          </a:p>
          <a:p>
            <a:pPr eaLnBrk="1" hangingPunct="1"/>
            <a:r>
              <a:rPr lang="en-US" dirty="0"/>
              <a:t>7. Rationale (more info provided on next slide)</a:t>
            </a:r>
          </a:p>
          <a:p>
            <a:pPr eaLnBrk="1" hangingPunct="1"/>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6"/>
          <p:cNvSpPr>
            <a:spLocks noGrp="1" noChangeArrowheads="1"/>
          </p:cNvSpPr>
          <p:nvPr>
            <p:ph type="ftr" sz="quarter" idx="4"/>
          </p:nvPr>
        </p:nvSpPr>
        <p:spPr>
          <a:noFill/>
        </p:spPr>
        <p:txBody>
          <a:bodyPr/>
          <a:lstStyle/>
          <a:p>
            <a:r>
              <a:rPr lang="en-US"/>
              <a:t>DEMIL Code Challenge</a:t>
            </a:r>
          </a:p>
        </p:txBody>
      </p:sp>
      <p:sp>
        <p:nvSpPr>
          <p:cNvPr id="40963" name="Rectangle 7"/>
          <p:cNvSpPr>
            <a:spLocks noGrp="1" noChangeArrowheads="1"/>
          </p:cNvSpPr>
          <p:nvPr>
            <p:ph type="sldNum" sz="quarter" idx="5"/>
          </p:nvPr>
        </p:nvSpPr>
        <p:spPr>
          <a:noFill/>
        </p:spPr>
        <p:txBody>
          <a:bodyPr/>
          <a:lstStyle/>
          <a:p>
            <a:fld id="{70167D3F-C278-42AB-91FB-A35F77CDA945}" type="slidenum">
              <a:rPr lang="en-US" smtClean="0"/>
              <a:pPr/>
              <a:t>12</a:t>
            </a:fld>
            <a:endParaRPr lang="en-US"/>
          </a:p>
        </p:txBody>
      </p:sp>
      <p:sp>
        <p:nvSpPr>
          <p:cNvPr id="40964" name="Rectangle 2"/>
          <p:cNvSpPr>
            <a:spLocks noGrp="1" noRot="1" noChangeAspect="1" noChangeArrowheads="1" noTextEdit="1"/>
          </p:cNvSpPr>
          <p:nvPr>
            <p:ph type="sldImg"/>
          </p:nvPr>
        </p:nvSpPr>
        <p:spPr>
          <a:ln/>
        </p:spPr>
      </p:sp>
      <p:sp>
        <p:nvSpPr>
          <p:cNvPr id="40965" name="Rectangle 3"/>
          <p:cNvSpPr>
            <a:spLocks noGrp="1" noChangeArrowheads="1"/>
          </p:cNvSpPr>
          <p:nvPr>
            <p:ph type="body" idx="1"/>
          </p:nvPr>
        </p:nvSpPr>
        <p:spPr>
          <a:xfrm>
            <a:off x="569913" y="4559300"/>
            <a:ext cx="6421437" cy="4570413"/>
          </a:xfrm>
          <a:noFill/>
          <a:ln>
            <a:solidFill>
              <a:schemeClr val="tx1"/>
            </a:solidFill>
          </a:ln>
        </p:spPr>
        <p:txBody>
          <a:bodyPr/>
          <a:lstStyle/>
          <a:p>
            <a:pPr eaLnBrk="1" hangingPunct="1"/>
            <a:r>
              <a:rPr lang="en-US" dirty="0">
                <a:latin typeface="Arial" charset="0"/>
              </a:rPr>
              <a:t>14. Rationale to Support DEMIL Recommendation: This is a mandatory field. This</a:t>
            </a:r>
          </a:p>
          <a:p>
            <a:pPr eaLnBrk="1" hangingPunct="1"/>
            <a:r>
              <a:rPr lang="en-US" dirty="0">
                <a:latin typeface="Arial" charset="0"/>
              </a:rPr>
              <a:t>clear text field is provided for the submitter to provide any and all rationale </a:t>
            </a:r>
          </a:p>
          <a:p>
            <a:pPr eaLnBrk="1" hangingPunct="1"/>
            <a:r>
              <a:rPr lang="en-US" dirty="0">
                <a:latin typeface="Arial" charset="0"/>
              </a:rPr>
              <a:t>substantiate the justification provided. The submitter is encouraged to provide as</a:t>
            </a:r>
          </a:p>
          <a:p>
            <a:pPr eaLnBrk="1" hangingPunct="1"/>
            <a:r>
              <a:rPr lang="en-US" dirty="0">
                <a:latin typeface="Arial" charset="0"/>
              </a:rPr>
              <a:t>much supporting rationale, history, or pertinent facts as possible. Technical Data,</a:t>
            </a:r>
          </a:p>
          <a:p>
            <a:pPr eaLnBrk="1" hangingPunct="1"/>
            <a:r>
              <a:rPr lang="en-US" dirty="0">
                <a:latin typeface="Arial" charset="0"/>
              </a:rPr>
              <a:t>Specification or Standards, or pictures of the item can and should be provided via Email</a:t>
            </a:r>
          </a:p>
          <a:p>
            <a:pPr eaLnBrk="1" hangingPunct="1"/>
            <a:r>
              <a:rPr lang="en-US" dirty="0">
                <a:latin typeface="Arial" charset="0"/>
              </a:rPr>
              <a:t>as shown above.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6"/>
          <p:cNvSpPr>
            <a:spLocks noGrp="1" noChangeArrowheads="1"/>
          </p:cNvSpPr>
          <p:nvPr>
            <p:ph type="ftr" sz="quarter" idx="4"/>
          </p:nvPr>
        </p:nvSpPr>
        <p:spPr>
          <a:noFill/>
        </p:spPr>
        <p:txBody>
          <a:bodyPr/>
          <a:lstStyle/>
          <a:p>
            <a:r>
              <a:rPr lang="en-US"/>
              <a:t>DEMIL Code Challenge</a:t>
            </a:r>
          </a:p>
        </p:txBody>
      </p:sp>
      <p:sp>
        <p:nvSpPr>
          <p:cNvPr id="39939" name="Rectangle 7"/>
          <p:cNvSpPr>
            <a:spLocks noGrp="1" noChangeArrowheads="1"/>
          </p:cNvSpPr>
          <p:nvPr>
            <p:ph type="sldNum" sz="quarter" idx="5"/>
          </p:nvPr>
        </p:nvSpPr>
        <p:spPr>
          <a:noFill/>
        </p:spPr>
        <p:txBody>
          <a:bodyPr/>
          <a:lstStyle/>
          <a:p>
            <a:fld id="{716E470B-523F-4C19-9056-073CD677ACC9}" type="slidenum">
              <a:rPr lang="en-US" smtClean="0"/>
              <a:pPr/>
              <a:t>13</a:t>
            </a:fld>
            <a:endParaRPr lang="en-US"/>
          </a:p>
        </p:txBody>
      </p:sp>
      <p:sp>
        <p:nvSpPr>
          <p:cNvPr id="39940" name="Rectangle 2"/>
          <p:cNvSpPr>
            <a:spLocks noGrp="1" noRot="1" noChangeAspect="1" noChangeArrowheads="1" noTextEdit="1"/>
          </p:cNvSpPr>
          <p:nvPr>
            <p:ph type="sldImg"/>
          </p:nvPr>
        </p:nvSpPr>
        <p:spPr>
          <a:ln/>
        </p:spPr>
      </p:sp>
      <p:sp>
        <p:nvSpPr>
          <p:cNvPr id="39941" name="Rectangle 3"/>
          <p:cNvSpPr>
            <a:spLocks noGrp="1" noChangeArrowheads="1"/>
          </p:cNvSpPr>
          <p:nvPr>
            <p:ph type="body" idx="1"/>
          </p:nvPr>
        </p:nvSpPr>
        <p:spPr>
          <a:xfrm>
            <a:off x="569913" y="4381500"/>
            <a:ext cx="6421437" cy="4989513"/>
          </a:xfrm>
          <a:noFill/>
          <a:ln>
            <a:solidFill>
              <a:schemeClr val="tx1"/>
            </a:solidFill>
          </a:ln>
        </p:spPr>
        <p:txBody>
          <a:bodyPr/>
          <a:lstStyle/>
          <a:p>
            <a:pPr eaLnBrk="1" hangingPunct="1"/>
            <a:r>
              <a:rPr lang="en-US" dirty="0">
                <a:latin typeface="Arial" charset="0"/>
              </a:rPr>
              <a:t>DoDM 4160.28-V2</a:t>
            </a:r>
          </a:p>
          <a:p>
            <a:pPr eaLnBrk="1" hangingPunct="1"/>
            <a:endParaRPr lang="en-US" dirty="0">
              <a:latin typeface="Arial" charset="0"/>
            </a:endParaRPr>
          </a:p>
          <a:p>
            <a:pPr eaLnBrk="1" hangingPunct="1"/>
            <a:r>
              <a:rPr lang="en-US" dirty="0">
                <a:latin typeface="Arial" charset="0"/>
              </a:rPr>
              <a:t>This is exactly the format you will also want to use when submitting changes through D143C (FLITEs now, as it will still go through </a:t>
            </a:r>
            <a:r>
              <a:rPr lang="en-US" dirty="0" err="1">
                <a:latin typeface="Arial" charset="0"/>
              </a:rPr>
              <a:t>battlecreek</a:t>
            </a:r>
            <a:r>
              <a:rPr lang="en-US" dirty="0">
                <a:latin typeface="Arial" charset="0"/>
              </a:rPr>
              <a:t>) your rationale will be the format in this slide</a:t>
            </a:r>
          </a:p>
          <a:p>
            <a:pPr eaLnBrk="1" hangingPunct="1"/>
            <a:endParaRPr lang="en-US" dirty="0">
              <a:latin typeface="Arial" charset="0"/>
            </a:endParaRPr>
          </a:p>
          <a:p>
            <a:pPr eaLnBrk="1" hangingPunct="1"/>
            <a:r>
              <a:rPr lang="en-US" dirty="0">
                <a:latin typeface="Arial" charset="0"/>
              </a:rPr>
              <a:t>Per DoDM 4160.28</a:t>
            </a:r>
          </a:p>
          <a:p>
            <a:pPr eaLnBrk="1" hangingPunct="1"/>
            <a:r>
              <a:rPr lang="en-US" dirty="0">
                <a:latin typeface="Arial" charset="0"/>
              </a:rPr>
              <a:t>Then list the </a:t>
            </a:r>
            <a:r>
              <a:rPr lang="en-US" b="1" u="sng" dirty="0">
                <a:latin typeface="Arial" charset="0"/>
              </a:rPr>
              <a:t>Table:</a:t>
            </a:r>
            <a:r>
              <a:rPr lang="en-US" dirty="0">
                <a:latin typeface="Arial" charset="0"/>
              </a:rPr>
              <a:t> the </a:t>
            </a:r>
            <a:r>
              <a:rPr lang="en-US" b="1" u="sng" dirty="0">
                <a:latin typeface="Arial" charset="0"/>
              </a:rPr>
              <a:t>category:</a:t>
            </a:r>
            <a:r>
              <a:rPr lang="en-US" dirty="0">
                <a:latin typeface="Arial" charset="0"/>
              </a:rPr>
              <a:t> and the </a:t>
            </a:r>
            <a:r>
              <a:rPr lang="en-US" b="1" u="sng" dirty="0">
                <a:latin typeface="Arial" charset="0"/>
              </a:rPr>
              <a:t>paragraph:</a:t>
            </a:r>
            <a:r>
              <a:rPr lang="en-US" dirty="0">
                <a:latin typeface="Arial" charset="0"/>
              </a:rPr>
              <a:t> </a:t>
            </a:r>
          </a:p>
          <a:p>
            <a:pPr eaLnBrk="1" hangingPunct="1"/>
            <a:r>
              <a:rPr lang="en-US" dirty="0">
                <a:latin typeface="Arial" charset="0"/>
              </a:rPr>
              <a:t>If you cant find it in Part 1, then you will go to part two and list the </a:t>
            </a:r>
            <a:r>
              <a:rPr lang="en-US" b="1" u="sng" dirty="0">
                <a:latin typeface="Arial" charset="0"/>
              </a:rPr>
              <a:t>ECCN (Export Control Classification Number)</a:t>
            </a:r>
          </a:p>
          <a:p>
            <a:pPr eaLnBrk="1" hangingPunct="1"/>
            <a:r>
              <a:rPr lang="en-US" dirty="0">
                <a:latin typeface="Arial" charset="0"/>
              </a:rPr>
              <a:t>Then you will give </a:t>
            </a:r>
            <a:r>
              <a:rPr lang="en-US" u="none" dirty="0">
                <a:latin typeface="Arial" charset="0"/>
              </a:rPr>
              <a:t>a </a:t>
            </a:r>
            <a:r>
              <a:rPr lang="en-US" b="1" u="sng" dirty="0">
                <a:latin typeface="Arial" charset="0"/>
              </a:rPr>
              <a:t>rationale</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pPr>
              <a:defRPr/>
            </a:pPr>
            <a:r>
              <a:rPr lang="en-US"/>
              <a:t>DEMIL Code Challenge</a:t>
            </a:r>
          </a:p>
        </p:txBody>
      </p:sp>
      <p:sp>
        <p:nvSpPr>
          <p:cNvPr id="5" name="Slide Number Placeholder 4"/>
          <p:cNvSpPr>
            <a:spLocks noGrp="1"/>
          </p:cNvSpPr>
          <p:nvPr>
            <p:ph type="sldNum" sz="quarter" idx="5"/>
          </p:nvPr>
        </p:nvSpPr>
        <p:spPr/>
        <p:txBody>
          <a:bodyPr/>
          <a:lstStyle/>
          <a:p>
            <a:pPr>
              <a:defRPr/>
            </a:pPr>
            <a:fld id="{B98CAA25-AAA5-49D4-9492-526732C560B7}" type="slidenum">
              <a:rPr lang="en-US" smtClean="0"/>
              <a:pPr>
                <a:defRPr/>
              </a:pPr>
              <a:t>14</a:t>
            </a:fld>
            <a:endParaRPr lang="en-US"/>
          </a:p>
        </p:txBody>
      </p:sp>
    </p:spTree>
    <p:extLst>
      <p:ext uri="{BB962C8B-B14F-4D97-AF65-F5344CB8AC3E}">
        <p14:creationId xmlns:p14="http://schemas.microsoft.com/office/powerpoint/2010/main" val="1701155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6"/>
          <p:cNvSpPr>
            <a:spLocks noGrp="1" noChangeArrowheads="1"/>
          </p:cNvSpPr>
          <p:nvPr>
            <p:ph type="ftr" sz="quarter" idx="4"/>
          </p:nvPr>
        </p:nvSpPr>
        <p:spPr>
          <a:noFill/>
        </p:spPr>
        <p:txBody>
          <a:bodyPr/>
          <a:lstStyle/>
          <a:p>
            <a:r>
              <a:rPr lang="en-US"/>
              <a:t>DEMIL Code Challenge</a:t>
            </a:r>
          </a:p>
        </p:txBody>
      </p:sp>
      <p:sp>
        <p:nvSpPr>
          <p:cNvPr id="43011" name="Rectangle 7"/>
          <p:cNvSpPr>
            <a:spLocks noGrp="1" noChangeArrowheads="1"/>
          </p:cNvSpPr>
          <p:nvPr>
            <p:ph type="sldNum" sz="quarter" idx="5"/>
          </p:nvPr>
        </p:nvSpPr>
        <p:spPr>
          <a:noFill/>
        </p:spPr>
        <p:txBody>
          <a:bodyPr/>
          <a:lstStyle/>
          <a:p>
            <a:fld id="{64B774A5-4756-42AD-99D8-6399556E1941}" type="slidenum">
              <a:rPr lang="en-US" smtClean="0"/>
              <a:pPr/>
              <a:t>15</a:t>
            </a:fld>
            <a:endParaRPr lang="en-US"/>
          </a:p>
        </p:txBody>
      </p:sp>
      <p:sp>
        <p:nvSpPr>
          <p:cNvPr id="43012" name="Rectangle 2"/>
          <p:cNvSpPr>
            <a:spLocks noGrp="1" noRot="1" noChangeAspect="1" noChangeArrowheads="1" noTextEdit="1"/>
          </p:cNvSpPr>
          <p:nvPr>
            <p:ph type="sldImg"/>
          </p:nvPr>
        </p:nvSpPr>
        <p:spPr>
          <a:ln/>
        </p:spPr>
      </p:sp>
      <p:sp>
        <p:nvSpPr>
          <p:cNvPr id="43013" name="Rectangle 3"/>
          <p:cNvSpPr>
            <a:spLocks noGrp="1" noChangeArrowheads="1"/>
          </p:cNvSpPr>
          <p:nvPr>
            <p:ph type="body" idx="1"/>
          </p:nvPr>
        </p:nvSpPr>
        <p:spPr>
          <a:xfrm>
            <a:off x="635000" y="4559300"/>
            <a:ext cx="6107113" cy="4321175"/>
          </a:xfrm>
          <a:noFill/>
          <a:ln>
            <a:solidFill>
              <a:schemeClr val="tx1"/>
            </a:solidFill>
          </a:ln>
        </p:spPr>
        <p:txBody>
          <a:bodyPr/>
          <a:lstStyle/>
          <a:p>
            <a:pPr eaLnBrk="1" hangingPunct="1">
              <a:buFontTx/>
              <a:buChar char="•"/>
            </a:pPr>
            <a:r>
              <a:rPr lang="en-US" dirty="0">
                <a:cs typeface="Times New Roman" pitchFamily="18" charset="0"/>
              </a:rPr>
              <a:t>The DDCMO will evaluate, validate, and process the challenge within 10  days of receipt.” </a:t>
            </a:r>
          </a:p>
          <a:p>
            <a:pPr eaLnBrk="1" hangingPunct="1">
              <a:buFontTx/>
              <a:buChar char="•"/>
            </a:pPr>
            <a:r>
              <a:rPr lang="en-US" dirty="0">
                <a:cs typeface="Times New Roman" pitchFamily="18" charset="0"/>
              </a:rPr>
              <a:t> For challenges forwarded to the ICP, the responsible entity will evaluate the challenge and notify the DDCMO of results within 90 days of receipt.  If the responsible ICP activity concurs with the DDCMO recommended demilitarization code and a change is required, the ICP entity will ensure changes are submitted to the DoD/Federal Agency legacy system and that the change is recorded in the FLIS  within 90 days of the initial receipt of the challenge request.” </a:t>
            </a:r>
          </a:p>
          <a:p>
            <a:pPr eaLnBrk="1" hangingPunct="1">
              <a:buFontTx/>
              <a:buChar char="•"/>
            </a:pPr>
            <a:r>
              <a:rPr lang="en-US" dirty="0">
                <a:cs typeface="Times New Roman" pitchFamily="18" charset="0"/>
              </a:rPr>
              <a:t>The DDCMO will monitor ICP notifications and FLIS changes and, in the event that the ICP has not responded within 90 days, the DDCMO will assume concurrence and initiate action to change the DEMIL Code to the recommended DDCMO code in the FLIS. If the ICP entity has concurred with the DDCMO recommended DEMIL Code, or replies to the challenge with a valid change to the DDCMO recommended code but has not effected FLIS change within 90 days, thee DDCMO will initiate action to update the FLIS. These actions will be identified in the FLIS with a code that represents a “forced concurrence”. </a:t>
            </a:r>
          </a:p>
          <a:p>
            <a:pPr eaLnBrk="1" hangingPunct="1">
              <a:buFontTx/>
              <a:buChar char="•"/>
            </a:pPr>
            <a:r>
              <a:rPr lang="en-US" dirty="0">
                <a:cs typeface="Times New Roman" pitchFamily="18" charset="0"/>
              </a:rPr>
              <a:t> </a:t>
            </a:r>
            <a:r>
              <a:rPr lang="en-US" dirty="0"/>
              <a:t>DDPM and applicable PM will make final determination for challenges that cannot be resolved between DDCMO and ICA.</a:t>
            </a:r>
          </a:p>
          <a:p>
            <a:pPr eaLnBrk="1" hangingPunct="1"/>
            <a:endParaRPr lang="en-US" dirty="0">
              <a:cs typeface="Times New Roman"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6"/>
          <p:cNvSpPr>
            <a:spLocks noGrp="1" noChangeArrowheads="1"/>
          </p:cNvSpPr>
          <p:nvPr>
            <p:ph type="ftr" sz="quarter" idx="4"/>
          </p:nvPr>
        </p:nvSpPr>
        <p:spPr>
          <a:noFill/>
        </p:spPr>
        <p:txBody>
          <a:bodyPr/>
          <a:lstStyle/>
          <a:p>
            <a:r>
              <a:rPr lang="en-US"/>
              <a:t>DEMIL Code Challenge</a:t>
            </a:r>
          </a:p>
        </p:txBody>
      </p:sp>
      <p:sp>
        <p:nvSpPr>
          <p:cNvPr id="44035" name="Rectangle 7"/>
          <p:cNvSpPr>
            <a:spLocks noGrp="1" noChangeArrowheads="1"/>
          </p:cNvSpPr>
          <p:nvPr>
            <p:ph type="sldNum" sz="quarter" idx="5"/>
          </p:nvPr>
        </p:nvSpPr>
        <p:spPr>
          <a:noFill/>
        </p:spPr>
        <p:txBody>
          <a:bodyPr/>
          <a:lstStyle/>
          <a:p>
            <a:fld id="{FEF1F67B-9394-4B25-93B5-22DD37320A44}" type="slidenum">
              <a:rPr lang="en-US" smtClean="0"/>
              <a:pPr/>
              <a:t>16</a:t>
            </a:fld>
            <a:endParaRPr lang="en-US"/>
          </a:p>
        </p:txBody>
      </p:sp>
      <p:sp>
        <p:nvSpPr>
          <p:cNvPr id="44036" name="Rectangle 2"/>
          <p:cNvSpPr>
            <a:spLocks noGrp="1" noRot="1" noChangeAspect="1" noChangeArrowheads="1" noTextEdit="1"/>
          </p:cNvSpPr>
          <p:nvPr>
            <p:ph type="sldImg"/>
          </p:nvPr>
        </p:nvSpPr>
        <p:spPr>
          <a:ln/>
        </p:spPr>
      </p:sp>
      <p:sp>
        <p:nvSpPr>
          <p:cNvPr id="44037" name="Rectangle 3"/>
          <p:cNvSpPr>
            <a:spLocks noGrp="1" noChangeArrowheads="1"/>
          </p:cNvSpPr>
          <p:nvPr>
            <p:ph type="body" idx="1"/>
          </p:nvPr>
        </p:nvSpPr>
        <p:spPr>
          <a:xfrm>
            <a:off x="635000" y="4559300"/>
            <a:ext cx="6107113" cy="4321175"/>
          </a:xfrm>
          <a:noFill/>
          <a:ln>
            <a:solidFill>
              <a:schemeClr val="tx1"/>
            </a:solidFill>
          </a:ln>
        </p:spPr>
        <p:txBody>
          <a:bodyPr/>
          <a:lstStyle/>
          <a:p>
            <a:pPr eaLnBrk="1" hangingPunct="1"/>
            <a:r>
              <a:rPr lang="en-US" dirty="0">
                <a:cs typeface="Times New Roman" pitchFamily="18" charset="0"/>
              </a:rPr>
              <a:t>All DEMIL code challenges will be coordinated with the appropriate Military Department for review, prior to any changes taking place.</a:t>
            </a:r>
          </a:p>
          <a:p>
            <a:pPr eaLnBrk="1" hangingPunct="1"/>
            <a:endParaRPr lang="en-US" dirty="0">
              <a:cs typeface="Times New Roman" pitchFamily="18" charset="0"/>
            </a:endParaRPr>
          </a:p>
          <a:p>
            <a:pPr eaLnBrk="1" hangingPunct="1"/>
            <a:r>
              <a:rPr lang="en-US" dirty="0"/>
              <a:t>Military Departments may enter into Memorandums of Agreement  with the</a:t>
            </a:r>
            <a:r>
              <a:rPr lang="en-US" baseline="0" dirty="0"/>
              <a:t> </a:t>
            </a:r>
            <a:r>
              <a:rPr lang="en-US" dirty="0"/>
              <a:t>DDCMO to improve coordination and processing of DEMIL challenge actions.</a:t>
            </a:r>
          </a:p>
          <a:p>
            <a:pPr eaLnBrk="1" hangingPunct="1"/>
            <a:endParaRPr lang="en-US" dirty="0"/>
          </a:p>
          <a:p>
            <a:pPr eaLnBrk="1" hangingPunct="1"/>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6"/>
          <p:cNvSpPr>
            <a:spLocks noGrp="1" noChangeArrowheads="1"/>
          </p:cNvSpPr>
          <p:nvPr>
            <p:ph type="ftr" sz="quarter" idx="4"/>
          </p:nvPr>
        </p:nvSpPr>
        <p:spPr>
          <a:noFill/>
        </p:spPr>
        <p:txBody>
          <a:bodyPr/>
          <a:lstStyle/>
          <a:p>
            <a:r>
              <a:rPr lang="en-US"/>
              <a:t>DEMIL Code Challenge</a:t>
            </a:r>
          </a:p>
        </p:txBody>
      </p:sp>
      <p:sp>
        <p:nvSpPr>
          <p:cNvPr id="45059" name="Rectangle 7"/>
          <p:cNvSpPr>
            <a:spLocks noGrp="1" noChangeArrowheads="1"/>
          </p:cNvSpPr>
          <p:nvPr>
            <p:ph type="sldNum" sz="quarter" idx="5"/>
          </p:nvPr>
        </p:nvSpPr>
        <p:spPr>
          <a:noFill/>
        </p:spPr>
        <p:txBody>
          <a:bodyPr/>
          <a:lstStyle/>
          <a:p>
            <a:fld id="{EDC6792E-0AB9-4A16-AD05-6054995DBA1F}" type="slidenum">
              <a:rPr lang="en-US" smtClean="0"/>
              <a:pPr/>
              <a:t>17</a:t>
            </a:fld>
            <a:endParaRPr lang="en-US"/>
          </a:p>
        </p:txBody>
      </p:sp>
      <p:sp>
        <p:nvSpPr>
          <p:cNvPr id="45060" name="Rectangle 2"/>
          <p:cNvSpPr>
            <a:spLocks noGrp="1" noRot="1" noChangeAspect="1" noChangeArrowheads="1" noTextEdit="1"/>
          </p:cNvSpPr>
          <p:nvPr>
            <p:ph type="sldImg"/>
          </p:nvPr>
        </p:nvSpPr>
        <p:spPr>
          <a:ln/>
        </p:spPr>
      </p:sp>
      <p:sp>
        <p:nvSpPr>
          <p:cNvPr id="45061" name="Rectangle 3"/>
          <p:cNvSpPr>
            <a:spLocks noGrp="1" noChangeArrowheads="1"/>
          </p:cNvSpPr>
          <p:nvPr>
            <p:ph type="body" idx="1"/>
          </p:nvPr>
        </p:nvSpPr>
        <p:spPr>
          <a:noFill/>
          <a:ln>
            <a:solidFill>
              <a:schemeClr val="tx1"/>
            </a:solidFill>
          </a:ln>
        </p:spPr>
        <p:txBody>
          <a:bodyPr/>
          <a:lstStyle/>
          <a:p>
            <a:pPr marL="228600" indent="-228600" eaLnBrk="1" hangingPunct="1">
              <a:spcBef>
                <a:spcPct val="50000"/>
              </a:spcBef>
              <a:buFontTx/>
              <a:buChar char="•"/>
            </a:pPr>
            <a:r>
              <a:rPr lang="en-US" dirty="0"/>
              <a:t>DEMIL Integrity Codes (IC) appear adjacent to the DEMIL code in the FLIS. The DEMIL IC indicates the results of the validation.</a:t>
            </a:r>
          </a:p>
          <a:p>
            <a:pPr marL="228600" indent="-228600" eaLnBrk="1" hangingPunct="1">
              <a:spcBef>
                <a:spcPct val="50000"/>
              </a:spcBef>
              <a:buFontTx/>
              <a:buChar char="•"/>
            </a:pPr>
            <a:r>
              <a:rPr lang="en-US" dirty="0"/>
              <a:t>A validated DEMIL code is one with an associated DEMIL IC of “1,” “3,” “6,” or “7.”</a:t>
            </a:r>
          </a:p>
          <a:p>
            <a:pPr marL="228600" indent="-228600" eaLnBrk="1" hangingPunct="1">
              <a:spcBef>
                <a:spcPct val="50000"/>
              </a:spcBef>
              <a:buFontTx/>
              <a:buChar char="•"/>
            </a:pPr>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6"/>
          <p:cNvSpPr>
            <a:spLocks noGrp="1" noChangeArrowheads="1"/>
          </p:cNvSpPr>
          <p:nvPr>
            <p:ph type="ftr" sz="quarter" idx="4"/>
          </p:nvPr>
        </p:nvSpPr>
        <p:spPr>
          <a:noFill/>
        </p:spPr>
        <p:txBody>
          <a:bodyPr/>
          <a:lstStyle/>
          <a:p>
            <a:r>
              <a:rPr lang="en-US"/>
              <a:t>DEMIL Code Challenge</a:t>
            </a:r>
          </a:p>
        </p:txBody>
      </p:sp>
      <p:sp>
        <p:nvSpPr>
          <p:cNvPr id="46083" name="Rectangle 7"/>
          <p:cNvSpPr>
            <a:spLocks noGrp="1" noChangeArrowheads="1"/>
          </p:cNvSpPr>
          <p:nvPr>
            <p:ph type="sldNum" sz="quarter" idx="5"/>
          </p:nvPr>
        </p:nvSpPr>
        <p:spPr>
          <a:noFill/>
        </p:spPr>
        <p:txBody>
          <a:bodyPr/>
          <a:lstStyle/>
          <a:p>
            <a:fld id="{D24C8F12-5E8E-4CE2-AD8B-50CD244A362D}" type="slidenum">
              <a:rPr lang="en-US" smtClean="0"/>
              <a:pPr/>
              <a:t>18</a:t>
            </a:fld>
            <a:endParaRPr lang="en-US"/>
          </a:p>
        </p:txBody>
      </p:sp>
      <p:sp>
        <p:nvSpPr>
          <p:cNvPr id="46084" name="Rectangle 2"/>
          <p:cNvSpPr>
            <a:spLocks noGrp="1" noRot="1" noChangeAspect="1" noChangeArrowheads="1" noTextEdit="1"/>
          </p:cNvSpPr>
          <p:nvPr>
            <p:ph type="sldImg"/>
          </p:nvPr>
        </p:nvSpPr>
        <p:spPr>
          <a:ln/>
        </p:spPr>
      </p:sp>
      <p:sp>
        <p:nvSpPr>
          <p:cNvPr id="46085" name="Rectangle 3"/>
          <p:cNvSpPr>
            <a:spLocks noGrp="1" noChangeArrowheads="1"/>
          </p:cNvSpPr>
          <p:nvPr>
            <p:ph type="body" idx="1"/>
          </p:nvPr>
        </p:nvSpPr>
        <p:spPr>
          <a:xfrm>
            <a:off x="596900" y="4559300"/>
            <a:ext cx="6159500" cy="4321175"/>
          </a:xfrm>
          <a:noFill/>
          <a:ln>
            <a:solidFill>
              <a:schemeClr val="tx1"/>
            </a:solidFill>
          </a:ln>
        </p:spPr>
        <p:txBody>
          <a:bodyPr/>
          <a:lstStyle/>
          <a:p>
            <a:pPr marL="228600" indent="-228600" eaLnBrk="1" hangingPunct="1"/>
            <a:r>
              <a:rPr lang="en-US" dirty="0"/>
              <a:t>Blank	DEMIL code has not been reviewed by DLIS.</a:t>
            </a:r>
          </a:p>
          <a:p>
            <a:pPr marL="228600" indent="-228600" eaLnBrk="1" hangingPunct="1"/>
            <a:r>
              <a:rPr lang="en-US" dirty="0"/>
              <a:t>0	DEMIL code reviewed by DDCMO. Recommended DEMIL code and current ICP 	</a:t>
            </a:r>
          </a:p>
          <a:p>
            <a:pPr marL="228600" indent="-228600" eaLnBrk="1" hangingPunct="1"/>
            <a:r>
              <a:rPr lang="en-US" dirty="0"/>
              <a:t>	DEMIL code are not equal. Presently in collaboration cycle. </a:t>
            </a:r>
          </a:p>
          <a:p>
            <a:pPr marL="228600" indent="-228600" eaLnBrk="1" hangingPunct="1"/>
            <a:endParaRPr lang="en-US" dirty="0"/>
          </a:p>
          <a:p>
            <a:pPr marL="228600" indent="-228600" eaLnBrk="1" hangingPunct="1">
              <a:buAutoNum type="arabicPlain"/>
            </a:pPr>
            <a:r>
              <a:rPr lang="en-US" dirty="0"/>
              <a:t>DEMIL code reviewed by DLIS, recommended DEMIL code adopted by ICP, or no DEMIL code change recommended.</a:t>
            </a:r>
          </a:p>
          <a:p>
            <a:pPr marL="228600" indent="-228600" eaLnBrk="1" hangingPunct="1">
              <a:buAutoNum type="arabicPlain"/>
            </a:pPr>
            <a:endParaRPr lang="en-US" dirty="0"/>
          </a:p>
          <a:p>
            <a:pPr marL="228600" indent="-228600" eaLnBrk="1" hangingPunct="1">
              <a:buFontTx/>
              <a:buAutoNum type="arabicPlain" startAt="2"/>
            </a:pPr>
            <a:r>
              <a:rPr lang="en-US" dirty="0"/>
              <a:t> **DEMIL code reviewed by DDCMO and accepted by ICP (DEMIL Integrity Code =1) however, ICP has since overridden/changed**. </a:t>
            </a:r>
            <a:r>
              <a:rPr lang="en-US" b="1" dirty="0">
                <a:solidFill>
                  <a:srgbClr val="FF0000"/>
                </a:solidFill>
              </a:rPr>
              <a:t>NO LONGER VALID </a:t>
            </a:r>
          </a:p>
          <a:p>
            <a:pPr marL="228600" indent="-228600" eaLnBrk="1" hangingPunct="1">
              <a:buFontTx/>
              <a:buAutoNum type="arabicPlain" startAt="2"/>
            </a:pPr>
            <a:endParaRPr lang="en-US" dirty="0"/>
          </a:p>
          <a:p>
            <a:pPr marL="228600" indent="-228600" eaLnBrk="1" hangingPunct="1"/>
            <a:r>
              <a:rPr lang="en-US" dirty="0"/>
              <a:t>inventory control point — An organizational unit or activity within a Department of Defense supply system that is assigned the primary responsibility for the materiel management of a group of items either for a particular Service or for the Defense Department as a whole. Materiel inventory management includes cataloging direction, requirements computation, procurement direction, distribution management, disposal direction and, generally, rebuild direction. Also called ICP.</a:t>
            </a:r>
          </a:p>
          <a:p>
            <a:pPr marL="228600" indent="-228600" eaLnBrk="1" hangingPunct="1">
              <a:buFontTx/>
              <a:buAutoNum type="arabicPlain" startAt="2"/>
            </a:pPr>
            <a:endParaRPr lang="en-US" dirty="0"/>
          </a:p>
          <a:p>
            <a:pPr marL="228600" indent="-228600" eaLnBrk="1" hangingPunct="1"/>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6"/>
          <p:cNvSpPr>
            <a:spLocks noGrp="1" noChangeArrowheads="1"/>
          </p:cNvSpPr>
          <p:nvPr>
            <p:ph type="ftr" sz="quarter" idx="4"/>
          </p:nvPr>
        </p:nvSpPr>
        <p:spPr>
          <a:noFill/>
        </p:spPr>
        <p:txBody>
          <a:bodyPr/>
          <a:lstStyle/>
          <a:p>
            <a:r>
              <a:rPr lang="en-US"/>
              <a:t>DEMIL Code Challenge</a:t>
            </a:r>
          </a:p>
        </p:txBody>
      </p:sp>
      <p:sp>
        <p:nvSpPr>
          <p:cNvPr id="47107" name="Rectangle 7"/>
          <p:cNvSpPr>
            <a:spLocks noGrp="1" noChangeArrowheads="1"/>
          </p:cNvSpPr>
          <p:nvPr>
            <p:ph type="sldNum" sz="quarter" idx="5"/>
          </p:nvPr>
        </p:nvSpPr>
        <p:spPr>
          <a:noFill/>
        </p:spPr>
        <p:txBody>
          <a:bodyPr/>
          <a:lstStyle/>
          <a:p>
            <a:fld id="{2DE1F865-3D6D-4B63-9147-BC058D34D0B0}" type="slidenum">
              <a:rPr lang="en-US" smtClean="0"/>
              <a:pPr/>
              <a:t>19</a:t>
            </a:fld>
            <a:endParaRPr lang="en-US"/>
          </a:p>
        </p:txBody>
      </p:sp>
      <p:sp>
        <p:nvSpPr>
          <p:cNvPr id="47108" name="Rectangle 2"/>
          <p:cNvSpPr>
            <a:spLocks noGrp="1" noRot="1" noChangeAspect="1" noChangeArrowheads="1" noTextEdit="1"/>
          </p:cNvSpPr>
          <p:nvPr>
            <p:ph type="sldImg"/>
          </p:nvPr>
        </p:nvSpPr>
        <p:spPr>
          <a:ln/>
        </p:spPr>
      </p:sp>
      <p:sp>
        <p:nvSpPr>
          <p:cNvPr id="47109" name="Rectangle 3"/>
          <p:cNvSpPr>
            <a:spLocks noGrp="1" noChangeArrowheads="1"/>
          </p:cNvSpPr>
          <p:nvPr>
            <p:ph type="body" idx="1"/>
          </p:nvPr>
        </p:nvSpPr>
        <p:spPr>
          <a:noFill/>
          <a:ln>
            <a:solidFill>
              <a:schemeClr val="tx1"/>
            </a:solidFill>
          </a:ln>
        </p:spPr>
        <p:txBody>
          <a:bodyPr/>
          <a:lstStyle/>
          <a:p>
            <a:pPr marL="228600" indent="-228600" eaLnBrk="1" hangingPunct="1"/>
            <a:r>
              <a:rPr lang="en-US" b="1" dirty="0"/>
              <a:t>3</a:t>
            </a:r>
            <a:r>
              <a:rPr lang="en-US" dirty="0"/>
              <a:t>	Restricted items or sensitive CCLI. Requires mutilation worldwide.</a:t>
            </a:r>
          </a:p>
          <a:p>
            <a:pPr marL="228600" indent="-228600" eaLnBrk="1" hangingPunct="1"/>
            <a:r>
              <a:rPr lang="en-US" dirty="0"/>
              <a:t>4	DEMIL code could not be validated - insufficient technical data available.</a:t>
            </a:r>
          </a:p>
          <a:p>
            <a:pPr marL="228600" indent="-228600" eaLnBrk="1" hangingPunct="1"/>
            <a:r>
              <a:rPr lang="en-US" dirty="0"/>
              <a:t>5	(1) Item reviewed and coded by Service/Agency ICP – without DDCMO collaboration; or, (2) Service/Agency ICP changed the DEMIL code prior to completion of IC-0 review/collaboration cycle.</a:t>
            </a:r>
          </a:p>
          <a:p>
            <a:pPr marL="228600" indent="-228600" eaLnBrk="1" hangingPunct="1">
              <a:buAutoNum type="arabicPlain" startAt="6"/>
            </a:pPr>
            <a:r>
              <a:rPr lang="en-US" dirty="0"/>
              <a:t>Non-Sensitive CCLI. Requires mutilation overseas.</a:t>
            </a:r>
          </a:p>
          <a:p>
            <a:pPr marL="228600" indent="-228600" eaLnBrk="1" hangingPunct="1">
              <a:buAutoNum type="arabicPlain" startAt="6"/>
            </a:pPr>
            <a:endParaRPr lang="en-US" dirty="0"/>
          </a:p>
          <a:p>
            <a:pPr marL="0" indent="0" eaLnBrk="1" hangingPunct="1">
              <a:buNone/>
            </a:pPr>
            <a:r>
              <a:rPr lang="en-US" dirty="0"/>
              <a:t>When it comes to DEMIL code “Q” IC3 or IC6 will be used in conjunction with</a:t>
            </a:r>
          </a:p>
          <a:p>
            <a:pPr marL="228600" indent="-228600" eaLnBrk="1" hangingPunct="1"/>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6"/>
          <p:cNvSpPr>
            <a:spLocks noGrp="1" noChangeArrowheads="1"/>
          </p:cNvSpPr>
          <p:nvPr>
            <p:ph type="ftr" sz="quarter" idx="4"/>
          </p:nvPr>
        </p:nvSpPr>
        <p:spPr>
          <a:noFill/>
        </p:spPr>
        <p:txBody>
          <a:bodyPr/>
          <a:lstStyle/>
          <a:p>
            <a:r>
              <a:rPr lang="en-US"/>
              <a:t>DEMIL Code Challenge</a:t>
            </a:r>
          </a:p>
        </p:txBody>
      </p:sp>
      <p:sp>
        <p:nvSpPr>
          <p:cNvPr id="48131" name="Rectangle 7"/>
          <p:cNvSpPr>
            <a:spLocks noGrp="1" noChangeArrowheads="1"/>
          </p:cNvSpPr>
          <p:nvPr>
            <p:ph type="sldNum" sz="quarter" idx="5"/>
          </p:nvPr>
        </p:nvSpPr>
        <p:spPr>
          <a:noFill/>
        </p:spPr>
        <p:txBody>
          <a:bodyPr/>
          <a:lstStyle/>
          <a:p>
            <a:fld id="{CC25C882-247C-4741-910F-3E59F873B8E6}" type="slidenum">
              <a:rPr lang="en-US" smtClean="0"/>
              <a:pPr/>
              <a:t>20</a:t>
            </a:fld>
            <a:endParaRPr lang="en-US"/>
          </a:p>
        </p:txBody>
      </p:sp>
      <p:sp>
        <p:nvSpPr>
          <p:cNvPr id="48132" name="Rectangle 2"/>
          <p:cNvSpPr>
            <a:spLocks noGrp="1" noRot="1" noChangeAspect="1" noChangeArrowheads="1" noTextEdit="1"/>
          </p:cNvSpPr>
          <p:nvPr>
            <p:ph type="sldImg"/>
          </p:nvPr>
        </p:nvSpPr>
        <p:spPr>
          <a:ln/>
        </p:spPr>
      </p:sp>
      <p:sp>
        <p:nvSpPr>
          <p:cNvPr id="48133" name="Rectangle 3"/>
          <p:cNvSpPr>
            <a:spLocks noGrp="1" noChangeArrowheads="1"/>
          </p:cNvSpPr>
          <p:nvPr>
            <p:ph type="body" idx="1"/>
          </p:nvPr>
        </p:nvSpPr>
        <p:spPr>
          <a:noFill/>
          <a:ln>
            <a:solidFill>
              <a:schemeClr val="tx1"/>
            </a:solidFill>
          </a:ln>
        </p:spPr>
        <p:txBody>
          <a:bodyPr/>
          <a:lstStyle/>
          <a:p>
            <a:pPr marL="228600" indent="-228600" eaLnBrk="1" hangingPunct="1"/>
            <a:r>
              <a:rPr lang="en-US" b="0" dirty="0"/>
              <a:t>7	Forced Concurrence. DDCMO has forced a DEMIL code change in FLIS. ICP has not responded to collaboration request (over 90 days old) or failed to update the DEMIL code in the ICP’s legacy system.</a:t>
            </a:r>
          </a:p>
          <a:p>
            <a:pPr marL="228600" indent="-228600" eaLnBrk="1" hangingPunct="1">
              <a:buFontTx/>
              <a:buAutoNum type="arabicPlain" startAt="8"/>
            </a:pPr>
            <a:r>
              <a:rPr lang="en-US" b="0" dirty="0"/>
              <a:t>ICP has non-concurred with DDCMO recommended DEMIL Code. Item DEMIL coding pending resolution. </a:t>
            </a:r>
          </a:p>
          <a:p>
            <a:pPr marL="228600" indent="-228600" eaLnBrk="1" hangingPunct="1"/>
            <a:r>
              <a:rPr lang="en-US" b="0" dirty="0"/>
              <a:t>9. 	Reserved for future use.</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6"/>
          <p:cNvSpPr>
            <a:spLocks noGrp="1" noChangeArrowheads="1"/>
          </p:cNvSpPr>
          <p:nvPr>
            <p:ph type="ftr" sz="quarter" idx="4"/>
          </p:nvPr>
        </p:nvSpPr>
        <p:spPr>
          <a:noFill/>
        </p:spPr>
        <p:txBody>
          <a:bodyPr/>
          <a:lstStyle/>
          <a:p>
            <a:r>
              <a:rPr lang="en-US"/>
              <a:t>DEMIL Code Challenge</a:t>
            </a:r>
          </a:p>
        </p:txBody>
      </p:sp>
      <p:sp>
        <p:nvSpPr>
          <p:cNvPr id="51203" name="Rectangle 7"/>
          <p:cNvSpPr>
            <a:spLocks noGrp="1" noChangeArrowheads="1"/>
          </p:cNvSpPr>
          <p:nvPr>
            <p:ph type="sldNum" sz="quarter" idx="5"/>
          </p:nvPr>
        </p:nvSpPr>
        <p:spPr>
          <a:noFill/>
        </p:spPr>
        <p:txBody>
          <a:bodyPr/>
          <a:lstStyle/>
          <a:p>
            <a:fld id="{D850DC2D-D4DA-4811-9712-75D84410951F}" type="slidenum">
              <a:rPr lang="en-US" smtClean="0"/>
              <a:pPr/>
              <a:t>21</a:t>
            </a:fld>
            <a:endParaRPr lang="en-US"/>
          </a:p>
        </p:txBody>
      </p:sp>
      <p:sp>
        <p:nvSpPr>
          <p:cNvPr id="51204" name="Rectangle 2"/>
          <p:cNvSpPr>
            <a:spLocks noGrp="1" noRot="1" noChangeAspect="1" noChangeArrowheads="1" noTextEdit="1"/>
          </p:cNvSpPr>
          <p:nvPr>
            <p:ph type="sldImg"/>
          </p:nvPr>
        </p:nvSpPr>
        <p:spPr>
          <a:ln/>
        </p:spPr>
      </p:sp>
      <p:sp>
        <p:nvSpPr>
          <p:cNvPr id="51205" name="Rectangle 3"/>
          <p:cNvSpPr>
            <a:spLocks noGrp="1" noChangeArrowheads="1"/>
          </p:cNvSpPr>
          <p:nvPr>
            <p:ph type="body" idx="1"/>
          </p:nvPr>
        </p:nvSpPr>
        <p:spPr>
          <a:noFill/>
          <a:ln>
            <a:solidFill>
              <a:schemeClr val="tx1"/>
            </a:solidFill>
          </a:ln>
        </p:spPr>
        <p:txBody>
          <a:bodyPr/>
          <a:lstStyle/>
          <a:p>
            <a:pPr marL="171450" indent="-171450" eaLnBrk="1" hangingPunct="1">
              <a:buFont typeface="Arial" panose="020B0604020202020204" pitchFamily="34" charset="0"/>
              <a:buChar char="•"/>
            </a:pPr>
            <a:r>
              <a:rPr lang="en-US" dirty="0"/>
              <a:t>DoD Components will initiate a lock on DEMIL codes with DEMIL IC of "1", “3”, “6”, or "7" to prevent arbitrary changes.</a:t>
            </a:r>
          </a:p>
          <a:p>
            <a:pPr marL="171450" indent="-171450" eaLnBrk="1" hangingPunct="1">
              <a:buFont typeface="Arial" panose="020B0604020202020204" pitchFamily="34" charset="0"/>
              <a:buChar char="•"/>
            </a:pPr>
            <a:endParaRPr lang="en-US" dirty="0"/>
          </a:p>
          <a:p>
            <a:pPr marL="171450" indent="-171450" eaLnBrk="1" hangingPunct="1">
              <a:buFont typeface="Arial" panose="020B0604020202020204" pitchFamily="34" charset="0"/>
              <a:buChar char="•"/>
            </a:pPr>
            <a:r>
              <a:rPr lang="en-US" dirty="0"/>
              <a:t>The ICP retains absolute authority to request a change provided the change is fully coordinated with the DDCMO for validation and concurrence.</a:t>
            </a:r>
          </a:p>
          <a:p>
            <a:pPr marL="171450" indent="-171450" eaLnBrk="1" hangingPunct="1">
              <a:buFont typeface="Arial" panose="020B0604020202020204" pitchFamily="34" charset="0"/>
              <a:buChar char="•"/>
            </a:pPr>
            <a:endParaRPr lang="en-US" dirty="0"/>
          </a:p>
          <a:p>
            <a:pPr marL="171450" indent="-171450" eaLnBrk="1" hangingPunct="1">
              <a:buFont typeface="Arial" panose="020B0604020202020204" pitchFamily="34" charset="0"/>
              <a:buChar char="•"/>
            </a:pPr>
            <a:r>
              <a:rPr lang="en-US" dirty="0"/>
              <a:t>To initiate a change to a DEMIL code that contains an IC of "1", “3”, “6”,  or "7",  submit an e-mail to the DDCMO through the applicable Military Service DEMIL Program for coordination and resolution. </a:t>
            </a:r>
          </a:p>
          <a:p>
            <a:pPr eaLnBrk="1" hangingPunct="1"/>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6"/>
          <p:cNvSpPr>
            <a:spLocks noGrp="1" noChangeArrowheads="1"/>
          </p:cNvSpPr>
          <p:nvPr>
            <p:ph type="ftr" sz="quarter" idx="4"/>
          </p:nvPr>
        </p:nvSpPr>
        <p:spPr>
          <a:noFill/>
        </p:spPr>
        <p:txBody>
          <a:bodyPr/>
          <a:lstStyle/>
          <a:p>
            <a:r>
              <a:rPr lang="en-US"/>
              <a:t>DEMIL Code Challenge</a:t>
            </a:r>
          </a:p>
        </p:txBody>
      </p:sp>
      <p:sp>
        <p:nvSpPr>
          <p:cNvPr id="49155" name="Rectangle 7"/>
          <p:cNvSpPr>
            <a:spLocks noGrp="1" noChangeArrowheads="1"/>
          </p:cNvSpPr>
          <p:nvPr>
            <p:ph type="sldNum" sz="quarter" idx="5"/>
          </p:nvPr>
        </p:nvSpPr>
        <p:spPr>
          <a:noFill/>
        </p:spPr>
        <p:txBody>
          <a:bodyPr/>
          <a:lstStyle/>
          <a:p>
            <a:fld id="{2506C23D-1871-4816-992C-B90FDDC9FF1B}" type="slidenum">
              <a:rPr lang="en-US" smtClean="0"/>
              <a:pPr/>
              <a:t>22</a:t>
            </a:fld>
            <a:endParaRPr lang="en-US"/>
          </a:p>
        </p:txBody>
      </p:sp>
      <p:sp>
        <p:nvSpPr>
          <p:cNvPr id="49156" name="Rectangle 2"/>
          <p:cNvSpPr>
            <a:spLocks noGrp="1" noRot="1" noChangeAspect="1" noChangeArrowheads="1" noTextEdit="1"/>
          </p:cNvSpPr>
          <p:nvPr>
            <p:ph type="sldImg"/>
          </p:nvPr>
        </p:nvSpPr>
        <p:spPr>
          <a:ln/>
        </p:spPr>
      </p:sp>
      <p:sp>
        <p:nvSpPr>
          <p:cNvPr id="49157" name="Rectangle 3"/>
          <p:cNvSpPr>
            <a:spLocks noGrp="1" noChangeArrowheads="1"/>
          </p:cNvSpPr>
          <p:nvPr>
            <p:ph type="body" idx="1"/>
          </p:nvPr>
        </p:nvSpPr>
        <p:spPr>
          <a:noFill/>
          <a:ln>
            <a:solidFill>
              <a:schemeClr val="tx1"/>
            </a:solidFill>
          </a:ln>
        </p:spPr>
        <p:txBody>
          <a:bodyPr/>
          <a:lstStyle/>
          <a:p>
            <a:pPr eaLnBrk="1" hangingPunct="1"/>
            <a:r>
              <a:rPr lang="en-US"/>
              <a:t>Screenshot of WebFLIS. </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6"/>
          <p:cNvSpPr>
            <a:spLocks noGrp="1" noChangeArrowheads="1"/>
          </p:cNvSpPr>
          <p:nvPr>
            <p:ph type="ftr" sz="quarter" idx="4"/>
          </p:nvPr>
        </p:nvSpPr>
        <p:spPr>
          <a:noFill/>
        </p:spPr>
        <p:txBody>
          <a:bodyPr/>
          <a:lstStyle/>
          <a:p>
            <a:r>
              <a:rPr lang="en-US"/>
              <a:t>DEMIL Code Challenge</a:t>
            </a:r>
          </a:p>
        </p:txBody>
      </p:sp>
      <p:sp>
        <p:nvSpPr>
          <p:cNvPr id="50179" name="Rectangle 7"/>
          <p:cNvSpPr>
            <a:spLocks noGrp="1" noChangeArrowheads="1"/>
          </p:cNvSpPr>
          <p:nvPr>
            <p:ph type="sldNum" sz="quarter" idx="5"/>
          </p:nvPr>
        </p:nvSpPr>
        <p:spPr>
          <a:noFill/>
        </p:spPr>
        <p:txBody>
          <a:bodyPr/>
          <a:lstStyle/>
          <a:p>
            <a:fld id="{46353201-7189-462E-B104-884F587705A5}" type="slidenum">
              <a:rPr lang="en-US" smtClean="0"/>
              <a:pPr/>
              <a:t>23</a:t>
            </a:fld>
            <a:endParaRPr lang="en-US"/>
          </a:p>
        </p:txBody>
      </p:sp>
      <p:sp>
        <p:nvSpPr>
          <p:cNvPr id="50180" name="Rectangle 2"/>
          <p:cNvSpPr>
            <a:spLocks noGrp="1" noRot="1" noChangeAspect="1" noChangeArrowheads="1" noTextEdit="1"/>
          </p:cNvSpPr>
          <p:nvPr>
            <p:ph type="sldImg"/>
          </p:nvPr>
        </p:nvSpPr>
        <p:spPr>
          <a:ln/>
        </p:spPr>
      </p:sp>
      <p:sp>
        <p:nvSpPr>
          <p:cNvPr id="50181" name="Rectangle 3"/>
          <p:cNvSpPr>
            <a:spLocks noGrp="1" noChangeArrowheads="1"/>
          </p:cNvSpPr>
          <p:nvPr>
            <p:ph type="body" idx="1"/>
          </p:nvPr>
        </p:nvSpPr>
        <p:spPr>
          <a:noFill/>
          <a:ln>
            <a:solidFill>
              <a:schemeClr val="tx1"/>
            </a:solidFill>
          </a:ln>
        </p:spPr>
        <p:txBody>
          <a:bodyPr/>
          <a:lstStyle/>
          <a:p>
            <a:pPr eaLnBrk="1" hangingPunct="1"/>
            <a:r>
              <a:rPr lang="en-US"/>
              <a:t>Screenshot of FEDLOG</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pPr>
              <a:defRPr/>
            </a:pPr>
            <a:r>
              <a:rPr lang="en-US"/>
              <a:t>DEMIL Code Challenge</a:t>
            </a:r>
          </a:p>
        </p:txBody>
      </p:sp>
      <p:sp>
        <p:nvSpPr>
          <p:cNvPr id="5" name="Slide Number Placeholder 4"/>
          <p:cNvSpPr>
            <a:spLocks noGrp="1"/>
          </p:cNvSpPr>
          <p:nvPr>
            <p:ph type="sldNum" sz="quarter" idx="5"/>
          </p:nvPr>
        </p:nvSpPr>
        <p:spPr/>
        <p:txBody>
          <a:bodyPr/>
          <a:lstStyle/>
          <a:p>
            <a:pPr>
              <a:defRPr/>
            </a:pPr>
            <a:fld id="{B98CAA25-AAA5-49D4-9492-526732C560B7}" type="slidenum">
              <a:rPr lang="en-US" smtClean="0"/>
              <a:pPr>
                <a:defRPr/>
              </a:pPr>
              <a:t>24</a:t>
            </a:fld>
            <a:endParaRPr lang="en-US"/>
          </a:p>
        </p:txBody>
      </p:sp>
    </p:spTree>
    <p:extLst>
      <p:ext uri="{BB962C8B-B14F-4D97-AF65-F5344CB8AC3E}">
        <p14:creationId xmlns:p14="http://schemas.microsoft.com/office/powerpoint/2010/main" val="317233672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8C92A4-77C6-8454-1550-B9A60A006B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A7FF34-D909-0D37-B2B2-A323EF33DA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7A8D8D-6923-7ED5-5BFB-40C78722EDF9}"/>
              </a:ext>
            </a:extLst>
          </p:cNvPr>
          <p:cNvSpPr>
            <a:spLocks noGrp="1"/>
          </p:cNvSpPr>
          <p:nvPr>
            <p:ph type="body" idx="1"/>
          </p:nvPr>
        </p:nvSpPr>
        <p:spPr/>
        <p:txBody>
          <a:bodyPr/>
          <a:lstStyle/>
          <a:p>
            <a:endParaRPr lang="en-US" dirty="0"/>
          </a:p>
        </p:txBody>
      </p:sp>
      <p:sp>
        <p:nvSpPr>
          <p:cNvPr id="4" name="Footer Placeholder 3">
            <a:extLst>
              <a:ext uri="{FF2B5EF4-FFF2-40B4-BE49-F238E27FC236}">
                <a16:creationId xmlns:a16="http://schemas.microsoft.com/office/drawing/2014/main" id="{03CC2F47-2392-6A44-3F30-9ABA25A09A05}"/>
              </a:ext>
            </a:extLst>
          </p:cNvPr>
          <p:cNvSpPr>
            <a:spLocks noGrp="1"/>
          </p:cNvSpPr>
          <p:nvPr>
            <p:ph type="ftr" sz="quarter" idx="4"/>
          </p:nvPr>
        </p:nvSpPr>
        <p:spPr/>
        <p:txBody>
          <a:bodyPr/>
          <a:lstStyle/>
          <a:p>
            <a:pPr>
              <a:defRPr/>
            </a:pPr>
            <a:r>
              <a:rPr lang="en-US"/>
              <a:t>DEMIL Code Challenge</a:t>
            </a:r>
          </a:p>
        </p:txBody>
      </p:sp>
      <p:sp>
        <p:nvSpPr>
          <p:cNvPr id="5" name="Slide Number Placeholder 4">
            <a:extLst>
              <a:ext uri="{FF2B5EF4-FFF2-40B4-BE49-F238E27FC236}">
                <a16:creationId xmlns:a16="http://schemas.microsoft.com/office/drawing/2014/main" id="{F8911928-618C-2941-317C-3DDEF3F5460D}"/>
              </a:ext>
            </a:extLst>
          </p:cNvPr>
          <p:cNvSpPr>
            <a:spLocks noGrp="1"/>
          </p:cNvSpPr>
          <p:nvPr>
            <p:ph type="sldNum" sz="quarter" idx="5"/>
          </p:nvPr>
        </p:nvSpPr>
        <p:spPr/>
        <p:txBody>
          <a:bodyPr/>
          <a:lstStyle/>
          <a:p>
            <a:pPr>
              <a:defRPr/>
            </a:pPr>
            <a:fld id="{B98CAA25-AAA5-49D4-9492-526732C560B7}" type="slidenum">
              <a:rPr lang="en-US" smtClean="0"/>
              <a:pPr>
                <a:defRPr/>
              </a:pPr>
              <a:t>25</a:t>
            </a:fld>
            <a:endParaRPr lang="en-US"/>
          </a:p>
        </p:txBody>
      </p:sp>
    </p:spTree>
    <p:extLst>
      <p:ext uri="{BB962C8B-B14F-4D97-AF65-F5344CB8AC3E}">
        <p14:creationId xmlns:p14="http://schemas.microsoft.com/office/powerpoint/2010/main" val="347311737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4"/>
          </p:nvPr>
        </p:nvSpPr>
        <p:spPr/>
        <p:txBody>
          <a:bodyPr/>
          <a:lstStyle/>
          <a:p>
            <a:pPr>
              <a:defRPr/>
            </a:pPr>
            <a:r>
              <a:rPr lang="en-US"/>
              <a:t>DEMIL Code Challenge</a:t>
            </a:r>
          </a:p>
        </p:txBody>
      </p:sp>
      <p:sp>
        <p:nvSpPr>
          <p:cNvPr id="5" name="Slide Number Placeholder 4"/>
          <p:cNvSpPr>
            <a:spLocks noGrp="1"/>
          </p:cNvSpPr>
          <p:nvPr>
            <p:ph type="sldNum" sz="quarter" idx="5"/>
          </p:nvPr>
        </p:nvSpPr>
        <p:spPr/>
        <p:txBody>
          <a:bodyPr/>
          <a:lstStyle/>
          <a:p>
            <a:pPr>
              <a:defRPr/>
            </a:pPr>
            <a:fld id="{B98CAA25-AAA5-49D4-9492-526732C560B7}" type="slidenum">
              <a:rPr lang="en-US" smtClean="0"/>
              <a:pPr>
                <a:defRPr/>
              </a:pPr>
              <a:t>26</a:t>
            </a:fld>
            <a:endParaRPr lang="en-US"/>
          </a:p>
        </p:txBody>
      </p:sp>
    </p:spTree>
    <p:extLst>
      <p:ext uri="{BB962C8B-B14F-4D97-AF65-F5344CB8AC3E}">
        <p14:creationId xmlns:p14="http://schemas.microsoft.com/office/powerpoint/2010/main" val="358734585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6"/>
          <p:cNvSpPr>
            <a:spLocks noGrp="1" noChangeArrowheads="1"/>
          </p:cNvSpPr>
          <p:nvPr>
            <p:ph type="ftr" sz="quarter" idx="4"/>
          </p:nvPr>
        </p:nvSpPr>
        <p:spPr>
          <a:noFill/>
        </p:spPr>
        <p:txBody>
          <a:bodyPr/>
          <a:lstStyle/>
          <a:p>
            <a:r>
              <a:rPr lang="en-US"/>
              <a:t>DEMIL Code Challenge</a:t>
            </a:r>
          </a:p>
        </p:txBody>
      </p:sp>
      <p:sp>
        <p:nvSpPr>
          <p:cNvPr id="52227" name="Rectangle 7"/>
          <p:cNvSpPr>
            <a:spLocks noGrp="1" noChangeArrowheads="1"/>
          </p:cNvSpPr>
          <p:nvPr>
            <p:ph type="sldNum" sz="quarter" idx="5"/>
          </p:nvPr>
        </p:nvSpPr>
        <p:spPr>
          <a:noFill/>
        </p:spPr>
        <p:txBody>
          <a:bodyPr/>
          <a:lstStyle/>
          <a:p>
            <a:fld id="{07DB5908-5157-4FE6-B659-163EF4B7A3C3}" type="slidenum">
              <a:rPr lang="en-US" smtClean="0"/>
              <a:pPr/>
              <a:t>27</a:t>
            </a:fld>
            <a:endParaRPr lang="en-US"/>
          </a:p>
        </p:txBody>
      </p:sp>
      <p:sp>
        <p:nvSpPr>
          <p:cNvPr id="52228" name="Rectangle 2"/>
          <p:cNvSpPr>
            <a:spLocks noGrp="1" noRot="1" noChangeAspect="1" noChangeArrowheads="1" noTextEdit="1"/>
          </p:cNvSpPr>
          <p:nvPr>
            <p:ph type="sldImg"/>
          </p:nvPr>
        </p:nvSpPr>
        <p:spPr>
          <a:ln/>
        </p:spPr>
      </p:sp>
      <p:sp>
        <p:nvSpPr>
          <p:cNvPr id="52229" name="Rectangle 3"/>
          <p:cNvSpPr>
            <a:spLocks noGrp="1" noChangeArrowheads="1"/>
          </p:cNvSpPr>
          <p:nvPr>
            <p:ph type="body" idx="1"/>
          </p:nvPr>
        </p:nvSpPr>
        <p:spPr>
          <a:noFill/>
          <a:ln>
            <a:solidFill>
              <a:schemeClr val="tx1"/>
            </a:solidFill>
          </a:ln>
        </p:spPr>
        <p:txBody>
          <a:bodyPr/>
          <a:lstStyle/>
          <a:p>
            <a:pPr marL="228600" indent="-228600" algn="ctr" eaLnBrk="1" hangingPunct="1"/>
            <a:r>
              <a:rPr lang="en-US" b="1" u="sng" dirty="0"/>
              <a:t>Review Questions</a:t>
            </a:r>
          </a:p>
          <a:p>
            <a:pPr marL="228600" indent="-228600" eaLnBrk="1" hangingPunct="1">
              <a:buFontTx/>
              <a:buChar char="•"/>
            </a:pPr>
            <a:r>
              <a:rPr lang="en-US" b="1" dirty="0"/>
              <a:t>Who makes the final determination for unresolved challenges? </a:t>
            </a:r>
          </a:p>
          <a:p>
            <a:pPr marL="685800" lvl="1" indent="-228600" eaLnBrk="1" hangingPunct="1">
              <a:buFontTx/>
              <a:buChar char="•"/>
            </a:pPr>
            <a:r>
              <a:rPr lang="en-US" dirty="0"/>
              <a:t>Answer: DoD DEMIL Program manager and applicable Military Department DEMIL Program Administer.</a:t>
            </a:r>
          </a:p>
          <a:p>
            <a:pPr marL="228600" indent="-228600" eaLnBrk="1" hangingPunct="1">
              <a:buFontTx/>
              <a:buChar char="•"/>
            </a:pPr>
            <a:r>
              <a:rPr lang="en-US" b="1" dirty="0"/>
              <a:t>What must be included to request a change from DEMIL Code “A” to “B”? </a:t>
            </a:r>
          </a:p>
          <a:p>
            <a:pPr marL="685800" lvl="1" indent="-228600" eaLnBrk="1" hangingPunct="1">
              <a:buFontTx/>
              <a:buChar char="•"/>
            </a:pPr>
            <a:r>
              <a:rPr lang="en-US" dirty="0"/>
              <a:t>Answer: Table</a:t>
            </a:r>
            <a:r>
              <a:rPr lang="en-US" baseline="0" dirty="0"/>
              <a:t>, Part 1 from volume 2.</a:t>
            </a:r>
            <a:endParaRPr lang="en-US" dirty="0"/>
          </a:p>
          <a:p>
            <a:pPr marL="228600" indent="-228600" eaLnBrk="1" hangingPunct="1">
              <a:buFontTx/>
              <a:buChar char="•"/>
            </a:pPr>
            <a:r>
              <a:rPr lang="en-US" b="1" dirty="0"/>
              <a:t>What must be included to request a change to DEMIL Code “Q”?</a:t>
            </a:r>
          </a:p>
          <a:p>
            <a:pPr marL="685800" lvl="1" indent="-228600" eaLnBrk="1" hangingPunct="1">
              <a:buFontTx/>
              <a:buChar char="•"/>
            </a:pPr>
            <a:r>
              <a:rPr lang="en-US" dirty="0"/>
              <a:t>Answer: Applicable Export Classification Number (ECCN) </a:t>
            </a:r>
            <a:br>
              <a:rPr lang="en-US" dirty="0"/>
            </a:br>
            <a:endParaRPr lang="en-US" dirty="0"/>
          </a:p>
          <a:p>
            <a:pPr marL="228600" indent="-228600" eaLnBrk="1" hangingPunct="1">
              <a:buFontTx/>
              <a:buChar char="•"/>
            </a:pPr>
            <a:r>
              <a:rPr lang="en-US" b="1" dirty="0"/>
              <a:t>What does DEMIL Code “Q” with a DEMIL IC “6” indicate?</a:t>
            </a:r>
          </a:p>
          <a:p>
            <a:pPr marL="685800" lvl="1" indent="-228600" eaLnBrk="1" hangingPunct="1">
              <a:buFontTx/>
              <a:buChar char="•"/>
            </a:pPr>
            <a:r>
              <a:rPr lang="en-US" dirty="0"/>
              <a:t>Answer: Non-Sensitive CCLI. Requires mutilation overseas.</a:t>
            </a:r>
          </a:p>
          <a:p>
            <a:pPr marL="228600" indent="-228600" eaLnBrk="1" hangingPunct="1">
              <a:buFontTx/>
              <a:buChar char="•"/>
            </a:pPr>
            <a:endParaRPr lang="en-US" dirty="0"/>
          </a:p>
          <a:p>
            <a:pPr marL="228600" indent="-228600" eaLnBrk="1" hangingPunct="1">
              <a:buFontTx/>
              <a:buChar char="•"/>
            </a:pPr>
            <a:endParaRPr 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6"/>
          <p:cNvSpPr>
            <a:spLocks noGrp="1" noChangeArrowheads="1"/>
          </p:cNvSpPr>
          <p:nvPr>
            <p:ph type="ftr" sz="quarter" idx="4"/>
          </p:nvPr>
        </p:nvSpPr>
        <p:spPr>
          <a:noFill/>
        </p:spPr>
        <p:txBody>
          <a:bodyPr/>
          <a:lstStyle/>
          <a:p>
            <a:r>
              <a:rPr lang="en-US"/>
              <a:t>DEMIL Code Challenge</a:t>
            </a:r>
          </a:p>
        </p:txBody>
      </p:sp>
      <p:sp>
        <p:nvSpPr>
          <p:cNvPr id="53251" name="Rectangle 7"/>
          <p:cNvSpPr>
            <a:spLocks noGrp="1" noChangeArrowheads="1"/>
          </p:cNvSpPr>
          <p:nvPr>
            <p:ph type="sldNum" sz="quarter" idx="5"/>
          </p:nvPr>
        </p:nvSpPr>
        <p:spPr>
          <a:noFill/>
        </p:spPr>
        <p:txBody>
          <a:bodyPr/>
          <a:lstStyle/>
          <a:p>
            <a:fld id="{6878DCD1-57E8-4A6E-AB5D-5D4C54841838}" type="slidenum">
              <a:rPr lang="en-US" smtClean="0"/>
              <a:pPr/>
              <a:t>28</a:t>
            </a:fld>
            <a:endParaRPr lang="en-US"/>
          </a:p>
        </p:txBody>
      </p:sp>
      <p:sp>
        <p:nvSpPr>
          <p:cNvPr id="53252" name="Rectangle 3"/>
          <p:cNvSpPr>
            <a:spLocks noGrp="1" noChangeArrowheads="1"/>
          </p:cNvSpPr>
          <p:nvPr>
            <p:ph type="body" idx="1"/>
          </p:nvPr>
        </p:nvSpPr>
        <p:spPr>
          <a:xfrm>
            <a:off x="555625" y="4559300"/>
            <a:ext cx="6186488" cy="4397375"/>
          </a:xfrm>
          <a:solidFill>
            <a:srgbClr val="FFFFFF"/>
          </a:solidFill>
          <a:ln>
            <a:solidFill>
              <a:srgbClr val="000000"/>
            </a:solidFill>
          </a:ln>
        </p:spPr>
        <p:txBody>
          <a:bodyPr/>
          <a:lstStyle/>
          <a:p>
            <a:pPr marL="228600" indent="-228600" eaLnBrk="1" hangingPunct="1">
              <a:spcBef>
                <a:spcPct val="50000"/>
              </a:spcBef>
            </a:pPr>
            <a:r>
              <a:rPr lang="en-US" b="1">
                <a:cs typeface="Times New Roman" pitchFamily="18" charset="0"/>
              </a:rPr>
              <a:t>Remember  until DDCMO discovered the error someone had this Fighting Vehicle DEMIL Code A. This is the “M6 Linebacker” that is a Bradley Fighting Vehicle configured for an Air Defense Role. The operators are able to fire “Stinger” surface to air missiles from inside the vehicle. The code was changed to Code C.</a:t>
            </a:r>
          </a:p>
          <a:p>
            <a:pPr marL="228600" indent="-228600" eaLnBrk="1" hangingPunct="1">
              <a:spcBef>
                <a:spcPct val="50000"/>
              </a:spcBef>
            </a:pPr>
            <a:r>
              <a:rPr lang="en-US"/>
              <a:t>(Personnel Carrier Full Tracked   M2, M2A2, M3) </a:t>
            </a:r>
            <a:r>
              <a:rPr lang="en-US" b="1"/>
              <a:t>NSN 2350-01-448-0368</a:t>
            </a:r>
            <a:endParaRPr lang="en-US" b="1">
              <a:cs typeface="Times New Roman" pitchFamily="18" charset="0"/>
            </a:endParaRPr>
          </a:p>
          <a:p>
            <a:pPr marL="228600" indent="-228600" eaLnBrk="1" hangingPunct="1">
              <a:spcBef>
                <a:spcPct val="50000"/>
              </a:spcBef>
              <a:buFontTx/>
              <a:buChar char="•"/>
            </a:pPr>
            <a:r>
              <a:rPr lang="en-US" b="1">
                <a:cs typeface="Times New Roman" pitchFamily="18" charset="0"/>
              </a:rPr>
              <a:t>This is why the DEMIL Challenge Program is so important. We have a Program and process to identify and correct Miscoded items. </a:t>
            </a:r>
          </a:p>
          <a:p>
            <a:pPr marL="228600" indent="-228600" eaLnBrk="1" hangingPunct="1">
              <a:spcBef>
                <a:spcPct val="50000"/>
              </a:spcBef>
            </a:pPr>
            <a:r>
              <a:rPr lang="en-US" b="1">
                <a:cs typeface="Times New Roman" pitchFamily="18" charset="0"/>
              </a:rPr>
              <a:t>Any Questions?</a:t>
            </a:r>
          </a:p>
        </p:txBody>
      </p:sp>
      <p:pic>
        <p:nvPicPr>
          <p:cNvPr id="53253" name="Picture 7" descr="bradm6"/>
          <p:cNvPicPr>
            <a:picLocks noChangeAspect="1" noChangeArrowheads="1"/>
          </p:cNvPicPr>
          <p:nvPr/>
        </p:nvPicPr>
        <p:blipFill>
          <a:blip r:embed="rId3"/>
          <a:srcRect/>
          <a:stretch>
            <a:fillRect/>
          </a:stretch>
        </p:blipFill>
        <p:spPr bwMode="auto">
          <a:xfrm>
            <a:off x="635000" y="157163"/>
            <a:ext cx="5791200" cy="4281487"/>
          </a:xfrm>
          <a:prstGeom prst="rect">
            <a:avLst/>
          </a:prstGeom>
          <a:noFill/>
          <a:ln w="9525">
            <a:noFill/>
            <a:miter lim="800000"/>
            <a:headEnd/>
            <a:tailEnd/>
          </a:ln>
        </p:spPr>
      </p:pic>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5"/>
          <p:cNvSpPr>
            <a:spLocks noGrp="1" noChangeArrowheads="1"/>
          </p:cNvSpPr>
          <p:nvPr>
            <p:ph type="ftr" sz="quarter" idx="10"/>
          </p:nvPr>
        </p:nvSpPr>
        <p:spPr>
          <a:ln/>
        </p:spPr>
        <p:txBody>
          <a:bodyPr/>
          <a:lstStyle>
            <a:lvl1pPr>
              <a:defRPr/>
            </a:lvl1pPr>
          </a:lstStyle>
          <a:p>
            <a:pPr>
              <a:defRPr/>
            </a:pPr>
            <a:r>
              <a:rPr lang="en-US" dirty="0"/>
              <a:t>DEMIL Code Validation</a:t>
            </a:r>
          </a:p>
        </p:txBody>
      </p:sp>
      <p:sp>
        <p:nvSpPr>
          <p:cNvPr id="5" name="Rectangle 6"/>
          <p:cNvSpPr>
            <a:spLocks noGrp="1" noChangeArrowheads="1"/>
          </p:cNvSpPr>
          <p:nvPr>
            <p:ph type="sldNum" sz="quarter" idx="11"/>
          </p:nvPr>
        </p:nvSpPr>
        <p:spPr>
          <a:ln/>
        </p:spPr>
        <p:txBody>
          <a:bodyPr/>
          <a:lstStyle>
            <a:lvl1pPr>
              <a:defRPr/>
            </a:lvl1pPr>
          </a:lstStyle>
          <a:p>
            <a:pPr>
              <a:defRPr/>
            </a:pPr>
            <a:fld id="{50DCC894-6CE9-42D6-98D4-B75DA2FDA3B3}"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ftr" sz="quarter" idx="10"/>
          </p:nvPr>
        </p:nvSpPr>
        <p:spPr>
          <a:ln/>
        </p:spPr>
        <p:txBody>
          <a:bodyPr/>
          <a:lstStyle>
            <a:lvl1pPr>
              <a:defRPr/>
            </a:lvl1pPr>
          </a:lstStyle>
          <a:p>
            <a:pPr>
              <a:defRPr/>
            </a:pPr>
            <a:r>
              <a:rPr lang="en-US"/>
              <a:t>DEMIL Code Challenge</a:t>
            </a:r>
          </a:p>
        </p:txBody>
      </p:sp>
      <p:sp>
        <p:nvSpPr>
          <p:cNvPr id="5" name="Rectangle 6"/>
          <p:cNvSpPr>
            <a:spLocks noGrp="1" noChangeArrowheads="1"/>
          </p:cNvSpPr>
          <p:nvPr>
            <p:ph type="sldNum" sz="quarter" idx="11"/>
          </p:nvPr>
        </p:nvSpPr>
        <p:spPr>
          <a:ln/>
        </p:spPr>
        <p:txBody>
          <a:bodyPr/>
          <a:lstStyle>
            <a:lvl1pPr>
              <a:defRPr/>
            </a:lvl1pPr>
          </a:lstStyle>
          <a:p>
            <a:pPr>
              <a:defRPr/>
            </a:pPr>
            <a:fld id="{AF4CC8C4-A97B-4CC1-8A93-1F060EB99436}"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p:cNvSpPr>
            <a:spLocks noGrp="1" noChangeArrowheads="1"/>
          </p:cNvSpPr>
          <p:nvPr>
            <p:ph type="ftr" sz="quarter" idx="10"/>
          </p:nvPr>
        </p:nvSpPr>
        <p:spPr>
          <a:ln/>
        </p:spPr>
        <p:txBody>
          <a:bodyPr/>
          <a:lstStyle>
            <a:lvl1pPr>
              <a:defRPr/>
            </a:lvl1pPr>
          </a:lstStyle>
          <a:p>
            <a:pPr>
              <a:defRPr/>
            </a:pPr>
            <a:r>
              <a:rPr lang="en-US"/>
              <a:t>DEMIL Code Challenge</a:t>
            </a:r>
          </a:p>
        </p:txBody>
      </p:sp>
      <p:sp>
        <p:nvSpPr>
          <p:cNvPr id="5" name="Rectangle 6"/>
          <p:cNvSpPr>
            <a:spLocks noGrp="1" noChangeArrowheads="1"/>
          </p:cNvSpPr>
          <p:nvPr>
            <p:ph type="sldNum" sz="quarter" idx="11"/>
          </p:nvPr>
        </p:nvSpPr>
        <p:spPr>
          <a:ln/>
        </p:spPr>
        <p:txBody>
          <a:bodyPr/>
          <a:lstStyle>
            <a:lvl1pPr>
              <a:defRPr/>
            </a:lvl1pPr>
          </a:lstStyle>
          <a:p>
            <a:pPr>
              <a:defRPr/>
            </a:pPr>
            <a:fld id="{016E59E9-45D5-491B-A94D-12674A3C2F92}"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ftr" sz="quarter" idx="10"/>
          </p:nvPr>
        </p:nvSpPr>
        <p:spPr>
          <a:ln/>
        </p:spPr>
        <p:txBody>
          <a:bodyPr/>
          <a:lstStyle>
            <a:lvl1pPr>
              <a:defRPr/>
            </a:lvl1pPr>
          </a:lstStyle>
          <a:p>
            <a:pPr>
              <a:defRPr/>
            </a:pPr>
            <a:r>
              <a:rPr lang="en-US"/>
              <a:t>DEMIL Code Challenge</a:t>
            </a:r>
          </a:p>
        </p:txBody>
      </p:sp>
      <p:sp>
        <p:nvSpPr>
          <p:cNvPr id="6" name="Rectangle 6"/>
          <p:cNvSpPr>
            <a:spLocks noGrp="1" noChangeArrowheads="1"/>
          </p:cNvSpPr>
          <p:nvPr>
            <p:ph type="sldNum" sz="quarter" idx="11"/>
          </p:nvPr>
        </p:nvSpPr>
        <p:spPr>
          <a:ln/>
        </p:spPr>
        <p:txBody>
          <a:bodyPr/>
          <a:lstStyle>
            <a:lvl1pPr>
              <a:defRPr/>
            </a:lvl1pPr>
          </a:lstStyle>
          <a:p>
            <a:pPr>
              <a:defRPr/>
            </a:pPr>
            <a:fld id="{AD0FEAA5-E4C1-4525-BEFC-806AA9A0136A}"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5"/>
          <p:cNvSpPr>
            <a:spLocks noGrp="1" noChangeArrowheads="1"/>
          </p:cNvSpPr>
          <p:nvPr>
            <p:ph type="ftr" sz="quarter" idx="10"/>
          </p:nvPr>
        </p:nvSpPr>
        <p:spPr>
          <a:ln/>
        </p:spPr>
        <p:txBody>
          <a:bodyPr/>
          <a:lstStyle>
            <a:lvl1pPr>
              <a:defRPr/>
            </a:lvl1pPr>
          </a:lstStyle>
          <a:p>
            <a:pPr>
              <a:defRPr/>
            </a:pPr>
            <a:r>
              <a:rPr lang="en-US"/>
              <a:t>DEMIL Code Challenge</a:t>
            </a:r>
          </a:p>
        </p:txBody>
      </p:sp>
      <p:sp>
        <p:nvSpPr>
          <p:cNvPr id="8" name="Rectangle 6"/>
          <p:cNvSpPr>
            <a:spLocks noGrp="1" noChangeArrowheads="1"/>
          </p:cNvSpPr>
          <p:nvPr>
            <p:ph type="sldNum" sz="quarter" idx="11"/>
          </p:nvPr>
        </p:nvSpPr>
        <p:spPr>
          <a:ln/>
        </p:spPr>
        <p:txBody>
          <a:bodyPr/>
          <a:lstStyle>
            <a:lvl1pPr>
              <a:defRPr/>
            </a:lvl1pPr>
          </a:lstStyle>
          <a:p>
            <a:pPr>
              <a:defRPr/>
            </a:pPr>
            <a:fld id="{4A24D742-A5F1-40AA-8420-187B8722425C}"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5"/>
          <p:cNvSpPr>
            <a:spLocks noGrp="1" noChangeArrowheads="1"/>
          </p:cNvSpPr>
          <p:nvPr>
            <p:ph type="ftr" sz="quarter" idx="10"/>
          </p:nvPr>
        </p:nvSpPr>
        <p:spPr>
          <a:ln/>
        </p:spPr>
        <p:txBody>
          <a:bodyPr/>
          <a:lstStyle>
            <a:lvl1pPr>
              <a:defRPr/>
            </a:lvl1pPr>
          </a:lstStyle>
          <a:p>
            <a:pPr>
              <a:defRPr/>
            </a:pPr>
            <a:r>
              <a:rPr lang="en-US"/>
              <a:t>DEMIL Code Challenge</a:t>
            </a:r>
          </a:p>
        </p:txBody>
      </p:sp>
      <p:sp>
        <p:nvSpPr>
          <p:cNvPr id="4" name="Rectangle 6"/>
          <p:cNvSpPr>
            <a:spLocks noGrp="1" noChangeArrowheads="1"/>
          </p:cNvSpPr>
          <p:nvPr>
            <p:ph type="sldNum" sz="quarter" idx="11"/>
          </p:nvPr>
        </p:nvSpPr>
        <p:spPr>
          <a:ln/>
        </p:spPr>
        <p:txBody>
          <a:bodyPr/>
          <a:lstStyle>
            <a:lvl1pPr>
              <a:defRPr/>
            </a:lvl1pPr>
          </a:lstStyle>
          <a:p>
            <a:pPr>
              <a:defRPr/>
            </a:pPr>
            <a:fld id="{8F146479-5310-4AA5-9BAD-2CB80B50EA7B}"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a:ln/>
        </p:spPr>
        <p:txBody>
          <a:bodyPr/>
          <a:lstStyle>
            <a:lvl1pPr>
              <a:defRPr/>
            </a:lvl1pPr>
          </a:lstStyle>
          <a:p>
            <a:pPr>
              <a:defRPr/>
            </a:pPr>
            <a:r>
              <a:rPr lang="en-US"/>
              <a:t>DEMIL Code Challenge</a:t>
            </a:r>
          </a:p>
        </p:txBody>
      </p:sp>
      <p:sp>
        <p:nvSpPr>
          <p:cNvPr id="3" name="Rectangle 6"/>
          <p:cNvSpPr>
            <a:spLocks noGrp="1" noChangeArrowheads="1"/>
          </p:cNvSpPr>
          <p:nvPr>
            <p:ph type="sldNum" sz="quarter" idx="11"/>
          </p:nvPr>
        </p:nvSpPr>
        <p:spPr>
          <a:ln/>
        </p:spPr>
        <p:txBody>
          <a:bodyPr/>
          <a:lstStyle>
            <a:lvl1pPr>
              <a:defRPr/>
            </a:lvl1pPr>
          </a:lstStyle>
          <a:p>
            <a:pPr>
              <a:defRPr/>
            </a:pPr>
            <a:fld id="{5A580ED0-60A8-460D-91BD-C40CA8490F8C}"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ftr" sz="quarter" idx="10"/>
          </p:nvPr>
        </p:nvSpPr>
        <p:spPr>
          <a:ln/>
        </p:spPr>
        <p:txBody>
          <a:bodyPr/>
          <a:lstStyle>
            <a:lvl1pPr>
              <a:defRPr/>
            </a:lvl1pPr>
          </a:lstStyle>
          <a:p>
            <a:pPr>
              <a:defRPr/>
            </a:pPr>
            <a:r>
              <a:rPr lang="en-US"/>
              <a:t>DEMIL Code Challenge</a:t>
            </a:r>
          </a:p>
        </p:txBody>
      </p:sp>
      <p:sp>
        <p:nvSpPr>
          <p:cNvPr id="6" name="Rectangle 6"/>
          <p:cNvSpPr>
            <a:spLocks noGrp="1" noChangeArrowheads="1"/>
          </p:cNvSpPr>
          <p:nvPr>
            <p:ph type="sldNum" sz="quarter" idx="11"/>
          </p:nvPr>
        </p:nvSpPr>
        <p:spPr>
          <a:ln/>
        </p:spPr>
        <p:txBody>
          <a:bodyPr/>
          <a:lstStyle>
            <a:lvl1pPr>
              <a:defRPr/>
            </a:lvl1pPr>
          </a:lstStyle>
          <a:p>
            <a:pPr>
              <a:defRPr/>
            </a:pPr>
            <a:fld id="{37A06541-59A6-4D4C-B10E-314DD95A6EFD}"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ftr" sz="quarter" idx="10"/>
          </p:nvPr>
        </p:nvSpPr>
        <p:spPr>
          <a:ln/>
        </p:spPr>
        <p:txBody>
          <a:bodyPr/>
          <a:lstStyle>
            <a:lvl1pPr>
              <a:defRPr/>
            </a:lvl1pPr>
          </a:lstStyle>
          <a:p>
            <a:pPr>
              <a:defRPr/>
            </a:pPr>
            <a:r>
              <a:rPr lang="en-US"/>
              <a:t>DEMIL Code Challenge</a:t>
            </a:r>
          </a:p>
        </p:txBody>
      </p:sp>
      <p:sp>
        <p:nvSpPr>
          <p:cNvPr id="6" name="Rectangle 6"/>
          <p:cNvSpPr>
            <a:spLocks noGrp="1" noChangeArrowheads="1"/>
          </p:cNvSpPr>
          <p:nvPr>
            <p:ph type="sldNum" sz="quarter" idx="11"/>
          </p:nvPr>
        </p:nvSpPr>
        <p:spPr>
          <a:ln/>
        </p:spPr>
        <p:txBody>
          <a:bodyPr/>
          <a:lstStyle>
            <a:lvl1pPr>
              <a:defRPr/>
            </a:lvl1pPr>
          </a:lstStyle>
          <a:p>
            <a:pPr>
              <a:defRPr/>
            </a:pPr>
            <a:fld id="{8F7CD921-D396-4E78-8F35-F8FE80251450}"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ftr" sz="quarter" idx="10"/>
          </p:nvPr>
        </p:nvSpPr>
        <p:spPr>
          <a:ln/>
        </p:spPr>
        <p:txBody>
          <a:bodyPr/>
          <a:lstStyle>
            <a:lvl1pPr>
              <a:defRPr/>
            </a:lvl1pPr>
          </a:lstStyle>
          <a:p>
            <a:pPr>
              <a:defRPr/>
            </a:pPr>
            <a:r>
              <a:rPr lang="en-US"/>
              <a:t>DEMIL Code Challenge</a:t>
            </a:r>
          </a:p>
        </p:txBody>
      </p:sp>
      <p:sp>
        <p:nvSpPr>
          <p:cNvPr id="5" name="Rectangle 6"/>
          <p:cNvSpPr>
            <a:spLocks noGrp="1" noChangeArrowheads="1"/>
          </p:cNvSpPr>
          <p:nvPr>
            <p:ph type="sldNum" sz="quarter" idx="11"/>
          </p:nvPr>
        </p:nvSpPr>
        <p:spPr>
          <a:ln/>
        </p:spPr>
        <p:txBody>
          <a:bodyPr/>
          <a:lstStyle>
            <a:lvl1pPr>
              <a:defRPr/>
            </a:lvl1pPr>
          </a:lstStyle>
          <a:p>
            <a:pPr>
              <a:defRPr/>
            </a:pPr>
            <a:fld id="{5871F94F-5543-4065-8F3B-16E19BFEDD9E}"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ftr" sz="quarter" idx="10"/>
          </p:nvPr>
        </p:nvSpPr>
        <p:spPr>
          <a:ln/>
        </p:spPr>
        <p:txBody>
          <a:bodyPr/>
          <a:lstStyle>
            <a:lvl1pPr>
              <a:defRPr/>
            </a:lvl1pPr>
          </a:lstStyle>
          <a:p>
            <a:pPr>
              <a:defRPr/>
            </a:pPr>
            <a:r>
              <a:rPr lang="en-US"/>
              <a:t>DEMIL Code Challenge</a:t>
            </a:r>
          </a:p>
        </p:txBody>
      </p:sp>
      <p:sp>
        <p:nvSpPr>
          <p:cNvPr id="5" name="Rectangle 6"/>
          <p:cNvSpPr>
            <a:spLocks noGrp="1" noChangeArrowheads="1"/>
          </p:cNvSpPr>
          <p:nvPr>
            <p:ph type="sldNum" sz="quarter" idx="11"/>
          </p:nvPr>
        </p:nvSpPr>
        <p:spPr>
          <a:ln/>
        </p:spPr>
        <p:txBody>
          <a:bodyPr/>
          <a:lstStyle>
            <a:lvl1pPr>
              <a:defRPr/>
            </a:lvl1pPr>
          </a:lstStyle>
          <a:p>
            <a:pPr>
              <a:defRPr/>
            </a:pPr>
            <a:fld id="{3A8E55EA-BA59-49F6-97B6-530F30BC1500}"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OverObj" preserve="1">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685800" y="1981200"/>
            <a:ext cx="77724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85800" y="4114800"/>
            <a:ext cx="77724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ftr" sz="quarter" idx="10"/>
          </p:nvPr>
        </p:nvSpPr>
        <p:spPr>
          <a:ln/>
        </p:spPr>
        <p:txBody>
          <a:bodyPr/>
          <a:lstStyle>
            <a:lvl1pPr>
              <a:defRPr/>
            </a:lvl1pPr>
          </a:lstStyle>
          <a:p>
            <a:pPr>
              <a:defRPr/>
            </a:pPr>
            <a:r>
              <a:rPr lang="en-US"/>
              <a:t>DEMIL Code Challenge</a:t>
            </a:r>
          </a:p>
        </p:txBody>
      </p:sp>
      <p:sp>
        <p:nvSpPr>
          <p:cNvPr id="6" name="Rectangle 6"/>
          <p:cNvSpPr>
            <a:spLocks noGrp="1" noChangeArrowheads="1"/>
          </p:cNvSpPr>
          <p:nvPr>
            <p:ph type="sldNum" sz="quarter" idx="11"/>
          </p:nvPr>
        </p:nvSpPr>
        <p:spPr>
          <a:ln/>
        </p:spPr>
        <p:txBody>
          <a:bodyPr/>
          <a:lstStyle>
            <a:lvl1pPr>
              <a:defRPr/>
            </a:lvl1pPr>
          </a:lstStyle>
          <a:p>
            <a:pPr>
              <a:defRPr/>
            </a:pPr>
            <a:fld id="{144F8F84-E6E3-47B3-B8FC-2A56CA086885}" type="slidenum">
              <a:rPr lang="en-US"/>
              <a:pPr>
                <a:defRPr/>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a:t>Click to edit Master title style</a:t>
            </a:r>
          </a:p>
        </p:txBody>
      </p:sp>
      <p:sp>
        <p:nvSpPr>
          <p:cNvPr id="3" name="Table Placeholder 2"/>
          <p:cNvSpPr>
            <a:spLocks noGrp="1"/>
          </p:cNvSpPr>
          <p:nvPr>
            <p:ph type="tbl" idx="1"/>
          </p:nvPr>
        </p:nvSpPr>
        <p:spPr>
          <a:xfrm>
            <a:off x="685800" y="1981200"/>
            <a:ext cx="7772400" cy="4114800"/>
          </a:xfrm>
        </p:spPr>
        <p:txBody>
          <a:bodyPr/>
          <a:lstStyle/>
          <a:p>
            <a:pPr lvl="0"/>
            <a:endParaRPr lang="en-US" noProof="0"/>
          </a:p>
        </p:txBody>
      </p:sp>
      <p:sp>
        <p:nvSpPr>
          <p:cNvPr id="4" name="Rectangle 5"/>
          <p:cNvSpPr>
            <a:spLocks noGrp="1" noChangeArrowheads="1"/>
          </p:cNvSpPr>
          <p:nvPr>
            <p:ph type="ftr" sz="quarter" idx="10"/>
          </p:nvPr>
        </p:nvSpPr>
        <p:spPr>
          <a:ln/>
        </p:spPr>
        <p:txBody>
          <a:bodyPr/>
          <a:lstStyle>
            <a:lvl1pPr>
              <a:defRPr/>
            </a:lvl1pPr>
          </a:lstStyle>
          <a:p>
            <a:pPr>
              <a:defRPr/>
            </a:pPr>
            <a:r>
              <a:rPr lang="en-US"/>
              <a:t>DEMIL Code Challenge</a:t>
            </a:r>
          </a:p>
        </p:txBody>
      </p:sp>
      <p:sp>
        <p:nvSpPr>
          <p:cNvPr id="5" name="Rectangle 6"/>
          <p:cNvSpPr>
            <a:spLocks noGrp="1" noChangeArrowheads="1"/>
          </p:cNvSpPr>
          <p:nvPr>
            <p:ph type="sldNum" sz="quarter" idx="11"/>
          </p:nvPr>
        </p:nvSpPr>
        <p:spPr>
          <a:ln/>
        </p:spPr>
        <p:txBody>
          <a:bodyPr/>
          <a:lstStyle>
            <a:lvl1pPr>
              <a:defRPr/>
            </a:lvl1pPr>
          </a:lstStyle>
          <a:p>
            <a:pPr>
              <a:defRPr/>
            </a:pPr>
            <a:fld id="{F6D538DF-D189-4557-B969-B29F3CF9CBF8}"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descr="Template.jpg"/>
          <p:cNvPicPr>
            <a:picLocks noChangeAspect="1"/>
          </p:cNvPicPr>
          <p:nvPr userDrawn="1"/>
        </p:nvPicPr>
        <p:blipFill>
          <a:blip r:embed="rId15" cstate="print"/>
          <a:stretch>
            <a:fillRect/>
          </a:stretch>
        </p:blipFill>
        <p:spPr>
          <a:xfrm>
            <a:off x="0" y="0"/>
            <a:ext cx="9144000" cy="6858000"/>
          </a:xfrm>
          <a:prstGeom prst="rect">
            <a:avLst/>
          </a:prstGeom>
        </p:spPr>
      </p:pic>
      <p:sp>
        <p:nvSpPr>
          <p:cNvPr id="1026" name="Rectangle 2"/>
          <p:cNvSpPr>
            <a:spLocks noGrp="1" noChangeArrowheads="1"/>
          </p:cNvSpPr>
          <p:nvPr>
            <p:ph type="title"/>
          </p:nvPr>
        </p:nvSpPr>
        <p:spPr bwMode="auto">
          <a:xfrm>
            <a:off x="673100" y="292100"/>
            <a:ext cx="7772400" cy="9906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673100" y="1536700"/>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p:cNvSpPr/>
          <p:nvPr userDrawn="1"/>
        </p:nvSpPr>
        <p:spPr bwMode="auto">
          <a:xfrm>
            <a:off x="0" y="6545579"/>
            <a:ext cx="9144000" cy="312421"/>
          </a:xfrm>
          <a:prstGeom prst="rect">
            <a:avLst/>
          </a:prstGeom>
          <a:solidFill>
            <a:srgbClr val="032B6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sp>
        <p:nvSpPr>
          <p:cNvPr id="3077" name="Rectangle 5"/>
          <p:cNvSpPr>
            <a:spLocks noGrp="1" noChangeArrowheads="1"/>
          </p:cNvSpPr>
          <p:nvPr>
            <p:ph type="ftr" sz="quarter" idx="3"/>
          </p:nvPr>
        </p:nvSpPr>
        <p:spPr bwMode="auto">
          <a:xfrm>
            <a:off x="76200" y="6553200"/>
            <a:ext cx="2895600" cy="29028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b="0">
                <a:solidFill>
                  <a:schemeClr val="bg1"/>
                </a:solidFill>
              </a:defRPr>
            </a:lvl1pPr>
          </a:lstStyle>
          <a:p>
            <a:pPr>
              <a:defRPr/>
            </a:pPr>
            <a:r>
              <a:rPr lang="en-US"/>
              <a:t>DEMIL Code Challenge</a:t>
            </a:r>
          </a:p>
        </p:txBody>
      </p:sp>
      <p:sp>
        <p:nvSpPr>
          <p:cNvPr id="3078" name="Rectangle 6"/>
          <p:cNvSpPr>
            <a:spLocks noGrp="1" noChangeArrowheads="1"/>
          </p:cNvSpPr>
          <p:nvPr>
            <p:ph type="sldNum" sz="quarter" idx="4"/>
          </p:nvPr>
        </p:nvSpPr>
        <p:spPr bwMode="auto">
          <a:xfrm>
            <a:off x="7134905" y="6567719"/>
            <a:ext cx="1905000" cy="29028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b="0">
                <a:solidFill>
                  <a:schemeClr val="bg1"/>
                </a:solidFill>
              </a:defRPr>
            </a:lvl1pPr>
          </a:lstStyle>
          <a:p>
            <a:pPr>
              <a:defRPr/>
            </a:pPr>
            <a:fld id="{2D7A1457-5172-42AF-B066-2204CA0E0040}" type="slidenum">
              <a:rPr lang="en-US" smtClean="0"/>
              <a:pPr>
                <a:defRPr/>
              </a:pPr>
              <a:t>‹#›</a:t>
            </a:fld>
            <a:endParaRPr lang="en-US"/>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Lst>
  <p:hf hdr="0" dt="0"/>
  <p:txStyles>
    <p:titleStyle>
      <a:lvl1pPr algn="ctr" rtl="0" eaLnBrk="0" fontAlgn="base" hangingPunct="0">
        <a:spcBef>
          <a:spcPct val="0"/>
        </a:spcBef>
        <a:spcAft>
          <a:spcPct val="0"/>
        </a:spcAft>
        <a:defRPr sz="4000" b="1">
          <a:solidFill>
            <a:schemeClr val="tx2"/>
          </a:solidFill>
          <a:latin typeface="Arial"/>
          <a:ea typeface="+mj-ea"/>
          <a:cs typeface="Arial"/>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fontAlgn="base">
        <a:spcBef>
          <a:spcPct val="0"/>
        </a:spcBef>
        <a:spcAft>
          <a:spcPct val="0"/>
        </a:spcAft>
        <a:defRPr sz="4400">
          <a:solidFill>
            <a:schemeClr val="tx2"/>
          </a:solidFill>
          <a:latin typeface="Times New Roman" pitchFamily="18" charset="0"/>
        </a:defRPr>
      </a:lvl6pPr>
      <a:lvl7pPr marL="914400" algn="ctr" rtl="0" fontAlgn="base">
        <a:spcBef>
          <a:spcPct val="0"/>
        </a:spcBef>
        <a:spcAft>
          <a:spcPct val="0"/>
        </a:spcAft>
        <a:defRPr sz="4400">
          <a:solidFill>
            <a:schemeClr val="tx2"/>
          </a:solidFill>
          <a:latin typeface="Times New Roman" pitchFamily="18" charset="0"/>
        </a:defRPr>
      </a:lvl7pPr>
      <a:lvl8pPr marL="1371600" algn="ctr" rtl="0" fontAlgn="base">
        <a:spcBef>
          <a:spcPct val="0"/>
        </a:spcBef>
        <a:spcAft>
          <a:spcPct val="0"/>
        </a:spcAft>
        <a:defRPr sz="4400">
          <a:solidFill>
            <a:schemeClr val="tx2"/>
          </a:solidFill>
          <a:latin typeface="Times New Roman" pitchFamily="18" charset="0"/>
        </a:defRPr>
      </a:lvl8pPr>
      <a:lvl9pPr marL="1828800" algn="ctr" rtl="0" fontAlgn="base">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Arial"/>
          <a:ea typeface="+mn-ea"/>
          <a:cs typeface="Arial"/>
        </a:defRPr>
      </a:lvl1pPr>
      <a:lvl2pPr marL="742950" indent="-285750" algn="l" rtl="0" eaLnBrk="0" fontAlgn="base" hangingPunct="0">
        <a:spcBef>
          <a:spcPct val="20000"/>
        </a:spcBef>
        <a:spcAft>
          <a:spcPct val="0"/>
        </a:spcAft>
        <a:buChar char="–"/>
        <a:defRPr sz="2800">
          <a:solidFill>
            <a:schemeClr val="tx1"/>
          </a:solidFill>
          <a:latin typeface="Arial"/>
          <a:cs typeface="Arial"/>
        </a:defRPr>
      </a:lvl2pPr>
      <a:lvl3pPr marL="1143000" indent="-228600" algn="l" rtl="0" eaLnBrk="0" fontAlgn="base" hangingPunct="0">
        <a:spcBef>
          <a:spcPct val="20000"/>
        </a:spcBef>
        <a:spcAft>
          <a:spcPct val="0"/>
        </a:spcAft>
        <a:buChar char="•"/>
        <a:defRPr sz="2400">
          <a:solidFill>
            <a:schemeClr val="tx1"/>
          </a:solidFill>
          <a:latin typeface="Arial"/>
          <a:cs typeface="Arial"/>
        </a:defRPr>
      </a:lvl3pPr>
      <a:lvl4pPr marL="1600200" indent="-228600" algn="l" rtl="0" eaLnBrk="0" fontAlgn="base" hangingPunct="0">
        <a:spcBef>
          <a:spcPct val="20000"/>
        </a:spcBef>
        <a:spcAft>
          <a:spcPct val="0"/>
        </a:spcAft>
        <a:buChar char="–"/>
        <a:defRPr sz="2000">
          <a:solidFill>
            <a:schemeClr val="tx1"/>
          </a:solidFill>
          <a:latin typeface="Arial"/>
          <a:cs typeface="Arial"/>
        </a:defRPr>
      </a:lvl4pPr>
      <a:lvl5pPr marL="2057400" indent="-228600" algn="l" rtl="0" eaLnBrk="0" fontAlgn="base" hangingPunct="0">
        <a:spcBef>
          <a:spcPct val="20000"/>
        </a:spcBef>
        <a:spcAft>
          <a:spcPct val="0"/>
        </a:spcAft>
        <a:buChar char="»"/>
        <a:defRPr sz="2000">
          <a:solidFill>
            <a:schemeClr val="tx1"/>
          </a:solidFill>
          <a:latin typeface="Arial"/>
          <a:cs typeface="Arial"/>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www.dla.mil/Working-With-DLA/Federal-and-International-Cataloging/DEMIL-Trade-Security/DEMIL-Instructions/#form"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hyperlink" Target="https://www.dla.mil/Working-With-DLA/Federal-and-International-Cataloging/DEMIL-Trade-Security/DEMIL-Codes/" TargetMode="External"/><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14514" y="1537762"/>
            <a:ext cx="5514542" cy="499985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050" name="Rectangle 5"/>
          <p:cNvSpPr>
            <a:spLocks noGrp="1" noChangeArrowheads="1"/>
          </p:cNvSpPr>
          <p:nvPr>
            <p:ph type="ftr" sz="quarter" idx="10"/>
          </p:nvPr>
        </p:nvSpPr>
        <p:spPr>
          <a:noFill/>
        </p:spPr>
        <p:txBody>
          <a:bodyPr/>
          <a:lstStyle/>
          <a:p>
            <a:r>
              <a:rPr lang="en-US" dirty="0"/>
              <a:t>DEMIL Code Validation</a:t>
            </a:r>
          </a:p>
        </p:txBody>
      </p:sp>
      <p:sp>
        <p:nvSpPr>
          <p:cNvPr id="2051" name="Slide Number Placeholder 4"/>
          <p:cNvSpPr>
            <a:spLocks noGrp="1"/>
          </p:cNvSpPr>
          <p:nvPr>
            <p:ph type="sldNum" sz="quarter" idx="11"/>
          </p:nvPr>
        </p:nvSpPr>
        <p:spPr>
          <a:noFill/>
        </p:spPr>
        <p:txBody>
          <a:bodyPr/>
          <a:lstStyle/>
          <a:p>
            <a:fld id="{AEAE95B5-8DD1-4CC6-BF3C-54ACC8321B86}" type="slidenum">
              <a:rPr lang="en-US" smtClean="0"/>
              <a:pPr/>
              <a:t>1</a:t>
            </a:fld>
            <a:endParaRPr lang="en-US" dirty="0"/>
          </a:p>
        </p:txBody>
      </p:sp>
      <p:sp>
        <p:nvSpPr>
          <p:cNvPr id="4098" name="Rectangle 2"/>
          <p:cNvSpPr>
            <a:spLocks noGrp="1" noChangeArrowheads="1"/>
          </p:cNvSpPr>
          <p:nvPr>
            <p:ph type="ctrTitle"/>
          </p:nvPr>
        </p:nvSpPr>
        <p:spPr>
          <a:xfrm>
            <a:off x="496888" y="3121742"/>
            <a:ext cx="8150225" cy="1143000"/>
          </a:xfrm>
        </p:spPr>
        <p:txBody>
          <a:bodyPr/>
          <a:lstStyle/>
          <a:p>
            <a:pPr eaLnBrk="1" hangingPunct="1">
              <a:defRPr/>
            </a:pPr>
            <a:r>
              <a:rPr lang="en-US" sz="4800"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Demilitarization Code Validation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4" name="Rectangle 5"/>
          <p:cNvSpPr>
            <a:spLocks noGrp="1" noChangeArrowheads="1"/>
          </p:cNvSpPr>
          <p:nvPr>
            <p:ph type="ftr" sz="quarter" idx="10"/>
          </p:nvPr>
        </p:nvSpPr>
        <p:spPr>
          <a:noFill/>
        </p:spPr>
        <p:txBody>
          <a:bodyPr/>
          <a:lstStyle/>
          <a:p>
            <a:r>
              <a:rPr lang="en-US" dirty="0"/>
              <a:t>DEMIL Code Validation</a:t>
            </a:r>
          </a:p>
        </p:txBody>
      </p:sp>
      <p:sp>
        <p:nvSpPr>
          <p:cNvPr id="3075" name="Slide Number Placeholder 4"/>
          <p:cNvSpPr>
            <a:spLocks noGrp="1"/>
          </p:cNvSpPr>
          <p:nvPr>
            <p:ph type="sldNum" sz="quarter" idx="11"/>
          </p:nvPr>
        </p:nvSpPr>
        <p:spPr>
          <a:noFill/>
        </p:spPr>
        <p:txBody>
          <a:bodyPr/>
          <a:lstStyle/>
          <a:p>
            <a:fld id="{9F36336C-F1D8-4E5D-8C65-52E8853DF3C1}" type="slidenum">
              <a:rPr lang="en-US" smtClean="0"/>
              <a:pPr/>
              <a:t>2</a:t>
            </a:fld>
            <a:endParaRPr lang="en-US"/>
          </a:p>
        </p:txBody>
      </p:sp>
      <p:sp>
        <p:nvSpPr>
          <p:cNvPr id="3076" name="Rectangle 2"/>
          <p:cNvSpPr>
            <a:spLocks noGrp="1" noChangeArrowheads="1"/>
          </p:cNvSpPr>
          <p:nvPr>
            <p:ph type="title"/>
          </p:nvPr>
        </p:nvSpPr>
        <p:spPr>
          <a:xfrm>
            <a:off x="685800" y="274320"/>
            <a:ext cx="7772400" cy="1005840"/>
          </a:xfrm>
        </p:spPr>
        <p:txBody>
          <a:bodyPr/>
          <a:lstStyle/>
          <a:p>
            <a:pPr eaLnBrk="1" hangingPunct="1"/>
            <a:r>
              <a:rPr lang="en-US" dirty="0"/>
              <a:t>INTRODUCTION</a:t>
            </a:r>
          </a:p>
        </p:txBody>
      </p:sp>
      <p:sp>
        <p:nvSpPr>
          <p:cNvPr id="3077" name="Rectangle 3"/>
          <p:cNvSpPr>
            <a:spLocks noGrp="1" noChangeArrowheads="1"/>
          </p:cNvSpPr>
          <p:nvPr>
            <p:ph type="body" idx="1"/>
          </p:nvPr>
        </p:nvSpPr>
        <p:spPr>
          <a:xfrm>
            <a:off x="263236" y="1371599"/>
            <a:ext cx="8672946" cy="5084619"/>
          </a:xfrm>
          <a:noFill/>
          <a:ln>
            <a:noFill/>
          </a:ln>
        </p:spPr>
        <p:txBody>
          <a:bodyPr/>
          <a:lstStyle/>
          <a:p>
            <a:pPr eaLnBrk="1" hangingPunct="1"/>
            <a:r>
              <a:rPr lang="en-US" sz="2800" dirty="0">
                <a:solidFill>
                  <a:srgbClr val="000000"/>
                </a:solidFill>
                <a:cs typeface="Arial" charset="0"/>
              </a:rPr>
              <a:t>DEMIL code validation is a quality control measure to verify the accuracy of DEMIL codes.</a:t>
            </a:r>
          </a:p>
          <a:p>
            <a:pPr eaLnBrk="1" hangingPunct="1"/>
            <a:r>
              <a:rPr lang="en-US" sz="2800" dirty="0">
                <a:solidFill>
                  <a:srgbClr val="000000"/>
                </a:solidFill>
                <a:cs typeface="Arial" charset="0"/>
              </a:rPr>
              <a:t>The DDCMO administers the validation:</a:t>
            </a:r>
          </a:p>
          <a:p>
            <a:pPr lvl="1" eaLnBrk="1" hangingPunct="1"/>
            <a:r>
              <a:rPr lang="en-US" sz="2400" dirty="0">
                <a:solidFill>
                  <a:srgbClr val="000000"/>
                </a:solidFill>
                <a:cs typeface="Arial" charset="0"/>
              </a:rPr>
              <a:t>during the provisioning process, </a:t>
            </a:r>
          </a:p>
          <a:p>
            <a:pPr lvl="1" eaLnBrk="1" hangingPunct="1"/>
            <a:r>
              <a:rPr lang="en-US" sz="2400" dirty="0">
                <a:solidFill>
                  <a:srgbClr val="000000"/>
                </a:solidFill>
                <a:cs typeface="Arial" charset="0"/>
              </a:rPr>
              <a:t>during the materiel disposition process, or </a:t>
            </a:r>
          </a:p>
          <a:p>
            <a:pPr lvl="1" eaLnBrk="1" hangingPunct="1"/>
            <a:r>
              <a:rPr lang="en-US" sz="2400" dirty="0">
                <a:solidFill>
                  <a:srgbClr val="000000"/>
                </a:solidFill>
                <a:cs typeface="Arial" charset="0"/>
              </a:rPr>
              <a:t>at any time during the life-cycle of the item.</a:t>
            </a:r>
          </a:p>
          <a:p>
            <a:pPr lvl="1" eaLnBrk="1" hangingPunct="1">
              <a:buFontTx/>
              <a:buNone/>
            </a:pPr>
            <a:endParaRPr lang="en-US" sz="2400" dirty="0">
              <a:solidFill>
                <a:srgbClr val="000000"/>
              </a:solidFill>
              <a:cs typeface="Arial" charset="0"/>
            </a:endParaRPr>
          </a:p>
          <a:p>
            <a:pPr eaLnBrk="1" hangingPunct="1">
              <a:buFontTx/>
              <a:buNone/>
            </a:pPr>
            <a:endParaRPr lang="en-US" sz="2800" dirty="0"/>
          </a:p>
        </p:txBody>
      </p:sp>
      <p:sp>
        <p:nvSpPr>
          <p:cNvPr id="3078" name="Text Box 5"/>
          <p:cNvSpPr txBox="1">
            <a:spLocks noChangeArrowheads="1"/>
          </p:cNvSpPr>
          <p:nvPr/>
        </p:nvSpPr>
        <p:spPr bwMode="auto">
          <a:xfrm>
            <a:off x="3309938" y="2670175"/>
            <a:ext cx="2828925" cy="457200"/>
          </a:xfrm>
          <a:prstGeom prst="rect">
            <a:avLst/>
          </a:prstGeom>
          <a:noFill/>
          <a:ln w="9525">
            <a:noFill/>
            <a:miter lim="800000"/>
            <a:headEnd/>
            <a:tailEnd/>
          </a:ln>
        </p:spPr>
        <p:txBody>
          <a:bodyPr>
            <a:spAutoFit/>
          </a:bodyPr>
          <a:lstStyle/>
          <a:p>
            <a:pPr>
              <a:spcBef>
                <a:spcPct val="50000"/>
              </a:spcBef>
            </a:pPr>
            <a:r>
              <a:rPr lang="en-US" sz="2400" b="0"/>
              <a:t>    </a:t>
            </a:r>
            <a:endParaRPr lang="en-US" sz="2400" b="0" u="sng"/>
          </a:p>
        </p:txBody>
      </p:sp>
      <p:pic>
        <p:nvPicPr>
          <p:cNvPr id="102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57055" y="4084988"/>
            <a:ext cx="3602182" cy="22118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077">
                                            <p:txEl>
                                              <p:pRg st="0" end="0"/>
                                            </p:txEl>
                                          </p:spTgt>
                                        </p:tgtEl>
                                        <p:attrNameLst>
                                          <p:attrName>style.visibility</p:attrName>
                                        </p:attrNameLst>
                                      </p:cBhvr>
                                      <p:to>
                                        <p:strVal val="visible"/>
                                      </p:to>
                                    </p:set>
                                    <p:anim calcmode="lin" valueType="num">
                                      <p:cBhvr additive="base">
                                        <p:cTn id="7" dur="500" fill="hold"/>
                                        <p:tgtEl>
                                          <p:spTgt spid="307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07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077">
                                            <p:txEl>
                                              <p:pRg st="1" end="1"/>
                                            </p:txEl>
                                          </p:spTgt>
                                        </p:tgtEl>
                                        <p:attrNameLst>
                                          <p:attrName>style.visibility</p:attrName>
                                        </p:attrNameLst>
                                      </p:cBhvr>
                                      <p:to>
                                        <p:strVal val="visible"/>
                                      </p:to>
                                    </p:set>
                                    <p:anim calcmode="lin" valueType="num">
                                      <p:cBhvr additive="base">
                                        <p:cTn id="13" dur="500" fill="hold"/>
                                        <p:tgtEl>
                                          <p:spTgt spid="307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07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077">
                                            <p:txEl>
                                              <p:pRg st="2" end="2"/>
                                            </p:txEl>
                                          </p:spTgt>
                                        </p:tgtEl>
                                        <p:attrNameLst>
                                          <p:attrName>style.visibility</p:attrName>
                                        </p:attrNameLst>
                                      </p:cBhvr>
                                      <p:to>
                                        <p:strVal val="visible"/>
                                      </p:to>
                                    </p:set>
                                    <p:anim calcmode="lin" valueType="num">
                                      <p:cBhvr additive="base">
                                        <p:cTn id="19" dur="500" fill="hold"/>
                                        <p:tgtEl>
                                          <p:spTgt spid="307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07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077">
                                            <p:txEl>
                                              <p:pRg st="3" end="3"/>
                                            </p:txEl>
                                          </p:spTgt>
                                        </p:tgtEl>
                                        <p:attrNameLst>
                                          <p:attrName>style.visibility</p:attrName>
                                        </p:attrNameLst>
                                      </p:cBhvr>
                                      <p:to>
                                        <p:strVal val="visible"/>
                                      </p:to>
                                    </p:set>
                                    <p:anim calcmode="lin" valueType="num">
                                      <p:cBhvr additive="base">
                                        <p:cTn id="25" dur="500" fill="hold"/>
                                        <p:tgtEl>
                                          <p:spTgt spid="307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07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077">
                                            <p:txEl>
                                              <p:pRg st="4" end="4"/>
                                            </p:txEl>
                                          </p:spTgt>
                                        </p:tgtEl>
                                        <p:attrNameLst>
                                          <p:attrName>style.visibility</p:attrName>
                                        </p:attrNameLst>
                                      </p:cBhvr>
                                      <p:to>
                                        <p:strVal val="visible"/>
                                      </p:to>
                                    </p:set>
                                    <p:anim calcmode="lin" valueType="num">
                                      <p:cBhvr additive="base">
                                        <p:cTn id="31" dur="500" fill="hold"/>
                                        <p:tgtEl>
                                          <p:spTgt spid="3077">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07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026"/>
                                        </p:tgtEl>
                                        <p:attrNameLst>
                                          <p:attrName>style.visibility</p:attrName>
                                        </p:attrNameLst>
                                      </p:cBhvr>
                                      <p:to>
                                        <p:strVal val="visible"/>
                                      </p:to>
                                    </p:set>
                                    <p:anim calcmode="lin" valueType="num">
                                      <p:cBhvr additive="base">
                                        <p:cTn id="37" dur="500" fill="hold"/>
                                        <p:tgtEl>
                                          <p:spTgt spid="1026"/>
                                        </p:tgtEl>
                                        <p:attrNameLst>
                                          <p:attrName>ppt_x</p:attrName>
                                        </p:attrNameLst>
                                      </p:cBhvr>
                                      <p:tavLst>
                                        <p:tav tm="0">
                                          <p:val>
                                            <p:strVal val="#ppt_x"/>
                                          </p:val>
                                        </p:tav>
                                        <p:tav tm="100000">
                                          <p:val>
                                            <p:strVal val="#ppt_x"/>
                                          </p:val>
                                        </p:tav>
                                      </p:tavLst>
                                    </p:anim>
                                    <p:anim calcmode="lin" valueType="num">
                                      <p:cBhvr additive="base">
                                        <p:cTn id="38" dur="500" fill="hold"/>
                                        <p:tgtEl>
                                          <p:spTgt spid="10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7"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5"/>
          <p:cNvSpPr>
            <a:spLocks noGrp="1" noChangeArrowheads="1"/>
          </p:cNvSpPr>
          <p:nvPr>
            <p:ph type="ftr" sz="quarter" idx="10"/>
          </p:nvPr>
        </p:nvSpPr>
        <p:spPr>
          <a:noFill/>
        </p:spPr>
        <p:txBody>
          <a:bodyPr/>
          <a:lstStyle/>
          <a:p>
            <a:r>
              <a:rPr lang="en-US" dirty="0"/>
              <a:t>DEMIL Code Validation</a:t>
            </a:r>
          </a:p>
        </p:txBody>
      </p:sp>
      <p:sp>
        <p:nvSpPr>
          <p:cNvPr id="4099" name="Slide Number Placeholder 5"/>
          <p:cNvSpPr>
            <a:spLocks noGrp="1"/>
          </p:cNvSpPr>
          <p:nvPr>
            <p:ph type="sldNum" sz="quarter" idx="11"/>
          </p:nvPr>
        </p:nvSpPr>
        <p:spPr>
          <a:noFill/>
        </p:spPr>
        <p:txBody>
          <a:bodyPr/>
          <a:lstStyle/>
          <a:p>
            <a:fld id="{229A9AAA-209B-4162-8F6F-42735F7A1A5E}" type="slidenum">
              <a:rPr lang="en-US" smtClean="0"/>
              <a:pPr/>
              <a:t>3</a:t>
            </a:fld>
            <a:endParaRPr lang="en-US"/>
          </a:p>
        </p:txBody>
      </p:sp>
      <p:sp>
        <p:nvSpPr>
          <p:cNvPr id="4100" name="Rectangle 2"/>
          <p:cNvSpPr>
            <a:spLocks noGrp="1" noChangeArrowheads="1"/>
          </p:cNvSpPr>
          <p:nvPr>
            <p:ph type="title"/>
          </p:nvPr>
        </p:nvSpPr>
        <p:spPr>
          <a:xfrm>
            <a:off x="685800" y="274320"/>
            <a:ext cx="7772400" cy="1005840"/>
          </a:xfrm>
        </p:spPr>
        <p:txBody>
          <a:bodyPr/>
          <a:lstStyle/>
          <a:p>
            <a:pPr eaLnBrk="1" hangingPunct="1"/>
            <a:r>
              <a:rPr lang="en-US" sz="4000" dirty="0"/>
              <a:t>Eye Openers</a:t>
            </a:r>
          </a:p>
        </p:txBody>
      </p:sp>
      <p:sp>
        <p:nvSpPr>
          <p:cNvPr id="4101" name="Rectangle 3"/>
          <p:cNvSpPr>
            <a:spLocks noGrp="1" noChangeArrowheads="1"/>
          </p:cNvSpPr>
          <p:nvPr>
            <p:ph type="body" sz="half" idx="1"/>
          </p:nvPr>
        </p:nvSpPr>
        <p:spPr>
          <a:xfrm>
            <a:off x="457200" y="1371600"/>
            <a:ext cx="7772400" cy="2273300"/>
          </a:xfrm>
          <a:noFill/>
        </p:spPr>
        <p:txBody>
          <a:bodyPr/>
          <a:lstStyle/>
          <a:p>
            <a:pPr marL="0" indent="0" eaLnBrk="1" hangingPunct="1">
              <a:spcBef>
                <a:spcPts val="0"/>
              </a:spcBef>
              <a:buNone/>
            </a:pPr>
            <a:r>
              <a:rPr lang="en-US" sz="2800" dirty="0"/>
              <a:t>Items coded as </a:t>
            </a:r>
            <a:r>
              <a:rPr lang="en-US" sz="2800" b="1" dirty="0"/>
              <a:t>“No </a:t>
            </a:r>
            <a:r>
              <a:rPr lang="en-US" sz="2800" b="1" dirty="0" err="1"/>
              <a:t>DEMIL</a:t>
            </a:r>
            <a:r>
              <a:rPr lang="en-US" sz="2800" b="1" dirty="0"/>
              <a:t> required”</a:t>
            </a:r>
          </a:p>
          <a:p>
            <a:pPr eaLnBrk="1" hangingPunct="1">
              <a:lnSpc>
                <a:spcPct val="80000"/>
              </a:lnSpc>
            </a:pPr>
            <a:endParaRPr lang="en-US" sz="2800" b="1" dirty="0"/>
          </a:p>
          <a:p>
            <a:pPr lvl="1" eaLnBrk="1" hangingPunct="1">
              <a:lnSpc>
                <a:spcPct val="80000"/>
              </a:lnSpc>
              <a:buFont typeface="Arial" panose="020B0604020202020204" pitchFamily="34" charset="0"/>
              <a:buChar char="•"/>
            </a:pPr>
            <a:r>
              <a:rPr lang="en-US" dirty="0"/>
              <a:t>Airborne Warning and Control System (AWACS) </a:t>
            </a:r>
            <a:r>
              <a:rPr lang="en-US" dirty="0" err="1"/>
              <a:t>Radome</a:t>
            </a:r>
            <a:endParaRPr lang="en-US" dirty="0"/>
          </a:p>
          <a:p>
            <a:pPr lvl="1" eaLnBrk="1" hangingPunct="1">
              <a:lnSpc>
                <a:spcPct val="80000"/>
              </a:lnSpc>
              <a:buFont typeface="Arial" panose="020B0604020202020204" pitchFamily="34" charset="0"/>
              <a:buChar char="•"/>
            </a:pPr>
            <a:r>
              <a:rPr lang="en-US" dirty="0"/>
              <a:t>High explosive artillery shell</a:t>
            </a:r>
          </a:p>
          <a:p>
            <a:pPr lvl="1" eaLnBrk="1" hangingPunct="1">
              <a:lnSpc>
                <a:spcPct val="80000"/>
              </a:lnSpc>
              <a:buFont typeface="Arial" panose="020B0604020202020204" pitchFamily="34" charset="0"/>
              <a:buChar char="•"/>
            </a:pPr>
            <a:r>
              <a:rPr lang="en-US" dirty="0"/>
              <a:t>Periscope</a:t>
            </a:r>
          </a:p>
          <a:p>
            <a:pPr lvl="1" eaLnBrk="1" hangingPunct="1">
              <a:lnSpc>
                <a:spcPct val="80000"/>
              </a:lnSpc>
            </a:pPr>
            <a:endParaRPr lang="en-US" dirty="0"/>
          </a:p>
        </p:txBody>
      </p:sp>
      <p:pic>
        <p:nvPicPr>
          <p:cNvPr id="4102" name="Picture 4"/>
          <p:cNvPicPr>
            <a:picLocks noChangeAspect="1" noChangeArrowheads="1"/>
          </p:cNvPicPr>
          <p:nvPr/>
        </p:nvPicPr>
        <p:blipFill>
          <a:blip r:embed="rId3" cstate="print"/>
          <a:srcRect t="71083"/>
          <a:stretch>
            <a:fillRect/>
          </a:stretch>
        </p:blipFill>
        <p:spPr bwMode="auto">
          <a:xfrm>
            <a:off x="510232" y="4178946"/>
            <a:ext cx="8162925" cy="1766888"/>
          </a:xfrm>
          <a:prstGeom prst="rect">
            <a:avLst/>
          </a:prstGeom>
          <a:noFill/>
          <a:ln w="9525">
            <a:noFill/>
            <a:miter lim="800000"/>
            <a:headEnd/>
            <a:tailEnd/>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5"/>
          <p:cNvSpPr>
            <a:spLocks noGrp="1" noChangeArrowheads="1"/>
          </p:cNvSpPr>
          <p:nvPr>
            <p:ph type="ftr" sz="quarter" idx="10"/>
          </p:nvPr>
        </p:nvSpPr>
        <p:spPr>
          <a:noFill/>
        </p:spPr>
        <p:txBody>
          <a:bodyPr/>
          <a:lstStyle/>
          <a:p>
            <a:r>
              <a:rPr lang="en-US" dirty="0"/>
              <a:t>DEMIL Code Validation</a:t>
            </a:r>
          </a:p>
        </p:txBody>
      </p:sp>
      <p:sp>
        <p:nvSpPr>
          <p:cNvPr id="5123" name="Slide Number Placeholder 5"/>
          <p:cNvSpPr>
            <a:spLocks noGrp="1"/>
          </p:cNvSpPr>
          <p:nvPr>
            <p:ph type="sldNum" sz="quarter" idx="11"/>
          </p:nvPr>
        </p:nvSpPr>
        <p:spPr>
          <a:noFill/>
        </p:spPr>
        <p:txBody>
          <a:bodyPr/>
          <a:lstStyle/>
          <a:p>
            <a:fld id="{CEBA1A94-5CDB-4327-880B-42437E33AA7C}" type="slidenum">
              <a:rPr lang="en-US" smtClean="0"/>
              <a:pPr/>
              <a:t>4</a:t>
            </a:fld>
            <a:endParaRPr lang="en-US"/>
          </a:p>
        </p:txBody>
      </p:sp>
      <p:sp>
        <p:nvSpPr>
          <p:cNvPr id="5124" name="Rectangle 3"/>
          <p:cNvSpPr>
            <a:spLocks noGrp="1" noChangeArrowheads="1"/>
          </p:cNvSpPr>
          <p:nvPr>
            <p:ph type="body" sz="half" idx="1"/>
          </p:nvPr>
        </p:nvSpPr>
        <p:spPr>
          <a:xfrm>
            <a:off x="457200" y="1371600"/>
            <a:ext cx="6119758" cy="2768600"/>
          </a:xfrm>
          <a:noFill/>
        </p:spPr>
        <p:txBody>
          <a:bodyPr/>
          <a:lstStyle/>
          <a:p>
            <a:pPr marL="0" indent="0" eaLnBrk="1" hangingPunct="1">
              <a:buNone/>
            </a:pPr>
            <a:r>
              <a:rPr lang="en-US" sz="2800" dirty="0"/>
              <a:t>Items coded as </a:t>
            </a:r>
            <a:r>
              <a:rPr lang="en-US" sz="2800" b="1" dirty="0"/>
              <a:t>“DEMIL required”</a:t>
            </a:r>
          </a:p>
          <a:p>
            <a:pPr lvl="1" eaLnBrk="1" hangingPunct="1">
              <a:buFont typeface="Arial" panose="020B0604020202020204" pitchFamily="34" charset="0"/>
              <a:buChar char="•"/>
            </a:pPr>
            <a:r>
              <a:rPr lang="en-US" dirty="0"/>
              <a:t>Cotton swabs</a:t>
            </a:r>
          </a:p>
          <a:p>
            <a:pPr lvl="1" eaLnBrk="1" hangingPunct="1">
              <a:buFont typeface="Arial" panose="020B0604020202020204" pitchFamily="34" charset="0"/>
              <a:buChar char="•"/>
            </a:pPr>
            <a:r>
              <a:rPr lang="en-US" dirty="0"/>
              <a:t>Cotter pins</a:t>
            </a:r>
          </a:p>
          <a:p>
            <a:pPr lvl="1" eaLnBrk="1" hangingPunct="1">
              <a:buFont typeface="Arial" panose="020B0604020202020204" pitchFamily="34" charset="0"/>
              <a:buChar char="•"/>
            </a:pPr>
            <a:r>
              <a:rPr lang="en-US" dirty="0"/>
              <a:t>Light fixtures</a:t>
            </a:r>
          </a:p>
          <a:p>
            <a:pPr lvl="1" eaLnBrk="1" hangingPunct="1">
              <a:buFont typeface="Arial" panose="020B0604020202020204" pitchFamily="34" charset="0"/>
              <a:buChar char="•"/>
            </a:pPr>
            <a:r>
              <a:rPr lang="en-US" dirty="0"/>
              <a:t>Webbing straps</a:t>
            </a:r>
          </a:p>
          <a:p>
            <a:pPr lvl="1" eaLnBrk="1" hangingPunct="1"/>
            <a:endParaRPr lang="en-US" dirty="0"/>
          </a:p>
          <a:p>
            <a:pPr lvl="1" eaLnBrk="1" hangingPunct="1"/>
            <a:endParaRPr lang="en-US" dirty="0"/>
          </a:p>
        </p:txBody>
      </p:sp>
      <p:sp>
        <p:nvSpPr>
          <p:cNvPr id="5125" name="Text Box 4"/>
          <p:cNvSpPr txBox="1">
            <a:spLocks noChangeArrowheads="1"/>
          </p:cNvSpPr>
          <p:nvPr/>
        </p:nvSpPr>
        <p:spPr bwMode="auto">
          <a:xfrm>
            <a:off x="685800" y="4191000"/>
            <a:ext cx="7670800" cy="336550"/>
          </a:xfrm>
          <a:prstGeom prst="rect">
            <a:avLst/>
          </a:prstGeom>
          <a:noFill/>
          <a:ln w="9525">
            <a:noFill/>
            <a:miter lim="800000"/>
            <a:headEnd/>
            <a:tailEnd/>
          </a:ln>
        </p:spPr>
        <p:txBody>
          <a:bodyPr>
            <a:spAutoFit/>
          </a:bodyPr>
          <a:lstStyle/>
          <a:p>
            <a:pPr algn="ctr">
              <a:spcBef>
                <a:spcPct val="50000"/>
              </a:spcBef>
            </a:pPr>
            <a:endParaRPr lang="en-US" sz="1600" b="0" u="sng"/>
          </a:p>
        </p:txBody>
      </p:sp>
      <p:pic>
        <p:nvPicPr>
          <p:cNvPr id="5126" name="Picture 5"/>
          <p:cNvPicPr>
            <a:picLocks noChangeAspect="1" noChangeArrowheads="1"/>
          </p:cNvPicPr>
          <p:nvPr/>
        </p:nvPicPr>
        <p:blipFill>
          <a:blip r:embed="rId3" cstate="print"/>
          <a:srcRect/>
          <a:stretch>
            <a:fillRect/>
          </a:stretch>
        </p:blipFill>
        <p:spPr bwMode="auto">
          <a:xfrm>
            <a:off x="2885465" y="4603238"/>
            <a:ext cx="1863725" cy="1598612"/>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5127" name="Picture 6"/>
          <p:cNvPicPr>
            <a:picLocks noChangeAspect="1" noChangeArrowheads="1"/>
          </p:cNvPicPr>
          <p:nvPr/>
        </p:nvPicPr>
        <p:blipFill>
          <a:blip r:embed="rId4" cstate="print"/>
          <a:srcRect l="7788" t="54123" r="69786" b="22466"/>
          <a:stretch>
            <a:fillRect/>
          </a:stretch>
        </p:blipFill>
        <p:spPr bwMode="auto">
          <a:xfrm>
            <a:off x="458422" y="4601889"/>
            <a:ext cx="2092008" cy="1601311"/>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5128" name="Picture 7"/>
          <p:cNvPicPr>
            <a:picLocks noChangeAspect="1" noChangeArrowheads="1"/>
          </p:cNvPicPr>
          <p:nvPr/>
        </p:nvPicPr>
        <p:blipFill>
          <a:blip r:embed="rId4" cstate="print"/>
          <a:srcRect l="6439" t="83125" r="43430" b="2859"/>
          <a:stretch>
            <a:fillRect/>
          </a:stretch>
        </p:blipFill>
        <p:spPr bwMode="auto">
          <a:xfrm>
            <a:off x="5084225" y="4966776"/>
            <a:ext cx="3773336" cy="871537"/>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5129" name="Picture 8"/>
          <p:cNvPicPr>
            <a:picLocks noChangeAspect="1" noChangeArrowheads="1"/>
          </p:cNvPicPr>
          <p:nvPr/>
        </p:nvPicPr>
        <p:blipFill>
          <a:blip r:embed="rId4" cstate="print"/>
          <a:srcRect l="62598" t="64948"/>
          <a:stretch>
            <a:fillRect/>
          </a:stretch>
        </p:blipFill>
        <p:spPr bwMode="auto">
          <a:xfrm>
            <a:off x="5355532" y="2229294"/>
            <a:ext cx="3230721" cy="2219667"/>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5130" name="Rectangle 10"/>
          <p:cNvSpPr>
            <a:spLocks noGrp="1" noChangeArrowheads="1"/>
          </p:cNvSpPr>
          <p:nvPr>
            <p:ph type="title"/>
          </p:nvPr>
        </p:nvSpPr>
        <p:spPr>
          <a:xfrm>
            <a:off x="685800" y="274320"/>
            <a:ext cx="7772400" cy="1005840"/>
          </a:xfrm>
          <a:noFill/>
        </p:spPr>
        <p:txBody>
          <a:bodyPr/>
          <a:lstStyle/>
          <a:p>
            <a:pPr eaLnBrk="1" hangingPunct="1"/>
            <a:r>
              <a:rPr lang="en-US" sz="4000" dirty="0"/>
              <a:t>Eye Openers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124">
                                            <p:txEl>
                                              <p:pRg st="1" end="1"/>
                                            </p:txEl>
                                          </p:spTgt>
                                        </p:tgtEl>
                                        <p:attrNameLst>
                                          <p:attrName>style.visibility</p:attrName>
                                        </p:attrNameLst>
                                      </p:cBhvr>
                                      <p:to>
                                        <p:strVal val="visible"/>
                                      </p:to>
                                    </p:set>
                                    <p:animEffect transition="in" filter="fade">
                                      <p:cBhvr>
                                        <p:cTn id="7" dur="1000"/>
                                        <p:tgtEl>
                                          <p:spTgt spid="5124">
                                            <p:txEl>
                                              <p:pRg st="1" end="1"/>
                                            </p:txEl>
                                          </p:spTgt>
                                        </p:tgtEl>
                                      </p:cBhvr>
                                    </p:animEffect>
                                    <p:anim calcmode="lin" valueType="num">
                                      <p:cBhvr>
                                        <p:cTn id="8" dur="1000" fill="hold"/>
                                        <p:tgtEl>
                                          <p:spTgt spid="5124">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124">
                                            <p:txEl>
                                              <p:pRg st="1" end="1"/>
                                            </p:txEl>
                                          </p:spTgt>
                                        </p:tgtEl>
                                        <p:attrNameLst>
                                          <p:attrName>ppt_y</p:attrName>
                                        </p:attrNameLst>
                                      </p:cBhvr>
                                      <p:tavLst>
                                        <p:tav tm="0">
                                          <p:val>
                                            <p:strVal val="#ppt_y+.1"/>
                                          </p:val>
                                        </p:tav>
                                        <p:tav tm="100000">
                                          <p:val>
                                            <p:strVal val="#ppt_y"/>
                                          </p:val>
                                        </p:tav>
                                      </p:tavLst>
                                    </p:anim>
                                  </p:childTnLst>
                                </p:cTn>
                              </p:par>
                              <p:par>
                                <p:cTn id="10" presetID="10" presetClass="entr" presetSubtype="0" fill="hold" nodeType="withEffect">
                                  <p:stCondLst>
                                    <p:cond delay="0"/>
                                  </p:stCondLst>
                                  <p:childTnLst>
                                    <p:set>
                                      <p:cBhvr>
                                        <p:cTn id="11" dur="1" fill="hold">
                                          <p:stCondLst>
                                            <p:cond delay="0"/>
                                          </p:stCondLst>
                                        </p:cTn>
                                        <p:tgtEl>
                                          <p:spTgt spid="5127"/>
                                        </p:tgtEl>
                                        <p:attrNameLst>
                                          <p:attrName>style.visibility</p:attrName>
                                        </p:attrNameLst>
                                      </p:cBhvr>
                                      <p:to>
                                        <p:strVal val="visible"/>
                                      </p:to>
                                    </p:set>
                                    <p:animEffect transition="in" filter="fade">
                                      <p:cBhvr>
                                        <p:cTn id="12" dur="500"/>
                                        <p:tgtEl>
                                          <p:spTgt spid="5127"/>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5124">
                                            <p:txEl>
                                              <p:pRg st="2" end="2"/>
                                            </p:txEl>
                                          </p:spTgt>
                                        </p:tgtEl>
                                        <p:attrNameLst>
                                          <p:attrName>style.visibility</p:attrName>
                                        </p:attrNameLst>
                                      </p:cBhvr>
                                      <p:to>
                                        <p:strVal val="visible"/>
                                      </p:to>
                                    </p:set>
                                    <p:animEffect transition="in" filter="fade">
                                      <p:cBhvr>
                                        <p:cTn id="17" dur="1000"/>
                                        <p:tgtEl>
                                          <p:spTgt spid="5124">
                                            <p:txEl>
                                              <p:pRg st="2" end="2"/>
                                            </p:txEl>
                                          </p:spTgt>
                                        </p:tgtEl>
                                      </p:cBhvr>
                                    </p:animEffect>
                                    <p:anim calcmode="lin" valueType="num">
                                      <p:cBhvr>
                                        <p:cTn id="18" dur="1000" fill="hold"/>
                                        <p:tgtEl>
                                          <p:spTgt spid="5124">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5124">
                                            <p:txEl>
                                              <p:pRg st="2" end="2"/>
                                            </p:txEl>
                                          </p:spTgt>
                                        </p:tgtEl>
                                        <p:attrNameLst>
                                          <p:attrName>ppt_y</p:attrName>
                                        </p:attrNameLst>
                                      </p:cBhvr>
                                      <p:tavLst>
                                        <p:tav tm="0">
                                          <p:val>
                                            <p:strVal val="#ppt_y+.1"/>
                                          </p:val>
                                        </p:tav>
                                        <p:tav tm="100000">
                                          <p:val>
                                            <p:strVal val="#ppt_y"/>
                                          </p:val>
                                        </p:tav>
                                      </p:tavLst>
                                    </p:anim>
                                  </p:childTnLst>
                                </p:cTn>
                              </p:par>
                              <p:par>
                                <p:cTn id="20" presetID="10" presetClass="entr" presetSubtype="0" fill="hold" nodeType="withEffect">
                                  <p:stCondLst>
                                    <p:cond delay="0"/>
                                  </p:stCondLst>
                                  <p:childTnLst>
                                    <p:set>
                                      <p:cBhvr>
                                        <p:cTn id="21" dur="1" fill="hold">
                                          <p:stCondLst>
                                            <p:cond delay="0"/>
                                          </p:stCondLst>
                                        </p:cTn>
                                        <p:tgtEl>
                                          <p:spTgt spid="5126"/>
                                        </p:tgtEl>
                                        <p:attrNameLst>
                                          <p:attrName>style.visibility</p:attrName>
                                        </p:attrNameLst>
                                      </p:cBhvr>
                                      <p:to>
                                        <p:strVal val="visible"/>
                                      </p:to>
                                    </p:set>
                                    <p:animEffect transition="in" filter="fade">
                                      <p:cBhvr>
                                        <p:cTn id="22" dur="500"/>
                                        <p:tgtEl>
                                          <p:spTgt spid="5126"/>
                                        </p:tgtEl>
                                      </p:cBhvr>
                                    </p:animEffect>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5124">
                                            <p:txEl>
                                              <p:pRg st="3" end="3"/>
                                            </p:txEl>
                                          </p:spTgt>
                                        </p:tgtEl>
                                        <p:attrNameLst>
                                          <p:attrName>style.visibility</p:attrName>
                                        </p:attrNameLst>
                                      </p:cBhvr>
                                      <p:to>
                                        <p:strVal val="visible"/>
                                      </p:to>
                                    </p:set>
                                    <p:animEffect transition="in" filter="fade">
                                      <p:cBhvr>
                                        <p:cTn id="27" dur="1000"/>
                                        <p:tgtEl>
                                          <p:spTgt spid="5124">
                                            <p:txEl>
                                              <p:pRg st="3" end="3"/>
                                            </p:txEl>
                                          </p:spTgt>
                                        </p:tgtEl>
                                      </p:cBhvr>
                                    </p:animEffect>
                                    <p:anim calcmode="lin" valueType="num">
                                      <p:cBhvr>
                                        <p:cTn id="28" dur="1000" fill="hold"/>
                                        <p:tgtEl>
                                          <p:spTgt spid="5124">
                                            <p:txEl>
                                              <p:pRg st="3" end="3"/>
                                            </p:txEl>
                                          </p:spTgt>
                                        </p:tgtEl>
                                        <p:attrNameLst>
                                          <p:attrName>ppt_x</p:attrName>
                                        </p:attrNameLst>
                                      </p:cBhvr>
                                      <p:tavLst>
                                        <p:tav tm="0">
                                          <p:val>
                                            <p:strVal val="#ppt_x"/>
                                          </p:val>
                                        </p:tav>
                                        <p:tav tm="100000">
                                          <p:val>
                                            <p:strVal val="#ppt_x"/>
                                          </p:val>
                                        </p:tav>
                                      </p:tavLst>
                                    </p:anim>
                                    <p:anim calcmode="lin" valueType="num">
                                      <p:cBhvr>
                                        <p:cTn id="29" dur="1000" fill="hold"/>
                                        <p:tgtEl>
                                          <p:spTgt spid="5124">
                                            <p:txEl>
                                              <p:pRg st="3" end="3"/>
                                            </p:txEl>
                                          </p:spTgt>
                                        </p:tgtEl>
                                        <p:attrNameLst>
                                          <p:attrName>ppt_y</p:attrName>
                                        </p:attrNameLst>
                                      </p:cBhvr>
                                      <p:tavLst>
                                        <p:tav tm="0">
                                          <p:val>
                                            <p:strVal val="#ppt_y+.1"/>
                                          </p:val>
                                        </p:tav>
                                        <p:tav tm="100000">
                                          <p:val>
                                            <p:strVal val="#ppt_y"/>
                                          </p:val>
                                        </p:tav>
                                      </p:tavLst>
                                    </p:anim>
                                  </p:childTnLst>
                                </p:cTn>
                              </p:par>
                              <p:par>
                                <p:cTn id="30" presetID="10" presetClass="entr" presetSubtype="0" fill="hold" nodeType="withEffect">
                                  <p:stCondLst>
                                    <p:cond delay="0"/>
                                  </p:stCondLst>
                                  <p:childTnLst>
                                    <p:set>
                                      <p:cBhvr>
                                        <p:cTn id="31" dur="1" fill="hold">
                                          <p:stCondLst>
                                            <p:cond delay="0"/>
                                          </p:stCondLst>
                                        </p:cTn>
                                        <p:tgtEl>
                                          <p:spTgt spid="5128"/>
                                        </p:tgtEl>
                                        <p:attrNameLst>
                                          <p:attrName>style.visibility</p:attrName>
                                        </p:attrNameLst>
                                      </p:cBhvr>
                                      <p:to>
                                        <p:strVal val="visible"/>
                                      </p:to>
                                    </p:set>
                                    <p:animEffect transition="in" filter="fade">
                                      <p:cBhvr>
                                        <p:cTn id="32" dur="500"/>
                                        <p:tgtEl>
                                          <p:spTgt spid="5128"/>
                                        </p:tgtEl>
                                      </p:cBhvr>
                                    </p:animEffect>
                                  </p:childTnLst>
                                </p:cTn>
                              </p:par>
                            </p:childTnLst>
                          </p:cTn>
                        </p:par>
                      </p:childTnLst>
                    </p:cTn>
                  </p:par>
                  <p:par>
                    <p:cTn id="33" fill="hold">
                      <p:stCondLst>
                        <p:cond delay="indefinite"/>
                      </p:stCondLst>
                      <p:childTnLst>
                        <p:par>
                          <p:cTn id="34" fill="hold">
                            <p:stCondLst>
                              <p:cond delay="0"/>
                            </p:stCondLst>
                            <p:childTnLst>
                              <p:par>
                                <p:cTn id="35" presetID="42" presetClass="entr" presetSubtype="0" fill="hold" nodeType="clickEffect">
                                  <p:stCondLst>
                                    <p:cond delay="0"/>
                                  </p:stCondLst>
                                  <p:childTnLst>
                                    <p:set>
                                      <p:cBhvr>
                                        <p:cTn id="36" dur="1" fill="hold">
                                          <p:stCondLst>
                                            <p:cond delay="0"/>
                                          </p:stCondLst>
                                        </p:cTn>
                                        <p:tgtEl>
                                          <p:spTgt spid="5124">
                                            <p:txEl>
                                              <p:pRg st="4" end="4"/>
                                            </p:txEl>
                                          </p:spTgt>
                                        </p:tgtEl>
                                        <p:attrNameLst>
                                          <p:attrName>style.visibility</p:attrName>
                                        </p:attrNameLst>
                                      </p:cBhvr>
                                      <p:to>
                                        <p:strVal val="visible"/>
                                      </p:to>
                                    </p:set>
                                    <p:animEffect transition="in" filter="fade">
                                      <p:cBhvr>
                                        <p:cTn id="37" dur="1000"/>
                                        <p:tgtEl>
                                          <p:spTgt spid="5124">
                                            <p:txEl>
                                              <p:pRg st="4" end="4"/>
                                            </p:txEl>
                                          </p:spTgt>
                                        </p:tgtEl>
                                      </p:cBhvr>
                                    </p:animEffect>
                                    <p:anim calcmode="lin" valueType="num">
                                      <p:cBhvr>
                                        <p:cTn id="38" dur="1000" fill="hold"/>
                                        <p:tgtEl>
                                          <p:spTgt spid="5124">
                                            <p:txEl>
                                              <p:pRg st="4" end="4"/>
                                            </p:txEl>
                                          </p:spTgt>
                                        </p:tgtEl>
                                        <p:attrNameLst>
                                          <p:attrName>ppt_x</p:attrName>
                                        </p:attrNameLst>
                                      </p:cBhvr>
                                      <p:tavLst>
                                        <p:tav tm="0">
                                          <p:val>
                                            <p:strVal val="#ppt_x"/>
                                          </p:val>
                                        </p:tav>
                                        <p:tav tm="100000">
                                          <p:val>
                                            <p:strVal val="#ppt_x"/>
                                          </p:val>
                                        </p:tav>
                                      </p:tavLst>
                                    </p:anim>
                                    <p:anim calcmode="lin" valueType="num">
                                      <p:cBhvr>
                                        <p:cTn id="39" dur="1000" fill="hold"/>
                                        <p:tgtEl>
                                          <p:spTgt spid="5124">
                                            <p:txEl>
                                              <p:pRg st="4" end="4"/>
                                            </p:txEl>
                                          </p:spTgt>
                                        </p:tgtEl>
                                        <p:attrNameLst>
                                          <p:attrName>ppt_y</p:attrName>
                                        </p:attrNameLst>
                                      </p:cBhvr>
                                      <p:tavLst>
                                        <p:tav tm="0">
                                          <p:val>
                                            <p:strVal val="#ppt_y+.1"/>
                                          </p:val>
                                        </p:tav>
                                        <p:tav tm="100000">
                                          <p:val>
                                            <p:strVal val="#ppt_y"/>
                                          </p:val>
                                        </p:tav>
                                      </p:tavLst>
                                    </p:anim>
                                  </p:childTnLst>
                                </p:cTn>
                              </p:par>
                              <p:par>
                                <p:cTn id="40" presetID="10" presetClass="entr" presetSubtype="0" fill="hold" nodeType="withEffect">
                                  <p:stCondLst>
                                    <p:cond delay="0"/>
                                  </p:stCondLst>
                                  <p:childTnLst>
                                    <p:set>
                                      <p:cBhvr>
                                        <p:cTn id="41" dur="1" fill="hold">
                                          <p:stCondLst>
                                            <p:cond delay="0"/>
                                          </p:stCondLst>
                                        </p:cTn>
                                        <p:tgtEl>
                                          <p:spTgt spid="5129"/>
                                        </p:tgtEl>
                                        <p:attrNameLst>
                                          <p:attrName>style.visibility</p:attrName>
                                        </p:attrNameLst>
                                      </p:cBhvr>
                                      <p:to>
                                        <p:strVal val="visible"/>
                                      </p:to>
                                    </p:set>
                                    <p:animEffect transition="in" filter="fade">
                                      <p:cBhvr>
                                        <p:cTn id="42" dur="500"/>
                                        <p:tgtEl>
                                          <p:spTgt spid="51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6" name="Rectangle 5"/>
          <p:cNvSpPr>
            <a:spLocks noGrp="1" noChangeArrowheads="1"/>
          </p:cNvSpPr>
          <p:nvPr>
            <p:ph type="ftr" sz="quarter" idx="10"/>
          </p:nvPr>
        </p:nvSpPr>
        <p:spPr>
          <a:noFill/>
        </p:spPr>
        <p:txBody>
          <a:bodyPr/>
          <a:lstStyle/>
          <a:p>
            <a:r>
              <a:rPr lang="en-US" dirty="0"/>
              <a:t>DEMIL Code Validation</a:t>
            </a:r>
          </a:p>
        </p:txBody>
      </p:sp>
      <p:sp>
        <p:nvSpPr>
          <p:cNvPr id="6147" name="Footer Placeholder 3"/>
          <p:cNvSpPr txBox="1">
            <a:spLocks noGrp="1"/>
          </p:cNvSpPr>
          <p:nvPr/>
        </p:nvSpPr>
        <p:spPr bwMode="auto">
          <a:xfrm>
            <a:off x="666750" y="6248400"/>
            <a:ext cx="2895600" cy="457200"/>
          </a:xfrm>
          <a:prstGeom prst="rect">
            <a:avLst/>
          </a:prstGeom>
          <a:noFill/>
          <a:ln w="9525">
            <a:noFill/>
            <a:miter lim="800000"/>
            <a:headEnd/>
            <a:tailEnd/>
          </a:ln>
        </p:spPr>
        <p:txBody>
          <a:bodyPr/>
          <a:lstStyle/>
          <a:p>
            <a:endParaRPr lang="en-US" b="0" dirty="0"/>
          </a:p>
        </p:txBody>
      </p:sp>
      <p:sp>
        <p:nvSpPr>
          <p:cNvPr id="6148" name="Slide Number Placeholder 4"/>
          <p:cNvSpPr>
            <a:spLocks noGrp="1"/>
          </p:cNvSpPr>
          <p:nvPr>
            <p:ph type="sldNum" sz="quarter" idx="11"/>
          </p:nvPr>
        </p:nvSpPr>
        <p:spPr>
          <a:noFill/>
        </p:spPr>
        <p:txBody>
          <a:bodyPr/>
          <a:lstStyle/>
          <a:p>
            <a:fld id="{CCA1A1D5-0A49-43DA-9268-C17E0530462A}" type="slidenum">
              <a:rPr lang="en-US" smtClean="0"/>
              <a:pPr/>
              <a:t>5</a:t>
            </a:fld>
            <a:endParaRPr lang="en-US"/>
          </a:p>
        </p:txBody>
      </p:sp>
      <p:sp>
        <p:nvSpPr>
          <p:cNvPr id="6149" name="Rectangle 2"/>
          <p:cNvSpPr>
            <a:spLocks noGrp="1" noChangeArrowheads="1"/>
          </p:cNvSpPr>
          <p:nvPr>
            <p:ph type="title"/>
          </p:nvPr>
        </p:nvSpPr>
        <p:spPr>
          <a:xfrm>
            <a:off x="685800" y="274320"/>
            <a:ext cx="7772400" cy="1005840"/>
          </a:xfrm>
        </p:spPr>
        <p:txBody>
          <a:bodyPr/>
          <a:lstStyle/>
          <a:p>
            <a:pPr eaLnBrk="1" hangingPunct="1"/>
            <a:r>
              <a:rPr lang="en-US" dirty="0"/>
              <a:t>Example</a:t>
            </a:r>
          </a:p>
        </p:txBody>
      </p:sp>
      <p:sp>
        <p:nvSpPr>
          <p:cNvPr id="2051" name="Rectangle 3"/>
          <p:cNvSpPr>
            <a:spLocks noGrp="1" noChangeArrowheads="1"/>
          </p:cNvSpPr>
          <p:nvPr>
            <p:ph type="body" idx="1"/>
          </p:nvPr>
        </p:nvSpPr>
        <p:spPr>
          <a:xfrm>
            <a:off x="457199" y="1371600"/>
            <a:ext cx="8189843" cy="1642064"/>
          </a:xfrm>
          <a:noFill/>
          <a:ln>
            <a:noFill/>
          </a:ln>
        </p:spPr>
        <p:txBody>
          <a:bodyPr/>
          <a:lstStyle/>
          <a:p>
            <a:pPr marL="0" indent="0" eaLnBrk="1" hangingPunct="1">
              <a:buNone/>
            </a:pPr>
            <a:r>
              <a:rPr lang="en-US" sz="2800" dirty="0"/>
              <a:t>DoD Demilitarization Coding Management Office (DDCMO) reviews and corrects miscoded items.</a:t>
            </a:r>
            <a:endParaRPr lang="en-US" b="1" dirty="0">
              <a:solidFill>
                <a:srgbClr val="FF0000"/>
              </a:solidFill>
            </a:endParaRPr>
          </a:p>
        </p:txBody>
      </p:sp>
      <p:sp>
        <p:nvSpPr>
          <p:cNvPr id="2055" name="Text Box 7"/>
          <p:cNvSpPr txBox="1">
            <a:spLocks noChangeArrowheads="1"/>
          </p:cNvSpPr>
          <p:nvPr/>
        </p:nvSpPr>
        <p:spPr bwMode="auto">
          <a:xfrm>
            <a:off x="1359604" y="5418749"/>
            <a:ext cx="6561502" cy="892552"/>
          </a:xfrm>
          <a:prstGeom prst="rect">
            <a:avLst/>
          </a:prstGeom>
          <a:solidFill>
            <a:srgbClr val="FFC000"/>
          </a:solidFill>
          <a:ln w="9525">
            <a:noFill/>
            <a:miter lim="800000"/>
            <a:headEnd/>
            <a:tailEnd/>
          </a:ln>
          <a:effectLst>
            <a:outerShdw blurRad="50800" dist="38100" dir="2700000" algn="tl" rotWithShape="0">
              <a:srgbClr val="000000">
                <a:alpha val="43000"/>
              </a:srgbClr>
            </a:outerShdw>
          </a:effectLst>
          <a:scene3d>
            <a:camera prst="orthographicFront"/>
            <a:lightRig rig="threePt" dir="t"/>
          </a:scene3d>
          <a:sp3d>
            <a:bevelT/>
          </a:sp3d>
        </p:spPr>
        <p:txBody>
          <a:bodyPr wrap="square">
            <a:spAutoFit/>
          </a:bodyPr>
          <a:lstStyle/>
          <a:p>
            <a:pPr algn="ctr">
              <a:spcBef>
                <a:spcPct val="50000"/>
              </a:spcBef>
            </a:pPr>
            <a:r>
              <a:rPr lang="en-US" sz="2600" i="1" dirty="0">
                <a:latin typeface="Arial"/>
                <a:cs typeface="Arial"/>
              </a:rPr>
              <a:t>The coding was challenged for a change to DEMIL Code “G”</a:t>
            </a:r>
            <a:r>
              <a:rPr lang="en-US" sz="2600" b="0" dirty="0">
                <a:latin typeface="Arial"/>
                <a:cs typeface="Arial"/>
              </a:rPr>
              <a:t>.</a:t>
            </a:r>
          </a:p>
        </p:txBody>
      </p:sp>
      <p:sp>
        <p:nvSpPr>
          <p:cNvPr id="6152" name="Text Box 8"/>
          <p:cNvSpPr txBox="1">
            <a:spLocks noChangeArrowheads="1"/>
          </p:cNvSpPr>
          <p:nvPr/>
        </p:nvSpPr>
        <p:spPr bwMode="auto">
          <a:xfrm>
            <a:off x="3309938" y="2670175"/>
            <a:ext cx="2828925" cy="457200"/>
          </a:xfrm>
          <a:prstGeom prst="rect">
            <a:avLst/>
          </a:prstGeom>
          <a:noFill/>
          <a:ln w="9525">
            <a:noFill/>
            <a:miter lim="800000"/>
            <a:headEnd/>
            <a:tailEnd/>
          </a:ln>
        </p:spPr>
        <p:txBody>
          <a:bodyPr>
            <a:spAutoFit/>
          </a:bodyPr>
          <a:lstStyle/>
          <a:p>
            <a:pPr>
              <a:spcBef>
                <a:spcPct val="50000"/>
              </a:spcBef>
            </a:pPr>
            <a:r>
              <a:rPr lang="en-US" sz="2400" b="0"/>
              <a:t>    </a:t>
            </a:r>
            <a:endParaRPr lang="en-US" sz="2400" b="0" u="sng"/>
          </a:p>
        </p:txBody>
      </p:sp>
      <p:grpSp>
        <p:nvGrpSpPr>
          <p:cNvPr id="2" name="Group 1"/>
          <p:cNvGrpSpPr/>
          <p:nvPr/>
        </p:nvGrpSpPr>
        <p:grpSpPr>
          <a:xfrm>
            <a:off x="1055617" y="2554186"/>
            <a:ext cx="7007225" cy="2613448"/>
            <a:chOff x="901562" y="3027550"/>
            <a:chExt cx="7007225" cy="2613448"/>
          </a:xfrm>
        </p:grpSpPr>
        <p:sp>
          <p:nvSpPr>
            <p:cNvPr id="15" name="Rectangle 14"/>
            <p:cNvSpPr/>
            <p:nvPr/>
          </p:nvSpPr>
          <p:spPr bwMode="auto">
            <a:xfrm>
              <a:off x="1205549" y="3064360"/>
              <a:ext cx="6561502" cy="2576638"/>
            </a:xfrm>
            <a:prstGeom prst="rect">
              <a:avLst/>
            </a:prstGeom>
            <a:gradFill flip="none" rotWithShape="1">
              <a:gsLst>
                <a:gs pos="45000">
                  <a:srgbClr val="CCECFF"/>
                </a:gs>
                <a:gs pos="100000">
                  <a:srgbClr val="FFFFFF"/>
                </a:gs>
              </a:gsLst>
              <a:lin ang="16200000" scaled="0"/>
              <a:tileRect/>
            </a:gradFill>
            <a:ln w="9525" cap="flat" cmpd="sng" algn="ctr">
              <a:noFill/>
              <a:prstDash val="solid"/>
              <a:round/>
              <a:headEnd type="none" w="med" len="med"/>
              <a:tailEnd type="none" w="med" len="med"/>
            </a:ln>
            <a:effectLst/>
            <a:scene3d>
              <a:camera prst="orthographicFront"/>
              <a:lightRig rig="threePt" dir="t"/>
            </a:scene3d>
            <a:sp3d>
              <a:bevelT/>
            </a:sp3d>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000" b="1" i="0" u="none" strike="noStrike" cap="none" normalizeH="0" baseline="0">
                <a:ln>
                  <a:noFill/>
                </a:ln>
                <a:solidFill>
                  <a:schemeClr val="tx1"/>
                </a:solidFill>
                <a:effectLst/>
                <a:latin typeface="Times New Roman" pitchFamily="18" charset="0"/>
              </a:endParaRPr>
            </a:p>
          </p:txBody>
        </p:sp>
        <p:sp>
          <p:nvSpPr>
            <p:cNvPr id="6157" name="Rectangle 24"/>
            <p:cNvSpPr>
              <a:spLocks noChangeArrowheads="1"/>
            </p:cNvSpPr>
            <p:nvPr/>
          </p:nvSpPr>
          <p:spPr bwMode="auto">
            <a:xfrm>
              <a:off x="901562" y="5225913"/>
              <a:ext cx="7007225" cy="352905"/>
            </a:xfrm>
            <a:prstGeom prst="rect">
              <a:avLst/>
            </a:prstGeom>
            <a:noFill/>
            <a:ln w="9525">
              <a:noFill/>
              <a:miter lim="800000"/>
              <a:headEnd/>
              <a:tailEnd/>
            </a:ln>
          </p:spPr>
          <p:txBody>
            <a:bodyPr lIns="0" tIns="0" rIns="0" bIns="0">
              <a:spAutoFit/>
            </a:bodyPr>
            <a:lstStyle/>
            <a:p>
              <a:pPr algn="ctr"/>
              <a:r>
                <a:rPr lang="en-US" sz="2300" b="0" dirty="0">
                  <a:solidFill>
                    <a:srgbClr val="000000"/>
                  </a:solidFill>
                  <a:latin typeface="Arial"/>
                  <a:cs typeface="Arial"/>
                </a:rPr>
                <a:t>    </a:t>
              </a:r>
              <a:r>
                <a:rPr lang="en-US" sz="2300" dirty="0">
                  <a:solidFill>
                    <a:srgbClr val="000000"/>
                  </a:solidFill>
                  <a:latin typeface="Arial"/>
                  <a:cs typeface="Arial"/>
                </a:rPr>
                <a:t>Smoke Grenade coded as </a:t>
              </a:r>
              <a:r>
                <a:rPr lang="en-US" sz="2300" dirty="0" err="1">
                  <a:solidFill>
                    <a:srgbClr val="000000"/>
                  </a:solidFill>
                  <a:latin typeface="Arial"/>
                  <a:cs typeface="Arial"/>
                </a:rPr>
                <a:t>DEMIL</a:t>
              </a:r>
              <a:r>
                <a:rPr lang="en-US" sz="2300" dirty="0">
                  <a:solidFill>
                    <a:srgbClr val="000000"/>
                  </a:solidFill>
                  <a:latin typeface="Arial"/>
                  <a:cs typeface="Arial"/>
                </a:rPr>
                <a:t> Code “A”</a:t>
              </a:r>
              <a:endParaRPr lang="en-US" sz="2400" dirty="0">
                <a:latin typeface="Arial"/>
                <a:cs typeface="Arial"/>
              </a:endParaRPr>
            </a:p>
          </p:txBody>
        </p:sp>
        <p:pic>
          <p:nvPicPr>
            <p:cNvPr id="6155" name="Picture 31" descr="smokes2"/>
            <p:cNvPicPr>
              <a:picLocks noChangeAspect="1" noChangeArrowheads="1"/>
            </p:cNvPicPr>
            <p:nvPr/>
          </p:nvPicPr>
          <p:blipFill>
            <a:blip r:embed="rId3" cstate="print"/>
            <a:srcRect r="64815"/>
            <a:stretch>
              <a:fillRect/>
            </a:stretch>
          </p:blipFill>
          <p:spPr bwMode="auto">
            <a:xfrm>
              <a:off x="3951695" y="3426058"/>
              <a:ext cx="859181" cy="1821698"/>
            </a:xfrm>
            <a:prstGeom prst="rect">
              <a:avLst/>
            </a:prstGeom>
            <a:noFill/>
            <a:ln w="9525">
              <a:noFill/>
              <a:miter lim="800000"/>
              <a:headEnd/>
              <a:tailEnd/>
            </a:ln>
          </p:spPr>
        </p:pic>
        <p:sp>
          <p:nvSpPr>
            <p:cNvPr id="14" name="TextBox 13"/>
            <p:cNvSpPr txBox="1"/>
            <p:nvPr/>
          </p:nvSpPr>
          <p:spPr>
            <a:xfrm>
              <a:off x="3220933" y="3027550"/>
              <a:ext cx="2573842" cy="461665"/>
            </a:xfrm>
            <a:prstGeom prst="rect">
              <a:avLst/>
            </a:prstGeom>
            <a:noFill/>
          </p:spPr>
          <p:txBody>
            <a:bodyPr wrap="none" rtlCol="0">
              <a:spAutoFit/>
            </a:bodyPr>
            <a:lstStyle/>
            <a:p>
              <a:r>
                <a:rPr lang="en-US" sz="2400" u="sng" dirty="0">
                  <a:latin typeface="Arial"/>
                  <a:cs typeface="Arial"/>
                </a:rPr>
                <a:t>Typical Example</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055"/>
                                        </p:tgtEl>
                                        <p:attrNameLst>
                                          <p:attrName>style.visibility</p:attrName>
                                        </p:attrNameLst>
                                      </p:cBhvr>
                                      <p:to>
                                        <p:strVal val="visible"/>
                                      </p:to>
                                    </p:set>
                                    <p:anim calcmode="lin" valueType="num">
                                      <p:cBhvr additive="base">
                                        <p:cTn id="7" dur="500" fill="hold"/>
                                        <p:tgtEl>
                                          <p:spTgt spid="2055"/>
                                        </p:tgtEl>
                                        <p:attrNameLst>
                                          <p:attrName>ppt_x</p:attrName>
                                        </p:attrNameLst>
                                      </p:cBhvr>
                                      <p:tavLst>
                                        <p:tav tm="0">
                                          <p:val>
                                            <p:strVal val="0-#ppt_w/2"/>
                                          </p:val>
                                        </p:tav>
                                        <p:tav tm="100000">
                                          <p:val>
                                            <p:strVal val="#ppt_x"/>
                                          </p:val>
                                        </p:tav>
                                      </p:tavLst>
                                    </p:anim>
                                    <p:anim calcmode="lin" valueType="num">
                                      <p:cBhvr additive="base">
                                        <p:cTn id="8" dur="500" fill="hold"/>
                                        <p:tgtEl>
                                          <p:spTgt spid="205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5" grpId="0" animBg="1" autoUpdateAnimBg="0"/>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0" name="Rectangle 5"/>
          <p:cNvSpPr>
            <a:spLocks noGrp="1" noChangeArrowheads="1"/>
          </p:cNvSpPr>
          <p:nvPr>
            <p:ph type="ftr" sz="quarter" idx="10"/>
          </p:nvPr>
        </p:nvSpPr>
        <p:spPr>
          <a:noFill/>
        </p:spPr>
        <p:txBody>
          <a:bodyPr/>
          <a:lstStyle/>
          <a:p>
            <a:r>
              <a:rPr lang="en-US" dirty="0"/>
              <a:t>DEMIL Code Validation</a:t>
            </a:r>
          </a:p>
        </p:txBody>
      </p:sp>
      <p:sp>
        <p:nvSpPr>
          <p:cNvPr id="7171" name="Slide Number Placeholder 5"/>
          <p:cNvSpPr>
            <a:spLocks noGrp="1"/>
          </p:cNvSpPr>
          <p:nvPr>
            <p:ph type="sldNum" sz="quarter" idx="11"/>
          </p:nvPr>
        </p:nvSpPr>
        <p:spPr>
          <a:noFill/>
        </p:spPr>
        <p:txBody>
          <a:bodyPr/>
          <a:lstStyle/>
          <a:p>
            <a:fld id="{929C2B51-A6F2-472D-89C9-80D83C9841AC}" type="slidenum">
              <a:rPr lang="en-US" smtClean="0"/>
              <a:pPr/>
              <a:t>6</a:t>
            </a:fld>
            <a:endParaRPr lang="en-US"/>
          </a:p>
        </p:txBody>
      </p:sp>
      <p:sp>
        <p:nvSpPr>
          <p:cNvPr id="100355" name="Rectangle 3"/>
          <p:cNvSpPr>
            <a:spLocks noGrp="1" noChangeArrowheads="1"/>
          </p:cNvSpPr>
          <p:nvPr>
            <p:ph type="body" sz="half" idx="1"/>
          </p:nvPr>
        </p:nvSpPr>
        <p:spPr>
          <a:xfrm>
            <a:off x="276225" y="2295525"/>
            <a:ext cx="6630935" cy="3505507"/>
          </a:xfrm>
          <a:gradFill flip="none" rotWithShape="1">
            <a:gsLst>
              <a:gs pos="0">
                <a:schemeClr val="accent1">
                  <a:lumMod val="90000"/>
                </a:schemeClr>
              </a:gs>
              <a:gs pos="100000">
                <a:srgbClr val="FFFFFF"/>
              </a:gs>
            </a:gsLst>
            <a:lin ang="16200000" scaled="0"/>
            <a:tileRect/>
          </a:gradFill>
          <a:ln>
            <a:solidFill>
              <a:schemeClr val="tx1"/>
            </a:solidFill>
          </a:ln>
          <a:effectLst>
            <a:outerShdw blurRad="50800" dist="38100" dir="2700000" algn="tl" rotWithShape="0">
              <a:srgbClr val="000000">
                <a:alpha val="43000"/>
              </a:srgbClr>
            </a:outerShdw>
          </a:effectLst>
        </p:spPr>
        <p:txBody>
          <a:bodyPr/>
          <a:lstStyle/>
          <a:p>
            <a:pPr eaLnBrk="1" hangingPunct="1">
              <a:tabLst>
                <a:tab pos="3089275" algn="l"/>
                <a:tab pos="5826125" algn="l"/>
              </a:tabLst>
            </a:pPr>
            <a:r>
              <a:rPr lang="en-US" sz="2000" dirty="0"/>
              <a:t>Antenna	Cruise Missile	A</a:t>
            </a:r>
          </a:p>
          <a:p>
            <a:pPr eaLnBrk="1" hangingPunct="1">
              <a:tabLst>
                <a:tab pos="3089275" algn="l"/>
                <a:tab pos="5826125" algn="l"/>
              </a:tabLst>
            </a:pPr>
            <a:r>
              <a:rPr lang="en-US" sz="2000" dirty="0"/>
              <a:t>Engagement Control	Patriot Missile	</a:t>
            </a:r>
            <a:r>
              <a:rPr lang="en-US" sz="2000" dirty="0" err="1"/>
              <a:t>C</a:t>
            </a:r>
            <a:endParaRPr lang="en-US" sz="2000" dirty="0"/>
          </a:p>
          <a:p>
            <a:pPr eaLnBrk="1" hangingPunct="1">
              <a:tabLst>
                <a:tab pos="3089275" algn="l"/>
                <a:tab pos="5826125" algn="l"/>
              </a:tabLst>
            </a:pPr>
            <a:r>
              <a:rPr lang="en-US" sz="2000" dirty="0"/>
              <a:t>Radio Receiving Set	Guardrail	A</a:t>
            </a:r>
          </a:p>
          <a:p>
            <a:pPr eaLnBrk="1" hangingPunct="1">
              <a:tabLst>
                <a:tab pos="3089275" algn="l"/>
                <a:tab pos="5826125" algn="l"/>
              </a:tabLst>
            </a:pPr>
            <a:r>
              <a:rPr lang="en-US" sz="2000" dirty="0"/>
              <a:t>Personnel Carrier </a:t>
            </a:r>
            <a:r>
              <a:rPr lang="en-US" sz="2000" dirty="0" err="1"/>
              <a:t>F/T</a:t>
            </a:r>
            <a:r>
              <a:rPr lang="en-US" sz="2000" dirty="0"/>
              <a:t>	M2, M2A2, M3	A</a:t>
            </a:r>
          </a:p>
          <a:p>
            <a:pPr eaLnBrk="1" hangingPunct="1">
              <a:tabLst>
                <a:tab pos="3089275" algn="l"/>
                <a:tab pos="5826125" algn="l"/>
              </a:tabLst>
            </a:pPr>
            <a:r>
              <a:rPr lang="en-US" sz="2000" dirty="0"/>
              <a:t>Award Plaque	Suggestion Award	</a:t>
            </a:r>
            <a:r>
              <a:rPr lang="en-US" sz="2000" dirty="0" err="1"/>
              <a:t>B</a:t>
            </a:r>
            <a:endParaRPr lang="en-US" sz="2000" dirty="0"/>
          </a:p>
          <a:p>
            <a:pPr eaLnBrk="1" hangingPunct="1">
              <a:tabLst>
                <a:tab pos="3089275" algn="l"/>
                <a:tab pos="5826125" algn="l"/>
              </a:tabLst>
            </a:pPr>
            <a:r>
              <a:rPr lang="en-US" sz="2000" dirty="0"/>
              <a:t>Ship Anchor	Combat Support Ship	</a:t>
            </a:r>
            <a:r>
              <a:rPr lang="en-US" sz="2000" dirty="0" err="1"/>
              <a:t>F</a:t>
            </a:r>
            <a:endParaRPr lang="en-US" sz="2000" dirty="0"/>
          </a:p>
          <a:p>
            <a:pPr eaLnBrk="1" hangingPunct="1">
              <a:tabLst>
                <a:tab pos="3089275" algn="l"/>
                <a:tab pos="5826125" algn="l"/>
              </a:tabLst>
            </a:pPr>
            <a:r>
              <a:rPr lang="en-US" sz="2000" dirty="0"/>
              <a:t>Chaplaincy LSP*	Chaplain’s Field Desk	B</a:t>
            </a:r>
          </a:p>
          <a:p>
            <a:pPr eaLnBrk="1" hangingPunct="1">
              <a:tabLst>
                <a:tab pos="3089275" algn="l"/>
                <a:tab pos="5826125" algn="l"/>
              </a:tabLst>
            </a:pPr>
            <a:r>
              <a:rPr lang="en-US" sz="2000" dirty="0"/>
              <a:t>Toilet Tank Assembly	KC-135	</a:t>
            </a:r>
            <a:r>
              <a:rPr lang="en-US" sz="2000" dirty="0" err="1"/>
              <a:t>B</a:t>
            </a:r>
            <a:r>
              <a:rPr lang="en-US" sz="2000" dirty="0"/>
              <a:t> 		</a:t>
            </a:r>
          </a:p>
        </p:txBody>
      </p:sp>
      <p:sp>
        <p:nvSpPr>
          <p:cNvPr id="7175" name="Text Box 5"/>
          <p:cNvSpPr txBox="1">
            <a:spLocks noChangeArrowheads="1"/>
          </p:cNvSpPr>
          <p:nvPr/>
        </p:nvSpPr>
        <p:spPr bwMode="auto">
          <a:xfrm>
            <a:off x="276224" y="1849438"/>
            <a:ext cx="6630937" cy="400110"/>
          </a:xfrm>
          <a:prstGeom prst="rect">
            <a:avLst/>
          </a:prstGeom>
          <a:gradFill flip="none" rotWithShape="1">
            <a:gsLst>
              <a:gs pos="21000">
                <a:schemeClr val="accent1"/>
              </a:gs>
              <a:gs pos="100000">
                <a:srgbClr val="FFFFFF"/>
              </a:gs>
            </a:gsLst>
            <a:lin ang="16200000" scaled="0"/>
            <a:tileRect/>
          </a:gradFill>
          <a:ln w="9525">
            <a:solidFill>
              <a:schemeClr val="tx1"/>
            </a:solidFill>
            <a:miter lim="800000"/>
            <a:headEnd/>
            <a:tailEnd/>
          </a:ln>
          <a:scene3d>
            <a:camera prst="orthographicFront"/>
            <a:lightRig rig="threePt" dir="t"/>
          </a:scene3d>
          <a:sp3d>
            <a:bevelT/>
          </a:sp3d>
        </p:spPr>
        <p:txBody>
          <a:bodyPr wrap="square">
            <a:spAutoFit/>
          </a:bodyPr>
          <a:lstStyle/>
          <a:p>
            <a:pPr>
              <a:spcBef>
                <a:spcPct val="50000"/>
              </a:spcBef>
            </a:pPr>
            <a:r>
              <a:rPr lang="en-US" sz="2000" u="sng" dirty="0">
                <a:latin typeface="Arial"/>
                <a:cs typeface="Arial"/>
              </a:rPr>
              <a:t>Nomenclature</a:t>
            </a:r>
            <a:r>
              <a:rPr lang="en-US" sz="2000" dirty="0">
                <a:latin typeface="Arial"/>
                <a:cs typeface="Arial"/>
              </a:rPr>
              <a:t>	                </a:t>
            </a:r>
            <a:r>
              <a:rPr lang="en-US" sz="2000" u="sng" dirty="0">
                <a:latin typeface="Arial"/>
                <a:cs typeface="Arial"/>
              </a:rPr>
              <a:t>End Item</a:t>
            </a:r>
            <a:r>
              <a:rPr lang="en-US" sz="2000" dirty="0">
                <a:latin typeface="Arial"/>
                <a:cs typeface="Arial"/>
              </a:rPr>
              <a:t>	          </a:t>
            </a:r>
            <a:r>
              <a:rPr lang="en-US" sz="2000" u="sng" dirty="0">
                <a:latin typeface="Arial"/>
                <a:cs typeface="Arial"/>
              </a:rPr>
              <a:t>Old Code</a:t>
            </a:r>
          </a:p>
        </p:txBody>
      </p:sp>
      <p:sp>
        <p:nvSpPr>
          <p:cNvPr id="7176" name="Text Box 7"/>
          <p:cNvSpPr txBox="1">
            <a:spLocks noChangeArrowheads="1"/>
          </p:cNvSpPr>
          <p:nvPr/>
        </p:nvSpPr>
        <p:spPr bwMode="auto">
          <a:xfrm>
            <a:off x="6964516" y="1849437"/>
            <a:ext cx="1876272" cy="403789"/>
          </a:xfrm>
          <a:prstGeom prst="rect">
            <a:avLst/>
          </a:prstGeom>
          <a:gradFill flip="none" rotWithShape="1">
            <a:gsLst>
              <a:gs pos="0">
                <a:schemeClr val="accent5"/>
              </a:gs>
              <a:gs pos="100000">
                <a:srgbClr val="FFFFFF"/>
              </a:gs>
            </a:gsLst>
            <a:lin ang="16560000" scaled="0"/>
            <a:tileRect/>
          </a:gradFill>
          <a:ln w="9525">
            <a:solidFill>
              <a:schemeClr val="tx1"/>
            </a:solidFill>
            <a:miter lim="800000"/>
            <a:headEnd/>
            <a:tailEnd/>
          </a:ln>
          <a:scene3d>
            <a:camera prst="orthographicFront"/>
            <a:lightRig rig="threePt" dir="t"/>
          </a:scene3d>
          <a:sp3d>
            <a:bevelT/>
          </a:sp3d>
        </p:spPr>
        <p:txBody>
          <a:bodyPr vert="horz" wrap="square" lIns="91440" tIns="45720" rIns="91440" bIns="45720" numCol="1" anchor="t" anchorCtr="0" compatLnSpc="1">
            <a:prstTxWarp prst="textNoShape">
              <a:avLst/>
            </a:prstTxWarp>
          </a:bodyPr>
          <a:lstStyle/>
          <a:p>
            <a:pPr marL="342900" indent="-342900" algn="ctr">
              <a:spcBef>
                <a:spcPct val="20000"/>
              </a:spcBef>
            </a:pPr>
            <a:r>
              <a:rPr lang="en-US" sz="2000" u="sng" dirty="0">
                <a:latin typeface="Arial"/>
                <a:cs typeface="Arial"/>
              </a:rPr>
              <a:t>New Code</a:t>
            </a:r>
          </a:p>
        </p:txBody>
      </p:sp>
      <p:sp>
        <p:nvSpPr>
          <p:cNvPr id="9" name="Title 8"/>
          <p:cNvSpPr>
            <a:spLocks noGrp="1"/>
          </p:cNvSpPr>
          <p:nvPr>
            <p:ph type="title"/>
          </p:nvPr>
        </p:nvSpPr>
        <p:spPr>
          <a:xfrm>
            <a:off x="685800" y="274320"/>
            <a:ext cx="7772400" cy="1005840"/>
          </a:xfrm>
        </p:spPr>
        <p:txBody>
          <a:bodyPr/>
          <a:lstStyle/>
          <a:p>
            <a:r>
              <a:rPr lang="en-US" dirty="0"/>
              <a:t>Other Examples</a:t>
            </a:r>
          </a:p>
        </p:txBody>
      </p:sp>
      <p:sp>
        <p:nvSpPr>
          <p:cNvPr id="4" name="TextBox 3">
            <a:extLst>
              <a:ext uri="{FF2B5EF4-FFF2-40B4-BE49-F238E27FC236}">
                <a16:creationId xmlns:a16="http://schemas.microsoft.com/office/drawing/2014/main" id="{D2DE8A60-02ED-C1F3-1213-8BACB0260822}"/>
              </a:ext>
            </a:extLst>
          </p:cNvPr>
          <p:cNvSpPr txBox="1"/>
          <p:nvPr/>
        </p:nvSpPr>
        <p:spPr>
          <a:xfrm>
            <a:off x="6964516" y="2295525"/>
            <a:ext cx="1876272" cy="4832092"/>
          </a:xfrm>
          <a:prstGeom prst="rect">
            <a:avLst/>
          </a:prstGeom>
          <a:noFill/>
        </p:spPr>
        <p:txBody>
          <a:bodyPr wrap="square" rtlCol="0">
            <a:spAutoFit/>
          </a:bodyPr>
          <a:lstStyle/>
          <a:p>
            <a:pPr algn="ctr"/>
            <a:r>
              <a:rPr lang="en-US" sz="2400" dirty="0">
                <a:latin typeface="Arial" panose="020B0604020202020204" pitchFamily="34" charset="0"/>
                <a:cs typeface="Arial" panose="020B0604020202020204" pitchFamily="34" charset="0"/>
              </a:rPr>
              <a:t>D</a:t>
            </a:r>
          </a:p>
          <a:p>
            <a:pPr algn="ctr"/>
            <a:r>
              <a:rPr lang="en-US" sz="2400" dirty="0">
                <a:latin typeface="Arial" panose="020B0604020202020204" pitchFamily="34" charset="0"/>
                <a:cs typeface="Arial" panose="020B0604020202020204" pitchFamily="34" charset="0"/>
              </a:rPr>
              <a:t>P</a:t>
            </a:r>
          </a:p>
          <a:p>
            <a:pPr algn="ctr"/>
            <a:r>
              <a:rPr lang="en-US" sz="2400" dirty="0">
                <a:latin typeface="Arial" panose="020B0604020202020204" pitchFamily="34" charset="0"/>
                <a:cs typeface="Arial" panose="020B0604020202020204" pitchFamily="34" charset="0"/>
              </a:rPr>
              <a:t>D</a:t>
            </a:r>
          </a:p>
          <a:p>
            <a:pPr algn="ctr"/>
            <a:r>
              <a:rPr lang="en-US" sz="2400" dirty="0">
                <a:latin typeface="Arial" panose="020B0604020202020204" pitchFamily="34" charset="0"/>
                <a:cs typeface="Arial" panose="020B0604020202020204" pitchFamily="34" charset="0"/>
              </a:rPr>
              <a:t>C</a:t>
            </a:r>
          </a:p>
          <a:p>
            <a:pPr algn="ctr"/>
            <a:r>
              <a:rPr lang="en-US" sz="2400" dirty="0">
                <a:latin typeface="Arial" panose="020B0604020202020204" pitchFamily="34" charset="0"/>
                <a:cs typeface="Arial" panose="020B0604020202020204" pitchFamily="34" charset="0"/>
              </a:rPr>
              <a:t>A</a:t>
            </a:r>
          </a:p>
          <a:p>
            <a:pPr algn="ctr"/>
            <a:r>
              <a:rPr lang="en-US" sz="2400" dirty="0">
                <a:latin typeface="Arial" panose="020B0604020202020204" pitchFamily="34" charset="0"/>
                <a:cs typeface="Arial" panose="020B0604020202020204" pitchFamily="34" charset="0"/>
              </a:rPr>
              <a:t>A</a:t>
            </a:r>
          </a:p>
          <a:p>
            <a:pPr algn="ctr"/>
            <a:r>
              <a:rPr lang="en-US" sz="2400" dirty="0">
                <a:latin typeface="Arial" panose="020B0604020202020204" pitchFamily="34" charset="0"/>
                <a:cs typeface="Arial" panose="020B0604020202020204" pitchFamily="34" charset="0"/>
              </a:rPr>
              <a:t>A</a:t>
            </a:r>
          </a:p>
          <a:p>
            <a:pPr algn="ctr"/>
            <a:r>
              <a:rPr lang="en-US" sz="2400" dirty="0">
                <a:latin typeface="Arial" panose="020B0604020202020204" pitchFamily="34" charset="0"/>
                <a:cs typeface="Arial" panose="020B0604020202020204" pitchFamily="34" charset="0"/>
              </a:rPr>
              <a:t>A</a:t>
            </a:r>
            <a:br>
              <a:rPr lang="en-US" sz="2400" dirty="0">
                <a:latin typeface="Arial" panose="020B0604020202020204" pitchFamily="34" charset="0"/>
                <a:cs typeface="Arial" panose="020B0604020202020204" pitchFamily="34" charset="0"/>
              </a:rPr>
            </a:br>
            <a:endParaRPr lang="en-US" sz="2400" dirty="0">
              <a:latin typeface="Arial" panose="020B0604020202020204" pitchFamily="34" charset="0"/>
              <a:cs typeface="Arial" panose="020B0604020202020204" pitchFamily="34" charset="0"/>
            </a:endParaRPr>
          </a:p>
          <a:p>
            <a:pPr algn="ctr"/>
            <a:endParaRPr lang="en-US" sz="2400" dirty="0"/>
          </a:p>
          <a:p>
            <a:pPr algn="ctr"/>
            <a:endParaRPr lang="en-US" sz="2400" dirty="0"/>
          </a:p>
          <a:p>
            <a:pPr algn="ctr"/>
            <a:endParaRPr lang="en-US" sz="2400" dirty="0"/>
          </a:p>
          <a:p>
            <a:pPr algn="ctr"/>
            <a:endParaRPr lang="en-US" sz="2000" dirty="0"/>
          </a:p>
        </p:txBody>
      </p:sp>
      <p:sp>
        <p:nvSpPr>
          <p:cNvPr id="5" name="TextBox 4">
            <a:extLst>
              <a:ext uri="{FF2B5EF4-FFF2-40B4-BE49-F238E27FC236}">
                <a16:creationId xmlns:a16="http://schemas.microsoft.com/office/drawing/2014/main" id="{CDBF9C15-D25E-E061-EE69-CD03F047C59E}"/>
              </a:ext>
            </a:extLst>
          </p:cNvPr>
          <p:cNvSpPr txBox="1"/>
          <p:nvPr/>
        </p:nvSpPr>
        <p:spPr>
          <a:xfrm>
            <a:off x="0" y="5981700"/>
            <a:ext cx="9144000" cy="523220"/>
          </a:xfrm>
          <a:prstGeom prst="rect">
            <a:avLst/>
          </a:prstGeom>
          <a:noFill/>
        </p:spPr>
        <p:txBody>
          <a:bodyPr wrap="square" rtlCol="0">
            <a:spAutoFit/>
          </a:bodyPr>
          <a:lstStyle/>
          <a:p>
            <a:r>
              <a:rPr lang="en-US" sz="1400" dirty="0">
                <a:solidFill>
                  <a:srgbClr val="FF0000"/>
                </a:solidFill>
              </a:rPr>
              <a:t>**YOU SHOULD NOT RELY ON NOMENCLATURE ALONE TO MAKE YOUR DEMIL CODE DETERMINATION**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0355">
                                            <p:bg/>
                                          </p:spTgt>
                                        </p:tgtEl>
                                        <p:attrNameLst>
                                          <p:attrName>style.visibility</p:attrName>
                                        </p:attrNameLst>
                                      </p:cBhvr>
                                      <p:to>
                                        <p:strVal val="visible"/>
                                      </p:to>
                                    </p:set>
                                    <p:anim calcmode="lin" valueType="num">
                                      <p:cBhvr additive="base">
                                        <p:cTn id="7" dur="500" fill="hold"/>
                                        <p:tgtEl>
                                          <p:spTgt spid="100355">
                                            <p:bg/>
                                          </p:spTgt>
                                        </p:tgtEl>
                                        <p:attrNameLst>
                                          <p:attrName>ppt_x</p:attrName>
                                        </p:attrNameLst>
                                      </p:cBhvr>
                                      <p:tavLst>
                                        <p:tav tm="0">
                                          <p:val>
                                            <p:strVal val="0-#ppt_w/2"/>
                                          </p:val>
                                        </p:tav>
                                        <p:tav tm="100000">
                                          <p:val>
                                            <p:strVal val="#ppt_x"/>
                                          </p:val>
                                        </p:tav>
                                      </p:tavLst>
                                    </p:anim>
                                    <p:anim calcmode="lin" valueType="num">
                                      <p:cBhvr additive="base">
                                        <p:cTn id="8" dur="500" fill="hold"/>
                                        <p:tgtEl>
                                          <p:spTgt spid="100355">
                                            <p:bg/>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0355">
                                            <p:txEl>
                                              <p:pRg st="0" end="0"/>
                                            </p:txEl>
                                          </p:spTgt>
                                        </p:tgtEl>
                                        <p:attrNameLst>
                                          <p:attrName>style.visibility</p:attrName>
                                        </p:attrNameLst>
                                      </p:cBhvr>
                                      <p:to>
                                        <p:strVal val="visible"/>
                                      </p:to>
                                    </p:set>
                                    <p:anim calcmode="lin" valueType="num">
                                      <p:cBhvr additive="base">
                                        <p:cTn id="13" dur="500" fill="hold"/>
                                        <p:tgtEl>
                                          <p:spTgt spid="100355">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035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0355">
                                            <p:txEl>
                                              <p:pRg st="1" end="1"/>
                                            </p:txEl>
                                          </p:spTgt>
                                        </p:tgtEl>
                                        <p:attrNameLst>
                                          <p:attrName>style.visibility</p:attrName>
                                        </p:attrNameLst>
                                      </p:cBhvr>
                                      <p:to>
                                        <p:strVal val="visible"/>
                                      </p:to>
                                    </p:set>
                                    <p:anim calcmode="lin" valueType="num">
                                      <p:cBhvr additive="base">
                                        <p:cTn id="19" dur="500" fill="hold"/>
                                        <p:tgtEl>
                                          <p:spTgt spid="100355">
                                            <p:txEl>
                                              <p:pRg st="1" end="1"/>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035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00355">
                                            <p:txEl>
                                              <p:pRg st="2" end="2"/>
                                            </p:txEl>
                                          </p:spTgt>
                                        </p:tgtEl>
                                        <p:attrNameLst>
                                          <p:attrName>style.visibility</p:attrName>
                                        </p:attrNameLst>
                                      </p:cBhvr>
                                      <p:to>
                                        <p:strVal val="visible"/>
                                      </p:to>
                                    </p:set>
                                    <p:anim calcmode="lin" valueType="num">
                                      <p:cBhvr additive="base">
                                        <p:cTn id="25" dur="500" fill="hold"/>
                                        <p:tgtEl>
                                          <p:spTgt spid="100355">
                                            <p:txEl>
                                              <p:pRg st="2" end="2"/>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0035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00355">
                                            <p:txEl>
                                              <p:pRg st="3" end="3"/>
                                            </p:txEl>
                                          </p:spTgt>
                                        </p:tgtEl>
                                        <p:attrNameLst>
                                          <p:attrName>style.visibility</p:attrName>
                                        </p:attrNameLst>
                                      </p:cBhvr>
                                      <p:to>
                                        <p:strVal val="visible"/>
                                      </p:to>
                                    </p:set>
                                    <p:anim calcmode="lin" valueType="num">
                                      <p:cBhvr additive="base">
                                        <p:cTn id="31" dur="500" fill="hold"/>
                                        <p:tgtEl>
                                          <p:spTgt spid="100355">
                                            <p:txEl>
                                              <p:pRg st="3" end="3"/>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0035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00355">
                                            <p:txEl>
                                              <p:pRg st="4" end="4"/>
                                            </p:txEl>
                                          </p:spTgt>
                                        </p:tgtEl>
                                        <p:attrNameLst>
                                          <p:attrName>style.visibility</p:attrName>
                                        </p:attrNameLst>
                                      </p:cBhvr>
                                      <p:to>
                                        <p:strVal val="visible"/>
                                      </p:to>
                                    </p:set>
                                    <p:anim calcmode="lin" valueType="num">
                                      <p:cBhvr additive="base">
                                        <p:cTn id="37" dur="500" fill="hold"/>
                                        <p:tgtEl>
                                          <p:spTgt spid="100355">
                                            <p:txEl>
                                              <p:pRg st="4" end="4"/>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00355">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00355">
                                            <p:txEl>
                                              <p:pRg st="5" end="5"/>
                                            </p:txEl>
                                          </p:spTgt>
                                        </p:tgtEl>
                                        <p:attrNameLst>
                                          <p:attrName>style.visibility</p:attrName>
                                        </p:attrNameLst>
                                      </p:cBhvr>
                                      <p:to>
                                        <p:strVal val="visible"/>
                                      </p:to>
                                    </p:set>
                                    <p:anim calcmode="lin" valueType="num">
                                      <p:cBhvr additive="base">
                                        <p:cTn id="43" dur="500" fill="hold"/>
                                        <p:tgtEl>
                                          <p:spTgt spid="100355">
                                            <p:txEl>
                                              <p:pRg st="5" end="5"/>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100355">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100355">
                                            <p:txEl>
                                              <p:pRg st="6" end="6"/>
                                            </p:txEl>
                                          </p:spTgt>
                                        </p:tgtEl>
                                        <p:attrNameLst>
                                          <p:attrName>style.visibility</p:attrName>
                                        </p:attrNameLst>
                                      </p:cBhvr>
                                      <p:to>
                                        <p:strVal val="visible"/>
                                      </p:to>
                                    </p:set>
                                    <p:anim calcmode="lin" valueType="num">
                                      <p:cBhvr additive="base">
                                        <p:cTn id="49" dur="500" fill="hold"/>
                                        <p:tgtEl>
                                          <p:spTgt spid="100355">
                                            <p:txEl>
                                              <p:pRg st="6" end="6"/>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100355">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100355">
                                            <p:txEl>
                                              <p:pRg st="7" end="7"/>
                                            </p:txEl>
                                          </p:spTgt>
                                        </p:tgtEl>
                                        <p:attrNameLst>
                                          <p:attrName>style.visibility</p:attrName>
                                        </p:attrNameLst>
                                      </p:cBhvr>
                                      <p:to>
                                        <p:strVal val="visible"/>
                                      </p:to>
                                    </p:set>
                                    <p:anim calcmode="lin" valueType="num">
                                      <p:cBhvr additive="base">
                                        <p:cTn id="55" dur="500" fill="hold"/>
                                        <p:tgtEl>
                                          <p:spTgt spid="100355">
                                            <p:txEl>
                                              <p:pRg st="7" end="7"/>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100355">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4">
                                            <p:txEl>
                                              <p:pRg st="0" end="0"/>
                                            </p:txEl>
                                          </p:spTgt>
                                        </p:tgtEl>
                                        <p:attrNameLst>
                                          <p:attrName>style.visibility</p:attrName>
                                        </p:attrNameLst>
                                      </p:cBhvr>
                                      <p:to>
                                        <p:strVal val="visible"/>
                                      </p:to>
                                    </p:set>
                                    <p:anim calcmode="lin" valueType="num">
                                      <p:cBhvr additive="base">
                                        <p:cTn id="61"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4">
                                            <p:txEl>
                                              <p:pRg st="0" end="0"/>
                                            </p:txEl>
                                          </p:spTgt>
                                        </p:tgtEl>
                                        <p:attrNameLst>
                                          <p:attrName>ppt_y</p:attrName>
                                        </p:attrNameLst>
                                      </p:cBhvr>
                                      <p:tavLst>
                                        <p:tav tm="0">
                                          <p:val>
                                            <p:strVal val="1+#ppt_h/2"/>
                                          </p:val>
                                        </p:tav>
                                        <p:tav tm="100000">
                                          <p:val>
                                            <p:strVal val="#ppt_y"/>
                                          </p:val>
                                        </p:tav>
                                      </p:tavLst>
                                    </p:anim>
                                  </p:childTnLst>
                                </p:cTn>
                              </p:par>
                              <p:par>
                                <p:cTn id="63" presetID="2" presetClass="entr" presetSubtype="4" fill="hold" grpId="0" nodeType="withEffect">
                                  <p:stCondLst>
                                    <p:cond delay="0"/>
                                  </p:stCondLst>
                                  <p:childTnLst>
                                    <p:set>
                                      <p:cBhvr>
                                        <p:cTn id="64" dur="1" fill="hold">
                                          <p:stCondLst>
                                            <p:cond delay="0"/>
                                          </p:stCondLst>
                                        </p:cTn>
                                        <p:tgtEl>
                                          <p:spTgt spid="4">
                                            <p:txEl>
                                              <p:pRg st="1" end="1"/>
                                            </p:txEl>
                                          </p:spTgt>
                                        </p:tgtEl>
                                        <p:attrNameLst>
                                          <p:attrName>style.visibility</p:attrName>
                                        </p:attrNameLst>
                                      </p:cBhvr>
                                      <p:to>
                                        <p:strVal val="visible"/>
                                      </p:to>
                                    </p:set>
                                    <p:anim calcmode="lin" valueType="num">
                                      <p:cBhvr additive="base">
                                        <p:cTn id="65"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66" dur="500" fill="hold"/>
                                        <p:tgtEl>
                                          <p:spTgt spid="4">
                                            <p:txEl>
                                              <p:pRg st="1" end="1"/>
                                            </p:txEl>
                                          </p:spTgt>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p:stCondLst>
                                    <p:cond delay="0"/>
                                  </p:stCondLst>
                                  <p:childTnLst>
                                    <p:set>
                                      <p:cBhvr>
                                        <p:cTn id="68" dur="1" fill="hold">
                                          <p:stCondLst>
                                            <p:cond delay="0"/>
                                          </p:stCondLst>
                                        </p:cTn>
                                        <p:tgtEl>
                                          <p:spTgt spid="4">
                                            <p:txEl>
                                              <p:pRg st="2" end="2"/>
                                            </p:txEl>
                                          </p:spTgt>
                                        </p:tgtEl>
                                        <p:attrNameLst>
                                          <p:attrName>style.visibility</p:attrName>
                                        </p:attrNameLst>
                                      </p:cBhvr>
                                      <p:to>
                                        <p:strVal val="visible"/>
                                      </p:to>
                                    </p:set>
                                    <p:anim calcmode="lin" valueType="num">
                                      <p:cBhvr additive="base">
                                        <p:cTn id="69"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70" dur="500" fill="hold"/>
                                        <p:tgtEl>
                                          <p:spTgt spid="4">
                                            <p:txEl>
                                              <p:pRg st="2" end="2"/>
                                            </p:txEl>
                                          </p:spTgt>
                                        </p:tgtEl>
                                        <p:attrNameLst>
                                          <p:attrName>ppt_y</p:attrName>
                                        </p:attrNameLst>
                                      </p:cBhvr>
                                      <p:tavLst>
                                        <p:tav tm="0">
                                          <p:val>
                                            <p:strVal val="1+#ppt_h/2"/>
                                          </p:val>
                                        </p:tav>
                                        <p:tav tm="100000">
                                          <p:val>
                                            <p:strVal val="#ppt_y"/>
                                          </p:val>
                                        </p:tav>
                                      </p:tavLst>
                                    </p:anim>
                                  </p:childTnLst>
                                </p:cTn>
                              </p:par>
                              <p:par>
                                <p:cTn id="71" presetID="2" presetClass="entr" presetSubtype="4" fill="hold" grpId="0" nodeType="withEffect">
                                  <p:stCondLst>
                                    <p:cond delay="0"/>
                                  </p:stCondLst>
                                  <p:childTnLst>
                                    <p:set>
                                      <p:cBhvr>
                                        <p:cTn id="72" dur="1" fill="hold">
                                          <p:stCondLst>
                                            <p:cond delay="0"/>
                                          </p:stCondLst>
                                        </p:cTn>
                                        <p:tgtEl>
                                          <p:spTgt spid="4">
                                            <p:txEl>
                                              <p:pRg st="3" end="3"/>
                                            </p:txEl>
                                          </p:spTgt>
                                        </p:tgtEl>
                                        <p:attrNameLst>
                                          <p:attrName>style.visibility</p:attrName>
                                        </p:attrNameLst>
                                      </p:cBhvr>
                                      <p:to>
                                        <p:strVal val="visible"/>
                                      </p:to>
                                    </p:set>
                                    <p:anim calcmode="lin" valueType="num">
                                      <p:cBhvr additive="base">
                                        <p:cTn id="73"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4">
                                            <p:txEl>
                                              <p:pRg st="3" end="3"/>
                                            </p:txEl>
                                          </p:spTgt>
                                        </p:tgtEl>
                                        <p:attrNameLst>
                                          <p:attrName>ppt_y</p:attrName>
                                        </p:attrNameLst>
                                      </p:cBhvr>
                                      <p:tavLst>
                                        <p:tav tm="0">
                                          <p:val>
                                            <p:strVal val="1+#ppt_h/2"/>
                                          </p:val>
                                        </p:tav>
                                        <p:tav tm="100000">
                                          <p:val>
                                            <p:strVal val="#ppt_y"/>
                                          </p:val>
                                        </p:tav>
                                      </p:tavLst>
                                    </p:anim>
                                  </p:childTnLst>
                                </p:cTn>
                              </p:par>
                              <p:par>
                                <p:cTn id="75" presetID="2" presetClass="entr" presetSubtype="4" fill="hold" grpId="0" nodeType="withEffect">
                                  <p:stCondLst>
                                    <p:cond delay="0"/>
                                  </p:stCondLst>
                                  <p:childTnLst>
                                    <p:set>
                                      <p:cBhvr>
                                        <p:cTn id="76" dur="1" fill="hold">
                                          <p:stCondLst>
                                            <p:cond delay="0"/>
                                          </p:stCondLst>
                                        </p:cTn>
                                        <p:tgtEl>
                                          <p:spTgt spid="4">
                                            <p:txEl>
                                              <p:pRg st="4" end="4"/>
                                            </p:txEl>
                                          </p:spTgt>
                                        </p:tgtEl>
                                        <p:attrNameLst>
                                          <p:attrName>style.visibility</p:attrName>
                                        </p:attrNameLst>
                                      </p:cBhvr>
                                      <p:to>
                                        <p:strVal val="visible"/>
                                      </p:to>
                                    </p:set>
                                    <p:anim calcmode="lin" valueType="num">
                                      <p:cBhvr additive="base">
                                        <p:cTn id="77"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78" dur="500" fill="hold"/>
                                        <p:tgtEl>
                                          <p:spTgt spid="4">
                                            <p:txEl>
                                              <p:pRg st="4" end="4"/>
                                            </p:txEl>
                                          </p:spTgt>
                                        </p:tgtEl>
                                        <p:attrNameLst>
                                          <p:attrName>ppt_y</p:attrName>
                                        </p:attrNameLst>
                                      </p:cBhvr>
                                      <p:tavLst>
                                        <p:tav tm="0">
                                          <p:val>
                                            <p:strVal val="1+#ppt_h/2"/>
                                          </p:val>
                                        </p:tav>
                                        <p:tav tm="100000">
                                          <p:val>
                                            <p:strVal val="#ppt_y"/>
                                          </p:val>
                                        </p:tav>
                                      </p:tavLst>
                                    </p:anim>
                                  </p:childTnLst>
                                </p:cTn>
                              </p:par>
                              <p:par>
                                <p:cTn id="79" presetID="2" presetClass="entr" presetSubtype="4" fill="hold" grpId="0" nodeType="withEffect">
                                  <p:stCondLst>
                                    <p:cond delay="0"/>
                                  </p:stCondLst>
                                  <p:childTnLst>
                                    <p:set>
                                      <p:cBhvr>
                                        <p:cTn id="80" dur="1" fill="hold">
                                          <p:stCondLst>
                                            <p:cond delay="0"/>
                                          </p:stCondLst>
                                        </p:cTn>
                                        <p:tgtEl>
                                          <p:spTgt spid="4">
                                            <p:txEl>
                                              <p:pRg st="5" end="5"/>
                                            </p:txEl>
                                          </p:spTgt>
                                        </p:tgtEl>
                                        <p:attrNameLst>
                                          <p:attrName>style.visibility</p:attrName>
                                        </p:attrNameLst>
                                      </p:cBhvr>
                                      <p:to>
                                        <p:strVal val="visible"/>
                                      </p:to>
                                    </p:set>
                                    <p:anim calcmode="lin" valueType="num">
                                      <p:cBhvr additive="base">
                                        <p:cTn id="81"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82" dur="500" fill="hold"/>
                                        <p:tgtEl>
                                          <p:spTgt spid="4">
                                            <p:txEl>
                                              <p:pRg st="5" end="5"/>
                                            </p:txEl>
                                          </p:spTgt>
                                        </p:tgtEl>
                                        <p:attrNameLst>
                                          <p:attrName>ppt_y</p:attrName>
                                        </p:attrNameLst>
                                      </p:cBhvr>
                                      <p:tavLst>
                                        <p:tav tm="0">
                                          <p:val>
                                            <p:strVal val="1+#ppt_h/2"/>
                                          </p:val>
                                        </p:tav>
                                        <p:tav tm="100000">
                                          <p:val>
                                            <p:strVal val="#ppt_y"/>
                                          </p:val>
                                        </p:tav>
                                      </p:tavLst>
                                    </p:anim>
                                  </p:childTnLst>
                                </p:cTn>
                              </p:par>
                              <p:par>
                                <p:cTn id="83" presetID="2" presetClass="entr" presetSubtype="4" fill="hold" grpId="0" nodeType="withEffect">
                                  <p:stCondLst>
                                    <p:cond delay="0"/>
                                  </p:stCondLst>
                                  <p:childTnLst>
                                    <p:set>
                                      <p:cBhvr>
                                        <p:cTn id="84" dur="1" fill="hold">
                                          <p:stCondLst>
                                            <p:cond delay="0"/>
                                          </p:stCondLst>
                                        </p:cTn>
                                        <p:tgtEl>
                                          <p:spTgt spid="4">
                                            <p:txEl>
                                              <p:pRg st="6" end="6"/>
                                            </p:txEl>
                                          </p:spTgt>
                                        </p:tgtEl>
                                        <p:attrNameLst>
                                          <p:attrName>style.visibility</p:attrName>
                                        </p:attrNameLst>
                                      </p:cBhvr>
                                      <p:to>
                                        <p:strVal val="visible"/>
                                      </p:to>
                                    </p:set>
                                    <p:anim calcmode="lin" valueType="num">
                                      <p:cBhvr additive="base">
                                        <p:cTn id="85"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86" dur="500" fill="hold"/>
                                        <p:tgtEl>
                                          <p:spTgt spid="4">
                                            <p:txEl>
                                              <p:pRg st="6" end="6"/>
                                            </p:txEl>
                                          </p:spTgt>
                                        </p:tgtEl>
                                        <p:attrNameLst>
                                          <p:attrName>ppt_y</p:attrName>
                                        </p:attrNameLst>
                                      </p:cBhvr>
                                      <p:tavLst>
                                        <p:tav tm="0">
                                          <p:val>
                                            <p:strVal val="1+#ppt_h/2"/>
                                          </p:val>
                                        </p:tav>
                                        <p:tav tm="100000">
                                          <p:val>
                                            <p:strVal val="#ppt_y"/>
                                          </p:val>
                                        </p:tav>
                                      </p:tavLst>
                                    </p:anim>
                                  </p:childTnLst>
                                </p:cTn>
                              </p:par>
                              <p:par>
                                <p:cTn id="87" presetID="2" presetClass="entr" presetSubtype="4" fill="hold" grpId="0" nodeType="withEffect">
                                  <p:stCondLst>
                                    <p:cond delay="0"/>
                                  </p:stCondLst>
                                  <p:childTnLst>
                                    <p:set>
                                      <p:cBhvr>
                                        <p:cTn id="88" dur="1" fill="hold">
                                          <p:stCondLst>
                                            <p:cond delay="0"/>
                                          </p:stCondLst>
                                        </p:cTn>
                                        <p:tgtEl>
                                          <p:spTgt spid="4">
                                            <p:txEl>
                                              <p:pRg st="7" end="7"/>
                                            </p:txEl>
                                          </p:spTgt>
                                        </p:tgtEl>
                                        <p:attrNameLst>
                                          <p:attrName>style.visibility</p:attrName>
                                        </p:attrNameLst>
                                      </p:cBhvr>
                                      <p:to>
                                        <p:strVal val="visible"/>
                                      </p:to>
                                    </p:set>
                                    <p:anim calcmode="lin" valueType="num">
                                      <p:cBhvr additive="base">
                                        <p:cTn id="89"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90" dur="500" fill="hold"/>
                                        <p:tgtEl>
                                          <p:spTgt spid="4">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55" grpId="0" uiExpand="1" build="p" animBg="1" autoUpdateAnimBg="0"/>
      <p:bldP spid="4" grpId="0" uiExpand="1" build="allAtOnce"/>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5"/>
          <p:cNvSpPr>
            <a:spLocks noGrp="1" noChangeArrowheads="1"/>
          </p:cNvSpPr>
          <p:nvPr>
            <p:ph type="ftr" sz="quarter" idx="10"/>
          </p:nvPr>
        </p:nvSpPr>
        <p:spPr>
          <a:noFill/>
        </p:spPr>
        <p:txBody>
          <a:bodyPr/>
          <a:lstStyle/>
          <a:p>
            <a:r>
              <a:rPr lang="en-US" dirty="0"/>
              <a:t>DEMIL Code Validation</a:t>
            </a:r>
          </a:p>
        </p:txBody>
      </p:sp>
      <p:sp>
        <p:nvSpPr>
          <p:cNvPr id="8195" name="Slide Number Placeholder 4"/>
          <p:cNvSpPr>
            <a:spLocks noGrp="1"/>
          </p:cNvSpPr>
          <p:nvPr>
            <p:ph type="sldNum" sz="quarter" idx="11"/>
          </p:nvPr>
        </p:nvSpPr>
        <p:spPr>
          <a:noFill/>
        </p:spPr>
        <p:txBody>
          <a:bodyPr/>
          <a:lstStyle/>
          <a:p>
            <a:fld id="{2091442D-34D1-423D-9C59-537196AC2216}" type="slidenum">
              <a:rPr lang="en-US" smtClean="0"/>
              <a:pPr/>
              <a:t>7</a:t>
            </a:fld>
            <a:endParaRPr lang="en-US"/>
          </a:p>
        </p:txBody>
      </p:sp>
      <p:sp>
        <p:nvSpPr>
          <p:cNvPr id="8196" name="Rectangle 2"/>
          <p:cNvSpPr>
            <a:spLocks noGrp="1" noChangeArrowheads="1"/>
          </p:cNvSpPr>
          <p:nvPr>
            <p:ph type="title"/>
          </p:nvPr>
        </p:nvSpPr>
        <p:spPr>
          <a:xfrm>
            <a:off x="685800" y="301752"/>
            <a:ext cx="7772400" cy="1005840"/>
          </a:xfrm>
        </p:spPr>
        <p:txBody>
          <a:bodyPr/>
          <a:lstStyle/>
          <a:p>
            <a:pPr eaLnBrk="1" hangingPunct="1"/>
            <a:r>
              <a:rPr lang="en-US" dirty="0"/>
              <a:t>Purpose</a:t>
            </a:r>
          </a:p>
        </p:txBody>
      </p:sp>
      <p:sp>
        <p:nvSpPr>
          <p:cNvPr id="8197" name="Text Box 4"/>
          <p:cNvSpPr txBox="1">
            <a:spLocks noChangeArrowheads="1"/>
          </p:cNvSpPr>
          <p:nvPr/>
        </p:nvSpPr>
        <p:spPr bwMode="auto">
          <a:xfrm>
            <a:off x="457200" y="1371600"/>
            <a:ext cx="8229600" cy="954107"/>
          </a:xfrm>
          <a:prstGeom prst="rect">
            <a:avLst/>
          </a:prstGeom>
          <a:noFill/>
          <a:ln w="9525">
            <a:noFill/>
            <a:miter lim="800000"/>
            <a:headEnd/>
            <a:tailEnd/>
          </a:ln>
        </p:spPr>
        <p:txBody>
          <a:bodyPr>
            <a:spAutoFit/>
          </a:bodyPr>
          <a:lstStyle/>
          <a:p>
            <a:pPr>
              <a:spcBef>
                <a:spcPct val="50000"/>
              </a:spcBef>
            </a:pPr>
            <a:r>
              <a:rPr lang="en-US" sz="2800" b="0" dirty="0">
                <a:latin typeface="Arial"/>
                <a:cs typeface="Arial"/>
              </a:rPr>
              <a:t>Verify the accuracy of DEMIL codes assigned to DoD Personal Property.</a:t>
            </a:r>
          </a:p>
        </p:txBody>
      </p:sp>
      <p:pic>
        <p:nvPicPr>
          <p:cNvPr id="3" name="Picture 2">
            <a:extLst>
              <a:ext uri="{FF2B5EF4-FFF2-40B4-BE49-F238E27FC236}">
                <a16:creationId xmlns:a16="http://schemas.microsoft.com/office/drawing/2014/main" id="{6502D240-205E-EC33-D306-F8F657546DB7}"/>
              </a:ext>
            </a:extLst>
          </p:cNvPr>
          <p:cNvPicPr>
            <a:picLocks noChangeAspect="1"/>
          </p:cNvPicPr>
          <p:nvPr/>
        </p:nvPicPr>
        <p:blipFill>
          <a:blip r:embed="rId3"/>
          <a:stretch>
            <a:fillRect/>
          </a:stretch>
        </p:blipFill>
        <p:spPr>
          <a:xfrm>
            <a:off x="261938" y="2325707"/>
            <a:ext cx="8620124" cy="3276600"/>
          </a:xfrm>
          <a:prstGeom prst="rect">
            <a:avLst/>
          </a:prstGeom>
        </p:spPr>
      </p:pic>
      <p:sp>
        <p:nvSpPr>
          <p:cNvPr id="4" name="TextBox 3">
            <a:extLst>
              <a:ext uri="{FF2B5EF4-FFF2-40B4-BE49-F238E27FC236}">
                <a16:creationId xmlns:a16="http://schemas.microsoft.com/office/drawing/2014/main" id="{DF16B7A1-915D-1F85-0AC8-AEF0A6B3BD13}"/>
              </a:ext>
            </a:extLst>
          </p:cNvPr>
          <p:cNvSpPr txBox="1"/>
          <p:nvPr/>
        </p:nvSpPr>
        <p:spPr>
          <a:xfrm>
            <a:off x="171450" y="5772150"/>
            <a:ext cx="8515350" cy="584775"/>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**Percentage of inaccurate DEMIL code was calculated by using the number of codes changed   divided by the number of new items.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5"/>
          <p:cNvSpPr>
            <a:spLocks noGrp="1" noChangeArrowheads="1"/>
          </p:cNvSpPr>
          <p:nvPr>
            <p:ph type="ftr" sz="quarter" idx="10"/>
          </p:nvPr>
        </p:nvSpPr>
        <p:spPr>
          <a:noFill/>
        </p:spPr>
        <p:txBody>
          <a:bodyPr/>
          <a:lstStyle/>
          <a:p>
            <a:r>
              <a:rPr lang="en-US" dirty="0"/>
              <a:t>DEMIL Code Validation</a:t>
            </a:r>
          </a:p>
        </p:txBody>
      </p:sp>
      <p:sp>
        <p:nvSpPr>
          <p:cNvPr id="9219" name="Slide Number Placeholder 4"/>
          <p:cNvSpPr>
            <a:spLocks noGrp="1"/>
          </p:cNvSpPr>
          <p:nvPr>
            <p:ph type="sldNum" sz="quarter" idx="11"/>
          </p:nvPr>
        </p:nvSpPr>
        <p:spPr>
          <a:noFill/>
        </p:spPr>
        <p:txBody>
          <a:bodyPr/>
          <a:lstStyle/>
          <a:p>
            <a:fld id="{469A5F76-2868-4958-8DAE-BBD10805802C}" type="slidenum">
              <a:rPr lang="en-US" smtClean="0"/>
              <a:pPr/>
              <a:t>8</a:t>
            </a:fld>
            <a:endParaRPr lang="en-US"/>
          </a:p>
        </p:txBody>
      </p:sp>
      <p:sp>
        <p:nvSpPr>
          <p:cNvPr id="9220" name="Rectangle 2"/>
          <p:cNvSpPr>
            <a:spLocks noGrp="1" noChangeArrowheads="1"/>
          </p:cNvSpPr>
          <p:nvPr>
            <p:ph type="title"/>
          </p:nvPr>
        </p:nvSpPr>
        <p:spPr>
          <a:xfrm>
            <a:off x="685800" y="274320"/>
            <a:ext cx="7772400" cy="1005840"/>
          </a:xfrm>
        </p:spPr>
        <p:txBody>
          <a:bodyPr/>
          <a:lstStyle/>
          <a:p>
            <a:pPr eaLnBrk="1" hangingPunct="1"/>
            <a:r>
              <a:rPr lang="en-US" dirty="0"/>
              <a:t>Objective</a:t>
            </a:r>
          </a:p>
        </p:txBody>
      </p:sp>
      <p:sp>
        <p:nvSpPr>
          <p:cNvPr id="9221" name="Rectangle 3"/>
          <p:cNvSpPr>
            <a:spLocks noGrp="1" noChangeArrowheads="1"/>
          </p:cNvSpPr>
          <p:nvPr>
            <p:ph type="body" idx="1"/>
          </p:nvPr>
        </p:nvSpPr>
        <p:spPr>
          <a:xfrm>
            <a:off x="457199" y="1371600"/>
            <a:ext cx="8189843" cy="1885950"/>
          </a:xfrm>
          <a:noFill/>
          <a:ln>
            <a:noFill/>
          </a:ln>
        </p:spPr>
        <p:txBody>
          <a:bodyPr/>
          <a:lstStyle/>
          <a:p>
            <a:pPr eaLnBrk="1" hangingPunct="1">
              <a:buFont typeface="Wingdings" panose="05000000000000000000" pitchFamily="2" charset="2"/>
              <a:buChar char="Ø"/>
            </a:pPr>
            <a:r>
              <a:rPr lang="en-US" dirty="0">
                <a:solidFill>
                  <a:srgbClr val="FF0000"/>
                </a:solidFill>
                <a:cs typeface="Times New Roman" pitchFamily="18" charset="0"/>
              </a:rPr>
              <a:t>Identify procedures and responsibilities for Demilitarization Code challenges.</a:t>
            </a:r>
            <a:r>
              <a:rPr lang="en-US" dirty="0">
                <a:solidFill>
                  <a:srgbClr val="FF0000"/>
                </a:solidFill>
              </a:rPr>
              <a:t>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2" name="Rectangle 5"/>
          <p:cNvSpPr>
            <a:spLocks noGrp="1" noChangeArrowheads="1"/>
          </p:cNvSpPr>
          <p:nvPr>
            <p:ph type="ftr" sz="quarter" idx="10"/>
          </p:nvPr>
        </p:nvSpPr>
        <p:spPr>
          <a:noFill/>
        </p:spPr>
        <p:txBody>
          <a:bodyPr/>
          <a:lstStyle/>
          <a:p>
            <a:r>
              <a:rPr lang="en-US" dirty="0"/>
              <a:t>DEMIL Code Validation</a:t>
            </a:r>
          </a:p>
        </p:txBody>
      </p:sp>
      <p:sp>
        <p:nvSpPr>
          <p:cNvPr id="10243" name="Slide Number Placeholder 4"/>
          <p:cNvSpPr>
            <a:spLocks noGrp="1"/>
          </p:cNvSpPr>
          <p:nvPr>
            <p:ph type="sldNum" sz="quarter" idx="11"/>
          </p:nvPr>
        </p:nvSpPr>
        <p:spPr>
          <a:noFill/>
        </p:spPr>
        <p:txBody>
          <a:bodyPr/>
          <a:lstStyle/>
          <a:p>
            <a:fld id="{EA90091B-6286-4F2C-B739-A4D1C966E170}" type="slidenum">
              <a:rPr lang="en-US" smtClean="0"/>
              <a:pPr/>
              <a:t>9</a:t>
            </a:fld>
            <a:endParaRPr lang="en-US"/>
          </a:p>
        </p:txBody>
      </p:sp>
      <p:sp>
        <p:nvSpPr>
          <p:cNvPr id="10244" name="Rectangle 2"/>
          <p:cNvSpPr>
            <a:spLocks noGrp="1" noChangeArrowheads="1"/>
          </p:cNvSpPr>
          <p:nvPr>
            <p:ph type="title"/>
          </p:nvPr>
        </p:nvSpPr>
        <p:spPr>
          <a:xfrm>
            <a:off x="482600" y="609600"/>
            <a:ext cx="8356600" cy="692150"/>
          </a:xfrm>
        </p:spPr>
        <p:txBody>
          <a:bodyPr/>
          <a:lstStyle/>
          <a:p>
            <a:pPr eaLnBrk="1" hangingPunct="1"/>
            <a:br>
              <a:rPr lang="en-US" sz="3600" b="1" u="sng"/>
            </a:br>
            <a:br>
              <a:rPr lang="en-US" b="1" u="sng"/>
            </a:br>
            <a:endParaRPr lang="en-US" sz="4000"/>
          </a:p>
        </p:txBody>
      </p:sp>
      <p:sp>
        <p:nvSpPr>
          <p:cNvPr id="10245" name="Rectangle 3"/>
          <p:cNvSpPr>
            <a:spLocks noGrp="1" noChangeArrowheads="1"/>
          </p:cNvSpPr>
          <p:nvPr>
            <p:ph type="body" idx="1"/>
          </p:nvPr>
        </p:nvSpPr>
        <p:spPr>
          <a:xfrm>
            <a:off x="304800" y="1457325"/>
            <a:ext cx="8534400" cy="4953414"/>
          </a:xfrm>
          <a:noFill/>
          <a:ln>
            <a:noFill/>
          </a:ln>
        </p:spPr>
        <p:txBody>
          <a:bodyPr/>
          <a:lstStyle/>
          <a:p>
            <a:pPr marL="0" indent="0" eaLnBrk="1" hangingPunct="1">
              <a:buNone/>
            </a:pPr>
            <a:r>
              <a:rPr lang="en-US" sz="2400" b="1" dirty="0"/>
              <a:t>DoD DEMIL Coding Management Office (DDCMO)</a:t>
            </a:r>
          </a:p>
          <a:p>
            <a:pPr lvl="1" eaLnBrk="1" hangingPunct="1">
              <a:spcBef>
                <a:spcPts val="1800"/>
              </a:spcBef>
              <a:buFont typeface="Arial" panose="020B0604020202020204" pitchFamily="34" charset="0"/>
              <a:buChar char="•"/>
            </a:pPr>
            <a:r>
              <a:rPr lang="en-US" sz="2400" dirty="0"/>
              <a:t>Responsible for the administration and maintenance of the DEMIL Code Challenge Program. </a:t>
            </a:r>
          </a:p>
          <a:p>
            <a:pPr lvl="1" eaLnBrk="1" hangingPunct="1">
              <a:spcBef>
                <a:spcPts val="1800"/>
              </a:spcBef>
              <a:buFont typeface="Arial" panose="020B0604020202020204" pitchFamily="34" charset="0"/>
              <a:buChar char="•"/>
            </a:pPr>
            <a:r>
              <a:rPr lang="en-US" sz="2400" dirty="0"/>
              <a:t>Administers the revision of DEMIL codes when the Departments of State or Commerce revises export controls for items which are of low risk for release.</a:t>
            </a:r>
          </a:p>
          <a:p>
            <a:pPr marL="57150" indent="0" eaLnBrk="1" hangingPunct="1">
              <a:spcBef>
                <a:spcPts val="1800"/>
              </a:spcBef>
              <a:buNone/>
            </a:pPr>
            <a:r>
              <a:rPr lang="en-US" sz="2400" b="1" dirty="0"/>
              <a:t>Inventory Control Point (ICP)</a:t>
            </a:r>
          </a:p>
          <a:p>
            <a:pPr lvl="1" eaLnBrk="1" hangingPunct="1">
              <a:spcBef>
                <a:spcPts val="1800"/>
              </a:spcBef>
              <a:buFont typeface="Arial" panose="020B0604020202020204" pitchFamily="34" charset="0"/>
              <a:buChar char="•"/>
            </a:pPr>
            <a:r>
              <a:rPr lang="en-US" sz="2400" dirty="0"/>
              <a:t>Responsible for timely resolution of items submitted for a challenge.</a:t>
            </a:r>
          </a:p>
        </p:txBody>
      </p:sp>
      <p:sp>
        <p:nvSpPr>
          <p:cNvPr id="8" name="Rectangle 2"/>
          <p:cNvSpPr txBox="1">
            <a:spLocks noChangeArrowheads="1"/>
          </p:cNvSpPr>
          <p:nvPr/>
        </p:nvSpPr>
        <p:spPr bwMode="auto">
          <a:xfrm>
            <a:off x="685800" y="274320"/>
            <a:ext cx="7772400" cy="100584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4000" b="1" i="0" u="none" strike="noStrike" kern="0" cap="none" spc="0" normalizeH="0" baseline="0" noProof="0" dirty="0">
                <a:ln>
                  <a:noFill/>
                </a:ln>
                <a:solidFill>
                  <a:schemeClr val="tx2"/>
                </a:solidFill>
                <a:effectLst/>
                <a:uLnTx/>
                <a:uFillTx/>
                <a:latin typeface="Arial"/>
                <a:ea typeface="+mj-ea"/>
                <a:cs typeface="Arial"/>
              </a:rPr>
              <a:t>Responsibilities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6" name="Rectangle 5"/>
          <p:cNvSpPr>
            <a:spLocks noGrp="1" noChangeArrowheads="1"/>
          </p:cNvSpPr>
          <p:nvPr>
            <p:ph type="ftr" sz="quarter" idx="10"/>
          </p:nvPr>
        </p:nvSpPr>
        <p:spPr>
          <a:noFill/>
        </p:spPr>
        <p:txBody>
          <a:bodyPr/>
          <a:lstStyle/>
          <a:p>
            <a:r>
              <a:rPr lang="en-US" dirty="0"/>
              <a:t>DEMIL Code Challenge</a:t>
            </a:r>
          </a:p>
        </p:txBody>
      </p:sp>
      <p:sp>
        <p:nvSpPr>
          <p:cNvPr id="11267" name="Slide Number Placeholder 4"/>
          <p:cNvSpPr>
            <a:spLocks noGrp="1"/>
          </p:cNvSpPr>
          <p:nvPr>
            <p:ph type="sldNum" sz="quarter" idx="11"/>
          </p:nvPr>
        </p:nvSpPr>
        <p:spPr>
          <a:noFill/>
        </p:spPr>
        <p:txBody>
          <a:bodyPr/>
          <a:lstStyle/>
          <a:p>
            <a:fld id="{C5459712-14D9-4225-9BAF-D94FA0C2D4CD}" type="slidenum">
              <a:rPr lang="en-US" smtClean="0"/>
              <a:pPr/>
              <a:t>10</a:t>
            </a:fld>
            <a:endParaRPr lang="en-US"/>
          </a:p>
        </p:txBody>
      </p:sp>
      <p:sp>
        <p:nvSpPr>
          <p:cNvPr id="11268" name="Rectangle 2"/>
          <p:cNvSpPr>
            <a:spLocks noGrp="1" noChangeArrowheads="1"/>
          </p:cNvSpPr>
          <p:nvPr>
            <p:ph type="title"/>
          </p:nvPr>
        </p:nvSpPr>
        <p:spPr>
          <a:xfrm>
            <a:off x="685800" y="274320"/>
            <a:ext cx="8240486" cy="1005840"/>
          </a:xfrm>
        </p:spPr>
        <p:txBody>
          <a:bodyPr/>
          <a:lstStyle/>
          <a:p>
            <a:pPr eaLnBrk="1" hangingPunct="1"/>
            <a:r>
              <a:rPr lang="en-US" dirty="0"/>
              <a:t>DEMIL </a:t>
            </a:r>
            <a:r>
              <a:rPr lang="en-US" sz="4000" b="1" dirty="0"/>
              <a:t>Code Challenge Process</a:t>
            </a:r>
          </a:p>
        </p:txBody>
      </p:sp>
      <p:sp>
        <p:nvSpPr>
          <p:cNvPr id="11269" name="Rectangle 3"/>
          <p:cNvSpPr>
            <a:spLocks noGrp="1" noChangeArrowheads="1"/>
          </p:cNvSpPr>
          <p:nvPr>
            <p:ph type="body" idx="1"/>
          </p:nvPr>
        </p:nvSpPr>
        <p:spPr>
          <a:xfrm>
            <a:off x="457199" y="1371600"/>
            <a:ext cx="8169965" cy="5088048"/>
          </a:xfrm>
          <a:noFill/>
          <a:ln>
            <a:noFill/>
          </a:ln>
        </p:spPr>
        <p:txBody>
          <a:bodyPr/>
          <a:lstStyle/>
          <a:p>
            <a:pPr marL="0" indent="0" eaLnBrk="1" hangingPunct="1">
              <a:lnSpc>
                <a:spcPts val="2700"/>
              </a:lnSpc>
              <a:spcBef>
                <a:spcPts val="1800"/>
              </a:spcBef>
              <a:buNone/>
            </a:pPr>
            <a:r>
              <a:rPr lang="en-US" sz="2800" dirty="0"/>
              <a:t>Any individual or activity, who has access to the DDCMO website, may initiate DEMIL code challenges.</a:t>
            </a:r>
            <a:endParaRPr lang="en-US" dirty="0"/>
          </a:p>
          <a:p>
            <a:pPr marL="0" indent="0" eaLnBrk="1" hangingPunct="1">
              <a:lnSpc>
                <a:spcPts val="2700"/>
              </a:lnSpc>
              <a:spcBef>
                <a:spcPts val="1800"/>
              </a:spcBef>
              <a:buNone/>
            </a:pPr>
            <a:r>
              <a:rPr lang="en-US" sz="2800" dirty="0"/>
              <a:t>DLA Disposition Service personnel generally submit DEMIL code challenges via Distribution Standard System (DSS) and Air Force use D143C (Now changing to FLITEs)</a:t>
            </a:r>
          </a:p>
          <a:p>
            <a:pPr marL="0" indent="0" eaLnBrk="1" hangingPunct="1">
              <a:lnSpc>
                <a:spcPts val="2700"/>
              </a:lnSpc>
              <a:spcBef>
                <a:spcPts val="1800"/>
              </a:spcBef>
              <a:buNone/>
            </a:pPr>
            <a:r>
              <a:rPr lang="en-US" sz="2800" dirty="0"/>
              <a:t>Items identified within a critical Federal Supply Class (FSC) or by a key word can help personnel identify DEMIL code challenge candidates.</a:t>
            </a:r>
          </a:p>
        </p:txBody>
      </p:sp>
      <p:sp>
        <p:nvSpPr>
          <p:cNvPr id="2" name="TextBox 1">
            <a:extLst>
              <a:ext uri="{FF2B5EF4-FFF2-40B4-BE49-F238E27FC236}">
                <a16:creationId xmlns:a16="http://schemas.microsoft.com/office/drawing/2014/main" id="{65CD48B9-8614-46BB-8206-54C2134EF072}"/>
              </a:ext>
            </a:extLst>
          </p:cNvPr>
          <p:cNvSpPr txBox="1"/>
          <p:nvPr/>
        </p:nvSpPr>
        <p:spPr>
          <a:xfrm>
            <a:off x="790575" y="5667375"/>
            <a:ext cx="7562850" cy="461665"/>
          </a:xfrm>
          <a:prstGeom prst="rect">
            <a:avLst/>
          </a:prstGeom>
          <a:noFill/>
        </p:spPr>
        <p:txBody>
          <a:bodyPr wrap="square" rtlCol="0">
            <a:spAutoFit/>
          </a:bodyPr>
          <a:lstStyle/>
          <a:p>
            <a:r>
              <a:rPr lang="en-US" sz="2400" b="0" dirty="0">
                <a:solidFill>
                  <a:srgbClr val="FF0000"/>
                </a:solidFill>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a:t>
            </a:r>
            <a:r>
              <a:rPr lang="en-US" sz="2400" u="sng" dirty="0">
                <a:solidFill>
                  <a:srgbClr val="FF0000"/>
                </a:solidFill>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DEMIL code challenge process instructions</a:t>
            </a:r>
            <a:r>
              <a:rPr lang="en-US" sz="2400" b="0" dirty="0">
                <a:solidFill>
                  <a:srgbClr val="FF0000"/>
                </a:solidFill>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a:t>
            </a:r>
            <a:endParaRPr lang="en-US" sz="2400" u="sng" dirty="0">
              <a:solidFill>
                <a:srgbClr val="FF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90013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269">
                                            <p:txEl>
                                              <p:pRg st="1" end="1"/>
                                            </p:txEl>
                                          </p:spTgt>
                                        </p:tgtEl>
                                        <p:attrNameLst>
                                          <p:attrName>style.visibility</p:attrName>
                                        </p:attrNameLst>
                                      </p:cBhvr>
                                      <p:to>
                                        <p:strVal val="visible"/>
                                      </p:to>
                                    </p:set>
                                    <p:animEffect transition="in" filter="fade">
                                      <p:cBhvr>
                                        <p:cTn id="7" dur="1000"/>
                                        <p:tgtEl>
                                          <p:spTgt spid="11269">
                                            <p:txEl>
                                              <p:pRg st="1" end="1"/>
                                            </p:txEl>
                                          </p:spTgt>
                                        </p:tgtEl>
                                      </p:cBhvr>
                                    </p:animEffect>
                                    <p:anim calcmode="lin" valueType="num">
                                      <p:cBhvr>
                                        <p:cTn id="8" dur="1000" fill="hold"/>
                                        <p:tgtEl>
                                          <p:spTgt spid="11269">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1269">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1269">
                                            <p:txEl>
                                              <p:pRg st="2" end="2"/>
                                            </p:txEl>
                                          </p:spTgt>
                                        </p:tgtEl>
                                        <p:attrNameLst>
                                          <p:attrName>style.visibility</p:attrName>
                                        </p:attrNameLst>
                                      </p:cBhvr>
                                      <p:to>
                                        <p:strVal val="visible"/>
                                      </p:to>
                                    </p:set>
                                    <p:animEffect transition="in" filter="fade">
                                      <p:cBhvr>
                                        <p:cTn id="14" dur="1000"/>
                                        <p:tgtEl>
                                          <p:spTgt spid="11269">
                                            <p:txEl>
                                              <p:pRg st="2" end="2"/>
                                            </p:txEl>
                                          </p:spTgt>
                                        </p:tgtEl>
                                      </p:cBhvr>
                                    </p:animEffect>
                                    <p:anim calcmode="lin" valueType="num">
                                      <p:cBhvr>
                                        <p:cTn id="15" dur="1000" fill="hold"/>
                                        <p:tgtEl>
                                          <p:spTgt spid="11269">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11269">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5"/>
          <p:cNvSpPr>
            <a:spLocks noGrp="1" noChangeArrowheads="1"/>
          </p:cNvSpPr>
          <p:nvPr>
            <p:ph type="ftr" sz="quarter" idx="10"/>
          </p:nvPr>
        </p:nvSpPr>
        <p:spPr>
          <a:noFill/>
        </p:spPr>
        <p:txBody>
          <a:bodyPr/>
          <a:lstStyle/>
          <a:p>
            <a:r>
              <a:rPr lang="en-US"/>
              <a:t>DEMIL Code Challenge</a:t>
            </a:r>
          </a:p>
        </p:txBody>
      </p:sp>
      <p:sp>
        <p:nvSpPr>
          <p:cNvPr id="12291" name="Slide Number Placeholder 2"/>
          <p:cNvSpPr>
            <a:spLocks noGrp="1"/>
          </p:cNvSpPr>
          <p:nvPr>
            <p:ph type="sldNum" sz="quarter" idx="11"/>
          </p:nvPr>
        </p:nvSpPr>
        <p:spPr>
          <a:noFill/>
        </p:spPr>
        <p:txBody>
          <a:bodyPr/>
          <a:lstStyle/>
          <a:p>
            <a:fld id="{74B7C0E6-F0EF-452E-8994-5388B0A5038C}" type="slidenum">
              <a:rPr lang="en-US" smtClean="0"/>
              <a:pPr/>
              <a:t>11</a:t>
            </a:fld>
            <a:endParaRPr lang="en-US"/>
          </a:p>
        </p:txBody>
      </p:sp>
      <p:sp>
        <p:nvSpPr>
          <p:cNvPr id="5" name="Rectangle 2"/>
          <p:cNvSpPr txBox="1">
            <a:spLocks noChangeArrowheads="1"/>
          </p:cNvSpPr>
          <p:nvPr/>
        </p:nvSpPr>
        <p:spPr>
          <a:xfrm>
            <a:off x="685800" y="276226"/>
            <a:ext cx="7772400" cy="523220"/>
          </a:xfrm>
          <a:prstGeom prst="rect">
            <a:avLst/>
          </a:prstGeom>
        </p:spPr>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sz="3600" kern="0" dirty="0">
                <a:solidFill>
                  <a:schemeClr val="tx2"/>
                </a:solidFill>
                <a:latin typeface="Arial"/>
                <a:ea typeface="+mj-ea"/>
                <a:cs typeface="Arial"/>
              </a:rPr>
              <a:t>DEMIL Challenge Web Form </a:t>
            </a:r>
          </a:p>
        </p:txBody>
      </p:sp>
      <p:sp>
        <p:nvSpPr>
          <p:cNvPr id="4" name="TextBox 3">
            <a:extLst>
              <a:ext uri="{FF2B5EF4-FFF2-40B4-BE49-F238E27FC236}">
                <a16:creationId xmlns:a16="http://schemas.microsoft.com/office/drawing/2014/main" id="{F58F24BA-B077-8136-DD12-46A004A3F98F}"/>
              </a:ext>
            </a:extLst>
          </p:cNvPr>
          <p:cNvSpPr txBox="1"/>
          <p:nvPr/>
        </p:nvSpPr>
        <p:spPr>
          <a:xfrm>
            <a:off x="205127" y="768252"/>
            <a:ext cx="8938873" cy="523220"/>
          </a:xfrm>
          <a:prstGeom prst="rect">
            <a:avLst/>
          </a:prstGeom>
          <a:noFill/>
        </p:spPr>
        <p:txBody>
          <a:bodyPr wrap="square" rtlCol="0">
            <a:spAutoFit/>
          </a:bodyPr>
          <a:lstStyle/>
          <a:p>
            <a:pPr algn="ctr"/>
            <a:r>
              <a:rPr lang="en-US" sz="1400" dirty="0"/>
              <a:t>Department of Defense (DoD) Demilitarization (DEMIL)Coding Management Office (DDCMO)	                    DEMIL challenge form</a:t>
            </a:r>
          </a:p>
        </p:txBody>
      </p:sp>
      <p:pic>
        <p:nvPicPr>
          <p:cNvPr id="7" name="Picture 6">
            <a:extLst>
              <a:ext uri="{FF2B5EF4-FFF2-40B4-BE49-F238E27FC236}">
                <a16:creationId xmlns:a16="http://schemas.microsoft.com/office/drawing/2014/main" id="{557B99E4-F647-862A-2151-93193F366088}"/>
              </a:ext>
            </a:extLst>
          </p:cNvPr>
          <p:cNvPicPr>
            <a:picLocks noChangeAspect="1"/>
          </p:cNvPicPr>
          <p:nvPr/>
        </p:nvPicPr>
        <p:blipFill>
          <a:blip r:embed="rId3"/>
          <a:stretch>
            <a:fillRect/>
          </a:stretch>
        </p:blipFill>
        <p:spPr>
          <a:xfrm>
            <a:off x="3667125" y="1343025"/>
            <a:ext cx="5476875" cy="5143500"/>
          </a:xfrm>
          <a:prstGeom prst="rect">
            <a:avLst/>
          </a:prstGeom>
        </p:spPr>
      </p:pic>
      <p:sp>
        <p:nvSpPr>
          <p:cNvPr id="12" name="Arrow: Right 11">
            <a:extLst>
              <a:ext uri="{FF2B5EF4-FFF2-40B4-BE49-F238E27FC236}">
                <a16:creationId xmlns:a16="http://schemas.microsoft.com/office/drawing/2014/main" id="{659F0885-A770-BB04-B164-EDE6FB241390}"/>
              </a:ext>
            </a:extLst>
          </p:cNvPr>
          <p:cNvSpPr/>
          <p:nvPr/>
        </p:nvSpPr>
        <p:spPr bwMode="auto">
          <a:xfrm>
            <a:off x="2171700" y="1981200"/>
            <a:ext cx="1495425" cy="114300"/>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000" b="1" i="0" u="none" strike="noStrike" cap="none" normalizeH="0" baseline="0">
              <a:ln>
                <a:noFill/>
              </a:ln>
              <a:solidFill>
                <a:schemeClr val="tx1"/>
              </a:solidFill>
              <a:effectLst/>
              <a:latin typeface="Times New Roman" pitchFamily="18" charset="0"/>
            </a:endParaRPr>
          </a:p>
        </p:txBody>
      </p:sp>
      <p:sp>
        <p:nvSpPr>
          <p:cNvPr id="13" name="Arrow: Right 12">
            <a:extLst>
              <a:ext uri="{FF2B5EF4-FFF2-40B4-BE49-F238E27FC236}">
                <a16:creationId xmlns:a16="http://schemas.microsoft.com/office/drawing/2014/main" id="{9610C5E8-F3C6-E16D-EB1B-CDABA8BECB97}"/>
              </a:ext>
            </a:extLst>
          </p:cNvPr>
          <p:cNvSpPr/>
          <p:nvPr/>
        </p:nvSpPr>
        <p:spPr bwMode="auto">
          <a:xfrm>
            <a:off x="2171699" y="2771775"/>
            <a:ext cx="1495425" cy="114300"/>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000" b="1" i="0" u="none" strike="noStrike" cap="none" normalizeH="0" baseline="0">
              <a:ln>
                <a:noFill/>
              </a:ln>
              <a:solidFill>
                <a:schemeClr val="tx1"/>
              </a:solidFill>
              <a:effectLst/>
              <a:latin typeface="Times New Roman" pitchFamily="18" charset="0"/>
            </a:endParaRPr>
          </a:p>
        </p:txBody>
      </p:sp>
      <p:sp>
        <p:nvSpPr>
          <p:cNvPr id="14" name="Arrow: Right 13">
            <a:extLst>
              <a:ext uri="{FF2B5EF4-FFF2-40B4-BE49-F238E27FC236}">
                <a16:creationId xmlns:a16="http://schemas.microsoft.com/office/drawing/2014/main" id="{F50939DA-5F37-5BDE-D9EC-DB4F450248E4}"/>
              </a:ext>
            </a:extLst>
          </p:cNvPr>
          <p:cNvSpPr/>
          <p:nvPr/>
        </p:nvSpPr>
        <p:spPr bwMode="auto">
          <a:xfrm>
            <a:off x="2171699" y="2197952"/>
            <a:ext cx="1495425" cy="114300"/>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000" b="1" i="0" u="none" strike="noStrike" cap="none" normalizeH="0" baseline="0">
              <a:ln>
                <a:noFill/>
              </a:ln>
              <a:solidFill>
                <a:schemeClr val="tx1"/>
              </a:solidFill>
              <a:effectLst/>
              <a:latin typeface="Times New Roman" pitchFamily="18" charset="0"/>
            </a:endParaRPr>
          </a:p>
        </p:txBody>
      </p:sp>
      <p:sp>
        <p:nvSpPr>
          <p:cNvPr id="15" name="Arrow: Right 14">
            <a:extLst>
              <a:ext uri="{FF2B5EF4-FFF2-40B4-BE49-F238E27FC236}">
                <a16:creationId xmlns:a16="http://schemas.microsoft.com/office/drawing/2014/main" id="{9FE35FA2-95DC-C907-0A4E-2F266F9A35F4}"/>
              </a:ext>
            </a:extLst>
          </p:cNvPr>
          <p:cNvSpPr/>
          <p:nvPr/>
        </p:nvSpPr>
        <p:spPr bwMode="auto">
          <a:xfrm>
            <a:off x="2171698" y="3218732"/>
            <a:ext cx="1495425" cy="114300"/>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000" b="1" i="0" u="none" strike="noStrike" cap="none" normalizeH="0" baseline="0">
              <a:ln>
                <a:noFill/>
              </a:ln>
              <a:solidFill>
                <a:schemeClr val="tx1"/>
              </a:solidFill>
              <a:effectLst/>
              <a:latin typeface="Times New Roman" pitchFamily="18" charset="0"/>
            </a:endParaRPr>
          </a:p>
        </p:txBody>
      </p:sp>
      <p:sp>
        <p:nvSpPr>
          <p:cNvPr id="16" name="Arrow: Right 15">
            <a:extLst>
              <a:ext uri="{FF2B5EF4-FFF2-40B4-BE49-F238E27FC236}">
                <a16:creationId xmlns:a16="http://schemas.microsoft.com/office/drawing/2014/main" id="{487C270B-6F82-38E7-8E72-81E17A56CA61}"/>
              </a:ext>
            </a:extLst>
          </p:cNvPr>
          <p:cNvSpPr/>
          <p:nvPr/>
        </p:nvSpPr>
        <p:spPr bwMode="auto">
          <a:xfrm>
            <a:off x="2171697" y="4291371"/>
            <a:ext cx="1495425" cy="114300"/>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000" b="1" i="0" u="none" strike="noStrike" cap="none" normalizeH="0" baseline="0">
              <a:ln>
                <a:noFill/>
              </a:ln>
              <a:solidFill>
                <a:schemeClr val="tx1"/>
              </a:solidFill>
              <a:effectLst/>
              <a:latin typeface="Times New Roman" pitchFamily="18" charset="0"/>
            </a:endParaRPr>
          </a:p>
        </p:txBody>
      </p:sp>
      <p:sp>
        <p:nvSpPr>
          <p:cNvPr id="17" name="Arrow: Right 16">
            <a:extLst>
              <a:ext uri="{FF2B5EF4-FFF2-40B4-BE49-F238E27FC236}">
                <a16:creationId xmlns:a16="http://schemas.microsoft.com/office/drawing/2014/main" id="{4D61E5D8-3054-A9BD-10DD-95C009FABE0C}"/>
              </a:ext>
            </a:extLst>
          </p:cNvPr>
          <p:cNvSpPr/>
          <p:nvPr/>
        </p:nvSpPr>
        <p:spPr bwMode="auto">
          <a:xfrm>
            <a:off x="2171696" y="4548905"/>
            <a:ext cx="1495425" cy="114300"/>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000" b="1" i="0" u="none" strike="noStrike" cap="none" normalizeH="0" baseline="0">
              <a:ln>
                <a:noFill/>
              </a:ln>
              <a:solidFill>
                <a:schemeClr val="tx1"/>
              </a:solidFill>
              <a:effectLst/>
              <a:latin typeface="Times New Roman" pitchFamily="18" charset="0"/>
            </a:endParaRPr>
          </a:p>
        </p:txBody>
      </p:sp>
      <p:sp>
        <p:nvSpPr>
          <p:cNvPr id="18" name="Arrow: Right 17">
            <a:extLst>
              <a:ext uri="{FF2B5EF4-FFF2-40B4-BE49-F238E27FC236}">
                <a16:creationId xmlns:a16="http://schemas.microsoft.com/office/drawing/2014/main" id="{41FC8151-138A-49C0-6779-44026459A61D}"/>
              </a:ext>
            </a:extLst>
          </p:cNvPr>
          <p:cNvSpPr/>
          <p:nvPr/>
        </p:nvSpPr>
        <p:spPr bwMode="auto">
          <a:xfrm>
            <a:off x="2171695" y="5611216"/>
            <a:ext cx="1495425" cy="114300"/>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000" b="1" i="0" u="none" strike="noStrike" cap="none" normalizeH="0" baseline="0">
              <a:ln>
                <a:noFill/>
              </a:ln>
              <a:solidFill>
                <a:schemeClr val="tx1"/>
              </a:solidFill>
              <a:effectLst/>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0-#ppt_w/2"/>
                                          </p:val>
                                        </p:tav>
                                        <p:tav tm="100000">
                                          <p:val>
                                            <p:strVal val="#ppt_x"/>
                                          </p:val>
                                        </p:tav>
                                      </p:tavLst>
                                    </p:anim>
                                    <p:anim calcmode="lin" valueType="num">
                                      <p:cBhvr additive="base">
                                        <p:cTn id="14"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0-#ppt_w/2"/>
                                          </p:val>
                                        </p:tav>
                                        <p:tav tm="100000">
                                          <p:val>
                                            <p:strVal val="#ppt_x"/>
                                          </p:val>
                                        </p:tav>
                                      </p:tavLst>
                                    </p:anim>
                                    <p:anim calcmode="lin" valueType="num">
                                      <p:cBhvr additive="base">
                                        <p:cTn id="20" dur="500" fill="hold"/>
                                        <p:tgtEl>
                                          <p:spTgt spid="14"/>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anim calcmode="lin" valueType="num">
                                      <p:cBhvr additive="base">
                                        <p:cTn id="25" dur="500" fill="hold"/>
                                        <p:tgtEl>
                                          <p:spTgt spid="13"/>
                                        </p:tgtEl>
                                        <p:attrNameLst>
                                          <p:attrName>ppt_x</p:attrName>
                                        </p:attrNameLst>
                                      </p:cBhvr>
                                      <p:tavLst>
                                        <p:tav tm="0">
                                          <p:val>
                                            <p:strVal val="0-#ppt_w/2"/>
                                          </p:val>
                                        </p:tav>
                                        <p:tav tm="100000">
                                          <p:val>
                                            <p:strVal val="#ppt_x"/>
                                          </p:val>
                                        </p:tav>
                                      </p:tavLst>
                                    </p:anim>
                                    <p:anim calcmode="lin" valueType="num">
                                      <p:cBhvr additive="base">
                                        <p:cTn id="26"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anim calcmode="lin" valueType="num">
                                      <p:cBhvr additive="base">
                                        <p:cTn id="31" dur="500" fill="hold"/>
                                        <p:tgtEl>
                                          <p:spTgt spid="15"/>
                                        </p:tgtEl>
                                        <p:attrNameLst>
                                          <p:attrName>ppt_x</p:attrName>
                                        </p:attrNameLst>
                                      </p:cBhvr>
                                      <p:tavLst>
                                        <p:tav tm="0">
                                          <p:val>
                                            <p:strVal val="0-#ppt_w/2"/>
                                          </p:val>
                                        </p:tav>
                                        <p:tav tm="100000">
                                          <p:val>
                                            <p:strVal val="#ppt_x"/>
                                          </p:val>
                                        </p:tav>
                                      </p:tavLst>
                                    </p:anim>
                                    <p:anim calcmode="lin" valueType="num">
                                      <p:cBhvr additive="base">
                                        <p:cTn id="32"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6"/>
                                        </p:tgtEl>
                                        <p:attrNameLst>
                                          <p:attrName>style.visibility</p:attrName>
                                        </p:attrNameLst>
                                      </p:cBhvr>
                                      <p:to>
                                        <p:strVal val="visible"/>
                                      </p:to>
                                    </p:set>
                                    <p:anim calcmode="lin" valueType="num">
                                      <p:cBhvr additive="base">
                                        <p:cTn id="37" dur="500" fill="hold"/>
                                        <p:tgtEl>
                                          <p:spTgt spid="16"/>
                                        </p:tgtEl>
                                        <p:attrNameLst>
                                          <p:attrName>ppt_x</p:attrName>
                                        </p:attrNameLst>
                                      </p:cBhvr>
                                      <p:tavLst>
                                        <p:tav tm="0">
                                          <p:val>
                                            <p:strVal val="0-#ppt_w/2"/>
                                          </p:val>
                                        </p:tav>
                                        <p:tav tm="100000">
                                          <p:val>
                                            <p:strVal val="#ppt_x"/>
                                          </p:val>
                                        </p:tav>
                                      </p:tavLst>
                                    </p:anim>
                                    <p:anim calcmode="lin" valueType="num">
                                      <p:cBhvr additive="base">
                                        <p:cTn id="38"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7"/>
                                        </p:tgtEl>
                                        <p:attrNameLst>
                                          <p:attrName>style.visibility</p:attrName>
                                        </p:attrNameLst>
                                      </p:cBhvr>
                                      <p:to>
                                        <p:strVal val="visible"/>
                                      </p:to>
                                    </p:set>
                                    <p:anim calcmode="lin" valueType="num">
                                      <p:cBhvr additive="base">
                                        <p:cTn id="43" dur="500" fill="hold"/>
                                        <p:tgtEl>
                                          <p:spTgt spid="17"/>
                                        </p:tgtEl>
                                        <p:attrNameLst>
                                          <p:attrName>ppt_x</p:attrName>
                                        </p:attrNameLst>
                                      </p:cBhvr>
                                      <p:tavLst>
                                        <p:tav tm="0">
                                          <p:val>
                                            <p:strVal val="0-#ppt_w/2"/>
                                          </p:val>
                                        </p:tav>
                                        <p:tav tm="100000">
                                          <p:val>
                                            <p:strVal val="#ppt_x"/>
                                          </p:val>
                                        </p:tav>
                                      </p:tavLst>
                                    </p:anim>
                                    <p:anim calcmode="lin" valueType="num">
                                      <p:cBhvr additive="base">
                                        <p:cTn id="44" dur="500" fill="hold"/>
                                        <p:tgtEl>
                                          <p:spTgt spid="17"/>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18"/>
                                        </p:tgtEl>
                                        <p:attrNameLst>
                                          <p:attrName>style.visibility</p:attrName>
                                        </p:attrNameLst>
                                      </p:cBhvr>
                                      <p:to>
                                        <p:strVal val="visible"/>
                                      </p:to>
                                    </p:set>
                                    <p:anim calcmode="lin" valueType="num">
                                      <p:cBhvr additive="base">
                                        <p:cTn id="49" dur="500" fill="hold"/>
                                        <p:tgtEl>
                                          <p:spTgt spid="18"/>
                                        </p:tgtEl>
                                        <p:attrNameLst>
                                          <p:attrName>ppt_x</p:attrName>
                                        </p:attrNameLst>
                                      </p:cBhvr>
                                      <p:tavLst>
                                        <p:tav tm="0">
                                          <p:val>
                                            <p:strVal val="0-#ppt_w/2"/>
                                          </p:val>
                                        </p:tav>
                                        <p:tav tm="100000">
                                          <p:val>
                                            <p:strVal val="#ppt_x"/>
                                          </p:val>
                                        </p:tav>
                                      </p:tavLst>
                                    </p:anim>
                                    <p:anim calcmode="lin" valueType="num">
                                      <p:cBhvr additive="base">
                                        <p:cTn id="50" dur="500" fill="hold"/>
                                        <p:tgtEl>
                                          <p:spTgt spid="1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P spid="16" grpId="0" animBg="1"/>
      <p:bldP spid="17" grpId="0" animBg="1"/>
      <p:bldP spid="1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5"/>
          <p:cNvSpPr>
            <a:spLocks noGrp="1" noChangeArrowheads="1"/>
          </p:cNvSpPr>
          <p:nvPr>
            <p:ph type="ftr" sz="quarter" idx="10"/>
          </p:nvPr>
        </p:nvSpPr>
        <p:spPr>
          <a:noFill/>
        </p:spPr>
        <p:txBody>
          <a:bodyPr/>
          <a:lstStyle/>
          <a:p>
            <a:r>
              <a:rPr lang="en-US"/>
              <a:t>DEMIL Code Challenge</a:t>
            </a:r>
          </a:p>
        </p:txBody>
      </p:sp>
      <p:sp>
        <p:nvSpPr>
          <p:cNvPr id="14339" name="Slide Number Placeholder 2"/>
          <p:cNvSpPr>
            <a:spLocks noGrp="1"/>
          </p:cNvSpPr>
          <p:nvPr>
            <p:ph type="sldNum" sz="quarter" idx="11"/>
          </p:nvPr>
        </p:nvSpPr>
        <p:spPr>
          <a:noFill/>
        </p:spPr>
        <p:txBody>
          <a:bodyPr/>
          <a:lstStyle/>
          <a:p>
            <a:fld id="{208B148D-C550-4E71-B381-3D6471B27710}" type="slidenum">
              <a:rPr lang="en-US" smtClean="0"/>
              <a:pPr/>
              <a:t>12</a:t>
            </a:fld>
            <a:endParaRPr lang="en-US"/>
          </a:p>
        </p:txBody>
      </p:sp>
      <p:sp>
        <p:nvSpPr>
          <p:cNvPr id="5" name="Text Box 4"/>
          <p:cNvSpPr txBox="1">
            <a:spLocks noChangeArrowheads="1"/>
          </p:cNvSpPr>
          <p:nvPr/>
        </p:nvSpPr>
        <p:spPr bwMode="auto">
          <a:xfrm>
            <a:off x="533400" y="2057400"/>
            <a:ext cx="8229600" cy="1107996"/>
          </a:xfrm>
          <a:prstGeom prst="rect">
            <a:avLst/>
          </a:prstGeom>
          <a:noFill/>
          <a:ln w="9525">
            <a:noFill/>
            <a:miter lim="800000"/>
            <a:headEnd/>
            <a:tailEnd/>
          </a:ln>
        </p:spPr>
        <p:txBody>
          <a:bodyPr>
            <a:spAutoFit/>
          </a:bodyPr>
          <a:lstStyle/>
          <a:p>
            <a:pPr>
              <a:spcBef>
                <a:spcPct val="50000"/>
              </a:spcBef>
            </a:pPr>
            <a:endParaRPr lang="en-US" sz="2400" b="0" dirty="0">
              <a:latin typeface="Arial"/>
              <a:cs typeface="Arial"/>
            </a:endParaRPr>
          </a:p>
          <a:p>
            <a:pPr>
              <a:spcBef>
                <a:spcPct val="50000"/>
              </a:spcBef>
            </a:pPr>
            <a:endParaRPr lang="en-US" sz="2800" b="0" dirty="0">
              <a:latin typeface="Arial"/>
              <a:cs typeface="Arial"/>
            </a:endParaRPr>
          </a:p>
        </p:txBody>
      </p:sp>
      <p:sp>
        <p:nvSpPr>
          <p:cNvPr id="6" name="Rectangle 3"/>
          <p:cNvSpPr txBox="1">
            <a:spLocks noChangeArrowheads="1"/>
          </p:cNvSpPr>
          <p:nvPr/>
        </p:nvSpPr>
        <p:spPr>
          <a:xfrm>
            <a:off x="457200" y="1371600"/>
            <a:ext cx="8546471" cy="4691204"/>
          </a:xfrm>
          <a:prstGeom prst="rect">
            <a:avLst/>
          </a:prstGeom>
          <a:noFill/>
          <a:ln>
            <a:noFill/>
          </a:ln>
        </p:spPr>
        <p:txBody>
          <a:bodyPr/>
          <a:lstStyle/>
          <a:p>
            <a:pPr lvl="0">
              <a:spcBef>
                <a:spcPct val="20000"/>
              </a:spcBef>
            </a:pPr>
            <a:r>
              <a:rPr lang="en-US" sz="2800" kern="0" dirty="0">
                <a:latin typeface="Arial"/>
                <a:cs typeface="Arial"/>
              </a:rPr>
              <a:t>Rationale to Support DEMIL Recommendation:</a:t>
            </a:r>
          </a:p>
          <a:p>
            <a:pPr lvl="1">
              <a:spcBef>
                <a:spcPct val="20000"/>
              </a:spcBef>
            </a:pPr>
            <a:r>
              <a:rPr lang="en-US" sz="2800" b="0" kern="0" dirty="0">
                <a:latin typeface="Arial"/>
                <a:cs typeface="Arial"/>
              </a:rPr>
              <a:t>This clear text field is provided for the submitter to provide any and all rationale to substantiate the justification provided (i.e. history, or pertinent facts as possible).</a:t>
            </a:r>
          </a:p>
          <a:p>
            <a:pPr lvl="1">
              <a:spcBef>
                <a:spcPct val="20000"/>
              </a:spcBef>
            </a:pPr>
            <a:endParaRPr lang="en-US" sz="2800" b="0" kern="0" dirty="0">
              <a:latin typeface="Arial"/>
              <a:cs typeface="Arial"/>
            </a:endParaRPr>
          </a:p>
          <a:p>
            <a:pPr lvl="1">
              <a:spcBef>
                <a:spcPct val="20000"/>
              </a:spcBef>
            </a:pPr>
            <a:r>
              <a:rPr lang="en-US" sz="2800" b="0" kern="0" dirty="0">
                <a:latin typeface="Arial"/>
                <a:cs typeface="Arial"/>
              </a:rPr>
              <a:t> </a:t>
            </a:r>
          </a:p>
          <a:p>
            <a:pPr lvl="1">
              <a:spcBef>
                <a:spcPct val="20000"/>
              </a:spcBef>
            </a:pPr>
            <a:r>
              <a:rPr lang="en-US" sz="2800" dirty="0">
                <a:latin typeface="Arial" panose="020B0604020202020204" pitchFamily="34" charset="0"/>
                <a:cs typeface="Arial" panose="020B0604020202020204" pitchFamily="34" charset="0"/>
              </a:rPr>
              <a:t>**Technical Data, Specification or Standards, or pictures of the item can and should be provided via E-mail to DCMO@dla.mil**</a:t>
            </a:r>
          </a:p>
          <a:p>
            <a:pPr lvl="1">
              <a:spcBef>
                <a:spcPct val="20000"/>
              </a:spcBef>
            </a:pPr>
            <a:endParaRPr lang="en-US" sz="2800" b="0" kern="0" dirty="0">
              <a:latin typeface="Arial"/>
              <a:cs typeface="Arial"/>
            </a:endParaRPr>
          </a:p>
        </p:txBody>
      </p:sp>
      <p:sp>
        <p:nvSpPr>
          <p:cNvPr id="8" name="Rectangle 2"/>
          <p:cNvSpPr txBox="1">
            <a:spLocks noChangeArrowheads="1"/>
          </p:cNvSpPr>
          <p:nvPr/>
        </p:nvSpPr>
        <p:spPr>
          <a:xfrm>
            <a:off x="685800" y="274320"/>
            <a:ext cx="7772400" cy="1005840"/>
          </a:xfrm>
          <a:prstGeom prst="rect">
            <a:avLst/>
          </a:prstGeom>
        </p:spPr>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sz="4000" kern="0" dirty="0">
                <a:solidFill>
                  <a:schemeClr val="tx2"/>
                </a:solidFill>
                <a:latin typeface="Arial"/>
                <a:ea typeface="+mj-ea"/>
                <a:cs typeface="Arial"/>
              </a:rPr>
              <a:t>DEMIL Challenge Web Form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5"/>
          <p:cNvSpPr>
            <a:spLocks noGrp="1" noChangeArrowheads="1"/>
          </p:cNvSpPr>
          <p:nvPr>
            <p:ph type="ftr" sz="quarter" idx="10"/>
          </p:nvPr>
        </p:nvSpPr>
        <p:spPr>
          <a:noFill/>
        </p:spPr>
        <p:txBody>
          <a:bodyPr/>
          <a:lstStyle/>
          <a:p>
            <a:r>
              <a:rPr lang="en-US"/>
              <a:t>DEMIL Code Challenge</a:t>
            </a:r>
          </a:p>
        </p:txBody>
      </p:sp>
      <p:sp>
        <p:nvSpPr>
          <p:cNvPr id="13315" name="Slide Number Placeholder 2"/>
          <p:cNvSpPr>
            <a:spLocks noGrp="1"/>
          </p:cNvSpPr>
          <p:nvPr>
            <p:ph type="sldNum" sz="quarter" idx="11"/>
          </p:nvPr>
        </p:nvSpPr>
        <p:spPr>
          <a:noFill/>
        </p:spPr>
        <p:txBody>
          <a:bodyPr/>
          <a:lstStyle/>
          <a:p>
            <a:fld id="{1099B387-DADD-48DC-A88A-E8EDDC04740F}" type="slidenum">
              <a:rPr lang="en-US" smtClean="0"/>
              <a:pPr/>
              <a:t>13</a:t>
            </a:fld>
            <a:endParaRPr lang="en-US"/>
          </a:p>
        </p:txBody>
      </p:sp>
      <p:sp>
        <p:nvSpPr>
          <p:cNvPr id="4" name="Rectangle 2"/>
          <p:cNvSpPr txBox="1">
            <a:spLocks noChangeArrowheads="1"/>
          </p:cNvSpPr>
          <p:nvPr/>
        </p:nvSpPr>
        <p:spPr>
          <a:xfrm>
            <a:off x="685800" y="274320"/>
            <a:ext cx="7772400" cy="1005840"/>
          </a:xfrm>
          <a:prstGeom prst="rect">
            <a:avLst/>
          </a:prstGeom>
        </p:spPr>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sz="4000" kern="0" dirty="0">
                <a:solidFill>
                  <a:schemeClr val="tx2"/>
                </a:solidFill>
                <a:latin typeface="Arial"/>
                <a:ea typeface="+mj-ea"/>
                <a:cs typeface="Arial"/>
              </a:rPr>
              <a:t>DEMIL Challenge Web Form </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1538388"/>
            <a:ext cx="8188036" cy="3779094"/>
          </a:xfrm>
          <a:prstGeom prst="rect">
            <a:avLst/>
          </a:prstGeom>
        </p:spPr>
      </p:pic>
      <p:cxnSp>
        <p:nvCxnSpPr>
          <p:cNvPr id="5" name="Straight Connector 4"/>
          <p:cNvCxnSpPr/>
          <p:nvPr/>
        </p:nvCxnSpPr>
        <p:spPr bwMode="auto">
          <a:xfrm>
            <a:off x="685800" y="5317482"/>
            <a:ext cx="8188036" cy="0"/>
          </a:xfrm>
          <a:prstGeom prst="line">
            <a:avLst/>
          </a:prstGeom>
          <a:solidFill>
            <a:schemeClr val="accent1"/>
          </a:solidFill>
          <a:ln w="12700" cap="flat" cmpd="sng" algn="ctr">
            <a:solidFill>
              <a:schemeClr val="tx1"/>
            </a:solidFill>
            <a:prstDash val="dash"/>
            <a:round/>
            <a:headEnd type="none" w="med" len="med"/>
            <a:tailEnd type="none" w="med" len="med"/>
          </a:ln>
          <a:effectLst/>
        </p:spPr>
      </p:cxnSp>
    </p:spTree>
    <p:extLst>
      <p:ext uri="{BB962C8B-B14F-4D97-AF65-F5344CB8AC3E}">
        <p14:creationId xmlns:p14="http://schemas.microsoft.com/office/powerpoint/2010/main" val="4744304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F97ED93-08D5-8EFD-341D-521B66802C2F}"/>
              </a:ext>
            </a:extLst>
          </p:cNvPr>
          <p:cNvSpPr>
            <a:spLocks noGrp="1"/>
          </p:cNvSpPr>
          <p:nvPr>
            <p:ph type="ftr" sz="quarter" idx="10"/>
          </p:nvPr>
        </p:nvSpPr>
        <p:spPr/>
        <p:txBody>
          <a:bodyPr/>
          <a:lstStyle/>
          <a:p>
            <a:pPr>
              <a:defRPr/>
            </a:pPr>
            <a:r>
              <a:rPr lang="en-US"/>
              <a:t>DEMIL Code Challenge</a:t>
            </a:r>
          </a:p>
        </p:txBody>
      </p:sp>
      <p:sp>
        <p:nvSpPr>
          <p:cNvPr id="3" name="Slide Number Placeholder 2">
            <a:extLst>
              <a:ext uri="{FF2B5EF4-FFF2-40B4-BE49-F238E27FC236}">
                <a16:creationId xmlns:a16="http://schemas.microsoft.com/office/drawing/2014/main" id="{74BD759B-85BA-408D-453C-710258A968A9}"/>
              </a:ext>
            </a:extLst>
          </p:cNvPr>
          <p:cNvSpPr>
            <a:spLocks noGrp="1"/>
          </p:cNvSpPr>
          <p:nvPr>
            <p:ph type="sldNum" sz="quarter" idx="11"/>
          </p:nvPr>
        </p:nvSpPr>
        <p:spPr/>
        <p:txBody>
          <a:bodyPr/>
          <a:lstStyle/>
          <a:p>
            <a:pPr>
              <a:defRPr/>
            </a:pPr>
            <a:fld id="{5A580ED0-60A8-460D-91BD-C40CA8490F8C}" type="slidenum">
              <a:rPr lang="en-US" smtClean="0"/>
              <a:pPr>
                <a:defRPr/>
              </a:pPr>
              <a:t>14</a:t>
            </a:fld>
            <a:endParaRPr lang="en-US"/>
          </a:p>
        </p:txBody>
      </p:sp>
      <p:sp>
        <p:nvSpPr>
          <p:cNvPr id="4" name="TextBox 3">
            <a:extLst>
              <a:ext uri="{FF2B5EF4-FFF2-40B4-BE49-F238E27FC236}">
                <a16:creationId xmlns:a16="http://schemas.microsoft.com/office/drawing/2014/main" id="{998380A8-26F1-2598-4D05-7644CD4766AF}"/>
              </a:ext>
            </a:extLst>
          </p:cNvPr>
          <p:cNvSpPr txBox="1"/>
          <p:nvPr/>
        </p:nvSpPr>
        <p:spPr>
          <a:xfrm>
            <a:off x="0" y="371475"/>
            <a:ext cx="9143999" cy="769441"/>
          </a:xfrm>
          <a:prstGeom prst="rect">
            <a:avLst/>
          </a:prstGeom>
          <a:noFill/>
        </p:spPr>
        <p:txBody>
          <a:bodyPr wrap="square" rtlCol="0">
            <a:spAutoFit/>
          </a:bodyPr>
          <a:lstStyle/>
          <a:p>
            <a:pPr algn="ctr"/>
            <a:r>
              <a:rPr lang="en-US" sz="4400" dirty="0">
                <a:latin typeface="Arial" panose="020B0604020202020204" pitchFamily="34" charset="0"/>
                <a:cs typeface="Arial" panose="020B0604020202020204" pitchFamily="34" charset="0"/>
              </a:rPr>
              <a:t>Justification</a:t>
            </a:r>
          </a:p>
        </p:txBody>
      </p:sp>
      <p:sp>
        <p:nvSpPr>
          <p:cNvPr id="5" name="TextBox 4">
            <a:extLst>
              <a:ext uri="{FF2B5EF4-FFF2-40B4-BE49-F238E27FC236}">
                <a16:creationId xmlns:a16="http://schemas.microsoft.com/office/drawing/2014/main" id="{FECD132E-B634-89EE-7391-7CBCD62098D5}"/>
              </a:ext>
            </a:extLst>
          </p:cNvPr>
          <p:cNvSpPr txBox="1"/>
          <p:nvPr/>
        </p:nvSpPr>
        <p:spPr>
          <a:xfrm>
            <a:off x="38100" y="1724025"/>
            <a:ext cx="9105899" cy="1938992"/>
          </a:xfrm>
          <a:prstGeom prst="rect">
            <a:avLst/>
          </a:prstGeom>
          <a:noFill/>
        </p:spPr>
        <p:txBody>
          <a:bodyPr wrap="square" rtlCol="0">
            <a:spAutoFit/>
          </a:bodyPr>
          <a:lstStyle/>
          <a:p>
            <a:r>
              <a:rPr lang="en-US" sz="2400" b="0" dirty="0">
                <a:latin typeface="Arial" panose="020B0604020202020204" pitchFamily="34" charset="0"/>
                <a:cs typeface="Arial" panose="020B0604020202020204" pitchFamily="34" charset="0"/>
              </a:rPr>
              <a:t>DoDM 4160.28-V2 justification is required for recommended DEMIL coding tables located:</a:t>
            </a:r>
          </a:p>
          <a:p>
            <a:endParaRPr lang="en-US" sz="2400" b="0" dirty="0">
              <a:latin typeface="Arial" panose="020B0604020202020204" pitchFamily="34" charset="0"/>
              <a:cs typeface="Arial" panose="020B0604020202020204" pitchFamily="34" charset="0"/>
            </a:endParaRPr>
          </a:p>
          <a:p>
            <a:r>
              <a:rPr lang="en-US" sz="2400" b="0" dirty="0">
                <a:solidFill>
                  <a:srgbClr val="FF0000"/>
                </a:solidFill>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https://www.dla.mil/Working-With-DLA/Federal-and-International-Cataloging/DEMIL-Trade-Security/DEMIL-Codes/  </a:t>
            </a:r>
            <a:endParaRPr lang="en-US" sz="2400" b="0" dirty="0">
              <a:solidFill>
                <a:srgbClr val="FF0000"/>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5555C138-C703-939D-3C5D-707F7D3BE0F2}"/>
              </a:ext>
            </a:extLst>
          </p:cNvPr>
          <p:cNvSpPr txBox="1"/>
          <p:nvPr/>
        </p:nvSpPr>
        <p:spPr>
          <a:xfrm>
            <a:off x="142875" y="4314825"/>
            <a:ext cx="8467725" cy="830997"/>
          </a:xfrm>
          <a:prstGeom prst="rect">
            <a:avLst/>
          </a:prstGeom>
          <a:noFill/>
        </p:spPr>
        <p:txBody>
          <a:bodyPr wrap="square" rtlCol="0">
            <a:spAutoFit/>
          </a:bodyPr>
          <a:lstStyle/>
          <a:p>
            <a:r>
              <a:rPr lang="en-US" sz="2400" b="0" dirty="0">
                <a:latin typeface="Arial" panose="020B0604020202020204" pitchFamily="34" charset="0"/>
                <a:cs typeface="Arial" panose="020B0604020202020204" pitchFamily="34" charset="0"/>
              </a:rPr>
              <a:t>To recommend a DEMIL code of “Q”, submit the appropriate Export Control Classification Number (ECCN)</a:t>
            </a:r>
          </a:p>
        </p:txBody>
      </p:sp>
    </p:spTree>
    <p:extLst>
      <p:ext uri="{BB962C8B-B14F-4D97-AF65-F5344CB8AC3E}">
        <p14:creationId xmlns:p14="http://schemas.microsoft.com/office/powerpoint/2010/main" val="389879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5"/>
          <p:cNvSpPr>
            <a:spLocks noGrp="1" noChangeArrowheads="1"/>
          </p:cNvSpPr>
          <p:nvPr>
            <p:ph type="ftr" sz="quarter" idx="10"/>
          </p:nvPr>
        </p:nvSpPr>
        <p:spPr>
          <a:noFill/>
        </p:spPr>
        <p:txBody>
          <a:bodyPr/>
          <a:lstStyle/>
          <a:p>
            <a:r>
              <a:rPr lang="en-US" dirty="0"/>
              <a:t>DEMIL Code Challenge</a:t>
            </a:r>
          </a:p>
        </p:txBody>
      </p:sp>
      <p:sp>
        <p:nvSpPr>
          <p:cNvPr id="16387" name="Slide Number Placeholder 4"/>
          <p:cNvSpPr>
            <a:spLocks noGrp="1"/>
          </p:cNvSpPr>
          <p:nvPr>
            <p:ph type="sldNum" sz="quarter" idx="11"/>
          </p:nvPr>
        </p:nvSpPr>
        <p:spPr>
          <a:noFill/>
        </p:spPr>
        <p:txBody>
          <a:bodyPr/>
          <a:lstStyle/>
          <a:p>
            <a:fld id="{CE24EC68-DFF9-4DDC-B9DB-8D6EE30B654E}" type="slidenum">
              <a:rPr lang="en-US" smtClean="0"/>
              <a:pPr/>
              <a:t>15</a:t>
            </a:fld>
            <a:endParaRPr lang="en-US" dirty="0"/>
          </a:p>
        </p:txBody>
      </p:sp>
      <p:sp>
        <p:nvSpPr>
          <p:cNvPr id="16388" name="Rectangle 2"/>
          <p:cNvSpPr>
            <a:spLocks noGrp="1" noChangeArrowheads="1"/>
          </p:cNvSpPr>
          <p:nvPr>
            <p:ph type="title"/>
          </p:nvPr>
        </p:nvSpPr>
        <p:spPr>
          <a:xfrm>
            <a:off x="685800" y="274320"/>
            <a:ext cx="7772400" cy="1003710"/>
          </a:xfrm>
        </p:spPr>
        <p:txBody>
          <a:bodyPr/>
          <a:lstStyle/>
          <a:p>
            <a:pPr eaLnBrk="1" hangingPunct="1"/>
            <a:r>
              <a:rPr lang="en-US" sz="4000" dirty="0"/>
              <a:t>Code Challenge Process</a:t>
            </a:r>
          </a:p>
        </p:txBody>
      </p:sp>
      <p:sp>
        <p:nvSpPr>
          <p:cNvPr id="16389" name="Rectangle 3"/>
          <p:cNvSpPr>
            <a:spLocks noGrp="1" noChangeArrowheads="1"/>
          </p:cNvSpPr>
          <p:nvPr>
            <p:ph type="body" idx="1"/>
          </p:nvPr>
        </p:nvSpPr>
        <p:spPr>
          <a:xfrm>
            <a:off x="457200" y="1371600"/>
            <a:ext cx="8289235" cy="5049078"/>
          </a:xfrm>
          <a:noFill/>
          <a:ln>
            <a:noFill/>
          </a:ln>
        </p:spPr>
        <p:txBody>
          <a:bodyPr/>
          <a:lstStyle/>
          <a:p>
            <a:pPr eaLnBrk="1" hangingPunct="1">
              <a:lnSpc>
                <a:spcPct val="90000"/>
              </a:lnSpc>
            </a:pPr>
            <a:r>
              <a:rPr lang="en-US" sz="2800" dirty="0"/>
              <a:t>DDCMO receives and evaluates the challenge.</a:t>
            </a:r>
          </a:p>
          <a:p>
            <a:pPr lvl="1" eaLnBrk="1" hangingPunct="1">
              <a:lnSpc>
                <a:spcPct val="90000"/>
              </a:lnSpc>
            </a:pPr>
            <a:r>
              <a:rPr lang="en-US" sz="2400" dirty="0"/>
              <a:t>Submit Challenge to ICP.</a:t>
            </a:r>
          </a:p>
          <a:p>
            <a:pPr eaLnBrk="1" hangingPunct="1">
              <a:lnSpc>
                <a:spcPct val="90000"/>
              </a:lnSpc>
            </a:pPr>
            <a:r>
              <a:rPr lang="en-US" sz="2800" dirty="0"/>
              <a:t>ICP evaluates and notifies DDCMO of results within 90 days of receipt. </a:t>
            </a:r>
          </a:p>
          <a:p>
            <a:pPr lvl="1" eaLnBrk="1" hangingPunct="1">
              <a:lnSpc>
                <a:spcPct val="90000"/>
              </a:lnSpc>
            </a:pPr>
            <a:r>
              <a:rPr lang="en-US" sz="2400" dirty="0"/>
              <a:t>If  the ICP concurs, the DDCMO updates the DEMIL code is in FLIS.</a:t>
            </a:r>
          </a:p>
          <a:p>
            <a:pPr lvl="1" eaLnBrk="1" hangingPunct="1">
              <a:lnSpc>
                <a:spcPct val="90000"/>
              </a:lnSpc>
            </a:pPr>
            <a:r>
              <a:rPr lang="en-US" sz="2400" dirty="0"/>
              <a:t>If the ICP does not respond within the 90-day timeframe, then the DDCMO will formally change the DEMIL code in FLIS (forced concurrence).</a:t>
            </a:r>
          </a:p>
          <a:p>
            <a:pPr eaLnBrk="1" hangingPunct="1">
              <a:lnSpc>
                <a:spcPct val="90000"/>
              </a:lnSpc>
            </a:pPr>
            <a:r>
              <a:rPr lang="en-US" sz="2800" dirty="0"/>
              <a:t>DDPM and applicable Military Department DEMIL Program Administrator will make final DEMIL Code determination on unresolved challenges.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6389">
                                            <p:txEl>
                                              <p:pRg st="1" end="1"/>
                                            </p:txEl>
                                          </p:spTgt>
                                        </p:tgtEl>
                                        <p:attrNameLst>
                                          <p:attrName>style.visibility</p:attrName>
                                        </p:attrNameLst>
                                      </p:cBhvr>
                                      <p:to>
                                        <p:strVal val="visible"/>
                                      </p:to>
                                    </p:set>
                                    <p:animEffect transition="in" filter="fade">
                                      <p:cBhvr>
                                        <p:cTn id="7" dur="1000"/>
                                        <p:tgtEl>
                                          <p:spTgt spid="16389">
                                            <p:txEl>
                                              <p:pRg st="1" end="1"/>
                                            </p:txEl>
                                          </p:spTgt>
                                        </p:tgtEl>
                                      </p:cBhvr>
                                    </p:animEffect>
                                    <p:anim calcmode="lin" valueType="num">
                                      <p:cBhvr>
                                        <p:cTn id="8" dur="1000" fill="hold"/>
                                        <p:tgtEl>
                                          <p:spTgt spid="16389">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6389">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nodeType="clickEffect">
                                  <p:stCondLst>
                                    <p:cond delay="0"/>
                                  </p:stCondLst>
                                  <p:childTnLst>
                                    <p:set>
                                      <p:cBhvr>
                                        <p:cTn id="13" dur="1" fill="hold">
                                          <p:stCondLst>
                                            <p:cond delay="0"/>
                                          </p:stCondLst>
                                        </p:cTn>
                                        <p:tgtEl>
                                          <p:spTgt spid="16389">
                                            <p:txEl>
                                              <p:pRg st="2" end="2"/>
                                            </p:txEl>
                                          </p:spTgt>
                                        </p:tgtEl>
                                        <p:attrNameLst>
                                          <p:attrName>style.visibility</p:attrName>
                                        </p:attrNameLst>
                                      </p:cBhvr>
                                      <p:to>
                                        <p:strVal val="visible"/>
                                      </p:to>
                                    </p:set>
                                    <p:animEffect transition="in" filter="wipe(left)">
                                      <p:cBhvr>
                                        <p:cTn id="14" dur="500"/>
                                        <p:tgtEl>
                                          <p:spTgt spid="16389">
                                            <p:txEl>
                                              <p:pRg st="2" end="2"/>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6389">
                                            <p:txEl>
                                              <p:pRg st="3" end="3"/>
                                            </p:txEl>
                                          </p:spTgt>
                                        </p:tgtEl>
                                        <p:attrNameLst>
                                          <p:attrName>style.visibility</p:attrName>
                                        </p:attrNameLst>
                                      </p:cBhvr>
                                      <p:to>
                                        <p:strVal val="visible"/>
                                      </p:to>
                                    </p:set>
                                    <p:animEffect transition="in" filter="fade">
                                      <p:cBhvr>
                                        <p:cTn id="19" dur="1000"/>
                                        <p:tgtEl>
                                          <p:spTgt spid="16389">
                                            <p:txEl>
                                              <p:pRg st="3" end="3"/>
                                            </p:txEl>
                                          </p:spTgt>
                                        </p:tgtEl>
                                      </p:cBhvr>
                                    </p:animEffect>
                                    <p:anim calcmode="lin" valueType="num">
                                      <p:cBhvr>
                                        <p:cTn id="20" dur="1000" fill="hold"/>
                                        <p:tgtEl>
                                          <p:spTgt spid="16389">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16389">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16389">
                                            <p:txEl>
                                              <p:pRg st="4" end="4"/>
                                            </p:txEl>
                                          </p:spTgt>
                                        </p:tgtEl>
                                        <p:attrNameLst>
                                          <p:attrName>style.visibility</p:attrName>
                                        </p:attrNameLst>
                                      </p:cBhvr>
                                      <p:to>
                                        <p:strVal val="visible"/>
                                      </p:to>
                                    </p:set>
                                    <p:animEffect transition="in" filter="fade">
                                      <p:cBhvr>
                                        <p:cTn id="26" dur="1000"/>
                                        <p:tgtEl>
                                          <p:spTgt spid="16389">
                                            <p:txEl>
                                              <p:pRg st="4" end="4"/>
                                            </p:txEl>
                                          </p:spTgt>
                                        </p:tgtEl>
                                      </p:cBhvr>
                                    </p:animEffect>
                                    <p:anim calcmode="lin" valueType="num">
                                      <p:cBhvr>
                                        <p:cTn id="27" dur="1000" fill="hold"/>
                                        <p:tgtEl>
                                          <p:spTgt spid="16389">
                                            <p:txEl>
                                              <p:pRg st="4" end="4"/>
                                            </p:txEl>
                                          </p:spTgt>
                                        </p:tgtEl>
                                        <p:attrNameLst>
                                          <p:attrName>ppt_x</p:attrName>
                                        </p:attrNameLst>
                                      </p:cBhvr>
                                      <p:tavLst>
                                        <p:tav tm="0">
                                          <p:val>
                                            <p:strVal val="#ppt_x"/>
                                          </p:val>
                                        </p:tav>
                                        <p:tav tm="100000">
                                          <p:val>
                                            <p:strVal val="#ppt_x"/>
                                          </p:val>
                                        </p:tav>
                                      </p:tavLst>
                                    </p:anim>
                                    <p:anim calcmode="lin" valueType="num">
                                      <p:cBhvr>
                                        <p:cTn id="28" dur="1000" fill="hold"/>
                                        <p:tgtEl>
                                          <p:spTgt spid="16389">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16389">
                                            <p:txEl>
                                              <p:pRg st="5" end="5"/>
                                            </p:txEl>
                                          </p:spTgt>
                                        </p:tgtEl>
                                        <p:attrNameLst>
                                          <p:attrName>style.visibility</p:attrName>
                                        </p:attrNameLst>
                                      </p:cBhvr>
                                      <p:to>
                                        <p:strVal val="visible"/>
                                      </p:to>
                                    </p:set>
                                    <p:animEffect transition="in" filter="wipe(left)">
                                      <p:cBhvr>
                                        <p:cTn id="33" dur="500"/>
                                        <p:tgtEl>
                                          <p:spTgt spid="1638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5"/>
          <p:cNvSpPr>
            <a:spLocks noGrp="1" noChangeArrowheads="1"/>
          </p:cNvSpPr>
          <p:nvPr>
            <p:ph type="ftr" sz="quarter" idx="10"/>
          </p:nvPr>
        </p:nvSpPr>
        <p:spPr>
          <a:noFill/>
        </p:spPr>
        <p:txBody>
          <a:bodyPr/>
          <a:lstStyle/>
          <a:p>
            <a:r>
              <a:rPr lang="en-US" dirty="0"/>
              <a:t>DEMIL Code Challenge</a:t>
            </a:r>
          </a:p>
        </p:txBody>
      </p:sp>
      <p:sp>
        <p:nvSpPr>
          <p:cNvPr id="17411" name="Footer Placeholder 3"/>
          <p:cNvSpPr txBox="1">
            <a:spLocks noGrp="1"/>
          </p:cNvSpPr>
          <p:nvPr/>
        </p:nvSpPr>
        <p:spPr bwMode="auto">
          <a:xfrm>
            <a:off x="666750" y="6248400"/>
            <a:ext cx="2895600" cy="457200"/>
          </a:xfrm>
          <a:prstGeom prst="rect">
            <a:avLst/>
          </a:prstGeom>
          <a:noFill/>
          <a:ln w="9525">
            <a:noFill/>
            <a:miter lim="800000"/>
            <a:headEnd/>
            <a:tailEnd/>
          </a:ln>
        </p:spPr>
        <p:txBody>
          <a:bodyPr/>
          <a:lstStyle/>
          <a:p>
            <a:endParaRPr lang="en-US" b="0" dirty="0"/>
          </a:p>
        </p:txBody>
      </p:sp>
      <p:sp>
        <p:nvSpPr>
          <p:cNvPr id="17412" name="Slide Number Placeholder 4"/>
          <p:cNvSpPr>
            <a:spLocks noGrp="1"/>
          </p:cNvSpPr>
          <p:nvPr>
            <p:ph type="sldNum" sz="quarter" idx="11"/>
          </p:nvPr>
        </p:nvSpPr>
        <p:spPr>
          <a:noFill/>
        </p:spPr>
        <p:txBody>
          <a:bodyPr/>
          <a:lstStyle/>
          <a:p>
            <a:fld id="{72009AE6-E388-4360-8227-3F4AB918FAAD}" type="slidenum">
              <a:rPr lang="en-US" smtClean="0"/>
              <a:pPr/>
              <a:t>16</a:t>
            </a:fld>
            <a:endParaRPr lang="en-US"/>
          </a:p>
        </p:txBody>
      </p:sp>
      <p:sp>
        <p:nvSpPr>
          <p:cNvPr id="17413" name="Rectangle 2"/>
          <p:cNvSpPr>
            <a:spLocks noGrp="1" noChangeArrowheads="1"/>
          </p:cNvSpPr>
          <p:nvPr>
            <p:ph type="title"/>
          </p:nvPr>
        </p:nvSpPr>
        <p:spPr>
          <a:xfrm>
            <a:off x="685800" y="274320"/>
            <a:ext cx="7772400" cy="1005840"/>
          </a:xfrm>
        </p:spPr>
        <p:txBody>
          <a:bodyPr>
            <a:normAutofit fontScale="90000"/>
          </a:bodyPr>
          <a:lstStyle/>
          <a:p>
            <a:pPr eaLnBrk="1" hangingPunct="1"/>
            <a:r>
              <a:rPr lang="en-US" sz="3600" dirty="0"/>
              <a:t>Coordination with Military Departments</a:t>
            </a:r>
          </a:p>
        </p:txBody>
      </p:sp>
      <p:sp>
        <p:nvSpPr>
          <p:cNvPr id="17414" name="Rectangle 3"/>
          <p:cNvSpPr>
            <a:spLocks noGrp="1" noChangeArrowheads="1"/>
          </p:cNvSpPr>
          <p:nvPr>
            <p:ph type="body" idx="1"/>
          </p:nvPr>
        </p:nvSpPr>
        <p:spPr>
          <a:xfrm>
            <a:off x="457200" y="1371600"/>
            <a:ext cx="8553450" cy="4929187"/>
          </a:xfrm>
          <a:noFill/>
          <a:ln>
            <a:noFill/>
          </a:ln>
        </p:spPr>
        <p:txBody>
          <a:bodyPr/>
          <a:lstStyle/>
          <a:p>
            <a:pPr marL="0" indent="0" eaLnBrk="1" hangingPunct="1">
              <a:buNone/>
            </a:pPr>
            <a:r>
              <a:rPr lang="en-US" sz="2800" dirty="0"/>
              <a:t>DDCMO will coordinate DEMIL code challenges with the appropriate Military Department for review prior to initiating any changes.</a:t>
            </a:r>
          </a:p>
          <a:p>
            <a:pPr marL="0" indent="0" eaLnBrk="1" hangingPunct="1">
              <a:buNone/>
            </a:pPr>
            <a:endParaRPr lang="en-US" sz="2800" dirty="0"/>
          </a:p>
          <a:p>
            <a:pPr marL="0" indent="0" eaLnBrk="1" hangingPunct="1">
              <a:buNone/>
            </a:pPr>
            <a:r>
              <a:rPr lang="en-US" sz="2800" dirty="0"/>
              <a:t>Military Departments may enter into memorandums of agreement with the DDCMO to improve coordination and processing of DEMIL challenge actions.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5"/>
          <p:cNvSpPr>
            <a:spLocks noGrp="1" noChangeArrowheads="1"/>
          </p:cNvSpPr>
          <p:nvPr>
            <p:ph type="ftr" sz="quarter" idx="10"/>
          </p:nvPr>
        </p:nvSpPr>
        <p:spPr>
          <a:noFill/>
        </p:spPr>
        <p:txBody>
          <a:bodyPr/>
          <a:lstStyle/>
          <a:p>
            <a:r>
              <a:rPr lang="en-US" dirty="0"/>
              <a:t>DEMIL Code Challenge</a:t>
            </a:r>
          </a:p>
        </p:txBody>
      </p:sp>
      <p:sp>
        <p:nvSpPr>
          <p:cNvPr id="18435" name="Slide Number Placeholder 4"/>
          <p:cNvSpPr>
            <a:spLocks noGrp="1"/>
          </p:cNvSpPr>
          <p:nvPr>
            <p:ph type="sldNum" sz="quarter" idx="11"/>
          </p:nvPr>
        </p:nvSpPr>
        <p:spPr>
          <a:xfrm>
            <a:off x="6485295" y="6548284"/>
            <a:ext cx="2540717" cy="309716"/>
          </a:xfrm>
          <a:noFill/>
        </p:spPr>
        <p:txBody>
          <a:bodyPr/>
          <a:lstStyle/>
          <a:p>
            <a:fld id="{B945E554-4EE2-4CC1-B698-D15827E5C94E}" type="slidenum">
              <a:rPr lang="en-US" smtClean="0"/>
              <a:pPr/>
              <a:t>17</a:t>
            </a:fld>
            <a:endParaRPr lang="en-US"/>
          </a:p>
        </p:txBody>
      </p:sp>
      <p:sp>
        <p:nvSpPr>
          <p:cNvPr id="18436" name="Rectangle 2"/>
          <p:cNvSpPr>
            <a:spLocks noGrp="1" noChangeArrowheads="1"/>
          </p:cNvSpPr>
          <p:nvPr>
            <p:ph type="title"/>
          </p:nvPr>
        </p:nvSpPr>
        <p:spPr>
          <a:xfrm>
            <a:off x="685800" y="274320"/>
            <a:ext cx="7772400" cy="1005840"/>
          </a:xfrm>
        </p:spPr>
        <p:txBody>
          <a:bodyPr/>
          <a:lstStyle/>
          <a:p>
            <a:pPr eaLnBrk="1" hangingPunct="1"/>
            <a:r>
              <a:rPr lang="en-US" dirty="0" err="1"/>
              <a:t>DEMIL</a:t>
            </a:r>
            <a:r>
              <a:rPr lang="en-US" dirty="0"/>
              <a:t> Integrity Codes</a:t>
            </a:r>
          </a:p>
        </p:txBody>
      </p:sp>
      <p:sp>
        <p:nvSpPr>
          <p:cNvPr id="18437" name="Text Box 20"/>
          <p:cNvSpPr txBox="1">
            <a:spLocks noChangeArrowheads="1"/>
          </p:cNvSpPr>
          <p:nvPr/>
        </p:nvSpPr>
        <p:spPr bwMode="auto">
          <a:xfrm>
            <a:off x="457200" y="1371600"/>
            <a:ext cx="8258175" cy="2893100"/>
          </a:xfrm>
          <a:prstGeom prst="rect">
            <a:avLst/>
          </a:prstGeom>
          <a:noFill/>
          <a:ln w="9525">
            <a:noFill/>
            <a:miter lim="800000"/>
            <a:headEnd/>
            <a:tailEnd/>
          </a:ln>
        </p:spPr>
        <p:txBody>
          <a:bodyPr>
            <a:spAutoFit/>
          </a:bodyPr>
          <a:lstStyle/>
          <a:p>
            <a:pPr>
              <a:spcBef>
                <a:spcPct val="50000"/>
              </a:spcBef>
            </a:pPr>
            <a:r>
              <a:rPr lang="en-US" sz="2800" b="0" dirty="0">
                <a:latin typeface="Arial"/>
                <a:cs typeface="Arial"/>
              </a:rPr>
              <a:t>DEMIL Integrity Codes (IC) appear adjacent to the DEMIL code in the FLIS. The DEMIL IC indicates the results of the validation.</a:t>
            </a:r>
          </a:p>
          <a:p>
            <a:pPr>
              <a:spcBef>
                <a:spcPct val="50000"/>
              </a:spcBef>
            </a:pPr>
            <a:r>
              <a:rPr lang="en-US" sz="2800" b="0" dirty="0">
                <a:latin typeface="Arial"/>
                <a:cs typeface="Arial"/>
              </a:rPr>
              <a:t>A validated DEMIL code is one with an associated DEMIL IC of “1,” “3,” “6,” or “7.” (This does not preclude the item from being code challenged).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5"/>
          <p:cNvSpPr>
            <a:spLocks noGrp="1" noChangeArrowheads="1"/>
          </p:cNvSpPr>
          <p:nvPr>
            <p:ph type="ftr" sz="quarter" idx="10"/>
          </p:nvPr>
        </p:nvSpPr>
        <p:spPr>
          <a:noFill/>
        </p:spPr>
        <p:txBody>
          <a:bodyPr/>
          <a:lstStyle/>
          <a:p>
            <a:r>
              <a:rPr lang="en-US"/>
              <a:t>DEMIL Code Challenge</a:t>
            </a:r>
          </a:p>
        </p:txBody>
      </p:sp>
      <p:sp>
        <p:nvSpPr>
          <p:cNvPr id="19459" name="Slide Number Placeholder 4"/>
          <p:cNvSpPr>
            <a:spLocks noGrp="1"/>
          </p:cNvSpPr>
          <p:nvPr>
            <p:ph type="sldNum" sz="quarter" idx="11"/>
          </p:nvPr>
        </p:nvSpPr>
        <p:spPr>
          <a:noFill/>
        </p:spPr>
        <p:txBody>
          <a:bodyPr/>
          <a:lstStyle/>
          <a:p>
            <a:fld id="{CEF0DE38-CB35-4D52-8D0B-D8997100B29A}" type="slidenum">
              <a:rPr lang="en-US" smtClean="0"/>
              <a:pPr/>
              <a:t>18</a:t>
            </a:fld>
            <a:endParaRPr lang="en-US"/>
          </a:p>
        </p:txBody>
      </p:sp>
      <p:sp>
        <p:nvSpPr>
          <p:cNvPr id="19460" name="Rectangle 2"/>
          <p:cNvSpPr>
            <a:spLocks noGrp="1" noChangeArrowheads="1"/>
          </p:cNvSpPr>
          <p:nvPr>
            <p:ph type="title"/>
          </p:nvPr>
        </p:nvSpPr>
        <p:spPr>
          <a:xfrm>
            <a:off x="685800" y="274320"/>
            <a:ext cx="7772400" cy="1005840"/>
          </a:xfrm>
        </p:spPr>
        <p:txBody>
          <a:bodyPr/>
          <a:lstStyle/>
          <a:p>
            <a:pPr eaLnBrk="1" hangingPunct="1"/>
            <a:r>
              <a:rPr lang="en-US" dirty="0" err="1"/>
              <a:t>DEMIL</a:t>
            </a:r>
            <a:r>
              <a:rPr lang="en-US" dirty="0"/>
              <a:t> IC Descriptions</a:t>
            </a:r>
          </a:p>
        </p:txBody>
      </p:sp>
      <p:graphicFrame>
        <p:nvGraphicFramePr>
          <p:cNvPr id="119859" name="Group 51"/>
          <p:cNvGraphicFramePr>
            <a:graphicFrameLocks noGrp="1"/>
          </p:cNvGraphicFramePr>
          <p:nvPr>
            <p:extLst>
              <p:ext uri="{D42A27DB-BD31-4B8C-83A1-F6EECF244321}">
                <p14:modId xmlns:p14="http://schemas.microsoft.com/office/powerpoint/2010/main" val="311055803"/>
              </p:ext>
            </p:extLst>
          </p:nvPr>
        </p:nvGraphicFramePr>
        <p:xfrm>
          <a:off x="492919" y="1726842"/>
          <a:ext cx="8158162" cy="4525264"/>
        </p:xfrm>
        <a:graphic>
          <a:graphicData uri="http://schemas.openxmlformats.org/drawingml/2006/table">
            <a:tbl>
              <a:tblPr>
                <a:tableStyleId>{8A107856-5554-42FB-B03E-39F5DBC370BA}</a:tableStyleId>
              </a:tblPr>
              <a:tblGrid>
                <a:gridCol w="1067524">
                  <a:extLst>
                    <a:ext uri="{9D8B030D-6E8A-4147-A177-3AD203B41FA5}">
                      <a16:colId xmlns:a16="http://schemas.microsoft.com/office/drawing/2014/main" val="20000"/>
                    </a:ext>
                  </a:extLst>
                </a:gridCol>
                <a:gridCol w="7090638">
                  <a:extLst>
                    <a:ext uri="{9D8B030D-6E8A-4147-A177-3AD203B41FA5}">
                      <a16:colId xmlns:a16="http://schemas.microsoft.com/office/drawing/2014/main" val="20001"/>
                    </a:ext>
                  </a:extLst>
                </a:gridCol>
              </a:tblGrid>
              <a:tr h="8128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u="none" strike="noStrike" cap="none" normalizeH="0" baseline="0" dirty="0">
                          <a:ln>
                            <a:noFill/>
                          </a:ln>
                          <a:effectLst/>
                          <a:latin typeface="Arial" panose="020B0604020202020204" pitchFamily="34" charset="0"/>
                          <a:cs typeface="Arial" panose="020B0604020202020204" pitchFamily="34" charset="0"/>
                        </a:rPr>
                        <a:t>Blank</a:t>
                      </a:r>
                      <a:endParaRPr kumimoji="0" lang="en-US" sz="2400" b="1"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txBody>
                  <a:tcPr anchor="ctr" horzOverflow="overflow">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u="none" strike="noStrike" cap="none" normalizeH="0" baseline="0" dirty="0">
                          <a:ln>
                            <a:noFill/>
                          </a:ln>
                          <a:effectLst/>
                          <a:latin typeface="Arial" panose="020B0604020202020204" pitchFamily="34" charset="0"/>
                          <a:cs typeface="Arial" panose="020B0604020202020204" pitchFamily="34" charset="0"/>
                        </a:rPr>
                        <a:t>DEMIL code has not been reviewed by DCMO.</a:t>
                      </a:r>
                      <a:endParaRPr kumimoji="0" lang="en-US" sz="24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txBody>
                  <a:tcPr horzOverflow="overflow"/>
                </a:tc>
                <a:extLst>
                  <a:ext uri="{0D108BD9-81ED-4DB2-BD59-A6C34878D82A}">
                    <a16:rowId xmlns:a16="http://schemas.microsoft.com/office/drawing/2014/main" val="10000"/>
                  </a:ext>
                </a:extLst>
              </a:tr>
              <a:tr h="8128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3200" b="1" u="none" strike="noStrike" cap="none" normalizeH="0" baseline="0" dirty="0">
                          <a:ln>
                            <a:noFill/>
                          </a:ln>
                          <a:effectLst/>
                          <a:latin typeface="Arial" panose="020B0604020202020204" pitchFamily="34" charset="0"/>
                          <a:cs typeface="Arial" panose="020B0604020202020204" pitchFamily="34" charset="0"/>
                        </a:rPr>
                        <a:t>0</a:t>
                      </a:r>
                      <a:endParaRPr kumimoji="0" lang="en-US" sz="3200" b="1"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txBody>
                  <a:tcPr anchor="ctr" horzOverflow="overflow">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u="none" strike="noStrike" cap="none" normalizeH="0" baseline="0" dirty="0">
                          <a:ln>
                            <a:noFill/>
                          </a:ln>
                          <a:effectLst/>
                          <a:latin typeface="Arial" panose="020B0604020202020204" pitchFamily="34" charset="0"/>
                          <a:cs typeface="Arial" panose="020B0604020202020204" pitchFamily="34" charset="0"/>
                        </a:rPr>
                        <a:t>DEMIL code reviewed by DCMO. Recommended DEMIL code and current ICP DEMIL code are not equal. Presently in collaboration cycle. </a:t>
                      </a:r>
                      <a:endParaRPr kumimoji="0" lang="en-US" sz="24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txBody>
                  <a:tcPr horzOverflow="overflow"/>
                </a:tc>
                <a:extLst>
                  <a:ext uri="{0D108BD9-81ED-4DB2-BD59-A6C34878D82A}">
                    <a16:rowId xmlns:a16="http://schemas.microsoft.com/office/drawing/2014/main" val="10001"/>
                  </a:ext>
                </a:extLst>
              </a:tr>
              <a:tr h="8128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3200" b="1" u="none" strike="noStrike" cap="none" normalizeH="0" baseline="0" dirty="0">
                          <a:ln>
                            <a:noFill/>
                          </a:ln>
                          <a:effectLst/>
                          <a:latin typeface="Arial" panose="020B0604020202020204" pitchFamily="34" charset="0"/>
                          <a:cs typeface="Arial" panose="020B0604020202020204" pitchFamily="34" charset="0"/>
                        </a:rPr>
                        <a:t>1</a:t>
                      </a:r>
                      <a:endParaRPr kumimoji="0" lang="en-US" sz="3200" b="1"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txBody>
                  <a:tcPr anchor="ctr" horzOverflow="overflow">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400" b="1"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400" b="1"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400" b="1"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txBody>
                  <a:tcPr horzOverflow="overflow"/>
                </a:tc>
                <a:extLst>
                  <a:ext uri="{0D108BD9-81ED-4DB2-BD59-A6C34878D82A}">
                    <a16:rowId xmlns:a16="http://schemas.microsoft.com/office/drawing/2014/main" val="10002"/>
                  </a:ext>
                </a:extLst>
              </a:tr>
              <a:tr h="8128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3200" b="1" u="none" strike="noStrike" cap="none" normalizeH="0" baseline="0" dirty="0">
                          <a:ln>
                            <a:noFill/>
                          </a:ln>
                          <a:effectLst/>
                          <a:latin typeface="Arial" panose="020B0604020202020204" pitchFamily="34" charset="0"/>
                          <a:cs typeface="Arial" panose="020B0604020202020204" pitchFamily="34" charset="0"/>
                        </a:rPr>
                        <a:t>2</a:t>
                      </a:r>
                      <a:endParaRPr kumimoji="0" lang="en-US" sz="3200" b="1"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txBody>
                  <a:tcPr anchor="ctr" horzOverflow="overflow">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u="none" strike="noStrike" cap="none" normalizeH="0" baseline="0" dirty="0">
                          <a:ln>
                            <a:noFill/>
                          </a:ln>
                          <a:effectLst/>
                          <a:latin typeface="Arial" panose="020B0604020202020204" pitchFamily="34" charset="0"/>
                          <a:cs typeface="Arial" panose="020B0604020202020204" pitchFamily="34" charset="0"/>
                        </a:rPr>
                        <a:t>DEMIL code reviewed by DCMO and accepted by ICP (DEMIL IC “1”) however, ICP has since overridden or changed code. </a:t>
                      </a:r>
                      <a:r>
                        <a:rPr kumimoji="0" lang="en-US" sz="2400" b="1" u="none" strike="noStrike" cap="none" normalizeH="0" baseline="0" dirty="0">
                          <a:ln>
                            <a:noFill/>
                          </a:ln>
                          <a:solidFill>
                            <a:srgbClr val="FF0000"/>
                          </a:solidFill>
                          <a:effectLst/>
                          <a:latin typeface="Arial" panose="020B0604020202020204" pitchFamily="34" charset="0"/>
                          <a:cs typeface="Arial" panose="020B0604020202020204" pitchFamily="34" charset="0"/>
                        </a:rPr>
                        <a:t>NO LONGER VALID</a:t>
                      </a:r>
                      <a:endParaRPr kumimoji="0" lang="en-US" sz="2400" b="1" i="0" u="none" strike="noStrike" cap="none" normalizeH="0" baseline="0" dirty="0">
                        <a:ln>
                          <a:noFill/>
                        </a:ln>
                        <a:solidFill>
                          <a:srgbClr val="FF0000"/>
                        </a:solidFill>
                        <a:effectLst/>
                        <a:latin typeface="Arial" panose="020B0604020202020204" pitchFamily="34" charset="0"/>
                        <a:cs typeface="Arial" panose="020B0604020202020204" pitchFamily="34" charset="0"/>
                      </a:endParaRPr>
                    </a:p>
                  </a:txBody>
                  <a:tcPr horzOverflow="overflow"/>
                </a:tc>
                <a:extLst>
                  <a:ext uri="{0D108BD9-81ED-4DB2-BD59-A6C34878D82A}">
                    <a16:rowId xmlns:a16="http://schemas.microsoft.com/office/drawing/2014/main" val="10003"/>
                  </a:ext>
                </a:extLst>
              </a:tr>
            </a:tbl>
          </a:graphicData>
        </a:graphic>
      </p:graphicFrame>
      <p:sp>
        <p:nvSpPr>
          <p:cNvPr id="2" name="Rectangle 1"/>
          <p:cNvSpPr/>
          <p:nvPr/>
        </p:nvSpPr>
        <p:spPr>
          <a:xfrm>
            <a:off x="1560783" y="3764971"/>
            <a:ext cx="6936830" cy="1200329"/>
          </a:xfrm>
          <a:prstGeom prst="rect">
            <a:avLst/>
          </a:prstGeom>
        </p:spPr>
        <p:txBody>
          <a:bodyPr wrap="square">
            <a:spAutoFit/>
          </a:bodyPr>
          <a:lstStyle/>
          <a:p>
            <a:pPr lvl="0">
              <a:spcBef>
                <a:spcPct val="20000"/>
              </a:spcBef>
            </a:pPr>
            <a:r>
              <a:rPr lang="en-US" sz="2400" b="0" dirty="0">
                <a:latin typeface="Arial" panose="020B0604020202020204" pitchFamily="34" charset="0"/>
                <a:cs typeface="Arial" panose="020B0604020202020204" pitchFamily="34" charset="0"/>
              </a:rPr>
              <a:t>DEMIL code reviewed by DDCMO, recommended DEMIL code adopted by ICP, or no DEMIL code change recommended.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grpId="0" nodeType="clickEffect">
                                  <p:stCondLst>
                                    <p:cond delay="0"/>
                                  </p:stCondLst>
                                  <p:childTnLst>
                                    <p:animClr clrSpc="rgb" dir="cw">
                                      <p:cBhvr override="childStyle">
                                        <p:cTn id="6" dur="1000" fill="hold"/>
                                        <p:tgtEl>
                                          <p:spTgt spid="2"/>
                                        </p:tgtEl>
                                        <p:attrNameLst>
                                          <p:attrName>style.color</p:attrName>
                                        </p:attrNameLst>
                                      </p:cBhvr>
                                      <p:to>
                                        <a:srgbClr val="FF0000"/>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5"/>
          <p:cNvSpPr>
            <a:spLocks noGrp="1" noChangeArrowheads="1"/>
          </p:cNvSpPr>
          <p:nvPr>
            <p:ph type="ftr" sz="quarter" idx="10"/>
          </p:nvPr>
        </p:nvSpPr>
        <p:spPr>
          <a:noFill/>
        </p:spPr>
        <p:txBody>
          <a:bodyPr/>
          <a:lstStyle/>
          <a:p>
            <a:r>
              <a:rPr lang="en-US" dirty="0"/>
              <a:t>DEMIL Code Challenge</a:t>
            </a:r>
          </a:p>
        </p:txBody>
      </p:sp>
      <p:sp>
        <p:nvSpPr>
          <p:cNvPr id="20483" name="Slide Number Placeholder 4"/>
          <p:cNvSpPr>
            <a:spLocks noGrp="1"/>
          </p:cNvSpPr>
          <p:nvPr>
            <p:ph type="sldNum" sz="quarter" idx="11"/>
          </p:nvPr>
        </p:nvSpPr>
        <p:spPr>
          <a:noFill/>
        </p:spPr>
        <p:txBody>
          <a:bodyPr/>
          <a:lstStyle/>
          <a:p>
            <a:fld id="{9F282B75-43A4-4BC5-AAA1-E03933E106C2}" type="slidenum">
              <a:rPr lang="en-US" smtClean="0"/>
              <a:pPr/>
              <a:t>19</a:t>
            </a:fld>
            <a:endParaRPr lang="en-US"/>
          </a:p>
        </p:txBody>
      </p:sp>
      <p:graphicFrame>
        <p:nvGraphicFramePr>
          <p:cNvPr id="120914" name="Group 1106"/>
          <p:cNvGraphicFramePr>
            <a:graphicFrameLocks noGrp="1"/>
          </p:cNvGraphicFramePr>
          <p:nvPr>
            <p:ph idx="1"/>
            <p:extLst>
              <p:ext uri="{D42A27DB-BD31-4B8C-83A1-F6EECF244321}">
                <p14:modId xmlns:p14="http://schemas.microsoft.com/office/powerpoint/2010/main" val="176364644"/>
              </p:ext>
            </p:extLst>
          </p:nvPr>
        </p:nvGraphicFramePr>
        <p:xfrm>
          <a:off x="616989" y="1359047"/>
          <a:ext cx="8159404" cy="5155039"/>
        </p:xfrm>
        <a:graphic>
          <a:graphicData uri="http://schemas.openxmlformats.org/drawingml/2006/table">
            <a:tbl>
              <a:tblPr>
                <a:tableStyleId>{8A107856-5554-42FB-B03E-39F5DBC370BA}</a:tableStyleId>
              </a:tblPr>
              <a:tblGrid>
                <a:gridCol w="1068145">
                  <a:extLst>
                    <a:ext uri="{9D8B030D-6E8A-4147-A177-3AD203B41FA5}">
                      <a16:colId xmlns:a16="http://schemas.microsoft.com/office/drawing/2014/main" val="20000"/>
                    </a:ext>
                  </a:extLst>
                </a:gridCol>
                <a:gridCol w="7091259">
                  <a:extLst>
                    <a:ext uri="{9D8B030D-6E8A-4147-A177-3AD203B41FA5}">
                      <a16:colId xmlns:a16="http://schemas.microsoft.com/office/drawing/2014/main" val="20001"/>
                    </a:ext>
                  </a:extLst>
                </a:gridCol>
              </a:tblGrid>
              <a:tr h="162098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3200" b="1" u="none" strike="noStrike" cap="none" normalizeH="0" baseline="0" dirty="0">
                          <a:ln>
                            <a:noFill/>
                          </a:ln>
                          <a:effectLst/>
                          <a:latin typeface="Arial" panose="020B0604020202020204" pitchFamily="34" charset="0"/>
                          <a:cs typeface="Arial" panose="020B0604020202020204" pitchFamily="34" charset="0"/>
                        </a:rPr>
                        <a:t>3</a:t>
                      </a:r>
                      <a:endParaRPr kumimoji="0" lang="en-US" sz="3200" b="1"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txBody>
                  <a:tcPr anchor="ctr" horzOverflow="overflow">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400" b="1"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txBody>
                  <a:tcPr horzOverflow="overflow"/>
                </a:tc>
                <a:extLst>
                  <a:ext uri="{0D108BD9-81ED-4DB2-BD59-A6C34878D82A}">
                    <a16:rowId xmlns:a16="http://schemas.microsoft.com/office/drawing/2014/main" val="10000"/>
                  </a:ext>
                </a:extLst>
              </a:tr>
              <a:tr h="844654">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3200" b="1" u="none" strike="noStrike" cap="none" normalizeH="0" baseline="0" dirty="0">
                          <a:ln>
                            <a:noFill/>
                          </a:ln>
                          <a:effectLst/>
                          <a:latin typeface="Arial" panose="020B0604020202020204" pitchFamily="34" charset="0"/>
                          <a:cs typeface="Arial" panose="020B0604020202020204" pitchFamily="34" charset="0"/>
                        </a:rPr>
                        <a:t>4</a:t>
                      </a:r>
                      <a:endParaRPr kumimoji="0" lang="en-US" sz="3200" b="1"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txBody>
                  <a:tcPr anchor="ctr" horzOverflow="overflow">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u="none" strike="noStrike" cap="none" normalizeH="0" baseline="0" dirty="0">
                          <a:ln>
                            <a:noFill/>
                          </a:ln>
                          <a:effectLst/>
                          <a:latin typeface="Arial" panose="020B0604020202020204" pitchFamily="34" charset="0"/>
                          <a:cs typeface="Arial" panose="020B0604020202020204" pitchFamily="34" charset="0"/>
                        </a:rPr>
                        <a:t>DEMIL code could not be validated - insufficient technical data available.</a:t>
                      </a:r>
                      <a:endParaRPr kumimoji="0" lang="en-US" sz="24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txBody>
                  <a:tcPr horzOverflow="overflow"/>
                </a:tc>
                <a:extLst>
                  <a:ext uri="{0D108BD9-81ED-4DB2-BD59-A6C34878D82A}">
                    <a16:rowId xmlns:a16="http://schemas.microsoft.com/office/drawing/2014/main" val="10001"/>
                  </a:ext>
                </a:extLst>
              </a:tr>
              <a:tr h="197086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3200" b="1" u="none" strike="noStrike" cap="none" normalizeH="0" baseline="0" dirty="0">
                          <a:ln>
                            <a:noFill/>
                          </a:ln>
                          <a:effectLst/>
                          <a:latin typeface="Arial" panose="020B0604020202020204" pitchFamily="34" charset="0"/>
                          <a:cs typeface="Arial" panose="020B0604020202020204" pitchFamily="34" charset="0"/>
                        </a:rPr>
                        <a:t>5</a:t>
                      </a:r>
                      <a:endParaRPr kumimoji="0" lang="en-US" sz="3200" b="1"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txBody>
                  <a:tcPr anchor="ctr" horzOverflow="overflow">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Either:</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(1) Item reviewed and coded by Service or agency ICP without DCMO collaboration; or,</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(2) Service or agency ICP changed the DEMIL code prior to completion of DEMIL IC “0” review or collaboration cycle.</a:t>
                      </a:r>
                    </a:p>
                  </a:txBody>
                  <a:tcPr horzOverflow="overflow"/>
                </a:tc>
                <a:extLst>
                  <a:ext uri="{0D108BD9-81ED-4DB2-BD59-A6C34878D82A}">
                    <a16:rowId xmlns:a16="http://schemas.microsoft.com/office/drawing/2014/main" val="10002"/>
                  </a:ext>
                </a:extLst>
              </a:tr>
              <a:tr h="71854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3200" b="1" u="none" strike="noStrike" cap="none" normalizeH="0" baseline="0" dirty="0">
                          <a:ln>
                            <a:noFill/>
                          </a:ln>
                          <a:effectLst/>
                          <a:latin typeface="Arial" panose="020B0604020202020204" pitchFamily="34" charset="0"/>
                          <a:cs typeface="Arial" panose="020B0604020202020204" pitchFamily="34" charset="0"/>
                        </a:rPr>
                        <a:t>6</a:t>
                      </a:r>
                      <a:endParaRPr kumimoji="0" lang="en-US" sz="3200" b="1"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txBody>
                  <a:tcPr anchor="ctr" horzOverflow="overflow">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400" b="1"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txBody>
                  <a:tcPr horzOverflow="overflow"/>
                </a:tc>
                <a:extLst>
                  <a:ext uri="{0D108BD9-81ED-4DB2-BD59-A6C34878D82A}">
                    <a16:rowId xmlns:a16="http://schemas.microsoft.com/office/drawing/2014/main" val="10003"/>
                  </a:ext>
                </a:extLst>
              </a:tr>
            </a:tbl>
          </a:graphicData>
        </a:graphic>
      </p:graphicFrame>
      <p:sp>
        <p:nvSpPr>
          <p:cNvPr id="7" name="Rectangle 2"/>
          <p:cNvSpPr>
            <a:spLocks noGrp="1" noChangeArrowheads="1"/>
          </p:cNvSpPr>
          <p:nvPr>
            <p:ph type="title"/>
          </p:nvPr>
        </p:nvSpPr>
        <p:spPr>
          <a:xfrm>
            <a:off x="685800" y="274320"/>
            <a:ext cx="7772400" cy="1005840"/>
          </a:xfrm>
        </p:spPr>
        <p:txBody>
          <a:bodyPr/>
          <a:lstStyle/>
          <a:p>
            <a:pPr eaLnBrk="1" hangingPunct="1"/>
            <a:r>
              <a:rPr lang="en-US" dirty="0" err="1"/>
              <a:t>DEMIL</a:t>
            </a:r>
            <a:r>
              <a:rPr lang="en-US" dirty="0"/>
              <a:t> IC Descriptions</a:t>
            </a:r>
          </a:p>
        </p:txBody>
      </p:sp>
      <p:sp>
        <p:nvSpPr>
          <p:cNvPr id="6" name="Rectangle 5"/>
          <p:cNvSpPr/>
          <p:nvPr/>
        </p:nvSpPr>
        <p:spPr>
          <a:xfrm>
            <a:off x="1705047" y="1363191"/>
            <a:ext cx="6936830" cy="1569660"/>
          </a:xfrm>
          <a:prstGeom prst="rect">
            <a:avLst/>
          </a:prstGeom>
        </p:spPr>
        <p:txBody>
          <a:bodyPr wrap="square">
            <a:spAutoFit/>
          </a:bodyPr>
          <a:lstStyle/>
          <a:p>
            <a:pPr lvl="0">
              <a:spcBef>
                <a:spcPct val="20000"/>
              </a:spcBef>
            </a:pPr>
            <a:r>
              <a:rPr lang="en-US" sz="2400" b="0" dirty="0">
                <a:latin typeface="Arial" panose="020B0604020202020204" pitchFamily="34" charset="0"/>
                <a:cs typeface="Arial" panose="020B0604020202020204" pitchFamily="34" charset="0"/>
              </a:rPr>
              <a:t>Critical Federal supply class (FSC) or Federal supply group (FSG) munitions list item (MLI) or Sensitive commerce control list item (CCLI) Requires mutilation worldwide.</a:t>
            </a:r>
          </a:p>
        </p:txBody>
      </p:sp>
      <p:sp>
        <p:nvSpPr>
          <p:cNvPr id="8" name="Rectangle 7"/>
          <p:cNvSpPr/>
          <p:nvPr/>
        </p:nvSpPr>
        <p:spPr>
          <a:xfrm>
            <a:off x="1679995" y="5862308"/>
            <a:ext cx="6936830" cy="461665"/>
          </a:xfrm>
          <a:prstGeom prst="rect">
            <a:avLst/>
          </a:prstGeom>
        </p:spPr>
        <p:txBody>
          <a:bodyPr wrap="square">
            <a:spAutoFit/>
          </a:bodyPr>
          <a:lstStyle/>
          <a:p>
            <a:pPr>
              <a:spcBef>
                <a:spcPct val="20000"/>
              </a:spcBef>
            </a:pPr>
            <a:r>
              <a:rPr lang="en-US" sz="2400" b="0" dirty="0">
                <a:latin typeface="Arial" panose="020B0604020202020204" pitchFamily="34" charset="0"/>
                <a:cs typeface="Arial" panose="020B0604020202020204" pitchFamily="34" charset="0"/>
              </a:rPr>
              <a:t>Non-Sensitive CCLI. Requires MUT overseas.</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grpId="0" nodeType="clickEffect">
                                  <p:stCondLst>
                                    <p:cond delay="0"/>
                                  </p:stCondLst>
                                  <p:childTnLst>
                                    <p:animClr clrSpc="rgb" dir="cw">
                                      <p:cBhvr override="childStyle">
                                        <p:cTn id="6" dur="1000" fill="hold"/>
                                        <p:tgtEl>
                                          <p:spTgt spid="6"/>
                                        </p:tgtEl>
                                        <p:attrNameLst>
                                          <p:attrName>style.color</p:attrName>
                                        </p:attrNameLst>
                                      </p:cBhvr>
                                      <p:to>
                                        <a:srgbClr val="FF0000"/>
                                      </p:to>
                                    </p:animClr>
                                  </p:childTnLst>
                                </p:cTn>
                              </p:par>
                              <p:par>
                                <p:cTn id="7" presetID="3" presetClass="emph" presetSubtype="2" fill="hold" grpId="0" nodeType="withEffect">
                                  <p:stCondLst>
                                    <p:cond delay="0"/>
                                  </p:stCondLst>
                                  <p:childTnLst>
                                    <p:animClr clrSpc="rgb" dir="cw">
                                      <p:cBhvr override="childStyle">
                                        <p:cTn id="8" dur="1000" fill="hold"/>
                                        <p:tgtEl>
                                          <p:spTgt spid="8"/>
                                        </p:tgtEl>
                                        <p:attrNameLst>
                                          <p:attrName>style.color</p:attrName>
                                        </p:attrNameLst>
                                      </p:cBhvr>
                                      <p:to>
                                        <a:srgbClr val="FF0000"/>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5"/>
          <p:cNvSpPr>
            <a:spLocks noGrp="1" noChangeArrowheads="1"/>
          </p:cNvSpPr>
          <p:nvPr>
            <p:ph type="ftr" sz="quarter" idx="10"/>
          </p:nvPr>
        </p:nvSpPr>
        <p:spPr>
          <a:noFill/>
        </p:spPr>
        <p:txBody>
          <a:bodyPr/>
          <a:lstStyle/>
          <a:p>
            <a:r>
              <a:rPr lang="en-US" dirty="0"/>
              <a:t>DEMIL Code Challenge</a:t>
            </a:r>
          </a:p>
        </p:txBody>
      </p:sp>
      <p:sp>
        <p:nvSpPr>
          <p:cNvPr id="21507" name="Slide Number Placeholder 4"/>
          <p:cNvSpPr>
            <a:spLocks noGrp="1"/>
          </p:cNvSpPr>
          <p:nvPr>
            <p:ph type="sldNum" sz="quarter" idx="11"/>
          </p:nvPr>
        </p:nvSpPr>
        <p:spPr>
          <a:noFill/>
        </p:spPr>
        <p:txBody>
          <a:bodyPr/>
          <a:lstStyle/>
          <a:p>
            <a:fld id="{DA6F13A5-410E-4DA3-AA55-04D8857E6B1D}" type="slidenum">
              <a:rPr lang="en-US" smtClean="0"/>
              <a:pPr/>
              <a:t>20</a:t>
            </a:fld>
            <a:endParaRPr lang="en-US"/>
          </a:p>
        </p:txBody>
      </p:sp>
      <p:graphicFrame>
        <p:nvGraphicFramePr>
          <p:cNvPr id="127024" name="Group 48"/>
          <p:cNvGraphicFramePr>
            <a:graphicFrameLocks noGrp="1"/>
          </p:cNvGraphicFramePr>
          <p:nvPr>
            <p:ph idx="1"/>
            <p:extLst>
              <p:ext uri="{D42A27DB-BD31-4B8C-83A1-F6EECF244321}">
                <p14:modId xmlns:p14="http://schemas.microsoft.com/office/powerpoint/2010/main" val="3698409550"/>
              </p:ext>
            </p:extLst>
          </p:nvPr>
        </p:nvGraphicFramePr>
        <p:xfrm>
          <a:off x="491988" y="1440873"/>
          <a:ext cx="8333357" cy="4918363"/>
        </p:xfrm>
        <a:graphic>
          <a:graphicData uri="http://schemas.openxmlformats.org/drawingml/2006/table">
            <a:tbl>
              <a:tblPr>
                <a:tableStyleId>{8A107856-5554-42FB-B03E-39F5DBC370BA}</a:tableStyleId>
              </a:tblPr>
              <a:tblGrid>
                <a:gridCol w="1091151">
                  <a:extLst>
                    <a:ext uri="{9D8B030D-6E8A-4147-A177-3AD203B41FA5}">
                      <a16:colId xmlns:a16="http://schemas.microsoft.com/office/drawing/2014/main" val="20000"/>
                    </a:ext>
                  </a:extLst>
                </a:gridCol>
                <a:gridCol w="7242206">
                  <a:extLst>
                    <a:ext uri="{9D8B030D-6E8A-4147-A177-3AD203B41FA5}">
                      <a16:colId xmlns:a16="http://schemas.microsoft.com/office/drawing/2014/main" val="20001"/>
                    </a:ext>
                  </a:extLst>
                </a:gridCol>
              </a:tblGrid>
              <a:tr h="219308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3200" b="1" u="none" strike="noStrike" cap="none" normalizeH="0" baseline="0" dirty="0">
                          <a:ln>
                            <a:noFill/>
                          </a:ln>
                          <a:effectLst/>
                          <a:latin typeface="Arial" panose="020B0604020202020204" pitchFamily="34" charset="0"/>
                          <a:cs typeface="Arial" panose="020B0604020202020204" pitchFamily="34" charset="0"/>
                        </a:rPr>
                        <a:t>7</a:t>
                      </a:r>
                      <a:endParaRPr kumimoji="0" lang="en-US" sz="3200" b="1"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txBody>
                  <a:tcPr anchor="ctr" horzOverflow="overflow">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400" b="1"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txBody>
                  <a:tcPr horzOverflow="overflow"/>
                </a:tc>
                <a:extLst>
                  <a:ext uri="{0D108BD9-81ED-4DB2-BD59-A6C34878D82A}">
                    <a16:rowId xmlns:a16="http://schemas.microsoft.com/office/drawing/2014/main" val="10000"/>
                  </a:ext>
                </a:extLst>
              </a:tr>
              <a:tr h="160822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3200" b="1" u="none" strike="noStrike" cap="none" normalizeH="0" baseline="0" dirty="0">
                          <a:ln>
                            <a:noFill/>
                          </a:ln>
                          <a:effectLst/>
                          <a:latin typeface="Arial" panose="020B0604020202020204" pitchFamily="34" charset="0"/>
                          <a:cs typeface="Arial" panose="020B0604020202020204" pitchFamily="34" charset="0"/>
                        </a:rPr>
                        <a:t>8</a:t>
                      </a:r>
                      <a:endParaRPr kumimoji="0" lang="en-US" sz="3200" b="1"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txBody>
                  <a:tcPr anchor="ctr" horzOverflow="overflow">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u="none" strike="noStrike" cap="none" normalizeH="0" baseline="0" dirty="0">
                          <a:ln>
                            <a:noFill/>
                          </a:ln>
                          <a:effectLst/>
                          <a:latin typeface="Arial" panose="020B0604020202020204" pitchFamily="34" charset="0"/>
                          <a:cs typeface="Arial" panose="020B0604020202020204" pitchFamily="34" charset="0"/>
                        </a:rPr>
                        <a:t>ICP has non-concurred with a DDCMO recommended DEMIL Code. Item DEMIL coding pending resolution. </a:t>
                      </a:r>
                      <a:endParaRPr kumimoji="0" lang="en-US" sz="24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txBody>
                  <a:tcPr horzOverflow="overflow"/>
                </a:tc>
                <a:extLst>
                  <a:ext uri="{0D108BD9-81ED-4DB2-BD59-A6C34878D82A}">
                    <a16:rowId xmlns:a16="http://schemas.microsoft.com/office/drawing/2014/main" val="10001"/>
                  </a:ext>
                </a:extLst>
              </a:tr>
              <a:tr h="1117057">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3200" b="1" u="none" strike="noStrike" cap="none" normalizeH="0" baseline="0" dirty="0">
                          <a:ln>
                            <a:noFill/>
                          </a:ln>
                          <a:effectLst/>
                          <a:latin typeface="Arial" panose="020B0604020202020204" pitchFamily="34" charset="0"/>
                          <a:cs typeface="Arial" panose="020B0604020202020204" pitchFamily="34" charset="0"/>
                        </a:rPr>
                        <a:t>9</a:t>
                      </a:r>
                      <a:endParaRPr kumimoji="0" lang="en-US" sz="3200" b="1"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txBody>
                  <a:tcPr anchor="ctr" horzOverflow="overflow">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Reserved for future use.</a:t>
                      </a:r>
                    </a:p>
                  </a:txBody>
                  <a:tcPr horzOverflow="overflow"/>
                </a:tc>
                <a:extLst>
                  <a:ext uri="{0D108BD9-81ED-4DB2-BD59-A6C34878D82A}">
                    <a16:rowId xmlns:a16="http://schemas.microsoft.com/office/drawing/2014/main" val="10002"/>
                  </a:ext>
                </a:extLst>
              </a:tr>
            </a:tbl>
          </a:graphicData>
        </a:graphic>
      </p:graphicFrame>
      <p:sp>
        <p:nvSpPr>
          <p:cNvPr id="7" name="Rectangle 2"/>
          <p:cNvSpPr>
            <a:spLocks noGrp="1" noChangeArrowheads="1"/>
          </p:cNvSpPr>
          <p:nvPr>
            <p:ph type="title"/>
          </p:nvPr>
        </p:nvSpPr>
        <p:spPr>
          <a:xfrm>
            <a:off x="685800" y="274320"/>
            <a:ext cx="7772400" cy="1005840"/>
          </a:xfrm>
        </p:spPr>
        <p:txBody>
          <a:bodyPr/>
          <a:lstStyle/>
          <a:p>
            <a:pPr eaLnBrk="1" hangingPunct="1"/>
            <a:r>
              <a:rPr lang="en-US" dirty="0" err="1"/>
              <a:t>DEMIL</a:t>
            </a:r>
            <a:r>
              <a:rPr lang="en-US" dirty="0"/>
              <a:t> IC Descriptions</a:t>
            </a:r>
          </a:p>
        </p:txBody>
      </p:sp>
      <p:sp>
        <p:nvSpPr>
          <p:cNvPr id="8" name="Rectangle 7"/>
          <p:cNvSpPr/>
          <p:nvPr/>
        </p:nvSpPr>
        <p:spPr>
          <a:xfrm>
            <a:off x="1615629" y="1457834"/>
            <a:ext cx="6936830" cy="1938992"/>
          </a:xfrm>
          <a:prstGeom prst="rect">
            <a:avLst/>
          </a:prstGeom>
        </p:spPr>
        <p:txBody>
          <a:bodyPr wrap="square">
            <a:spAutoFit/>
          </a:bodyPr>
          <a:lstStyle/>
          <a:p>
            <a:pPr lvl="0">
              <a:spcBef>
                <a:spcPct val="20000"/>
              </a:spcBef>
            </a:pPr>
            <a:r>
              <a:rPr lang="en-US" sz="2400" b="0" dirty="0">
                <a:latin typeface="Arial" panose="020B0604020202020204" pitchFamily="34" charset="0"/>
                <a:cs typeface="Arial" panose="020B0604020202020204" pitchFamily="34" charset="0"/>
              </a:rPr>
              <a:t>Forced Concurrence. DDCMO has forced a DEMIL code change in FLIS. ICP has not responded to collaboration request (over 90 days old) or failed to update the DEMIL code in the ICP’s legacy system.</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grpId="0" nodeType="clickEffect">
                                  <p:stCondLst>
                                    <p:cond delay="0"/>
                                  </p:stCondLst>
                                  <p:childTnLst>
                                    <p:animClr clrSpc="rgb" dir="cw">
                                      <p:cBhvr override="childStyle">
                                        <p:cTn id="6" dur="1000" fill="hold"/>
                                        <p:tgtEl>
                                          <p:spTgt spid="8"/>
                                        </p:tgtEl>
                                        <p:attrNameLst>
                                          <p:attrName>style.color</p:attrName>
                                        </p:attrNameLst>
                                      </p:cBhvr>
                                      <p:to>
                                        <a:srgbClr val="FF0000"/>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78" name="Rectangle 5"/>
          <p:cNvSpPr>
            <a:spLocks noGrp="1" noChangeArrowheads="1"/>
          </p:cNvSpPr>
          <p:nvPr>
            <p:ph type="ftr" sz="quarter" idx="10"/>
          </p:nvPr>
        </p:nvSpPr>
        <p:spPr>
          <a:noFill/>
        </p:spPr>
        <p:txBody>
          <a:bodyPr/>
          <a:lstStyle/>
          <a:p>
            <a:r>
              <a:rPr lang="en-US" dirty="0"/>
              <a:t>DEMIL Code Challenge</a:t>
            </a:r>
          </a:p>
        </p:txBody>
      </p:sp>
      <p:sp>
        <p:nvSpPr>
          <p:cNvPr id="24579" name="Slide Number Placeholder 4"/>
          <p:cNvSpPr>
            <a:spLocks noGrp="1"/>
          </p:cNvSpPr>
          <p:nvPr>
            <p:ph type="sldNum" sz="quarter" idx="11"/>
          </p:nvPr>
        </p:nvSpPr>
        <p:spPr>
          <a:noFill/>
        </p:spPr>
        <p:txBody>
          <a:bodyPr/>
          <a:lstStyle/>
          <a:p>
            <a:fld id="{C4FC0338-4BFF-4BFE-A744-6BC436D0A367}" type="slidenum">
              <a:rPr lang="en-US" smtClean="0"/>
              <a:pPr/>
              <a:t>21</a:t>
            </a:fld>
            <a:endParaRPr lang="en-US"/>
          </a:p>
        </p:txBody>
      </p:sp>
      <p:sp>
        <p:nvSpPr>
          <p:cNvPr id="24580" name="Rectangle 2"/>
          <p:cNvSpPr>
            <a:spLocks noGrp="1" noChangeArrowheads="1"/>
          </p:cNvSpPr>
          <p:nvPr>
            <p:ph type="title"/>
          </p:nvPr>
        </p:nvSpPr>
        <p:spPr>
          <a:xfrm>
            <a:off x="685800" y="274320"/>
            <a:ext cx="7772400" cy="1005840"/>
          </a:xfrm>
        </p:spPr>
        <p:txBody>
          <a:bodyPr/>
          <a:lstStyle/>
          <a:p>
            <a:pPr eaLnBrk="1" hangingPunct="1"/>
            <a:r>
              <a:rPr lang="en-US" dirty="0" err="1"/>
              <a:t>DEMIL</a:t>
            </a:r>
            <a:r>
              <a:rPr lang="en-US" dirty="0"/>
              <a:t> Code Lock</a:t>
            </a:r>
          </a:p>
        </p:txBody>
      </p:sp>
      <p:sp>
        <p:nvSpPr>
          <p:cNvPr id="24581" name="Rectangle 3"/>
          <p:cNvSpPr>
            <a:spLocks noGrp="1" noChangeArrowheads="1"/>
          </p:cNvSpPr>
          <p:nvPr>
            <p:ph type="body" idx="1"/>
          </p:nvPr>
        </p:nvSpPr>
        <p:spPr>
          <a:xfrm>
            <a:off x="457200" y="1371600"/>
            <a:ext cx="8305800" cy="4552950"/>
          </a:xfrm>
          <a:noFill/>
          <a:ln>
            <a:noFill/>
          </a:ln>
        </p:spPr>
        <p:txBody>
          <a:bodyPr/>
          <a:lstStyle/>
          <a:p>
            <a:pPr marL="0" indent="0" eaLnBrk="1" hangingPunct="1">
              <a:lnSpc>
                <a:spcPts val="3000"/>
              </a:lnSpc>
              <a:spcBef>
                <a:spcPts val="2400"/>
              </a:spcBef>
              <a:buNone/>
            </a:pPr>
            <a:r>
              <a:rPr lang="en-US" sz="2800" dirty="0"/>
              <a:t>DoD Components will initiate a lock on DEMIL codes with DEMIL IC of "1", “3”, “6”, or "7" to prevent arbitrary changes.</a:t>
            </a:r>
          </a:p>
          <a:p>
            <a:pPr marL="0" indent="0" eaLnBrk="1" hangingPunct="1">
              <a:lnSpc>
                <a:spcPts val="3000"/>
              </a:lnSpc>
              <a:spcBef>
                <a:spcPts val="2400"/>
              </a:spcBef>
              <a:buNone/>
            </a:pPr>
            <a:r>
              <a:rPr lang="en-US" sz="2800" dirty="0"/>
              <a:t>The ICP retains absolute authority to request a change provided the change is fully coordinated with the DDCMO for validation and concurrence.</a:t>
            </a:r>
          </a:p>
          <a:p>
            <a:pPr marL="0" indent="0" eaLnBrk="1" hangingPunct="1">
              <a:lnSpc>
                <a:spcPts val="3000"/>
              </a:lnSpc>
              <a:spcBef>
                <a:spcPts val="2400"/>
              </a:spcBef>
              <a:buNone/>
            </a:pPr>
            <a:r>
              <a:rPr lang="en-US" sz="2800" dirty="0"/>
              <a:t>To initiate a change to a DEMIL code that contains an IC of "1", “3”, “6”,  or "7",  submit an e-mail to the DDCMO through the applicable Military Service DEMIL Program for coordination and resolution.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4581">
                                            <p:txEl>
                                              <p:pRg st="1" end="1"/>
                                            </p:txEl>
                                          </p:spTgt>
                                        </p:tgtEl>
                                        <p:attrNameLst>
                                          <p:attrName>style.visibility</p:attrName>
                                        </p:attrNameLst>
                                      </p:cBhvr>
                                      <p:to>
                                        <p:strVal val="visible"/>
                                      </p:to>
                                    </p:set>
                                    <p:animEffect transition="in" filter="fade">
                                      <p:cBhvr>
                                        <p:cTn id="7" dur="1000"/>
                                        <p:tgtEl>
                                          <p:spTgt spid="24581">
                                            <p:txEl>
                                              <p:pRg st="1" end="1"/>
                                            </p:txEl>
                                          </p:spTgt>
                                        </p:tgtEl>
                                      </p:cBhvr>
                                    </p:animEffect>
                                    <p:anim calcmode="lin" valueType="num">
                                      <p:cBhvr>
                                        <p:cTn id="8" dur="1000" fill="hold"/>
                                        <p:tgtEl>
                                          <p:spTgt spid="24581">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24581">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4581">
                                            <p:txEl>
                                              <p:pRg st="2" end="2"/>
                                            </p:txEl>
                                          </p:spTgt>
                                        </p:tgtEl>
                                        <p:attrNameLst>
                                          <p:attrName>style.visibility</p:attrName>
                                        </p:attrNameLst>
                                      </p:cBhvr>
                                      <p:to>
                                        <p:strVal val="visible"/>
                                      </p:to>
                                    </p:set>
                                    <p:animEffect transition="in" filter="fade">
                                      <p:cBhvr>
                                        <p:cTn id="14" dur="1000"/>
                                        <p:tgtEl>
                                          <p:spTgt spid="24581">
                                            <p:txEl>
                                              <p:pRg st="2" end="2"/>
                                            </p:txEl>
                                          </p:spTgt>
                                        </p:tgtEl>
                                      </p:cBhvr>
                                    </p:animEffect>
                                    <p:anim calcmode="lin" valueType="num">
                                      <p:cBhvr>
                                        <p:cTn id="15" dur="1000" fill="hold"/>
                                        <p:tgtEl>
                                          <p:spTgt spid="24581">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24581">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5"/>
          <p:cNvSpPr>
            <a:spLocks noGrp="1" noChangeArrowheads="1"/>
          </p:cNvSpPr>
          <p:nvPr>
            <p:ph type="ftr" sz="quarter" idx="10"/>
          </p:nvPr>
        </p:nvSpPr>
        <p:spPr>
          <a:noFill/>
        </p:spPr>
        <p:txBody>
          <a:bodyPr/>
          <a:lstStyle/>
          <a:p>
            <a:r>
              <a:rPr lang="en-US"/>
              <a:t>DEMIL Code Challenge</a:t>
            </a:r>
          </a:p>
        </p:txBody>
      </p:sp>
      <p:sp>
        <p:nvSpPr>
          <p:cNvPr id="22531" name="Slide Number Placeholder 2"/>
          <p:cNvSpPr>
            <a:spLocks noGrp="1"/>
          </p:cNvSpPr>
          <p:nvPr>
            <p:ph type="sldNum" sz="quarter" idx="11"/>
          </p:nvPr>
        </p:nvSpPr>
        <p:spPr>
          <a:noFill/>
        </p:spPr>
        <p:txBody>
          <a:bodyPr/>
          <a:lstStyle/>
          <a:p>
            <a:fld id="{8C52E180-78B2-4E12-8939-C0EF309E5728}" type="slidenum">
              <a:rPr lang="en-US" smtClean="0"/>
              <a:pPr/>
              <a:t>22</a:t>
            </a:fld>
            <a:endParaRPr lang="en-US"/>
          </a:p>
        </p:txBody>
      </p:sp>
      <p:pic>
        <p:nvPicPr>
          <p:cNvPr id="22532" name="Picture 5"/>
          <p:cNvPicPr>
            <a:picLocks noChangeAspect="1" noChangeArrowheads="1"/>
          </p:cNvPicPr>
          <p:nvPr/>
        </p:nvPicPr>
        <p:blipFill>
          <a:blip r:embed="rId3" cstate="print"/>
          <a:srcRect/>
          <a:stretch>
            <a:fillRect/>
          </a:stretch>
        </p:blipFill>
        <p:spPr bwMode="auto">
          <a:xfrm>
            <a:off x="366713" y="1445724"/>
            <a:ext cx="8410575" cy="4514850"/>
          </a:xfrm>
          <a:prstGeom prst="rect">
            <a:avLst/>
          </a:prstGeom>
          <a:ln>
            <a:solidFill>
              <a:schemeClr val="tx1"/>
            </a:solidFill>
          </a:ln>
          <a:effectLst>
            <a:outerShdw blurRad="292100" dist="139700" dir="2700000" algn="tl" rotWithShape="0">
              <a:srgbClr val="333333">
                <a:alpha val="65000"/>
              </a:srgbClr>
            </a:outerShdw>
          </a:effectLst>
        </p:spPr>
      </p:pic>
      <p:sp>
        <p:nvSpPr>
          <p:cNvPr id="22533" name="AutoShape 6"/>
          <p:cNvSpPr>
            <a:spLocks noChangeArrowheads="1"/>
          </p:cNvSpPr>
          <p:nvPr/>
        </p:nvSpPr>
        <p:spPr bwMode="auto">
          <a:xfrm>
            <a:off x="3930949" y="3211770"/>
            <a:ext cx="1520825" cy="419100"/>
          </a:xfrm>
          <a:prstGeom prst="wedgeRoundRectCallout">
            <a:avLst>
              <a:gd name="adj1" fmla="val -48767"/>
              <a:gd name="adj2" fmla="val 320067"/>
              <a:gd name="adj3" fmla="val 16667"/>
            </a:avLst>
          </a:prstGeom>
          <a:solidFill>
            <a:schemeClr val="bg1"/>
          </a:solidFill>
          <a:ln w="9525">
            <a:solidFill>
              <a:schemeClr val="tx1"/>
            </a:solidFill>
            <a:miter lim="800000"/>
            <a:headEnd/>
            <a:tailEnd/>
          </a:ln>
        </p:spPr>
        <p:txBody>
          <a:bodyPr/>
          <a:lstStyle/>
          <a:p>
            <a:pPr algn="ctr"/>
            <a:r>
              <a:rPr lang="en-US" sz="1600" dirty="0"/>
              <a:t>DEMIL Code</a:t>
            </a:r>
          </a:p>
        </p:txBody>
      </p:sp>
      <p:sp>
        <p:nvSpPr>
          <p:cNvPr id="22534" name="AutoShape 7"/>
          <p:cNvSpPr>
            <a:spLocks noChangeArrowheads="1"/>
          </p:cNvSpPr>
          <p:nvPr/>
        </p:nvSpPr>
        <p:spPr bwMode="auto">
          <a:xfrm>
            <a:off x="5535440" y="3164962"/>
            <a:ext cx="1653011" cy="432806"/>
          </a:xfrm>
          <a:prstGeom prst="wedgeRoundRectCallout">
            <a:avLst>
              <a:gd name="adj1" fmla="val -102254"/>
              <a:gd name="adj2" fmla="val 300680"/>
              <a:gd name="adj3" fmla="val 16667"/>
            </a:avLst>
          </a:prstGeom>
          <a:solidFill>
            <a:schemeClr val="bg1"/>
          </a:solidFill>
          <a:ln w="9525">
            <a:solidFill>
              <a:schemeClr val="tx1"/>
            </a:solidFill>
            <a:miter lim="800000"/>
            <a:headEnd/>
            <a:tailEnd/>
          </a:ln>
        </p:spPr>
        <p:txBody>
          <a:bodyPr/>
          <a:lstStyle/>
          <a:p>
            <a:pPr algn="ctr"/>
            <a:r>
              <a:rPr lang="en-US" sz="1600" dirty="0"/>
              <a:t>DEMIL IC</a:t>
            </a:r>
          </a:p>
        </p:txBody>
      </p:sp>
      <p:sp>
        <p:nvSpPr>
          <p:cNvPr id="7" name="Rectangle 2"/>
          <p:cNvSpPr txBox="1">
            <a:spLocks noChangeArrowheads="1"/>
          </p:cNvSpPr>
          <p:nvPr/>
        </p:nvSpPr>
        <p:spPr>
          <a:xfrm>
            <a:off x="685800" y="274320"/>
            <a:ext cx="7772400" cy="1005840"/>
          </a:xfrm>
          <a:prstGeom prst="rect">
            <a:avLst/>
          </a:prstGeom>
        </p:spPr>
        <p:txBody>
          <a:bodyPr anchor="ctr"/>
          <a:lstStyle>
            <a:lvl1pPr algn="ctr" rtl="0" eaLnBrk="0" fontAlgn="base" hangingPunct="0">
              <a:spcBef>
                <a:spcPct val="0"/>
              </a:spcBef>
              <a:spcAft>
                <a:spcPct val="0"/>
              </a:spcAft>
              <a:defRPr sz="4000" b="1">
                <a:solidFill>
                  <a:schemeClr val="tx2"/>
                </a:solidFill>
                <a:latin typeface="Arial"/>
                <a:ea typeface="+mj-ea"/>
                <a:cs typeface="Arial"/>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fontAlgn="base">
              <a:spcBef>
                <a:spcPct val="0"/>
              </a:spcBef>
              <a:spcAft>
                <a:spcPct val="0"/>
              </a:spcAft>
              <a:defRPr sz="4400">
                <a:solidFill>
                  <a:schemeClr val="tx2"/>
                </a:solidFill>
                <a:latin typeface="Times New Roman" pitchFamily="18" charset="0"/>
              </a:defRPr>
            </a:lvl6pPr>
            <a:lvl7pPr marL="914400" algn="ctr" rtl="0" fontAlgn="base">
              <a:spcBef>
                <a:spcPct val="0"/>
              </a:spcBef>
              <a:spcAft>
                <a:spcPct val="0"/>
              </a:spcAft>
              <a:defRPr sz="4400">
                <a:solidFill>
                  <a:schemeClr val="tx2"/>
                </a:solidFill>
                <a:latin typeface="Times New Roman" pitchFamily="18" charset="0"/>
              </a:defRPr>
            </a:lvl7pPr>
            <a:lvl8pPr marL="1371600" algn="ctr" rtl="0" fontAlgn="base">
              <a:spcBef>
                <a:spcPct val="0"/>
              </a:spcBef>
              <a:spcAft>
                <a:spcPct val="0"/>
              </a:spcAft>
              <a:defRPr sz="4400">
                <a:solidFill>
                  <a:schemeClr val="tx2"/>
                </a:solidFill>
                <a:latin typeface="Times New Roman" pitchFamily="18" charset="0"/>
              </a:defRPr>
            </a:lvl8pPr>
            <a:lvl9pPr marL="1828800" algn="ctr" rtl="0" fontAlgn="base">
              <a:spcBef>
                <a:spcPct val="0"/>
              </a:spcBef>
              <a:spcAft>
                <a:spcPct val="0"/>
              </a:spcAft>
              <a:defRPr sz="4400">
                <a:solidFill>
                  <a:schemeClr val="tx2"/>
                </a:solidFill>
                <a:latin typeface="Times New Roman" pitchFamily="18" charset="0"/>
              </a:defRPr>
            </a:lvl9pPr>
          </a:lstStyle>
          <a:p>
            <a:pPr eaLnBrk="1" hangingPunct="1"/>
            <a:r>
              <a:rPr lang="en-US" kern="0" dirty="0"/>
              <a:t>DEMIL IC Descriptions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5"/>
          <p:cNvSpPr>
            <a:spLocks noGrp="1" noChangeArrowheads="1"/>
          </p:cNvSpPr>
          <p:nvPr>
            <p:ph type="ftr" sz="quarter" idx="10"/>
          </p:nvPr>
        </p:nvSpPr>
        <p:spPr>
          <a:noFill/>
        </p:spPr>
        <p:txBody>
          <a:bodyPr/>
          <a:lstStyle/>
          <a:p>
            <a:r>
              <a:rPr lang="en-US"/>
              <a:t>DEMIL Code Challenge</a:t>
            </a:r>
          </a:p>
        </p:txBody>
      </p:sp>
      <p:sp>
        <p:nvSpPr>
          <p:cNvPr id="23555" name="Slide Number Placeholder 2"/>
          <p:cNvSpPr>
            <a:spLocks noGrp="1"/>
          </p:cNvSpPr>
          <p:nvPr>
            <p:ph type="sldNum" sz="quarter" idx="11"/>
          </p:nvPr>
        </p:nvSpPr>
        <p:spPr>
          <a:noFill/>
        </p:spPr>
        <p:txBody>
          <a:bodyPr/>
          <a:lstStyle/>
          <a:p>
            <a:fld id="{AD828EB0-7C30-4397-90AE-6ADBDFCDE939}" type="slidenum">
              <a:rPr lang="en-US" smtClean="0"/>
              <a:pPr/>
              <a:t>23</a:t>
            </a:fld>
            <a:endParaRPr lang="en-US"/>
          </a:p>
        </p:txBody>
      </p:sp>
      <p:pic>
        <p:nvPicPr>
          <p:cNvPr id="23556" name="Picture 2"/>
          <p:cNvPicPr>
            <a:picLocks noChangeAspect="1" noChangeArrowheads="1"/>
          </p:cNvPicPr>
          <p:nvPr/>
        </p:nvPicPr>
        <p:blipFill>
          <a:blip r:embed="rId3" cstate="print"/>
          <a:srcRect r="2805" b="14705"/>
          <a:stretch>
            <a:fillRect/>
          </a:stretch>
        </p:blipFill>
        <p:spPr bwMode="auto">
          <a:xfrm>
            <a:off x="0" y="0"/>
            <a:ext cx="9144000" cy="6546645"/>
          </a:xfrm>
          <a:prstGeom prst="rect">
            <a:avLst/>
          </a:prstGeom>
          <a:noFill/>
          <a:ln w="9525">
            <a:noFill/>
            <a:miter lim="800000"/>
            <a:headEnd/>
            <a:tailEnd/>
          </a:ln>
        </p:spPr>
      </p:pic>
      <p:sp>
        <p:nvSpPr>
          <p:cNvPr id="23557" name="AutoShape 3"/>
          <p:cNvSpPr>
            <a:spLocks noChangeArrowheads="1"/>
          </p:cNvSpPr>
          <p:nvPr/>
        </p:nvSpPr>
        <p:spPr bwMode="auto">
          <a:xfrm>
            <a:off x="2329224" y="1144840"/>
            <a:ext cx="1735782" cy="946511"/>
          </a:xfrm>
          <a:prstGeom prst="wedgeEllipseCallout">
            <a:avLst>
              <a:gd name="adj1" fmla="val -30546"/>
              <a:gd name="adj2" fmla="val 146870"/>
            </a:avLst>
          </a:prstGeom>
          <a:solidFill>
            <a:schemeClr val="bg1"/>
          </a:solidFill>
          <a:ln w="9525">
            <a:solidFill>
              <a:schemeClr val="tx1"/>
            </a:solidFill>
            <a:miter lim="800000"/>
            <a:headEnd/>
            <a:tailEnd/>
          </a:ln>
        </p:spPr>
        <p:txBody>
          <a:bodyPr/>
          <a:lstStyle/>
          <a:p>
            <a:pPr algn="ctr"/>
            <a:r>
              <a:rPr lang="en-US" sz="1600" dirty="0">
                <a:latin typeface="Arial"/>
                <a:cs typeface="Arial"/>
              </a:rPr>
              <a:t>DEMIL Code</a:t>
            </a:r>
          </a:p>
        </p:txBody>
      </p:sp>
      <p:sp>
        <p:nvSpPr>
          <p:cNvPr id="23558" name="AutoShape 4"/>
          <p:cNvSpPr>
            <a:spLocks noChangeArrowheads="1"/>
          </p:cNvSpPr>
          <p:nvPr/>
        </p:nvSpPr>
        <p:spPr bwMode="auto">
          <a:xfrm>
            <a:off x="4652443" y="1120240"/>
            <a:ext cx="1820785" cy="835309"/>
          </a:xfrm>
          <a:prstGeom prst="wedgeEllipseCallout">
            <a:avLst>
              <a:gd name="adj1" fmla="val -115894"/>
              <a:gd name="adj2" fmla="val 184230"/>
            </a:avLst>
          </a:prstGeom>
          <a:solidFill>
            <a:schemeClr val="bg1"/>
          </a:solidFill>
          <a:ln w="9525">
            <a:solidFill>
              <a:schemeClr val="tx1"/>
            </a:solidFill>
            <a:miter lim="800000"/>
            <a:headEnd/>
            <a:tailEnd/>
          </a:ln>
        </p:spPr>
        <p:txBody>
          <a:bodyPr/>
          <a:lstStyle/>
          <a:p>
            <a:pPr algn="ctr"/>
            <a:r>
              <a:rPr lang="en-US" sz="1800" dirty="0">
                <a:latin typeface="Arial"/>
                <a:cs typeface="Arial"/>
              </a:rPr>
              <a:t>DEMIL IC</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725C24F-5018-02F6-027D-7620AC43C512}"/>
              </a:ext>
            </a:extLst>
          </p:cNvPr>
          <p:cNvSpPr>
            <a:spLocks noGrp="1"/>
          </p:cNvSpPr>
          <p:nvPr>
            <p:ph type="ftr" sz="quarter" idx="10"/>
          </p:nvPr>
        </p:nvSpPr>
        <p:spPr/>
        <p:txBody>
          <a:bodyPr/>
          <a:lstStyle/>
          <a:p>
            <a:pPr>
              <a:defRPr/>
            </a:pPr>
            <a:r>
              <a:rPr lang="en-US"/>
              <a:t>DEMIL Code Challenge</a:t>
            </a:r>
          </a:p>
        </p:txBody>
      </p:sp>
      <p:sp>
        <p:nvSpPr>
          <p:cNvPr id="3" name="Slide Number Placeholder 2">
            <a:extLst>
              <a:ext uri="{FF2B5EF4-FFF2-40B4-BE49-F238E27FC236}">
                <a16:creationId xmlns:a16="http://schemas.microsoft.com/office/drawing/2014/main" id="{22860A54-0A05-ED62-9877-977F62C3E46C}"/>
              </a:ext>
            </a:extLst>
          </p:cNvPr>
          <p:cNvSpPr>
            <a:spLocks noGrp="1"/>
          </p:cNvSpPr>
          <p:nvPr>
            <p:ph type="sldNum" sz="quarter" idx="11"/>
          </p:nvPr>
        </p:nvSpPr>
        <p:spPr/>
        <p:txBody>
          <a:bodyPr/>
          <a:lstStyle/>
          <a:p>
            <a:pPr>
              <a:defRPr/>
            </a:pPr>
            <a:fld id="{5A580ED0-60A8-460D-91BD-C40CA8490F8C}" type="slidenum">
              <a:rPr lang="en-US" smtClean="0"/>
              <a:pPr>
                <a:defRPr/>
              </a:pPr>
              <a:t>24</a:t>
            </a:fld>
            <a:endParaRPr lang="en-US"/>
          </a:p>
        </p:txBody>
      </p:sp>
      <p:sp>
        <p:nvSpPr>
          <p:cNvPr id="4" name="TextBox 3">
            <a:extLst>
              <a:ext uri="{FF2B5EF4-FFF2-40B4-BE49-F238E27FC236}">
                <a16:creationId xmlns:a16="http://schemas.microsoft.com/office/drawing/2014/main" id="{8BD76FE9-8826-73EE-F5D7-338F2FE46A88}"/>
              </a:ext>
            </a:extLst>
          </p:cNvPr>
          <p:cNvSpPr txBox="1"/>
          <p:nvPr/>
        </p:nvSpPr>
        <p:spPr>
          <a:xfrm>
            <a:off x="2600325" y="419100"/>
            <a:ext cx="4333875" cy="769441"/>
          </a:xfrm>
          <a:prstGeom prst="rect">
            <a:avLst/>
          </a:prstGeom>
          <a:noFill/>
        </p:spPr>
        <p:txBody>
          <a:bodyPr wrap="square" rtlCol="0">
            <a:spAutoFit/>
          </a:bodyPr>
          <a:lstStyle/>
          <a:p>
            <a:r>
              <a:rPr lang="en-US" sz="4400" dirty="0">
                <a:latin typeface="Arial" panose="020B0604020202020204" pitchFamily="34" charset="0"/>
                <a:cs typeface="Arial" panose="020B0604020202020204" pitchFamily="34" charset="0"/>
              </a:rPr>
              <a:t>Total NSN’s</a:t>
            </a:r>
          </a:p>
        </p:txBody>
      </p:sp>
      <p:sp>
        <p:nvSpPr>
          <p:cNvPr id="5" name="TextBox 4">
            <a:extLst>
              <a:ext uri="{FF2B5EF4-FFF2-40B4-BE49-F238E27FC236}">
                <a16:creationId xmlns:a16="http://schemas.microsoft.com/office/drawing/2014/main" id="{90709331-813D-7DAE-A55E-C034658434AC}"/>
              </a:ext>
            </a:extLst>
          </p:cNvPr>
          <p:cNvSpPr txBox="1"/>
          <p:nvPr/>
        </p:nvSpPr>
        <p:spPr>
          <a:xfrm>
            <a:off x="180975" y="1609725"/>
            <a:ext cx="8858930" cy="461665"/>
          </a:xfrm>
          <a:prstGeom prst="rect">
            <a:avLst/>
          </a:prstGeom>
          <a:noFill/>
        </p:spPr>
        <p:txBody>
          <a:bodyPr wrap="square" rtlCol="0">
            <a:spAutoFit/>
          </a:bodyPr>
          <a:lstStyle/>
          <a:p>
            <a:r>
              <a:rPr lang="en-US" sz="2400" b="0" dirty="0">
                <a:latin typeface="Arial" panose="020B0604020202020204" pitchFamily="34" charset="0"/>
                <a:cs typeface="Arial" panose="020B0604020202020204" pitchFamily="34" charset="0"/>
              </a:rPr>
              <a:t>17.1 Million Total NSN’s – (7.4M active, 9.7 inactive/cancelled)</a:t>
            </a:r>
          </a:p>
        </p:txBody>
      </p:sp>
      <p:pic>
        <p:nvPicPr>
          <p:cNvPr id="7" name="Picture 6">
            <a:extLst>
              <a:ext uri="{FF2B5EF4-FFF2-40B4-BE49-F238E27FC236}">
                <a16:creationId xmlns:a16="http://schemas.microsoft.com/office/drawing/2014/main" id="{335AAA98-17EA-60A2-8CCF-54303C6D9BE9}"/>
              </a:ext>
            </a:extLst>
          </p:cNvPr>
          <p:cNvPicPr>
            <a:picLocks noChangeAspect="1"/>
          </p:cNvPicPr>
          <p:nvPr/>
        </p:nvPicPr>
        <p:blipFill>
          <a:blip r:embed="rId3"/>
          <a:stretch>
            <a:fillRect/>
          </a:stretch>
        </p:blipFill>
        <p:spPr>
          <a:xfrm>
            <a:off x="868950" y="2411783"/>
            <a:ext cx="7482980" cy="3815542"/>
          </a:xfrm>
          <a:prstGeom prst="rect">
            <a:avLst/>
          </a:prstGeom>
        </p:spPr>
      </p:pic>
    </p:spTree>
    <p:extLst>
      <p:ext uri="{BB962C8B-B14F-4D97-AF65-F5344CB8AC3E}">
        <p14:creationId xmlns:p14="http://schemas.microsoft.com/office/powerpoint/2010/main" val="13210855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424B8A-F67C-BD05-7694-E670C8FA2709}"/>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61FB569D-4329-6AE4-7497-14BFCFF8002B}"/>
              </a:ext>
            </a:extLst>
          </p:cNvPr>
          <p:cNvSpPr>
            <a:spLocks noGrp="1"/>
          </p:cNvSpPr>
          <p:nvPr>
            <p:ph type="ftr" sz="quarter" idx="10"/>
          </p:nvPr>
        </p:nvSpPr>
        <p:spPr/>
        <p:txBody>
          <a:bodyPr/>
          <a:lstStyle/>
          <a:p>
            <a:pPr>
              <a:defRPr/>
            </a:pPr>
            <a:r>
              <a:rPr lang="en-US"/>
              <a:t>DEMIL Code Challenge</a:t>
            </a:r>
          </a:p>
        </p:txBody>
      </p:sp>
      <p:sp>
        <p:nvSpPr>
          <p:cNvPr id="3" name="Slide Number Placeholder 2">
            <a:extLst>
              <a:ext uri="{FF2B5EF4-FFF2-40B4-BE49-F238E27FC236}">
                <a16:creationId xmlns:a16="http://schemas.microsoft.com/office/drawing/2014/main" id="{246C59D4-A7CF-ABC6-C9A2-D5F6E436EAF9}"/>
              </a:ext>
            </a:extLst>
          </p:cNvPr>
          <p:cNvSpPr>
            <a:spLocks noGrp="1"/>
          </p:cNvSpPr>
          <p:nvPr>
            <p:ph type="sldNum" sz="quarter" idx="11"/>
          </p:nvPr>
        </p:nvSpPr>
        <p:spPr/>
        <p:txBody>
          <a:bodyPr/>
          <a:lstStyle/>
          <a:p>
            <a:pPr>
              <a:defRPr/>
            </a:pPr>
            <a:fld id="{5A580ED0-60A8-460D-91BD-C40CA8490F8C}" type="slidenum">
              <a:rPr lang="en-US" smtClean="0"/>
              <a:pPr>
                <a:defRPr/>
              </a:pPr>
              <a:t>25</a:t>
            </a:fld>
            <a:endParaRPr lang="en-US"/>
          </a:p>
        </p:txBody>
      </p:sp>
      <p:sp>
        <p:nvSpPr>
          <p:cNvPr id="4" name="TextBox 3">
            <a:extLst>
              <a:ext uri="{FF2B5EF4-FFF2-40B4-BE49-F238E27FC236}">
                <a16:creationId xmlns:a16="http://schemas.microsoft.com/office/drawing/2014/main" id="{8B48ED10-8423-7FF3-76FC-2A16FE603025}"/>
              </a:ext>
            </a:extLst>
          </p:cNvPr>
          <p:cNvSpPr txBox="1"/>
          <p:nvPr/>
        </p:nvSpPr>
        <p:spPr>
          <a:xfrm>
            <a:off x="802275" y="315224"/>
            <a:ext cx="8094075" cy="954107"/>
          </a:xfrm>
          <a:prstGeom prst="rect">
            <a:avLst/>
          </a:prstGeom>
          <a:noFill/>
        </p:spPr>
        <p:txBody>
          <a:bodyPr wrap="square" rtlCol="0">
            <a:spAutoFit/>
          </a:bodyPr>
          <a:lstStyle/>
          <a:p>
            <a:pPr algn="ctr"/>
            <a:r>
              <a:rPr lang="en-US" sz="2800" dirty="0">
                <a:latin typeface="Arial" panose="020B0604020202020204" pitchFamily="34" charset="0"/>
                <a:cs typeface="Arial" panose="020B0604020202020204" pitchFamily="34" charset="0"/>
              </a:rPr>
              <a:t>Demilitarization Codes Assigned </a:t>
            </a:r>
          </a:p>
          <a:p>
            <a:pPr algn="ctr"/>
            <a:r>
              <a:rPr lang="en-US" sz="2800" dirty="0">
                <a:latin typeface="Arial" panose="020B0604020202020204" pitchFamily="34" charset="0"/>
                <a:cs typeface="Arial" panose="020B0604020202020204" pitchFamily="34" charset="0"/>
              </a:rPr>
              <a:t>to NSN in FLIS</a:t>
            </a:r>
          </a:p>
        </p:txBody>
      </p:sp>
      <p:pic>
        <p:nvPicPr>
          <p:cNvPr id="8" name="Picture 7">
            <a:extLst>
              <a:ext uri="{FF2B5EF4-FFF2-40B4-BE49-F238E27FC236}">
                <a16:creationId xmlns:a16="http://schemas.microsoft.com/office/drawing/2014/main" id="{DD88C863-F1A0-F8DD-148C-1A8DC9E856F4}"/>
              </a:ext>
            </a:extLst>
          </p:cNvPr>
          <p:cNvPicPr>
            <a:picLocks noChangeAspect="1"/>
          </p:cNvPicPr>
          <p:nvPr/>
        </p:nvPicPr>
        <p:blipFill>
          <a:blip r:embed="rId3"/>
          <a:stretch>
            <a:fillRect/>
          </a:stretch>
        </p:blipFill>
        <p:spPr>
          <a:xfrm>
            <a:off x="0" y="1389817"/>
            <a:ext cx="9144000" cy="5057415"/>
          </a:xfrm>
          <a:prstGeom prst="rect">
            <a:avLst/>
          </a:prstGeom>
        </p:spPr>
      </p:pic>
    </p:spTree>
    <p:extLst>
      <p:ext uri="{BB962C8B-B14F-4D97-AF65-F5344CB8AC3E}">
        <p14:creationId xmlns:p14="http://schemas.microsoft.com/office/powerpoint/2010/main" val="41693330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E1D79A0-10EC-EC5D-2EE7-B880CB7A825B}"/>
              </a:ext>
            </a:extLst>
          </p:cNvPr>
          <p:cNvSpPr>
            <a:spLocks noGrp="1"/>
          </p:cNvSpPr>
          <p:nvPr>
            <p:ph type="ftr" sz="quarter" idx="10"/>
          </p:nvPr>
        </p:nvSpPr>
        <p:spPr/>
        <p:txBody>
          <a:bodyPr/>
          <a:lstStyle/>
          <a:p>
            <a:pPr>
              <a:defRPr/>
            </a:pPr>
            <a:r>
              <a:rPr lang="en-US"/>
              <a:t>DEMIL Code Challenge</a:t>
            </a:r>
          </a:p>
        </p:txBody>
      </p:sp>
      <p:sp>
        <p:nvSpPr>
          <p:cNvPr id="3" name="Slide Number Placeholder 2">
            <a:extLst>
              <a:ext uri="{FF2B5EF4-FFF2-40B4-BE49-F238E27FC236}">
                <a16:creationId xmlns:a16="http://schemas.microsoft.com/office/drawing/2014/main" id="{EFD104AE-8E7B-5BFE-8625-6F8C9B644C16}"/>
              </a:ext>
            </a:extLst>
          </p:cNvPr>
          <p:cNvSpPr>
            <a:spLocks noGrp="1"/>
          </p:cNvSpPr>
          <p:nvPr>
            <p:ph type="sldNum" sz="quarter" idx="11"/>
          </p:nvPr>
        </p:nvSpPr>
        <p:spPr/>
        <p:txBody>
          <a:bodyPr/>
          <a:lstStyle/>
          <a:p>
            <a:pPr>
              <a:defRPr/>
            </a:pPr>
            <a:fld id="{5A580ED0-60A8-460D-91BD-C40CA8490F8C}" type="slidenum">
              <a:rPr lang="en-US" smtClean="0"/>
              <a:pPr>
                <a:defRPr/>
              </a:pPr>
              <a:t>26</a:t>
            </a:fld>
            <a:endParaRPr lang="en-US"/>
          </a:p>
        </p:txBody>
      </p:sp>
      <p:sp>
        <p:nvSpPr>
          <p:cNvPr id="4" name="Title 1">
            <a:extLst>
              <a:ext uri="{FF2B5EF4-FFF2-40B4-BE49-F238E27FC236}">
                <a16:creationId xmlns:a16="http://schemas.microsoft.com/office/drawing/2014/main" id="{27BA0833-256D-2960-910A-18F6AE5E8D6F}"/>
              </a:ext>
            </a:extLst>
          </p:cNvPr>
          <p:cNvSpPr txBox="1">
            <a:spLocks/>
          </p:cNvSpPr>
          <p:nvPr/>
        </p:nvSpPr>
        <p:spPr>
          <a:xfrm>
            <a:off x="762000" y="304800"/>
            <a:ext cx="7772400" cy="990600"/>
          </a:xfrm>
          <a:prstGeom prst="rect">
            <a:avLst/>
          </a:prstGeom>
        </p:spPr>
        <p:txBody>
          <a:bodyPr/>
          <a:lstStyle>
            <a:lvl1pPr algn="ctr" rtl="0" eaLnBrk="0" fontAlgn="base" hangingPunct="0">
              <a:spcBef>
                <a:spcPct val="0"/>
              </a:spcBef>
              <a:spcAft>
                <a:spcPct val="0"/>
              </a:spcAft>
              <a:defRPr sz="4000" b="1">
                <a:solidFill>
                  <a:schemeClr val="tx2"/>
                </a:solidFill>
                <a:latin typeface="Arial"/>
                <a:ea typeface="+mj-ea"/>
                <a:cs typeface="Arial"/>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fontAlgn="base">
              <a:spcBef>
                <a:spcPct val="0"/>
              </a:spcBef>
              <a:spcAft>
                <a:spcPct val="0"/>
              </a:spcAft>
              <a:defRPr sz="4400">
                <a:solidFill>
                  <a:schemeClr val="tx2"/>
                </a:solidFill>
                <a:latin typeface="Times New Roman" pitchFamily="18" charset="0"/>
              </a:defRPr>
            </a:lvl6pPr>
            <a:lvl7pPr marL="914400" algn="ctr" rtl="0" fontAlgn="base">
              <a:spcBef>
                <a:spcPct val="0"/>
              </a:spcBef>
              <a:spcAft>
                <a:spcPct val="0"/>
              </a:spcAft>
              <a:defRPr sz="4400">
                <a:solidFill>
                  <a:schemeClr val="tx2"/>
                </a:solidFill>
                <a:latin typeface="Times New Roman" pitchFamily="18" charset="0"/>
              </a:defRPr>
            </a:lvl7pPr>
            <a:lvl8pPr marL="1371600" algn="ctr" rtl="0" fontAlgn="base">
              <a:spcBef>
                <a:spcPct val="0"/>
              </a:spcBef>
              <a:spcAft>
                <a:spcPct val="0"/>
              </a:spcAft>
              <a:defRPr sz="4400">
                <a:solidFill>
                  <a:schemeClr val="tx2"/>
                </a:solidFill>
                <a:latin typeface="Times New Roman" pitchFamily="18" charset="0"/>
              </a:defRPr>
            </a:lvl8pPr>
            <a:lvl9pPr marL="1828800" algn="ctr" rtl="0" fontAlgn="base">
              <a:spcBef>
                <a:spcPct val="0"/>
              </a:spcBef>
              <a:spcAft>
                <a:spcPct val="0"/>
              </a:spcAft>
              <a:defRPr sz="4400">
                <a:solidFill>
                  <a:schemeClr val="tx2"/>
                </a:solidFill>
                <a:latin typeface="Times New Roman" pitchFamily="18" charset="0"/>
              </a:defRPr>
            </a:lvl9pPr>
          </a:lstStyle>
          <a:p>
            <a:r>
              <a:rPr lang="en-US" kern="0"/>
              <a:t>Practical Exercise</a:t>
            </a:r>
            <a:endParaRPr lang="en-US" kern="0" dirty="0"/>
          </a:p>
        </p:txBody>
      </p:sp>
      <p:graphicFrame>
        <p:nvGraphicFramePr>
          <p:cNvPr id="5" name="Table 4">
            <a:extLst>
              <a:ext uri="{FF2B5EF4-FFF2-40B4-BE49-F238E27FC236}">
                <a16:creationId xmlns:a16="http://schemas.microsoft.com/office/drawing/2014/main" id="{F7074F84-3270-7529-B3E6-A345003A8DC8}"/>
              </a:ext>
            </a:extLst>
          </p:cNvPr>
          <p:cNvGraphicFramePr>
            <a:graphicFrameLocks noGrp="1"/>
          </p:cNvGraphicFramePr>
          <p:nvPr/>
        </p:nvGraphicFramePr>
        <p:xfrm>
          <a:off x="304800" y="1481264"/>
          <a:ext cx="8534400" cy="3213815"/>
        </p:xfrm>
        <a:graphic>
          <a:graphicData uri="http://schemas.openxmlformats.org/drawingml/2006/table">
            <a:tbl>
              <a:tblPr bandRow="1">
                <a:tableStyleId>{5C22544A-7EE6-4342-B048-85BDC9FD1C3A}</a:tableStyleId>
              </a:tblPr>
              <a:tblGrid>
                <a:gridCol w="2171700">
                  <a:extLst>
                    <a:ext uri="{9D8B030D-6E8A-4147-A177-3AD203B41FA5}">
                      <a16:colId xmlns:a16="http://schemas.microsoft.com/office/drawing/2014/main" val="2566814433"/>
                    </a:ext>
                  </a:extLst>
                </a:gridCol>
                <a:gridCol w="6362700">
                  <a:extLst>
                    <a:ext uri="{9D8B030D-6E8A-4147-A177-3AD203B41FA5}">
                      <a16:colId xmlns:a16="http://schemas.microsoft.com/office/drawing/2014/main" val="241531072"/>
                    </a:ext>
                  </a:extLst>
                </a:gridCol>
              </a:tblGrid>
              <a:tr h="679621">
                <a:tc>
                  <a:txBody>
                    <a:bodyPr/>
                    <a:lstStyle/>
                    <a:p>
                      <a:pPr marL="0" marR="0" indent="0" algn="ctr" rtl="0" eaLnBrk="1" fontAlgn="base" latinLnBrk="0" hangingPunct="1">
                        <a:spcBef>
                          <a:spcPts val="576"/>
                        </a:spcBef>
                      </a:pPr>
                      <a:r>
                        <a:rPr lang="en-US" sz="2400" b="1" i="0" u="none" strike="noStrike" kern="1200" baseline="0" dirty="0">
                          <a:ln>
                            <a:noFill/>
                          </a:ln>
                          <a:solidFill>
                            <a:srgbClr val="000000"/>
                          </a:solidFill>
                          <a:effectLst/>
                          <a:latin typeface="Arial"/>
                          <a:cs typeface="Arial"/>
                        </a:rPr>
                        <a:t>Task:</a:t>
                      </a:r>
                      <a:endParaRPr lang="en-US" sz="1800" b="0" i="0" u="none" strike="noStrike" dirty="0">
                        <a:effectLst/>
                        <a:latin typeface="Arial"/>
                        <a:cs typeface="Arial"/>
                      </a:endParaRPr>
                    </a:p>
                  </a:txBody>
                  <a:tcPr anchor="ctr">
                    <a:lnL w="12700" cap="flat" cmpd="sng" algn="ctr">
                      <a:solidFill>
                        <a:srgbClr val="3333CC"/>
                      </a:solidFill>
                      <a:prstDash val="solid"/>
                      <a:round/>
                      <a:headEnd type="none" w="med" len="med"/>
                      <a:tailEnd type="none" w="med" len="med"/>
                    </a:lnL>
                    <a:lnR w="12700" cap="flat" cmpd="sng" algn="ctr">
                      <a:solidFill>
                        <a:srgbClr val="3333CC"/>
                      </a:solidFill>
                      <a:prstDash val="solid"/>
                      <a:round/>
                      <a:headEnd type="none" w="med" len="med"/>
                      <a:tailEnd type="none" w="med" len="med"/>
                    </a:lnR>
                    <a:lnT w="12700" cap="flat" cmpd="sng" algn="ctr">
                      <a:solidFill>
                        <a:srgbClr val="3333CC"/>
                      </a:solidFill>
                      <a:prstDash val="solid"/>
                      <a:round/>
                      <a:headEnd type="none" w="med" len="med"/>
                      <a:tailEnd type="none" w="med" len="med"/>
                    </a:lnT>
                    <a:lnB w="12700" cap="flat" cmpd="sng" algn="ctr">
                      <a:solidFill>
                        <a:srgbClr val="3333CC"/>
                      </a:solidFill>
                      <a:prstDash val="solid"/>
                      <a:round/>
                      <a:headEnd type="none" w="med" len="med"/>
                      <a:tailEnd type="none" w="med" len="med"/>
                    </a:lnB>
                    <a:solidFill>
                      <a:srgbClr val="00B88A"/>
                    </a:solidFill>
                  </a:tcPr>
                </a:tc>
                <a:tc>
                  <a:txBody>
                    <a:bodyPr/>
                    <a:lstStyle/>
                    <a:p>
                      <a:pPr lvl="0" algn="l">
                        <a:lnSpc>
                          <a:spcPct val="100000"/>
                        </a:lnSpc>
                        <a:spcBef>
                          <a:spcPts val="0"/>
                        </a:spcBef>
                        <a:spcAft>
                          <a:spcPts val="0"/>
                        </a:spcAft>
                        <a:buNone/>
                      </a:pPr>
                      <a:r>
                        <a:rPr lang="en-US" sz="2400" b="0" i="0" u="none" strike="noStrike" kern="1200" baseline="0" noProof="0" dirty="0">
                          <a:ln>
                            <a:noFill/>
                          </a:ln>
                          <a:solidFill>
                            <a:srgbClr val="000000"/>
                          </a:solidFill>
                          <a:effectLst/>
                          <a:latin typeface="Arial"/>
                        </a:rPr>
                        <a:t>Decide whether an item requires a challenge </a:t>
                      </a:r>
                      <a:endParaRPr lang="en-US" sz="2400" dirty="0">
                        <a:latin typeface="Arial"/>
                      </a:endParaRPr>
                    </a:p>
                  </a:txBody>
                  <a:tcPr>
                    <a:lnL w="12700" cap="flat" cmpd="sng" algn="ctr">
                      <a:solidFill>
                        <a:srgbClr val="3333CC"/>
                      </a:solidFill>
                      <a:prstDash val="solid"/>
                      <a:round/>
                      <a:headEnd type="none" w="med" len="med"/>
                      <a:tailEnd type="none" w="med" len="med"/>
                    </a:lnL>
                    <a:lnR w="12700" cap="flat" cmpd="sng" algn="ctr">
                      <a:solidFill>
                        <a:srgbClr val="3333CC"/>
                      </a:solidFill>
                      <a:prstDash val="solid"/>
                      <a:round/>
                      <a:headEnd type="none" w="med" len="med"/>
                      <a:tailEnd type="none" w="med" len="med"/>
                    </a:lnR>
                    <a:lnT w="12700" cap="flat" cmpd="sng" algn="ctr">
                      <a:solidFill>
                        <a:srgbClr val="3333CC"/>
                      </a:solidFill>
                      <a:prstDash val="solid"/>
                      <a:round/>
                      <a:headEnd type="none" w="med" len="med"/>
                      <a:tailEnd type="none" w="med" len="med"/>
                    </a:lnT>
                    <a:lnB w="12700" cap="flat" cmpd="sng" algn="ctr">
                      <a:solidFill>
                        <a:srgbClr val="3333CC"/>
                      </a:solidFill>
                      <a:prstDash val="solid"/>
                      <a:round/>
                      <a:headEnd type="none" w="med" len="med"/>
                      <a:tailEnd type="none" w="med" len="med"/>
                    </a:lnB>
                    <a:solidFill>
                      <a:srgbClr val="E8E8F6"/>
                    </a:solidFill>
                  </a:tcPr>
                </a:tc>
                <a:extLst>
                  <a:ext uri="{0D108BD9-81ED-4DB2-BD59-A6C34878D82A}">
                    <a16:rowId xmlns:a16="http://schemas.microsoft.com/office/drawing/2014/main" val="2291242578"/>
                  </a:ext>
                </a:extLst>
              </a:tr>
              <a:tr h="1371600">
                <a:tc>
                  <a:txBody>
                    <a:bodyPr/>
                    <a:lstStyle/>
                    <a:p>
                      <a:pPr marL="0" marR="0" indent="0" algn="ctr" rtl="0" eaLnBrk="1" fontAlgn="base" latinLnBrk="0" hangingPunct="1">
                        <a:spcBef>
                          <a:spcPts val="576"/>
                        </a:spcBef>
                      </a:pPr>
                      <a:r>
                        <a:rPr lang="en-US" sz="2400" b="1" i="0" u="none" strike="noStrike" kern="1200" baseline="0" dirty="0">
                          <a:ln>
                            <a:noFill/>
                          </a:ln>
                          <a:solidFill>
                            <a:srgbClr val="000000"/>
                          </a:solidFill>
                          <a:effectLst/>
                          <a:latin typeface="Arial"/>
                          <a:cs typeface="Arial"/>
                        </a:rPr>
                        <a:t>Condition:</a:t>
                      </a:r>
                      <a:endParaRPr lang="en-US" sz="1800" b="0" i="0" u="none" strike="noStrike" dirty="0">
                        <a:effectLst/>
                        <a:latin typeface="Arial"/>
                        <a:cs typeface="Arial"/>
                      </a:endParaRPr>
                    </a:p>
                  </a:txBody>
                  <a:tcPr anchor="ctr">
                    <a:lnL w="12700" cap="flat" cmpd="sng" algn="ctr">
                      <a:solidFill>
                        <a:srgbClr val="3333CC"/>
                      </a:solidFill>
                      <a:prstDash val="solid"/>
                      <a:round/>
                      <a:headEnd type="none" w="med" len="med"/>
                      <a:tailEnd type="none" w="med" len="med"/>
                    </a:lnL>
                    <a:lnR w="12700" cap="flat" cmpd="sng" algn="ctr">
                      <a:solidFill>
                        <a:srgbClr val="3333CC"/>
                      </a:solidFill>
                      <a:prstDash val="solid"/>
                      <a:round/>
                      <a:headEnd type="none" w="med" len="med"/>
                      <a:tailEnd type="none" w="med" len="med"/>
                    </a:lnR>
                    <a:lnT w="12700" cap="flat" cmpd="sng" algn="ctr">
                      <a:solidFill>
                        <a:srgbClr val="3333CC"/>
                      </a:solidFill>
                      <a:prstDash val="solid"/>
                      <a:round/>
                      <a:headEnd type="none" w="med" len="med"/>
                      <a:tailEnd type="none" w="med" len="med"/>
                    </a:lnT>
                    <a:lnB w="12700" cap="flat" cmpd="sng" algn="ctr">
                      <a:solidFill>
                        <a:srgbClr val="3333CC"/>
                      </a:solidFill>
                      <a:prstDash val="solid"/>
                      <a:round/>
                      <a:headEnd type="none" w="med" len="med"/>
                      <a:tailEnd type="none" w="med" len="med"/>
                    </a:lnB>
                    <a:solidFill>
                      <a:srgbClr val="00B88A"/>
                    </a:solidFill>
                  </a:tcPr>
                </a:tc>
                <a:tc>
                  <a:txBody>
                    <a:bodyPr/>
                    <a:lstStyle/>
                    <a:p>
                      <a:pPr lvl="0" algn="l">
                        <a:lnSpc>
                          <a:spcPct val="100000"/>
                        </a:lnSpc>
                        <a:spcBef>
                          <a:spcPts val="0"/>
                        </a:spcBef>
                        <a:spcAft>
                          <a:spcPts val="0"/>
                        </a:spcAft>
                        <a:buNone/>
                      </a:pPr>
                      <a:r>
                        <a:rPr lang="en-US" sz="2400" b="0" i="0" u="none" strike="noStrike" kern="1200" baseline="0" noProof="0" dirty="0">
                          <a:ln>
                            <a:noFill/>
                          </a:ln>
                          <a:solidFill>
                            <a:srgbClr val="000000"/>
                          </a:solidFill>
                          <a:effectLst/>
                          <a:latin typeface="Arial"/>
                        </a:rPr>
                        <a:t>Collaborating as a group with:</a:t>
                      </a:r>
                      <a:endParaRPr lang="en-US" dirty="0">
                        <a:latin typeface="Arial"/>
                      </a:endParaRPr>
                    </a:p>
                    <a:p>
                      <a:pPr marL="285750" lvl="0" indent="-285750" algn="l">
                        <a:lnSpc>
                          <a:spcPct val="100000"/>
                        </a:lnSpc>
                        <a:spcBef>
                          <a:spcPts val="0"/>
                        </a:spcBef>
                        <a:spcAft>
                          <a:spcPts val="0"/>
                        </a:spcAft>
                        <a:buFont typeface="Arial"/>
                        <a:buChar char="•"/>
                      </a:pPr>
                      <a:r>
                        <a:rPr lang="en-US" sz="2400" b="0" i="0" u="none" strike="noStrike" kern="1200" baseline="0" noProof="0" dirty="0">
                          <a:ln>
                            <a:noFill/>
                          </a:ln>
                          <a:solidFill>
                            <a:srgbClr val="000000"/>
                          </a:solidFill>
                          <a:effectLst/>
                          <a:latin typeface="Arial"/>
                        </a:rPr>
                        <a:t>An incomplete worksheet</a:t>
                      </a:r>
                      <a:endParaRPr lang="en-US" dirty="0">
                        <a:latin typeface="Arial"/>
                      </a:endParaRPr>
                    </a:p>
                    <a:p>
                      <a:pPr marL="285750" lvl="0" indent="-285750" algn="l">
                        <a:lnSpc>
                          <a:spcPct val="100000"/>
                        </a:lnSpc>
                        <a:spcBef>
                          <a:spcPts val="0"/>
                        </a:spcBef>
                        <a:spcAft>
                          <a:spcPts val="0"/>
                        </a:spcAft>
                        <a:buFont typeface="Arial"/>
                        <a:buChar char="•"/>
                      </a:pPr>
                      <a:r>
                        <a:rPr lang="en-US" sz="2400" b="0" i="0" u="none" strike="noStrike" kern="1200" baseline="0" noProof="0" dirty="0">
                          <a:ln>
                            <a:noFill/>
                          </a:ln>
                          <a:solidFill>
                            <a:srgbClr val="000000"/>
                          </a:solidFill>
                          <a:effectLst/>
                          <a:latin typeface="Arial"/>
                        </a:rPr>
                        <a:t>Classroom reference materials</a:t>
                      </a:r>
                      <a:endParaRPr lang="en-US" dirty="0">
                        <a:latin typeface="Arial"/>
                      </a:endParaRPr>
                    </a:p>
                    <a:p>
                      <a:pPr marL="285750" lvl="0" indent="-285750" algn="l">
                        <a:lnSpc>
                          <a:spcPct val="100000"/>
                        </a:lnSpc>
                        <a:spcBef>
                          <a:spcPts val="0"/>
                        </a:spcBef>
                        <a:spcAft>
                          <a:spcPts val="0"/>
                        </a:spcAft>
                        <a:buFont typeface="Arial"/>
                        <a:buChar char="•"/>
                      </a:pPr>
                      <a:r>
                        <a:rPr lang="en-US" sz="2400" b="0" i="0" u="none" strike="noStrike" kern="1200" baseline="0" noProof="0" dirty="0">
                          <a:ln>
                            <a:noFill/>
                          </a:ln>
                          <a:solidFill>
                            <a:srgbClr val="000000"/>
                          </a:solidFill>
                          <a:effectLst/>
                          <a:latin typeface="Arial"/>
                        </a:rPr>
                        <a:t>General characteristics for each item</a:t>
                      </a:r>
                      <a:r>
                        <a:rPr lang="en-US" sz="2400" b="0" i="0" u="none" strike="noStrike" kern="1200" baseline="0" dirty="0">
                          <a:ln>
                            <a:noFill/>
                          </a:ln>
                          <a:solidFill>
                            <a:srgbClr val="000000"/>
                          </a:solidFill>
                          <a:effectLst/>
                          <a:latin typeface="Arial"/>
                          <a:cs typeface="Arial"/>
                        </a:rPr>
                        <a:t>     </a:t>
                      </a:r>
                      <a:endParaRPr lang="en-US" sz="1800" b="0" i="0" u="none" strike="noStrike" dirty="0">
                        <a:effectLst/>
                        <a:latin typeface="Arial"/>
                        <a:cs typeface="Arial"/>
                      </a:endParaRPr>
                    </a:p>
                  </a:txBody>
                  <a:tcPr>
                    <a:lnL w="12700" cap="flat" cmpd="sng" algn="ctr">
                      <a:solidFill>
                        <a:srgbClr val="3333CC"/>
                      </a:solidFill>
                      <a:prstDash val="solid"/>
                      <a:round/>
                      <a:headEnd type="none" w="med" len="med"/>
                      <a:tailEnd type="none" w="med" len="med"/>
                    </a:lnL>
                    <a:lnR w="12700" cap="flat" cmpd="sng" algn="ctr">
                      <a:solidFill>
                        <a:srgbClr val="3333CC"/>
                      </a:solidFill>
                      <a:prstDash val="solid"/>
                      <a:round/>
                      <a:headEnd type="none" w="med" len="med"/>
                      <a:tailEnd type="none" w="med" len="med"/>
                    </a:lnR>
                    <a:lnT w="12700" cap="flat" cmpd="sng" algn="ctr">
                      <a:solidFill>
                        <a:srgbClr val="3333CC"/>
                      </a:solidFill>
                      <a:prstDash val="solid"/>
                      <a:round/>
                      <a:headEnd type="none" w="med" len="med"/>
                      <a:tailEnd type="none" w="med" len="med"/>
                    </a:lnT>
                    <a:lnB w="12700" cap="flat" cmpd="sng" algn="ctr">
                      <a:solidFill>
                        <a:srgbClr val="3333CC"/>
                      </a:solidFill>
                      <a:prstDash val="solid"/>
                      <a:round/>
                      <a:headEnd type="none" w="med" len="med"/>
                      <a:tailEnd type="none" w="med" len="med"/>
                    </a:lnB>
                    <a:solidFill>
                      <a:srgbClr val="E8E8F6"/>
                    </a:solidFill>
                  </a:tcPr>
                </a:tc>
                <a:extLst>
                  <a:ext uri="{0D108BD9-81ED-4DB2-BD59-A6C34878D82A}">
                    <a16:rowId xmlns:a16="http://schemas.microsoft.com/office/drawing/2014/main" val="2013880045"/>
                  </a:ext>
                </a:extLst>
              </a:tr>
              <a:tr h="979714">
                <a:tc>
                  <a:txBody>
                    <a:bodyPr/>
                    <a:lstStyle/>
                    <a:p>
                      <a:pPr marL="0" marR="0" indent="0" algn="ctr" rtl="0" eaLnBrk="1" fontAlgn="base" latinLnBrk="0" hangingPunct="1">
                        <a:spcBef>
                          <a:spcPts val="576"/>
                        </a:spcBef>
                      </a:pPr>
                      <a:r>
                        <a:rPr lang="en-US" sz="2400" b="1" i="0" u="none" strike="noStrike" kern="1200" baseline="0" dirty="0">
                          <a:ln>
                            <a:noFill/>
                          </a:ln>
                          <a:solidFill>
                            <a:srgbClr val="000000"/>
                          </a:solidFill>
                          <a:effectLst/>
                          <a:latin typeface="Arial"/>
                          <a:cs typeface="Arial"/>
                        </a:rPr>
                        <a:t>Standard:</a:t>
                      </a:r>
                      <a:endParaRPr lang="en-US" sz="1800" b="0" i="0" u="none" strike="noStrike" dirty="0">
                        <a:effectLst/>
                        <a:latin typeface="Arial"/>
                        <a:cs typeface="Arial"/>
                      </a:endParaRPr>
                    </a:p>
                  </a:txBody>
                  <a:tcPr anchor="ctr">
                    <a:lnL w="12700" cap="flat" cmpd="sng" algn="ctr">
                      <a:solidFill>
                        <a:srgbClr val="3333CC"/>
                      </a:solidFill>
                      <a:prstDash val="solid"/>
                      <a:round/>
                      <a:headEnd type="none" w="med" len="med"/>
                      <a:tailEnd type="none" w="med" len="med"/>
                    </a:lnL>
                    <a:lnR w="12700" cap="flat" cmpd="sng" algn="ctr">
                      <a:solidFill>
                        <a:srgbClr val="3333CC"/>
                      </a:solidFill>
                      <a:prstDash val="solid"/>
                      <a:round/>
                      <a:headEnd type="none" w="med" len="med"/>
                      <a:tailEnd type="none" w="med" len="med"/>
                    </a:lnR>
                    <a:lnT w="12700" cap="flat" cmpd="sng" algn="ctr">
                      <a:solidFill>
                        <a:srgbClr val="3333CC"/>
                      </a:solidFill>
                      <a:prstDash val="solid"/>
                      <a:round/>
                      <a:headEnd type="none" w="med" len="med"/>
                      <a:tailEnd type="none" w="med" len="med"/>
                    </a:lnT>
                    <a:lnB w="12700" cap="flat" cmpd="sng" algn="ctr">
                      <a:solidFill>
                        <a:srgbClr val="3333CC"/>
                      </a:solidFill>
                      <a:prstDash val="solid"/>
                      <a:round/>
                      <a:headEnd type="none" w="med" len="med"/>
                      <a:tailEnd type="none" w="med" len="med"/>
                    </a:lnB>
                    <a:solidFill>
                      <a:srgbClr val="00B88A"/>
                    </a:solidFill>
                  </a:tcPr>
                </a:tc>
                <a:tc>
                  <a:txBody>
                    <a:bodyPr/>
                    <a:lstStyle/>
                    <a:p>
                      <a:pPr marL="0" marR="0" indent="0" algn="l" rtl="0" eaLnBrk="1" fontAlgn="base" latinLnBrk="0" hangingPunct="1">
                        <a:spcBef>
                          <a:spcPts val="576"/>
                        </a:spcBef>
                      </a:pPr>
                      <a:r>
                        <a:rPr lang="en-US" sz="2400" b="0" i="0" u="none" strike="noStrike" kern="1200" baseline="0" dirty="0">
                          <a:ln>
                            <a:noFill/>
                          </a:ln>
                          <a:solidFill>
                            <a:srgbClr val="000000"/>
                          </a:solidFill>
                          <a:effectLst/>
                          <a:latin typeface="Arial"/>
                          <a:cs typeface="Arial"/>
                        </a:rPr>
                        <a:t>Recommend if the item needs to be challenged</a:t>
                      </a:r>
                    </a:p>
                  </a:txBody>
                  <a:tcPr>
                    <a:lnL w="12700" cap="flat" cmpd="sng" algn="ctr">
                      <a:solidFill>
                        <a:srgbClr val="3333CC"/>
                      </a:solidFill>
                      <a:prstDash val="solid"/>
                      <a:round/>
                      <a:headEnd type="none" w="med" len="med"/>
                      <a:tailEnd type="none" w="med" len="med"/>
                    </a:lnL>
                    <a:lnR w="12700" cap="flat" cmpd="sng" algn="ctr">
                      <a:solidFill>
                        <a:srgbClr val="3333CC"/>
                      </a:solidFill>
                      <a:prstDash val="solid"/>
                      <a:round/>
                      <a:headEnd type="none" w="med" len="med"/>
                      <a:tailEnd type="none" w="med" len="med"/>
                    </a:lnR>
                    <a:lnT w="12700" cap="flat" cmpd="sng" algn="ctr">
                      <a:solidFill>
                        <a:srgbClr val="3333CC"/>
                      </a:solidFill>
                      <a:prstDash val="solid"/>
                      <a:round/>
                      <a:headEnd type="none" w="med" len="med"/>
                      <a:tailEnd type="none" w="med" len="med"/>
                    </a:lnT>
                    <a:lnB w="12700" cap="flat" cmpd="sng" algn="ctr">
                      <a:solidFill>
                        <a:srgbClr val="3333CC"/>
                      </a:solidFill>
                      <a:prstDash val="solid"/>
                      <a:round/>
                      <a:headEnd type="none" w="med" len="med"/>
                      <a:tailEnd type="none" w="med" len="med"/>
                    </a:lnB>
                    <a:solidFill>
                      <a:srgbClr val="E8E8F6"/>
                    </a:solidFill>
                  </a:tcPr>
                </a:tc>
                <a:extLst>
                  <a:ext uri="{0D108BD9-81ED-4DB2-BD59-A6C34878D82A}">
                    <a16:rowId xmlns:a16="http://schemas.microsoft.com/office/drawing/2014/main" val="1689067305"/>
                  </a:ext>
                </a:extLst>
              </a:tr>
            </a:tbl>
          </a:graphicData>
        </a:graphic>
      </p:graphicFrame>
    </p:spTree>
    <p:extLst>
      <p:ext uri="{BB962C8B-B14F-4D97-AF65-F5344CB8AC3E}">
        <p14:creationId xmlns:p14="http://schemas.microsoft.com/office/powerpoint/2010/main" val="21414710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2" name="Rectangle 5"/>
          <p:cNvSpPr>
            <a:spLocks noGrp="1" noChangeArrowheads="1"/>
          </p:cNvSpPr>
          <p:nvPr>
            <p:ph type="ftr" sz="quarter" idx="10"/>
          </p:nvPr>
        </p:nvSpPr>
        <p:spPr>
          <a:noFill/>
        </p:spPr>
        <p:txBody>
          <a:bodyPr/>
          <a:lstStyle/>
          <a:p>
            <a:r>
              <a:rPr lang="en-US"/>
              <a:t>DEMIL Code Challenge</a:t>
            </a:r>
          </a:p>
        </p:txBody>
      </p:sp>
      <p:sp>
        <p:nvSpPr>
          <p:cNvPr id="25603" name="Slide Number Placeholder 4"/>
          <p:cNvSpPr>
            <a:spLocks noGrp="1"/>
          </p:cNvSpPr>
          <p:nvPr>
            <p:ph type="sldNum" sz="quarter" idx="11"/>
          </p:nvPr>
        </p:nvSpPr>
        <p:spPr>
          <a:noFill/>
        </p:spPr>
        <p:txBody>
          <a:bodyPr/>
          <a:lstStyle/>
          <a:p>
            <a:fld id="{1A9227A1-6F51-46B2-9083-11BD232BF6D9}" type="slidenum">
              <a:rPr lang="en-US" smtClean="0"/>
              <a:pPr/>
              <a:t>27</a:t>
            </a:fld>
            <a:endParaRPr lang="en-US"/>
          </a:p>
        </p:txBody>
      </p:sp>
      <p:sp>
        <p:nvSpPr>
          <p:cNvPr id="25604" name="Rectangle 2"/>
          <p:cNvSpPr>
            <a:spLocks noGrp="1" noChangeArrowheads="1"/>
          </p:cNvSpPr>
          <p:nvPr>
            <p:ph type="title"/>
          </p:nvPr>
        </p:nvSpPr>
        <p:spPr>
          <a:xfrm>
            <a:off x="685800" y="274320"/>
            <a:ext cx="7772400" cy="1005840"/>
          </a:xfrm>
        </p:spPr>
        <p:txBody>
          <a:bodyPr/>
          <a:lstStyle/>
          <a:p>
            <a:pPr eaLnBrk="1" hangingPunct="1"/>
            <a:r>
              <a:rPr lang="en-US" dirty="0"/>
              <a:t>Review Questions</a:t>
            </a:r>
          </a:p>
        </p:txBody>
      </p:sp>
      <p:sp>
        <p:nvSpPr>
          <p:cNvPr id="6" name="Rectangle 5"/>
          <p:cNvSpPr/>
          <p:nvPr/>
        </p:nvSpPr>
        <p:spPr bwMode="auto">
          <a:xfrm>
            <a:off x="302324" y="1520292"/>
            <a:ext cx="8483600" cy="4749800"/>
          </a:xfrm>
          <a:prstGeom prst="rect">
            <a:avLst/>
          </a:prstGeom>
          <a:ln>
            <a:headEnd type="none" w="med" len="med"/>
            <a:tailEnd type="none" w="med" len="med"/>
          </a:ln>
          <a:effectLst>
            <a:outerShdw blurRad="50800" dist="88900" dir="2700000" algn="tl" rotWithShape="0">
              <a:prstClr val="black">
                <a:alpha val="40000"/>
              </a:prstClr>
            </a:outerShdw>
          </a:effectLst>
        </p:spPr>
        <p:style>
          <a:lnRef idx="1">
            <a:schemeClr val="accent4"/>
          </a:lnRef>
          <a:fillRef idx="2">
            <a:schemeClr val="accent4"/>
          </a:fillRef>
          <a:effectRef idx="1">
            <a:schemeClr val="accent4"/>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6600" b="1" i="0" u="none" strike="noStrike" cap="none" normalizeH="0" baseline="0" dirty="0">
              <a:ln>
                <a:noFill/>
              </a:ln>
              <a:solidFill>
                <a:schemeClr val="bg1"/>
              </a:solidFill>
              <a:effectLst>
                <a:outerShdw blurRad="38100" dist="38100" dir="2700000" algn="tl">
                  <a:srgbClr val="000000">
                    <a:alpha val="43137"/>
                  </a:srgbClr>
                </a:outerShdw>
              </a:effectLst>
              <a:latin typeface="Times New Roman" pitchFamily="18" charset="0"/>
            </a:endParaRPr>
          </a:p>
        </p:txBody>
      </p:sp>
      <p:sp>
        <p:nvSpPr>
          <p:cNvPr id="7" name="TextBox 6"/>
          <p:cNvSpPr txBox="1"/>
          <p:nvPr/>
        </p:nvSpPr>
        <p:spPr>
          <a:xfrm>
            <a:off x="320675" y="1616883"/>
            <a:ext cx="8493031" cy="954107"/>
          </a:xfrm>
          <a:prstGeom prst="rect">
            <a:avLst/>
          </a:prstGeom>
          <a:noFill/>
        </p:spPr>
        <p:txBody>
          <a:bodyPr wrap="square" rtlCol="0">
            <a:spAutoFit/>
          </a:bodyPr>
          <a:lstStyle/>
          <a:p>
            <a:pPr marL="274320" indent="-274320">
              <a:buFont typeface="Arial" panose="020B0604020202020204" pitchFamily="34" charset="0"/>
              <a:buChar char="•"/>
            </a:pPr>
            <a:r>
              <a:rPr lang="en-US" sz="2800" b="0" dirty="0">
                <a:latin typeface="Arial" panose="020B0604020202020204" pitchFamily="34" charset="0"/>
                <a:cs typeface="Arial" panose="020B0604020202020204" pitchFamily="34" charset="0"/>
              </a:rPr>
              <a:t>Who makes the final determination for unresolved challenges?</a:t>
            </a:r>
            <a:endParaRPr lang="en-US" sz="2800" b="0" dirty="0">
              <a:solidFill>
                <a:schemeClr val="tx1"/>
              </a:solidFill>
              <a:latin typeface="Arial" panose="020B0604020202020204" pitchFamily="34" charset="0"/>
              <a:cs typeface="Arial" panose="020B0604020202020204" pitchFamily="34" charset="0"/>
            </a:endParaRPr>
          </a:p>
        </p:txBody>
      </p:sp>
      <p:sp>
        <p:nvSpPr>
          <p:cNvPr id="8" name="TextBox 7"/>
          <p:cNvSpPr txBox="1"/>
          <p:nvPr/>
        </p:nvSpPr>
        <p:spPr>
          <a:xfrm>
            <a:off x="338132" y="1633427"/>
            <a:ext cx="8493031" cy="954107"/>
          </a:xfrm>
          <a:prstGeom prst="rect">
            <a:avLst/>
          </a:prstGeom>
          <a:noFill/>
        </p:spPr>
        <p:txBody>
          <a:bodyPr wrap="square" rtlCol="0">
            <a:spAutoFit/>
          </a:bodyPr>
          <a:lstStyle/>
          <a:p>
            <a:pPr marL="274320" indent="-274320">
              <a:buFont typeface="Arial" panose="020B0604020202020204" pitchFamily="34" charset="0"/>
              <a:buChar char="•"/>
            </a:pPr>
            <a:r>
              <a:rPr lang="en-US" sz="2800" b="0" dirty="0">
                <a:latin typeface="Arial" panose="020B0604020202020204" pitchFamily="34" charset="0"/>
                <a:cs typeface="Arial" panose="020B0604020202020204" pitchFamily="34" charset="0"/>
              </a:rPr>
              <a:t>What must be included to request a change from DEMIL Code “B” to “D”? </a:t>
            </a:r>
            <a:endParaRPr lang="en-US" sz="2800" b="0" dirty="0">
              <a:solidFill>
                <a:schemeClr val="tx1"/>
              </a:solidFill>
              <a:latin typeface="Arial" panose="020B0604020202020204" pitchFamily="34" charset="0"/>
              <a:cs typeface="Arial" panose="020B0604020202020204" pitchFamily="34" charset="0"/>
            </a:endParaRPr>
          </a:p>
        </p:txBody>
      </p:sp>
      <p:sp>
        <p:nvSpPr>
          <p:cNvPr id="9" name="TextBox 8"/>
          <p:cNvSpPr txBox="1"/>
          <p:nvPr/>
        </p:nvSpPr>
        <p:spPr>
          <a:xfrm>
            <a:off x="289019" y="3200736"/>
            <a:ext cx="8493031" cy="2800767"/>
          </a:xfrm>
          <a:prstGeom prst="rect">
            <a:avLst/>
          </a:prstGeom>
          <a:noFill/>
        </p:spPr>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4400" dirty="0">
                <a:ln w="11430"/>
                <a:solidFill>
                  <a:schemeClr val="tx1"/>
                </a:solidFill>
                <a:effectLst>
                  <a:outerShdw blurRad="50800" dist="39000" dir="5460000" algn="tl">
                    <a:srgbClr val="000000">
                      <a:alpha val="38000"/>
                    </a:srgbClr>
                  </a:outerShdw>
                </a:effectLst>
                <a:latin typeface="Arial" panose="020B0604020202020204" pitchFamily="34" charset="0"/>
                <a:cs typeface="Arial" panose="020B0604020202020204" pitchFamily="34" charset="0"/>
              </a:rPr>
              <a:t>DoD DEMIL Program Manager and applicable Military Department DEMIL Program Administrator</a:t>
            </a:r>
          </a:p>
        </p:txBody>
      </p:sp>
      <p:sp>
        <p:nvSpPr>
          <p:cNvPr id="10" name="TextBox 9"/>
          <p:cNvSpPr txBox="1"/>
          <p:nvPr/>
        </p:nvSpPr>
        <p:spPr>
          <a:xfrm>
            <a:off x="423860" y="3446957"/>
            <a:ext cx="8493031" cy="1569660"/>
          </a:xfrm>
          <a:prstGeom prst="rect">
            <a:avLst/>
          </a:prstGeom>
          <a:noFill/>
        </p:spPr>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4800" dirty="0">
                <a:ln w="11430"/>
                <a:effectLst>
                  <a:outerShdw blurRad="50800" dist="39000" dir="5460000" algn="tl">
                    <a:srgbClr val="000000">
                      <a:alpha val="38000"/>
                    </a:srgbClr>
                  </a:outerShdw>
                </a:effectLst>
                <a:latin typeface="Arial" panose="020B0604020202020204" pitchFamily="34" charset="0"/>
                <a:cs typeface="Arial" panose="020B0604020202020204" pitchFamily="34" charset="0"/>
              </a:rPr>
              <a:t>Table, Part 1 from DEMIL coding tables</a:t>
            </a:r>
            <a:endParaRPr lang="en-US" sz="4800" dirty="0">
              <a:ln w="11430"/>
              <a:solidFill>
                <a:schemeClr val="tx1"/>
              </a:solidFill>
              <a:effectLst>
                <a:outerShdw blurRad="50800" dist="39000" dir="5460000" algn="tl">
                  <a:srgbClr val="000000">
                    <a:alpha val="38000"/>
                  </a:srgbClr>
                </a:outerShdw>
              </a:effectLst>
              <a:latin typeface="Arial" panose="020B0604020202020204" pitchFamily="34" charset="0"/>
              <a:cs typeface="Arial" panose="020B0604020202020204" pitchFamily="34" charset="0"/>
            </a:endParaRPr>
          </a:p>
        </p:txBody>
      </p:sp>
      <p:sp>
        <p:nvSpPr>
          <p:cNvPr id="11" name="TextBox 10"/>
          <p:cNvSpPr txBox="1"/>
          <p:nvPr/>
        </p:nvSpPr>
        <p:spPr>
          <a:xfrm>
            <a:off x="338132" y="2547263"/>
            <a:ext cx="8493031" cy="954107"/>
          </a:xfrm>
          <a:prstGeom prst="rect">
            <a:avLst/>
          </a:prstGeom>
          <a:noFill/>
        </p:spPr>
        <p:txBody>
          <a:bodyPr wrap="square" rtlCol="0">
            <a:spAutoFit/>
          </a:bodyPr>
          <a:lstStyle/>
          <a:p>
            <a:pPr marL="274320" indent="-274320">
              <a:buFont typeface="Arial" panose="020B0604020202020204" pitchFamily="34" charset="0"/>
              <a:buChar char="•"/>
            </a:pPr>
            <a:r>
              <a:rPr lang="en-US" sz="2800" b="0" dirty="0">
                <a:latin typeface="Arial" panose="020B0604020202020204" pitchFamily="34" charset="0"/>
                <a:cs typeface="Arial" panose="020B0604020202020204" pitchFamily="34" charset="0"/>
              </a:rPr>
              <a:t>What must be included to request a change to DEMIL Code “Q”?</a:t>
            </a:r>
            <a:endParaRPr lang="en-US" sz="2800" b="0" dirty="0">
              <a:solidFill>
                <a:schemeClr val="tx1"/>
              </a:solidFill>
              <a:latin typeface="Arial" panose="020B0604020202020204" pitchFamily="34" charset="0"/>
              <a:cs typeface="Arial" panose="020B0604020202020204" pitchFamily="34" charset="0"/>
            </a:endParaRPr>
          </a:p>
        </p:txBody>
      </p:sp>
      <p:sp>
        <p:nvSpPr>
          <p:cNvPr id="12" name="TextBox 11"/>
          <p:cNvSpPr txBox="1"/>
          <p:nvPr/>
        </p:nvSpPr>
        <p:spPr>
          <a:xfrm>
            <a:off x="325484" y="3527080"/>
            <a:ext cx="8493031" cy="1015663"/>
          </a:xfrm>
          <a:prstGeom prst="rect">
            <a:avLst/>
          </a:prstGeom>
          <a:noFill/>
        </p:spPr>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6000" dirty="0">
                <a:ln w="11430"/>
                <a:solidFill>
                  <a:schemeClr val="tx1"/>
                </a:solidFill>
                <a:effectLst>
                  <a:outerShdw blurRad="50800" dist="39000" dir="5460000" algn="tl">
                    <a:srgbClr val="000000">
                      <a:alpha val="38000"/>
                    </a:srgbClr>
                  </a:outerShdw>
                </a:effectLst>
                <a:latin typeface="Arial" panose="020B0604020202020204" pitchFamily="34" charset="0"/>
                <a:cs typeface="Arial" panose="020B0604020202020204" pitchFamily="34" charset="0"/>
              </a:rPr>
              <a:t>Applicable ECCN</a:t>
            </a:r>
          </a:p>
        </p:txBody>
      </p:sp>
      <p:sp>
        <p:nvSpPr>
          <p:cNvPr id="13" name="TextBox 12"/>
          <p:cNvSpPr txBox="1"/>
          <p:nvPr/>
        </p:nvSpPr>
        <p:spPr>
          <a:xfrm>
            <a:off x="546874" y="2423549"/>
            <a:ext cx="8493031" cy="954107"/>
          </a:xfrm>
          <a:prstGeom prst="rect">
            <a:avLst/>
          </a:prstGeom>
          <a:noFill/>
        </p:spPr>
        <p:txBody>
          <a:bodyPr wrap="square" rtlCol="0">
            <a:spAutoFit/>
          </a:bodyPr>
          <a:lstStyle/>
          <a:p>
            <a:r>
              <a:rPr lang="en-US" sz="2800" b="0" dirty="0">
                <a:latin typeface="Arial" panose="020B0604020202020204" pitchFamily="34" charset="0"/>
                <a:cs typeface="Arial" panose="020B0604020202020204" pitchFamily="34" charset="0"/>
              </a:rPr>
              <a:t>What does DEMIL Code “Q” with a DEMIL IC “6” indicate?</a:t>
            </a:r>
            <a:endParaRPr lang="en-US" sz="2800" b="0" dirty="0">
              <a:solidFill>
                <a:schemeClr val="tx1"/>
              </a:solidFill>
              <a:latin typeface="Arial" panose="020B0604020202020204" pitchFamily="34" charset="0"/>
              <a:cs typeface="Arial" panose="020B0604020202020204" pitchFamily="34" charset="0"/>
            </a:endParaRPr>
          </a:p>
        </p:txBody>
      </p:sp>
      <p:sp>
        <p:nvSpPr>
          <p:cNvPr id="14" name="TextBox 13"/>
          <p:cNvSpPr txBox="1"/>
          <p:nvPr/>
        </p:nvSpPr>
        <p:spPr>
          <a:xfrm>
            <a:off x="278652" y="3416180"/>
            <a:ext cx="8493031" cy="2585323"/>
          </a:xfrm>
          <a:prstGeom prst="rect">
            <a:avLst/>
          </a:prstGeom>
          <a:noFill/>
        </p:spPr>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dirty="0">
                <a:ln w="11430"/>
                <a:solidFill>
                  <a:schemeClr val="tx1"/>
                </a:solidFill>
                <a:effectLst>
                  <a:outerShdw blurRad="50800" dist="39000" dir="5460000" algn="tl">
                    <a:srgbClr val="000000">
                      <a:alpha val="38000"/>
                    </a:srgbClr>
                  </a:outerShdw>
                </a:effectLst>
                <a:latin typeface="Arial" panose="020B0604020202020204" pitchFamily="34" charset="0"/>
                <a:cs typeface="Arial" panose="020B0604020202020204" pitchFamily="34" charset="0"/>
              </a:rPr>
              <a:t>Non-Sensitive CCLI.</a:t>
            </a:r>
          </a:p>
          <a:p>
            <a:pPr algn="ctr"/>
            <a:r>
              <a:rPr lang="en-US" sz="5400" dirty="0">
                <a:ln w="11430"/>
                <a:effectLst>
                  <a:outerShdw blurRad="50800" dist="39000" dir="5460000" algn="tl">
                    <a:srgbClr val="000000">
                      <a:alpha val="38000"/>
                    </a:srgbClr>
                  </a:outerShdw>
                </a:effectLst>
                <a:latin typeface="Arial" panose="020B0604020202020204" pitchFamily="34" charset="0"/>
                <a:cs typeface="Arial" panose="020B0604020202020204" pitchFamily="34" charset="0"/>
              </a:rPr>
              <a:t>What are the mutilation requirements?</a:t>
            </a:r>
            <a:endParaRPr lang="en-US" sz="5400" dirty="0">
              <a:ln w="11430"/>
              <a:solidFill>
                <a:schemeClr val="tx1"/>
              </a:solidFill>
              <a:effectLst>
                <a:outerShdw blurRad="50800" dist="39000" dir="5460000" algn="tl">
                  <a:srgbClr val="000000">
                    <a:alpha val="38000"/>
                  </a:srgbClr>
                </a:outerShdw>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24665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5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xit" presetSubtype="0" fill="hold" grpId="1" nodeType="clickEffect">
                                  <p:stCondLst>
                                    <p:cond delay="0"/>
                                  </p:stCondLst>
                                  <p:childTnLst>
                                    <p:animEffect transition="out" filter="fade">
                                      <p:cBhvr>
                                        <p:cTn id="18" dur="500"/>
                                        <p:tgtEl>
                                          <p:spTgt spid="7"/>
                                        </p:tgtEl>
                                      </p:cBhvr>
                                    </p:animEffect>
                                    <p:set>
                                      <p:cBhvr>
                                        <p:cTn id="19" dur="1" fill="hold">
                                          <p:stCondLst>
                                            <p:cond delay="499"/>
                                          </p:stCondLst>
                                        </p:cTn>
                                        <p:tgtEl>
                                          <p:spTgt spid="7"/>
                                        </p:tgtEl>
                                        <p:attrNameLst>
                                          <p:attrName>style.visibility</p:attrName>
                                        </p:attrNameLst>
                                      </p:cBhvr>
                                      <p:to>
                                        <p:strVal val="hidden"/>
                                      </p:to>
                                    </p:set>
                                  </p:childTnLst>
                                </p:cTn>
                              </p:par>
                              <p:par>
                                <p:cTn id="20" presetID="10" presetClass="exit" presetSubtype="0" fill="hold" grpId="1" nodeType="withEffect">
                                  <p:stCondLst>
                                    <p:cond delay="0"/>
                                  </p:stCondLst>
                                  <p:childTnLst>
                                    <p:animEffect transition="out" filter="fade">
                                      <p:cBhvr>
                                        <p:cTn id="21" dur="500"/>
                                        <p:tgtEl>
                                          <p:spTgt spid="9"/>
                                        </p:tgtEl>
                                      </p:cBhvr>
                                    </p:animEffect>
                                    <p:set>
                                      <p:cBhvr>
                                        <p:cTn id="22" dur="1" fill="hold">
                                          <p:stCondLst>
                                            <p:cond delay="499"/>
                                          </p:stCondLst>
                                        </p:cTn>
                                        <p:tgtEl>
                                          <p:spTgt spid="9"/>
                                        </p:tgtEl>
                                        <p:attrNameLst>
                                          <p:attrName>style.visibility</p:attrName>
                                        </p:attrNameLst>
                                      </p:cBhvr>
                                      <p:to>
                                        <p:strVal val="hidden"/>
                                      </p:to>
                                    </p:set>
                                  </p:childTnLst>
                                </p:cTn>
                              </p:par>
                              <p:par>
                                <p:cTn id="23" presetID="42"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1000"/>
                                        <p:tgtEl>
                                          <p:spTgt spid="8"/>
                                        </p:tgtEl>
                                      </p:cBhvr>
                                    </p:animEffect>
                                    <p:anim calcmode="lin" valueType="num">
                                      <p:cBhvr>
                                        <p:cTn id="26" dur="1000" fill="hold"/>
                                        <p:tgtEl>
                                          <p:spTgt spid="8"/>
                                        </p:tgtEl>
                                        <p:attrNameLst>
                                          <p:attrName>ppt_x</p:attrName>
                                        </p:attrNameLst>
                                      </p:cBhvr>
                                      <p:tavLst>
                                        <p:tav tm="0">
                                          <p:val>
                                            <p:strVal val="#ppt_x"/>
                                          </p:val>
                                        </p:tav>
                                        <p:tav tm="100000">
                                          <p:val>
                                            <p:strVal val="#ppt_x"/>
                                          </p:val>
                                        </p:tav>
                                      </p:tavLst>
                                    </p:anim>
                                    <p:anim calcmode="lin" valueType="num">
                                      <p:cBhvr>
                                        <p:cTn id="27"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xit" presetSubtype="0" fill="hold" grpId="1" nodeType="clickEffect">
                                  <p:stCondLst>
                                    <p:cond delay="0"/>
                                  </p:stCondLst>
                                  <p:childTnLst>
                                    <p:animEffect transition="out" filter="fade">
                                      <p:cBhvr>
                                        <p:cTn id="36" dur="500"/>
                                        <p:tgtEl>
                                          <p:spTgt spid="8"/>
                                        </p:tgtEl>
                                      </p:cBhvr>
                                    </p:animEffect>
                                    <p:set>
                                      <p:cBhvr>
                                        <p:cTn id="37" dur="1" fill="hold">
                                          <p:stCondLst>
                                            <p:cond delay="499"/>
                                          </p:stCondLst>
                                        </p:cTn>
                                        <p:tgtEl>
                                          <p:spTgt spid="8"/>
                                        </p:tgtEl>
                                        <p:attrNameLst>
                                          <p:attrName>style.visibility</p:attrName>
                                        </p:attrNameLst>
                                      </p:cBhvr>
                                      <p:to>
                                        <p:strVal val="hidden"/>
                                      </p:to>
                                    </p:set>
                                  </p:childTnLst>
                                </p:cTn>
                              </p:par>
                              <p:par>
                                <p:cTn id="38" presetID="10" presetClass="exit" presetSubtype="0" fill="hold" grpId="1" nodeType="withEffect">
                                  <p:stCondLst>
                                    <p:cond delay="0"/>
                                  </p:stCondLst>
                                  <p:childTnLst>
                                    <p:animEffect transition="out" filter="fade">
                                      <p:cBhvr>
                                        <p:cTn id="39" dur="500"/>
                                        <p:tgtEl>
                                          <p:spTgt spid="10"/>
                                        </p:tgtEl>
                                      </p:cBhvr>
                                    </p:animEffect>
                                    <p:set>
                                      <p:cBhvr>
                                        <p:cTn id="40" dur="1" fill="hold">
                                          <p:stCondLst>
                                            <p:cond delay="499"/>
                                          </p:stCondLst>
                                        </p:cTn>
                                        <p:tgtEl>
                                          <p:spTgt spid="10"/>
                                        </p:tgtEl>
                                        <p:attrNameLst>
                                          <p:attrName>style.visibility</p:attrName>
                                        </p:attrNameLst>
                                      </p:cBhvr>
                                      <p:to>
                                        <p:strVal val="hidden"/>
                                      </p:to>
                                    </p:set>
                                  </p:childTnLst>
                                </p:cTn>
                              </p:par>
                              <p:par>
                                <p:cTn id="41" presetID="42" presetClass="entr" presetSubtype="0" fill="hold" grpId="0" nodeType="with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fade">
                                      <p:cBhvr>
                                        <p:cTn id="43" dur="1000"/>
                                        <p:tgtEl>
                                          <p:spTgt spid="11"/>
                                        </p:tgtEl>
                                      </p:cBhvr>
                                    </p:animEffect>
                                    <p:anim calcmode="lin" valueType="num">
                                      <p:cBhvr>
                                        <p:cTn id="44" dur="1000" fill="hold"/>
                                        <p:tgtEl>
                                          <p:spTgt spid="11"/>
                                        </p:tgtEl>
                                        <p:attrNameLst>
                                          <p:attrName>ppt_x</p:attrName>
                                        </p:attrNameLst>
                                      </p:cBhvr>
                                      <p:tavLst>
                                        <p:tav tm="0">
                                          <p:val>
                                            <p:strVal val="#ppt_x"/>
                                          </p:val>
                                        </p:tav>
                                        <p:tav tm="100000">
                                          <p:val>
                                            <p:strVal val="#ppt_x"/>
                                          </p:val>
                                        </p:tav>
                                      </p:tavLst>
                                    </p:anim>
                                    <p:anim calcmode="lin" valueType="num">
                                      <p:cBhvr>
                                        <p:cTn id="45"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12"/>
                                        </p:tgtEl>
                                        <p:attrNameLst>
                                          <p:attrName>style.visibility</p:attrName>
                                        </p:attrNameLst>
                                      </p:cBhvr>
                                      <p:to>
                                        <p:strVal val="visible"/>
                                      </p:to>
                                    </p:set>
                                    <p:animEffect transition="in" filter="fade">
                                      <p:cBhvr>
                                        <p:cTn id="50" dur="500"/>
                                        <p:tgtEl>
                                          <p:spTgt spid="12"/>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xit" presetSubtype="0" fill="hold" grpId="1" nodeType="clickEffect">
                                  <p:stCondLst>
                                    <p:cond delay="0"/>
                                  </p:stCondLst>
                                  <p:childTnLst>
                                    <p:animEffect transition="out" filter="fade">
                                      <p:cBhvr>
                                        <p:cTn id="54" dur="500"/>
                                        <p:tgtEl>
                                          <p:spTgt spid="11"/>
                                        </p:tgtEl>
                                      </p:cBhvr>
                                    </p:animEffect>
                                    <p:set>
                                      <p:cBhvr>
                                        <p:cTn id="55" dur="1" fill="hold">
                                          <p:stCondLst>
                                            <p:cond delay="499"/>
                                          </p:stCondLst>
                                        </p:cTn>
                                        <p:tgtEl>
                                          <p:spTgt spid="11"/>
                                        </p:tgtEl>
                                        <p:attrNameLst>
                                          <p:attrName>style.visibility</p:attrName>
                                        </p:attrNameLst>
                                      </p:cBhvr>
                                      <p:to>
                                        <p:strVal val="hidden"/>
                                      </p:to>
                                    </p:set>
                                  </p:childTnLst>
                                </p:cTn>
                              </p:par>
                              <p:par>
                                <p:cTn id="56" presetID="10" presetClass="exit" presetSubtype="0" fill="hold" grpId="1" nodeType="withEffect">
                                  <p:stCondLst>
                                    <p:cond delay="0"/>
                                  </p:stCondLst>
                                  <p:childTnLst>
                                    <p:animEffect transition="out" filter="fade">
                                      <p:cBhvr>
                                        <p:cTn id="57" dur="500"/>
                                        <p:tgtEl>
                                          <p:spTgt spid="12"/>
                                        </p:tgtEl>
                                      </p:cBhvr>
                                    </p:animEffect>
                                    <p:set>
                                      <p:cBhvr>
                                        <p:cTn id="58" dur="1" fill="hold">
                                          <p:stCondLst>
                                            <p:cond delay="499"/>
                                          </p:stCondLst>
                                        </p:cTn>
                                        <p:tgtEl>
                                          <p:spTgt spid="12"/>
                                        </p:tgtEl>
                                        <p:attrNameLst>
                                          <p:attrName>style.visibility</p:attrName>
                                        </p:attrNameLst>
                                      </p:cBhvr>
                                      <p:to>
                                        <p:strVal val="hidden"/>
                                      </p:to>
                                    </p:set>
                                  </p:childTnLst>
                                </p:cTn>
                              </p:par>
                              <p:par>
                                <p:cTn id="59" presetID="42" presetClass="entr" presetSubtype="0" fill="hold" grpId="0" nodeType="withEffect">
                                  <p:stCondLst>
                                    <p:cond delay="0"/>
                                  </p:stCondLst>
                                  <p:childTnLst>
                                    <p:set>
                                      <p:cBhvr>
                                        <p:cTn id="60" dur="1" fill="hold">
                                          <p:stCondLst>
                                            <p:cond delay="0"/>
                                          </p:stCondLst>
                                        </p:cTn>
                                        <p:tgtEl>
                                          <p:spTgt spid="13"/>
                                        </p:tgtEl>
                                        <p:attrNameLst>
                                          <p:attrName>style.visibility</p:attrName>
                                        </p:attrNameLst>
                                      </p:cBhvr>
                                      <p:to>
                                        <p:strVal val="visible"/>
                                      </p:to>
                                    </p:set>
                                    <p:animEffect transition="in" filter="fade">
                                      <p:cBhvr>
                                        <p:cTn id="61" dur="1000"/>
                                        <p:tgtEl>
                                          <p:spTgt spid="13"/>
                                        </p:tgtEl>
                                      </p:cBhvr>
                                    </p:animEffect>
                                    <p:anim calcmode="lin" valueType="num">
                                      <p:cBhvr>
                                        <p:cTn id="62" dur="1000" fill="hold"/>
                                        <p:tgtEl>
                                          <p:spTgt spid="13"/>
                                        </p:tgtEl>
                                        <p:attrNameLst>
                                          <p:attrName>ppt_x</p:attrName>
                                        </p:attrNameLst>
                                      </p:cBhvr>
                                      <p:tavLst>
                                        <p:tav tm="0">
                                          <p:val>
                                            <p:strVal val="#ppt_x"/>
                                          </p:val>
                                        </p:tav>
                                        <p:tav tm="100000">
                                          <p:val>
                                            <p:strVal val="#ppt_x"/>
                                          </p:val>
                                        </p:tav>
                                      </p:tavLst>
                                    </p:anim>
                                    <p:anim calcmode="lin" valueType="num">
                                      <p:cBhvr>
                                        <p:cTn id="63"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14"/>
                                        </p:tgtEl>
                                        <p:attrNameLst>
                                          <p:attrName>style.visibility</p:attrName>
                                        </p:attrNameLst>
                                      </p:cBhvr>
                                      <p:to>
                                        <p:strVal val="visible"/>
                                      </p:to>
                                    </p:set>
                                    <p:animEffect transition="in" filter="fade">
                                      <p:cBhvr>
                                        <p:cTn id="68"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P spid="8" grpId="0"/>
      <p:bldP spid="8" grpId="1"/>
      <p:bldP spid="9" grpId="0"/>
      <p:bldP spid="9" grpId="1"/>
      <p:bldP spid="10" grpId="0"/>
      <p:bldP spid="10" grpId="1"/>
      <p:bldP spid="11" grpId="0"/>
      <p:bldP spid="11" grpId="1"/>
      <p:bldP spid="12" grpId="0"/>
      <p:bldP spid="12" grpId="1"/>
      <p:bldP spid="13" grpId="0"/>
      <p:bldP spid="14"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5"/>
          <p:cNvSpPr>
            <a:spLocks noGrp="1" noChangeArrowheads="1"/>
          </p:cNvSpPr>
          <p:nvPr>
            <p:ph type="ftr" sz="quarter" idx="10"/>
          </p:nvPr>
        </p:nvSpPr>
        <p:spPr>
          <a:noFill/>
        </p:spPr>
        <p:txBody>
          <a:bodyPr/>
          <a:lstStyle/>
          <a:p>
            <a:r>
              <a:rPr lang="en-US"/>
              <a:t>DEMIL Code Challenge</a:t>
            </a:r>
          </a:p>
        </p:txBody>
      </p:sp>
      <p:sp>
        <p:nvSpPr>
          <p:cNvPr id="26627" name="Footer Placeholder 3"/>
          <p:cNvSpPr txBox="1">
            <a:spLocks noGrp="1"/>
          </p:cNvSpPr>
          <p:nvPr/>
        </p:nvSpPr>
        <p:spPr bwMode="auto">
          <a:xfrm>
            <a:off x="666750" y="6248400"/>
            <a:ext cx="2895600" cy="457200"/>
          </a:xfrm>
          <a:prstGeom prst="rect">
            <a:avLst/>
          </a:prstGeom>
          <a:noFill/>
          <a:ln w="9525">
            <a:noFill/>
            <a:miter lim="800000"/>
            <a:headEnd/>
            <a:tailEnd/>
          </a:ln>
        </p:spPr>
        <p:txBody>
          <a:bodyPr/>
          <a:lstStyle/>
          <a:p>
            <a:r>
              <a:rPr lang="en-US" b="0"/>
              <a:t>code_challenge</a:t>
            </a:r>
          </a:p>
        </p:txBody>
      </p:sp>
      <p:sp>
        <p:nvSpPr>
          <p:cNvPr id="26628" name="Slide Number Placeholder 4"/>
          <p:cNvSpPr>
            <a:spLocks noGrp="1"/>
          </p:cNvSpPr>
          <p:nvPr>
            <p:ph type="sldNum" sz="quarter" idx="11"/>
          </p:nvPr>
        </p:nvSpPr>
        <p:spPr>
          <a:noFill/>
        </p:spPr>
        <p:txBody>
          <a:bodyPr/>
          <a:lstStyle/>
          <a:p>
            <a:fld id="{941AF6C4-539B-446F-902C-36AC2FF9DA2E}" type="slidenum">
              <a:rPr lang="en-US" smtClean="0"/>
              <a:pPr/>
              <a:t>28</a:t>
            </a:fld>
            <a:endParaRPr lang="en-US"/>
          </a:p>
        </p:txBody>
      </p:sp>
      <p:pic>
        <p:nvPicPr>
          <p:cNvPr id="26629" name="Picture 2063" descr="bradm6"/>
          <p:cNvPicPr>
            <a:picLocks noChangeAspect="1" noChangeArrowheads="1"/>
          </p:cNvPicPr>
          <p:nvPr/>
        </p:nvPicPr>
        <p:blipFill>
          <a:blip r:embed="rId3" cstate="print"/>
          <a:srcRect/>
          <a:stretch>
            <a:fillRect/>
          </a:stretch>
        </p:blipFill>
        <p:spPr bwMode="auto">
          <a:xfrm>
            <a:off x="0" y="0"/>
            <a:ext cx="9144000" cy="6826250"/>
          </a:xfrm>
          <a:prstGeom prst="rect">
            <a:avLst/>
          </a:prstGeom>
          <a:noFill/>
          <a:ln w="9525">
            <a:noFill/>
            <a:miter lim="800000"/>
            <a:headEnd/>
            <a:tailEnd/>
          </a:ln>
        </p:spPr>
      </p:pic>
      <p:sp>
        <p:nvSpPr>
          <p:cNvPr id="26630" name="WordArt 2064"/>
          <p:cNvSpPr>
            <a:spLocks noChangeArrowheads="1" noChangeShapeType="1" noTextEdit="1"/>
          </p:cNvSpPr>
          <p:nvPr/>
        </p:nvSpPr>
        <p:spPr bwMode="auto">
          <a:xfrm>
            <a:off x="3505200" y="762000"/>
            <a:ext cx="2133600" cy="4038600"/>
          </a:xfrm>
          <a:prstGeom prst="rect">
            <a:avLst/>
          </a:prstGeom>
        </p:spPr>
        <p:txBody>
          <a:bodyPr wrap="none" fromWordArt="1">
            <a:prstTxWarp prst="textPlain">
              <a:avLst>
                <a:gd name="adj" fmla="val 50000"/>
              </a:avLst>
            </a:prstTxWarp>
          </a:bodyPr>
          <a:lstStyle/>
          <a:p>
            <a:pPr algn="ctr"/>
            <a:r>
              <a:rPr lang="en-US" sz="8000" kern="10" dirty="0">
                <a:ln w="9525">
                  <a:noFill/>
                  <a:round/>
                  <a:headEnd/>
                  <a:tailEnd/>
                </a:ln>
                <a:solidFill>
                  <a:srgbClr val="FF3300"/>
                </a:solidFill>
                <a:effectLst>
                  <a:outerShdw dist="45791" dir="2021404" algn="ctr" rotWithShape="0">
                    <a:srgbClr val="C0C0C0"/>
                  </a:outerShdw>
                </a:effectLst>
                <a:latin typeface="Times New Roman"/>
                <a:cs typeface="Times New Roman"/>
              </a:rPr>
              <a:t>?</a:t>
            </a:r>
          </a:p>
        </p:txBody>
      </p:sp>
    </p:spTree>
  </p:cSld>
  <p:clrMapOvr>
    <a:masterClrMapping/>
  </p:clrMapOvr>
</p:sld>
</file>

<file path=ppt/theme/theme1.xml><?xml version="1.0" encoding="utf-8"?>
<a:theme xmlns:a="http://schemas.openxmlformats.org/drawingml/2006/main" name="Code P,G,F">
  <a:themeElements>
    <a:clrScheme name="DEMIL DLPC Template">
      <a:dk1>
        <a:srgbClr val="000000"/>
      </a:dk1>
      <a:lt1>
        <a:srgbClr val="FFFFFF"/>
      </a:lt1>
      <a:dk2>
        <a:srgbClr val="000000"/>
      </a:dk2>
      <a:lt2>
        <a:srgbClr val="808080"/>
      </a:lt2>
      <a:accent1>
        <a:srgbClr val="AACCF1"/>
      </a:accent1>
      <a:accent2>
        <a:srgbClr val="032B61"/>
      </a:accent2>
      <a:accent3>
        <a:srgbClr val="FFFFFF"/>
      </a:accent3>
      <a:accent4>
        <a:srgbClr val="000000"/>
      </a:accent4>
      <a:accent5>
        <a:srgbClr val="AACCF1"/>
      </a:accent5>
      <a:accent6>
        <a:srgbClr val="032B61"/>
      </a:accent6>
      <a:hlink>
        <a:srgbClr val="CCCCFF"/>
      </a:hlink>
      <a:folHlink>
        <a:srgbClr val="B2B2B2"/>
      </a:folHlink>
    </a:clrScheme>
    <a:fontScheme name="Code P,G,F">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000" b="1"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000" b="1"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Code P,G,F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ode P,G,F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ode P,G,F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ode P,G,F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ode P,G,F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ode P,G,F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ode P,G,F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ummary xmlns="241efbf5-977f-45bd-a626-63ce12c37c50">This presentation outlines the process for validating DEMIL codes and Trade Security Controls (TSC) for DoD personal property. It details the responsibilities of DEMIL Program Managers (DPM) and Coordinators in reviewing and verifying codes for accuracy and compliance. The training covers both annual validation requirements and procedures for challenging incorrect codes.</Summary>
    <WebsiteURL xmlns="241efbf5-977f-45bd-a626-63ce12c37c50" xsi:nil="true"/>
    <_ExtendedDescription xmlns="http://schemas.microsoft.com/sharepoint/v3" xsi:nil="true"/>
    <InstructorType xmlns="241efbf5-977f-45bd-a626-63ce12c37c50"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07FEFA47AFEBA94186293892278EA703" ma:contentTypeVersion="13" ma:contentTypeDescription="Create a new document." ma:contentTypeScope="" ma:versionID="d68dd8cbd9329c3d764958c0a488e40f">
  <xsd:schema xmlns:xsd="http://www.w3.org/2001/XMLSchema" xmlns:xs="http://www.w3.org/2001/XMLSchema" xmlns:p="http://schemas.microsoft.com/office/2006/metadata/properties" xmlns:ns1="http://schemas.microsoft.com/sharepoint/v3" xmlns:ns2="241efbf5-977f-45bd-a626-63ce12c37c50" targetNamespace="http://schemas.microsoft.com/office/2006/metadata/properties" ma:root="true" ma:fieldsID="3ac1a5fc10613c8bc94528932b0c09a1" ns1:_="" ns2:_="">
    <xsd:import namespace="http://schemas.microsoft.com/sharepoint/v3"/>
    <xsd:import namespace="241efbf5-977f-45bd-a626-63ce12c37c50"/>
    <xsd:element name="properties">
      <xsd:complexType>
        <xsd:sequence>
          <xsd:element name="documentManagement">
            <xsd:complexType>
              <xsd:all>
                <xsd:element ref="ns2:Summary" minOccurs="0"/>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MediaServiceBillingMetadata" minOccurs="0"/>
                <xsd:element ref="ns2:WebsiteURL" minOccurs="0"/>
                <xsd:element ref="ns1:_ExtendedDescription" minOccurs="0"/>
                <xsd:element ref="ns2:InstructorTyp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ExtendedDescription" ma:index="19" nillable="true" ma:displayName="Description" ma:internalName="_ExtendedDescription">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41efbf5-977f-45bd-a626-63ce12c37c50" elementFormDefault="qualified">
    <xsd:import namespace="http://schemas.microsoft.com/office/2006/documentManagement/types"/>
    <xsd:import namespace="http://schemas.microsoft.com/office/infopath/2007/PartnerControls"/>
    <xsd:element name="Summary" ma:index="9" nillable="true" ma:displayName="Summary" ma:format="Dropdown" ma:internalName="Summary">
      <xsd:simpleType>
        <xsd:restriction base="dms:Note"/>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MediaServiceBillingMetadata" ma:index="17" nillable="true" ma:displayName="MediaServiceBillingMetadata" ma:hidden="true" ma:internalName="MediaServiceBillingMetadata" ma:readOnly="true">
      <xsd:simpleType>
        <xsd:restriction base="dms:Note"/>
      </xsd:simpleType>
    </xsd:element>
    <xsd:element name="WebsiteURL" ma:index="18" nillable="true" ma:displayName="WebsiteURL" ma:format="Dropdown" ma:internalName="WebsiteURL">
      <xsd:simpleType>
        <xsd:restriction base="dms:Text">
          <xsd:maxLength value="255"/>
        </xsd:restriction>
      </xsd:simpleType>
    </xsd:element>
    <xsd:element name="InstructorType" ma:index="20" nillable="true" ma:displayName="Instructor Type" ma:format="Dropdown" ma:internalName="InstructorType">
      <xsd:simpleType>
        <xsd:restriction base="dms:Choice">
          <xsd:enumeration value="Equipment Specialist"/>
          <xsd:enumeration value="Item Manager"/>
          <xsd:enumeration value="Supply Planner"/>
          <xsd:enumeration value="Materiel Manager"/>
          <xsd:enumeration value="Equipment Specialist &amp; Supply Planner"/>
          <xsd:enumeration value="All"/>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ma:index="8" ma:displayName="Keywords"/>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BFE2C86-60FB-4472-A659-8B61EE6802DE}">
  <ds:schemaRefs>
    <ds:schemaRef ds:uri="http://schemas.openxmlformats.org/package/2006/metadata/core-properties"/>
    <ds:schemaRef ds:uri="http://purl.org/dc/elements/1.1/"/>
    <ds:schemaRef ds:uri="e134300e-a3bd-490c-bdf3-5a3538da1ed4"/>
    <ds:schemaRef ds:uri="http://purl.org/dc/terms/"/>
    <ds:schemaRef ds:uri="http://www.w3.org/XML/1998/namespace"/>
    <ds:schemaRef ds:uri="http://schemas.microsoft.com/office/infopath/2007/PartnerControls"/>
    <ds:schemaRef ds:uri="http://schemas.microsoft.com/office/2006/documentManagement/types"/>
    <ds:schemaRef ds:uri="http://purl.org/dc/dcmitype/"/>
    <ds:schemaRef ds:uri="http://schemas.microsoft.com/office/2006/metadata/properties"/>
  </ds:schemaRefs>
</ds:datastoreItem>
</file>

<file path=customXml/itemProps2.xml><?xml version="1.0" encoding="utf-8"?>
<ds:datastoreItem xmlns:ds="http://schemas.openxmlformats.org/officeDocument/2006/customXml" ds:itemID="{9B1E4F6B-6B3E-4B0A-82E3-E2867321D7CF}"/>
</file>

<file path=customXml/itemProps3.xml><?xml version="1.0" encoding="utf-8"?>
<ds:datastoreItem xmlns:ds="http://schemas.openxmlformats.org/officeDocument/2006/customXml" ds:itemID="{C55E7C35-AE74-4919-9EF7-B782EAE380EA}">
  <ds:schemaRefs>
    <ds:schemaRef ds:uri="http://schemas.microsoft.com/sharepoint/v3/contenttype/forms"/>
  </ds:schemaRefs>
</ds:datastoreItem>
</file>

<file path=docMetadata/LabelInfo.xml><?xml version="1.0" encoding="utf-8"?>
<clbl:labelList xmlns:clbl="http://schemas.microsoft.com/office/2020/mipLabelMetadata">
  <clbl:label id="{8331b18d-2d87-48ef-a35f-ac8818ebf9b4}" enabled="0" method="" siteId="{8331b18d-2d87-48ef-a35f-ac8818ebf9b4}" removed="1"/>
</clbl:labelList>
</file>

<file path=docProps/app.xml><?xml version="1.0" encoding="utf-8"?>
<Properties xmlns="http://schemas.openxmlformats.org/officeDocument/2006/extended-properties" xmlns:vt="http://schemas.openxmlformats.org/officeDocument/2006/docPropsVTypes">
  <Template>C:\Documents and Settings\nt_user_12\Desktop\Code P,G,F.ppt</Template>
  <TotalTime>3464</TotalTime>
  <Words>3492</Words>
  <Application>Microsoft Office PowerPoint</Application>
  <PresentationFormat>On-screen Show (4:3)</PresentationFormat>
  <Paragraphs>394</Paragraphs>
  <Slides>28</Slides>
  <Notes>28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Arial</vt:lpstr>
      <vt:lpstr>Times New Roman</vt:lpstr>
      <vt:lpstr>Wingdings</vt:lpstr>
      <vt:lpstr>Code P,G,F</vt:lpstr>
      <vt:lpstr>Demilitarization Code Validation</vt:lpstr>
      <vt:lpstr>INTRODUCTION</vt:lpstr>
      <vt:lpstr>Eye Openers</vt:lpstr>
      <vt:lpstr>Eye Openers</vt:lpstr>
      <vt:lpstr>Example</vt:lpstr>
      <vt:lpstr>Other Examples</vt:lpstr>
      <vt:lpstr>Purpose</vt:lpstr>
      <vt:lpstr>Objective</vt:lpstr>
      <vt:lpstr>  </vt:lpstr>
      <vt:lpstr>DEMIL Code Challenge Process</vt:lpstr>
      <vt:lpstr>PowerPoint Presentation</vt:lpstr>
      <vt:lpstr>PowerPoint Presentation</vt:lpstr>
      <vt:lpstr>PowerPoint Presentation</vt:lpstr>
      <vt:lpstr>PowerPoint Presentation</vt:lpstr>
      <vt:lpstr>Code Challenge Process</vt:lpstr>
      <vt:lpstr>Coordination with Military Departments</vt:lpstr>
      <vt:lpstr>DEMIL Integrity Codes</vt:lpstr>
      <vt:lpstr>DEMIL IC Descriptions</vt:lpstr>
      <vt:lpstr>DEMIL IC Descriptions</vt:lpstr>
      <vt:lpstr>DEMIL IC Descriptions</vt:lpstr>
      <vt:lpstr>DEMIL Code Lock</vt:lpstr>
      <vt:lpstr>PowerPoint Presentation</vt:lpstr>
      <vt:lpstr>PowerPoint Presentation</vt:lpstr>
      <vt:lpstr>PowerPoint Presentation</vt:lpstr>
      <vt:lpstr>PowerPoint Presentation</vt:lpstr>
      <vt:lpstr>PowerPoint Presentation</vt:lpstr>
      <vt:lpstr>Review Questions</vt:lpstr>
      <vt:lpstr>PowerPoint Presentation</vt:lpstr>
    </vt:vector>
  </TitlesOfParts>
  <Company>MRC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DEMIL Code and Trade Security Control (TSC) Validation</dc:title>
  <dc:creator>NT_USER_12</dc:creator>
  <cp:keywords>DEMIL, demilitarization, demilitarization, ITAR, International Traffic in Arms Regulations, EAR, Export Administration Regulations
DEMIL code, DEMIL codes, demilitarization code
DEMIL requirements, DEMIL procedures
DoD DEMIL Program, Defense Demilitarization Program
DDPM, DoD Demilitarization Program Manager
DDPO, DoD Demilitarization Program Office
DDCMO, DoD Demilitarization Coding Management Office, DDCMO, ICP, DEMIL Challenge Form, DEMIL Integrity Codes, DEMIL IC Descriptions, DEMIL Challenge Web Form
Validation, Verification, DEMIL Code, TSC, Trade Security Control, DPM, DEMIL Coordinator, Annual Validation, Challenge, Compliance</cp:keywords>
  <cp:lastModifiedBy>MCLEAN, JEREMY K CIV USAF AFMC 431 SCMS/GUMA</cp:lastModifiedBy>
  <cp:revision>255</cp:revision>
  <cp:lastPrinted>2017-09-26T11:37:19Z</cp:lastPrinted>
  <dcterms:created xsi:type="dcterms:W3CDTF">2011-08-17T15:23:20Z</dcterms:created>
  <dcterms:modified xsi:type="dcterms:W3CDTF">2025-03-26T15:58:27Z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0x01010007FEFA47AFEBA94186293892278EA703</vt:lpwstr>
  </property>
  <property fmtid="{D5CDD505-2E9C-101B-9397-08002B2CF9AE}" pid="3" name="Order">
    <vt:r8>1100</vt:r8>
  </property>
  <property fmtid="{D5CDD505-2E9C-101B-9397-08002B2CF9AE}" pid="4" name="xd_Signature">
    <vt:bool>false</vt:bool>
  </property>
  <property fmtid="{D5CDD505-2E9C-101B-9397-08002B2CF9AE}" pid="5" name="xd_ProgID">
    <vt:lpwstr/>
  </property>
  <property fmtid="{D5CDD505-2E9C-101B-9397-08002B2CF9AE}" pid="6" name="TriggerFlowInfo">
    <vt:lpwstr/>
  </property>
  <property fmtid="{D5CDD505-2E9C-101B-9397-08002B2CF9AE}" pid="7" name="_SourceUrl">
    <vt:lpwstr/>
  </property>
  <property fmtid="{D5CDD505-2E9C-101B-9397-08002B2CF9AE}" pid="8" name="_SharedFileIndex">
    <vt:lpwstr/>
  </property>
  <property fmtid="{D5CDD505-2E9C-101B-9397-08002B2CF9AE}" pid="9" name="ComplianceAssetId">
    <vt:lpwstr/>
  </property>
  <property fmtid="{D5CDD505-2E9C-101B-9397-08002B2CF9AE}" pid="10" name="TemplateUrl">
    <vt:lpwstr/>
  </property>
  <property fmtid="{D5CDD505-2E9C-101B-9397-08002B2CF9AE}" pid="11" name="_ExtendedDescription">
    <vt:lpwstr/>
  </property>
</Properties>
</file>